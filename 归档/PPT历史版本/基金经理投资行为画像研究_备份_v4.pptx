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47"/>
    <p:sldId id="298" r:id="rId48"/>
    <p:sldId id="281" r:id="rId28"/>
    <p:sldId id="296" r:id="rId46"/>
    <p:sldId id="282" r:id="rId29"/>
    <p:sldId id="283" r:id="rId30"/>
    <p:sldId id="284" r:id="rId31"/>
    <p:sldId id="285" r:id="rId32"/>
    <p:sldId id="286" r:id="rId33"/>
    <p:sldId id="299" r:id="rId49"/>
    <p:sldId id="287" r:id="rId34"/>
    <p:sldId id="288" r:id="rId35"/>
    <p:sldId id="289" r:id="rId39"/>
    <p:sldId id="290" r:id="rId40"/>
    <p:sldId id="291" r:id="rId41"/>
    <p:sldId id="292" r:id="rId42"/>
    <p:sldId id="293" r:id="rId43"/>
    <p:sldId id="294" r:id="rId44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5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24.xml"/><Relationship Id="rId46" Type="http://schemas.openxmlformats.org/officeDocument/2006/relationships/slide" Target="slides/slide26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寇宗来(2020)SDI风格漂移 · U型关系 · 市场风格切换解雇风险)过度自信 · Menkhoff(2006)经验与行为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Kahneman(1979)前景理论 · Barber&amp;Odean(2001)过度自信 · OCI=|RG|代理 · LA损失厌恶(待补)hang(2024)StockAgent LLM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41-9"/>
          <p:cNvSpPr/>
          <p:nvPr/>
        </p:nvSpPr>
        <p:spPr>
          <a:xfrm>
            <a:off x="533267" y="843609"/>
            <a:ext cx="11122419" cy="1394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41-11"/>
          <p:cNvCxnSpPr/>
          <p:nvPr/>
        </p:nvCxnSpPr>
        <p:spPr>
          <a:xfrm>
            <a:off x="552312" y="843609"/>
            <a:ext cx="914" cy="139402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941-10"/>
          <p:cNvSpPr/>
          <p:nvPr/>
        </p:nvSpPr>
        <p:spPr>
          <a:xfrm>
            <a:off x="533267" y="2332857"/>
            <a:ext cx="11122419" cy="11141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5962-12"/>
          <p:cNvPicPr/>
          <p:nvPr/>
        </p:nvPicPr>
        <p:blipFill>
          <a:blip r:embed="rId1"/>
          <a:stretch>
            <a:fillRect/>
          </a:stretch>
        </p:blipFill>
        <p:spPr>
          <a:xfrm>
            <a:off x="4225067" y="2666149"/>
            <a:ext cx="3738818" cy="714196"/>
          </a:xfrm>
          <a:prstGeom prst="rect">
            <a:avLst/>
          </a:prstGeom>
          <a:ln>
            <a:noFill/>
          </a:ln>
        </p:spPr>
      </p:pic>
      <p:sp>
        <p:nvSpPr>
          <p:cNvPr id="7" name="el-1785891665972-19"/>
          <p:cNvSpPr/>
          <p:nvPr/>
        </p:nvSpPr>
        <p:spPr>
          <a:xfrm>
            <a:off x="533267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972-20"/>
          <p:cNvSpPr/>
          <p:nvPr/>
        </p:nvSpPr>
        <p:spPr>
          <a:xfrm>
            <a:off x="6161134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38-3"/>
          <p:cNvSpPr/>
          <p:nvPr/>
        </p:nvSpPr>
        <p:spPr>
          <a:xfrm>
            <a:off x="533267" y="5399141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891665939-4"/>
          <p:cNvCxnSpPr/>
          <p:nvPr/>
        </p:nvCxnSpPr>
        <p:spPr>
          <a:xfrm>
            <a:off x="552312" y="5399141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5939-6"/>
          <p:cNvSpPr/>
          <p:nvPr/>
        </p:nvSpPr>
        <p:spPr>
          <a:xfrm>
            <a:off x="533267" y="6170473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5963-13"/>
          <p:cNvSpPr txBox="1"/>
          <p:nvPr/>
        </p:nvSpPr>
        <p:spPr>
          <a:xfrm>
            <a:off x="533267" y="149499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963-14"/>
          <p:cNvSpPr txBox="1"/>
          <p:nvPr/>
        </p:nvSpPr>
        <p:spPr>
          <a:xfrm>
            <a:off x="533267" y="401849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背景特征层：职业忧虑如何驱动行为差异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964-15"/>
          <p:cNvSpPr txBox="1"/>
          <p:nvPr/>
        </p:nvSpPr>
        <p:spPr>
          <a:xfrm>
            <a:off x="742764" y="948358"/>
            <a:ext cx="1086530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理论依据：Chevalier &amp; Ellison (1999) QJE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5965-16"/>
          <p:cNvSpPr txBox="1"/>
          <p:nvPr/>
        </p:nvSpPr>
        <p:spPr>
          <a:xfrm>
            <a:off x="742764" y="1319740"/>
            <a:ext cx="10627243" cy="5218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年轻基金经理面临更强的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——离职概率对业绩高度敏感，留任概率与业绩呈凹函数关系。因此年轻经理倾向于：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减少非系统性风险、避免极端行业配置、跟踪基准更紧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。经验丰富的经理职业忧虑较弱，更敢于偏离基准。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965-17"/>
          <p:cNvSpPr txBox="1"/>
          <p:nvPr/>
        </p:nvSpPr>
        <p:spPr>
          <a:xfrm>
            <a:off x="742764" y="1868183"/>
            <a:ext cx="6376346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中国场景：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短期排名压力更强（季度排名公开），职业忧虑效应可能比美股更突出。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965-18"/>
          <p:cNvSpPr txBox="1"/>
          <p:nvPr/>
        </p:nvSpPr>
        <p:spPr>
          <a:xfrm>
            <a:off x="5478184" y="2399516"/>
            <a:ext cx="133923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排名压力指数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975-21"/>
          <p:cNvSpPr txBox="1"/>
          <p:nvPr/>
        </p:nvSpPr>
        <p:spPr>
          <a:xfrm>
            <a:off x="695151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经理A（年轻型）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975-22"/>
          <p:cNvSpPr txBox="1"/>
          <p:nvPr/>
        </p:nvSpPr>
        <p:spPr>
          <a:xfrm>
            <a:off x="695151" y="3965986"/>
            <a:ext cx="142714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从业2年，规模3亿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975-23"/>
          <p:cNvSpPr txBox="1"/>
          <p:nvPr/>
        </p:nvSpPr>
        <p:spPr>
          <a:xfrm>
            <a:off x="695151" y="4208813"/>
            <a:ext cx="157519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前十大持仓占比78%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975-24"/>
          <p:cNvSpPr txBox="1"/>
          <p:nvPr/>
        </p:nvSpPr>
        <p:spPr>
          <a:xfrm>
            <a:off x="695151" y="4451640"/>
            <a:ext cx="167904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行业配置接近沪深300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976-25"/>
          <p:cNvSpPr txBox="1"/>
          <p:nvPr/>
        </p:nvSpPr>
        <p:spPr>
          <a:xfrm>
            <a:off x="695151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0.68（保守）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976-26"/>
          <p:cNvSpPr txBox="1"/>
          <p:nvPr/>
        </p:nvSpPr>
        <p:spPr>
          <a:xfrm>
            <a:off x="695151" y="4937294"/>
            <a:ext cx="29747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2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0.77（高压）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976-27"/>
          <p:cNvSpPr txBox="1"/>
          <p:nvPr/>
        </p:nvSpPr>
        <p:spPr>
          <a:xfrm>
            <a:off x="6323019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经理B（经验型）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976-28"/>
          <p:cNvSpPr txBox="1"/>
          <p:nvPr/>
        </p:nvSpPr>
        <p:spPr>
          <a:xfrm>
            <a:off x="6323019" y="3965986"/>
            <a:ext cx="151745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从业8年，规模50亿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976-29"/>
          <p:cNvSpPr txBox="1"/>
          <p:nvPr/>
        </p:nvSpPr>
        <p:spPr>
          <a:xfrm>
            <a:off x="6323019" y="4208813"/>
            <a:ext cx="157667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前十大持仓占比62%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976-30"/>
          <p:cNvSpPr txBox="1"/>
          <p:nvPr/>
        </p:nvSpPr>
        <p:spPr>
          <a:xfrm>
            <a:off x="6323019" y="4451640"/>
            <a:ext cx="134054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超配新能源+消费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977-31"/>
          <p:cNvSpPr txBox="1"/>
          <p:nvPr/>
        </p:nvSpPr>
        <p:spPr>
          <a:xfrm>
            <a:off x="6323019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0.85（主动）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977-32"/>
          <p:cNvSpPr txBox="1"/>
          <p:nvPr/>
        </p:nvSpPr>
        <p:spPr>
          <a:xfrm>
            <a:off x="6323019" y="4937294"/>
            <a:ext cx="297635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8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0.45（低压）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938-2"/>
          <p:cNvSpPr txBox="1"/>
          <p:nvPr/>
        </p:nvSpPr>
        <p:spPr>
          <a:xfrm>
            <a:off x="723719" y="5494367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Experience（从业年限）做 OLS 回归；2.0 阶段加入 RPI、学历、管理规模等特征；3.0 阶段考虑加入行为心理学问卷数据（如风险偏好测试）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939-5"/>
          <p:cNvSpPr txBox="1"/>
          <p:nvPr/>
        </p:nvSpPr>
        <p:spPr>
          <a:xfrm>
            <a:off x="578975" y="6218086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核心逻辑：职业忧虑（L1）→ 持仓偏离行为（L2）→ 业绩差异 | 为 H1 假设奠定因果基础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9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939-8"/>
          <p:cNvSpPr txBox="1"/>
          <p:nvPr/>
        </p:nvSpPr>
        <p:spPr>
          <a:xfrm>
            <a:off x="11462852" y="6519090"/>
            <a:ext cx="203308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8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95-17"/>
          <p:cNvSpPr/>
          <p:nvPr/>
        </p:nvSpPr>
        <p:spPr>
          <a:xfrm>
            <a:off x="457086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96-19"/>
          <p:cNvCxnSpPr/>
          <p:nvPr/>
        </p:nvCxnSpPr>
        <p:spPr>
          <a:xfrm>
            <a:off x="476131" y="1406931"/>
            <a:ext cx="914" cy="314246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017-20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537" y="1792597"/>
            <a:ext cx="2741770" cy="523744"/>
          </a:xfrm>
          <a:prstGeom prst="rect">
            <a:avLst/>
          </a:prstGeom>
          <a:ln>
            <a:noFill/>
          </a:ln>
        </p:spPr>
      </p:pic>
      <p:sp>
        <p:nvSpPr>
          <p:cNvPr id="6" name="el-1785891665996-18"/>
          <p:cNvSpPr/>
          <p:nvPr/>
        </p:nvSpPr>
        <p:spPr>
          <a:xfrm>
            <a:off x="6151612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023-33"/>
          <p:cNvCxnSpPr/>
          <p:nvPr/>
        </p:nvCxnSpPr>
        <p:spPr>
          <a:xfrm>
            <a:off x="6294451" y="385424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991-6"/>
          <p:cNvSpPr/>
          <p:nvPr/>
        </p:nvSpPr>
        <p:spPr>
          <a:xfrm>
            <a:off x="457086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92-7"/>
          <p:cNvSpPr/>
          <p:nvPr/>
        </p:nvSpPr>
        <p:spPr>
          <a:xfrm>
            <a:off x="6151612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987-3"/>
          <p:cNvSpPr/>
          <p:nvPr/>
        </p:nvSpPr>
        <p:spPr>
          <a:xfrm>
            <a:off x="457086" y="5505228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992-8"/>
          <p:cNvSpPr txBox="1"/>
          <p:nvPr/>
        </p:nvSpPr>
        <p:spPr>
          <a:xfrm>
            <a:off x="457086" y="829027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5992-9"/>
          <p:cNvSpPr txBox="1"/>
          <p:nvPr/>
        </p:nvSpPr>
        <p:spPr>
          <a:xfrm>
            <a:off x="457086" y="1052809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数据计算：公式字母详解与示例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6020-27"/>
          <p:cNvSpPr txBox="1"/>
          <p:nvPr/>
        </p:nvSpPr>
        <p:spPr>
          <a:xfrm>
            <a:off x="628493" y="1492635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RPI 排名压力指数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6029-34"/>
          <p:cNvSpPr txBox="1"/>
          <p:nvPr/>
        </p:nvSpPr>
        <p:spPr>
          <a:xfrm>
            <a:off x="628493" y="239252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RPI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5" name="el-1785891666029-35"/>
          <p:cNvSpPr txBox="1"/>
          <p:nvPr/>
        </p:nvSpPr>
        <p:spPr>
          <a:xfrm>
            <a:off x="952262" y="2392522"/>
            <a:ext cx="43192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排名压力指数，取值 [0, 1]。越接近 1 表示经理面临的排名压力越大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029-36"/>
          <p:cNvSpPr txBox="1"/>
          <p:nvPr/>
        </p:nvSpPr>
        <p:spPr>
          <a:xfrm>
            <a:off x="628493" y="264487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el-1785891666030-37"/>
          <p:cNvSpPr txBox="1"/>
          <p:nvPr/>
        </p:nvSpPr>
        <p:spPr>
          <a:xfrm>
            <a:off x="952262" y="2644872"/>
            <a:ext cx="257200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当前时间点（如 2024Q4），即观测季度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030-38"/>
          <p:cNvSpPr txBox="1"/>
          <p:nvPr/>
        </p:nvSpPr>
        <p:spPr>
          <a:xfrm>
            <a:off x="628493" y="2897221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Exp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030-39"/>
          <p:cNvSpPr txBox="1"/>
          <p:nvPr/>
        </p:nvSpPr>
        <p:spPr>
          <a:xfrm>
            <a:off x="952262" y="2897221"/>
            <a:ext cx="486814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经理从业年限（年），从首次任职日到 T 的年数。Exp = (T - 任职日期) / 365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030-40"/>
          <p:cNvSpPr txBox="1"/>
          <p:nvPr/>
        </p:nvSpPr>
        <p:spPr>
          <a:xfrm>
            <a:off x="628493" y="3149571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N(T)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030-41"/>
          <p:cNvSpPr txBox="1"/>
          <p:nvPr/>
        </p:nvSpPr>
        <p:spPr>
          <a:xfrm>
            <a:off x="1028592" y="3149571"/>
            <a:ext cx="384758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同类型基金总数（如混合型 8479 只），用于标准化排名位置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031-42"/>
          <p:cNvSpPr txBox="1"/>
          <p:nvPr/>
        </p:nvSpPr>
        <p:spPr>
          <a:xfrm>
            <a:off x="628493" y="3401920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Rank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031-43"/>
          <p:cNvSpPr txBox="1"/>
          <p:nvPr/>
        </p:nvSpPr>
        <p:spPr>
          <a:xfrm>
            <a:off x="1028592" y="3401920"/>
            <a:ext cx="385844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该基金在过去 12 个月的业绩排名百分位（0=最好, 1=最差）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031-44"/>
          <p:cNvSpPr txBox="1"/>
          <p:nvPr/>
        </p:nvSpPr>
        <p:spPr>
          <a:xfrm>
            <a:off x="628493" y="3654269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031-45"/>
          <p:cNvSpPr txBox="1"/>
          <p:nvPr/>
        </p:nvSpPr>
        <p:spPr>
          <a:xfrm>
            <a:off x="952262" y="3654269"/>
            <a:ext cx="245311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自然常数 e = 2.71828，用于指数衰减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021-28"/>
          <p:cNvSpPr txBox="1"/>
          <p:nvPr/>
        </p:nvSpPr>
        <p:spPr>
          <a:xfrm>
            <a:off x="6294451" y="1492635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示例计算（经理A vs 经理B）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6018-21"/>
          <p:cNvSpPr txBox="1"/>
          <p:nvPr/>
        </p:nvSpPr>
        <p:spPr>
          <a:xfrm>
            <a:off x="6294451" y="1811643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经理A：首次任职 2022Q1，当前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018-22"/>
          <p:cNvSpPr txBox="1"/>
          <p:nvPr/>
        </p:nvSpPr>
        <p:spPr>
          <a:xfrm>
            <a:off x="6294451" y="206399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(2024.75 - 2022.25)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021-29"/>
          <p:cNvSpPr txBox="1"/>
          <p:nvPr/>
        </p:nvSpPr>
        <p:spPr>
          <a:xfrm>
            <a:off x="6294451" y="231634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0.70（排名后30%）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019-23"/>
          <p:cNvSpPr txBox="1"/>
          <p:nvPr/>
        </p:nvSpPr>
        <p:spPr>
          <a:xfrm>
            <a:off x="6294451" y="2568691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exp(-2.5/8) × 0.70 = 0.731 × 0.70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0.512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019-24"/>
          <p:cNvSpPr txBox="1"/>
          <p:nvPr/>
        </p:nvSpPr>
        <p:spPr>
          <a:xfrm>
            <a:off x="6294451" y="282104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经理B：首次任职 2016Q3，当前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020-25"/>
          <p:cNvSpPr txBox="1"/>
          <p:nvPr/>
        </p:nvSpPr>
        <p:spPr>
          <a:xfrm>
            <a:off x="6294451" y="307339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(2024.75 - 2016.75)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8.0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022-30"/>
          <p:cNvSpPr txBox="1"/>
          <p:nvPr/>
        </p:nvSpPr>
        <p:spPr>
          <a:xfrm>
            <a:off x="6294451" y="3325739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0.50（排名中等）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020-26"/>
          <p:cNvSpPr txBox="1"/>
          <p:nvPr/>
        </p:nvSpPr>
        <p:spPr>
          <a:xfrm>
            <a:off x="6294451" y="35780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exp(-8/8) × 0.50 = 0.368 × 0.50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0.184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022-31"/>
          <p:cNvSpPr txBox="1"/>
          <p:nvPr/>
        </p:nvSpPr>
        <p:spPr>
          <a:xfrm>
            <a:off x="6294451" y="3897096"/>
            <a:ext cx="5414561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A的RPI(0.512) &gt; B的RPI(0.184) → A排名压力更大，更保守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6022-32"/>
          <p:cNvSpPr txBox="1"/>
          <p:nvPr/>
        </p:nvSpPr>
        <p:spPr>
          <a:xfrm>
            <a:off x="6294451" y="42303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V4(400基金)实测：Exp 均值 5.2 年，RPI 均值 0.56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993-10"/>
          <p:cNvSpPr txBox="1"/>
          <p:nvPr/>
        </p:nvSpPr>
        <p:spPr>
          <a:xfrm>
            <a:off x="580880" y="4644622"/>
            <a:ext cx="35878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ak.fund_manager_em()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，免费API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993-11"/>
          <p:cNvSpPr txBox="1"/>
          <p:nvPr/>
        </p:nvSpPr>
        <p:spPr>
          <a:xfrm>
            <a:off x="580880" y="4850251"/>
            <a:ext cx="340317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获取情况：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 5万+条任职记录，400基金 100%覆盖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993-12"/>
          <p:cNvSpPr txBox="1"/>
          <p:nvPr/>
        </p:nvSpPr>
        <p:spPr>
          <a:xfrm>
            <a:off x="580880" y="5036835"/>
            <a:ext cx="4884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处理流程：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过滤在职经理 → 按 fund_code 匹配 → 计算任职年数 → 代入RPI公式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994-13"/>
          <p:cNvSpPr txBox="1"/>
          <p:nvPr/>
        </p:nvSpPr>
        <p:spPr>
          <a:xfrm>
            <a:off x="6275406" y="4644622"/>
            <a:ext cx="269835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994-14"/>
          <p:cNvSpPr txBox="1"/>
          <p:nvPr/>
        </p:nvSpPr>
        <p:spPr>
          <a:xfrm>
            <a:off x="6275406" y="4831206"/>
            <a:ext cx="326167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数据源：Morningstar 光盘（付费），样本 453名经理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994-15"/>
          <p:cNvSpPr txBox="1"/>
          <p:nvPr/>
        </p:nvSpPr>
        <p:spPr>
          <a:xfrm>
            <a:off x="6275406" y="5017789"/>
            <a:ext cx="345748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代理变量：经理年龄 → 本文用 Experience（从业年限）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994-16"/>
          <p:cNvSpPr txBox="1"/>
          <p:nvPr/>
        </p:nvSpPr>
        <p:spPr>
          <a:xfrm>
            <a:off x="6275406" y="5204373"/>
            <a:ext cx="338115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API自动化5万+条 vs 手动453条，效率提升100倍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987-2"/>
          <p:cNvSpPr txBox="1"/>
          <p:nvPr/>
        </p:nvSpPr>
        <p:spPr>
          <a:xfrm>
            <a:off x="509460" y="5533796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H1 回归结果：β=0.0086, p&lt;0.001（显著）| RPI 越高 → AS 越低（保守持仓）→ 业绩越差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5987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5987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245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500110" y="2661834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el-1785891666264-26"/>
          <p:cNvPicPr/>
          <p:nvPr/>
        </p:nvPicPr>
        <p:blipFill>
          <a:blip r:embed="rId2"/>
          <a:stretch>
            <a:fillRect/>
          </a:stretch>
        </p:blipFill>
        <p:spPr>
          <a:xfrm>
            <a:off x="7127978" y="2419007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2495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379026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477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4769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6496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04060" y="2647699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78" y="1208444"/>
            <a:ext cx="3256438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404261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882-24"/>
          <p:cNvPicPr/>
          <p:nvPr/>
        </p:nvPicPr>
        <p:blipFill>
          <a:blip r:embed="rId1"/>
          <a:stretch>
            <a:fillRect/>
          </a:stretch>
        </p:blipFill>
        <p:spPr>
          <a:xfrm>
            <a:off x="1425863" y="2761822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金融学季刊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009-18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5386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1]。0=风格完全不变，1=完全切换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25-53"/>
          <p:cNvSpPr txBox="1"/>
          <p:nvPr/>
        </p:nvSpPr>
        <p:spPr>
          <a:xfrm>
            <a:off x="628493" y="356990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7025-54"/>
          <p:cNvSpPr txBox="1"/>
          <p:nvPr/>
        </p:nvSpPr>
        <p:spPr>
          <a:xfrm>
            <a:off x="952262" y="3569905"/>
            <a:ext cx="25431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系数，与AS相同，买卖两侧各算一次需除以2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1/2 × 80% = 0.40 → 中等风格漂移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7066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59602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7081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771475" y="290242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同类基金换手率中位数: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OCI = |280%-150%|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本文构建（基于Berk &amp; Green 2004理性预期框架）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，不可预测性本身可能是Alpha来源（基于Berk &amp; Green 2004理性预期理论推演）。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OCI=|RG|作为ARG代理(申宇2013) | 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13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95770" y="1489659"/>
            <a:ext cx="3131305" cy="476131"/>
          </a:xfrm>
          <a:prstGeom prst="rect">
            <a:avLst/>
          </a:prstGeom>
          <a:ln>
            <a:noFill/>
          </a:ln>
        </p:spPr>
      </p:pic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+∞)。越大越过度自信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的实际换手率（= 买入额+卖出额 / 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OCI&gt;0 = 过度自信(交易频繁) | OCI&lt;0 = 谨慎(交易少)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73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Berk &amp; Green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AS (Active Share)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L2 持仓偏离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AS = 1/2 x Sigma|w_fund - w_bench|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沪深300(300只)+中证500(500只)等权合成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东方财富全持仓API | 185,144条持仓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逐股比较基金与基准权重之差的绝对值，求和除以2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0.833 (60%+为默认值，缺实际基准)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t>结果: t=-26.81*** (最强负向)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美股正向 vs A股负向 -- 原创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ICI (行业集中度)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L2 持仓偏离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ICI = Sigma(w_fund - w_market)^2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申万一级行业(31个) 全市场流通市值权重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东方财富行业配置 + AKShare市场权重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逐行业算基金与市场配置偏差的平方，求和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0.08 (标准化) | 原始712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t>结果: t=-3.69*** (负向)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美股正向 vs A股负向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t>RG (Return Gap)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L3 交易行为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RG = R_fund - Sigma(w_i,t-1 x r_i,t)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无基准 | 全持仓x个股收益算模拟收益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东方财富净值API + 全持仓(18.5万条)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模拟收益=上季度持仓不变理论收益; RG=实际-模拟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0.93%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结果: t=+9.20*** (正向，与美股一致)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V3前十大算RG=-3.67(错) -&gt; V4全持仓翻正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t>SDI (风格漂移)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L4 风险应对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SDI = 1/2 x Sigma|w_k,t - w_k,t-1|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4类风格指数: 大盘成长/价值+小盘成长/价值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基金净值 + Wind四类风格指数(RBSA估计)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先RBSA回归估计风格权重，再算前后两期曼哈顿距离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0.15 (标准化) | 原始33.4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t>结果: t=-7.69*** (负向稳健)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寇宗来(2020)U型关系 | 牛熊反转: 牛负熊正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t>OCI (过度自信)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L5 认知行为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OCI = |RG| (申宇2013 ARG代理)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无基准 | 理论: 换手率偏离度(缺换手率数据)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当前用|RG|代理 | Phase2用实际换手率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取RG绝对值作为过度交易强度代理变量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0.028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结果: t=+4.40*** | 因子调整后t=+4.79***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Barber&amp;Odean: 过度自信损害 | 本研究发现牛市正向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t>dAS (主动份额变化)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L3 交易行为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dAS = AS_t - AS_{t-1}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同AS，基于沪深300+中证500基准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由AS指标逐期差分得到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本期AS减上期AS，正值=增主动管理，负值=趋被动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-0.001 (略微趋向被动)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结果: t=+2.01** (正向弱显著)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衡量经理增减主动赌注 | 预测力较弱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基准: AS/ICI用沪深300+中证500等权合成 | RG/dAS无基准(全持仓算模拟收益) | SDI用4类Wind风格指数 | OCI用|RG|代理 | 数据量: 400基金 x 40季度 = 9,581观测, 18.5万条持仓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/>
              </a:defRPr>
            </a:pPr>
            <a:r>
              <a:t>核心思想：如果行为指标真有预测力，不管用什么统计方法都应得到一致结论。</a:t>
            </a:r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/>
              </a:defRPr>
            </a:pPr>
            <a:r>
              <a:t>如果不同方法给出矛盾结果，那本身就是发现——说明该指标在不同维度有不同效应。类比医学：新药需经RCT、观察性研究、荟萃分析多方法验证。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1. OLS聚类回归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用t-1期指标预测t期收益，按基金聚类调整标准误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面板数据最基础方法，聚类标准误解决序列相关</a:t>
            </a:r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/>
              </a:defRPr>
            </a:pPr>
            <a:r>
              <a:t>结果: AS最强负向(t=-26.81***)，RG正向(t=+9.20***)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t>2. Fama-MacBeth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逐季度截面回归，40个季度系数取均值，Newey-West修正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纯截面效应——同一时间高AS基金是否比低的收益高</a:t>
            </a:r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t>结果: AS正向(t=+2.76**)——与OLS方向矛盾!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t>3. 基金固定效应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加入基金虚拟变量，消除不随时间变化的基金特征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排除基金固有质量混杂，检验是否基金内部变化驱动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结果: RG最稳健(t=+7.77***)，SDI负向(t=-7.25***)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t>4. 双重排序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按AS五等分，每组内再按ICI五等分，比较最高最低组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非参数方法，不依赖线性假设，直观看激进vs保守差距</a:t>
            </a:r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t>结果: AS五分位差-6.22%/季，RG五分位差+5.14%/季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/>
              </a:defRPr>
            </a:pPr>
            <a:r>
              <a:t>5. 牛熊市分组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按年度基准收益正负分牛市/熊市，分别回归比较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检验环境依赖性——同一行为在不同市场下效果不同</a:t>
            </a:r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/>
              </a:defRPr>
            </a:pPr>
            <a:r>
              <a:t>结果: RG牛正熊负(反转)，SDI牛负熊正(反转)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/>
              </a:defRPr>
            </a:pPr>
            <a:r>
              <a:t>6. 滞后阶数分析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用t-1至t-4期指标分别预测t期收益，检验持续性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持续1期=噪声，持续4期=持久行为特征</a:t>
            </a:r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/>
              </a:defRPr>
            </a:pPr>
            <a:r>
              <a:t>结果: AS持续4/4期，RG持续4/4期但方向交替(1Q正2Q负)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Cremers只研究AS（L2），Kacperczyk只研究RG（L3），Berk &amp; Green只做理论推导（L5），各篇相互独立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Cremers用CRSP+CDA（年费数万美元），寇宗来用Wind（年费数十万人民币），Berk &amp; Green为理论模型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L4：极端市场状态×SDI交互(风险应对)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L5：OCI过度自信+LA损失厌恶(认知行为)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论文整体学术逻辑框架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七章结构 × L1-L5因果递进链条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论文七章结构（约14,000字）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第1章  引言与研究背景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研究问题、贡献声明、论文结构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67128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第2章  文献综述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L1-L5五层分类综述，研究空白论证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16936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第3章  研究设计与数据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五层框架、数据来源、指标定义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66744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12463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第4章  实证结果：九指标回归  (3,000字)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描述统计+OLS+FM+FE回归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16552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第5章  稳健性检验与异质性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六种方法+牛熊市+滞后阶数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59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12079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第6章  结论、讨论与展望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核心发现+贡献+局限+未来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L1-L5因果递进链条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53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L1 背景特征层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4650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从业年限/学历/管理规模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18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Chevalier &amp; Ellison (1999)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23960" y="2075688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167128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0370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L2 持仓偏离层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963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AS(0.673) / ICI(0.08)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68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Cremers &amp; Petajisto (2009)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23960" y="2825496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0" y="2916936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9535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微软雅黑"/>
              </a:defRPr>
            </a:pPr>
            <a:r>
              <a:t>L3 交易行为层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RG(0.93%) / SDI(0.15) / OCI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1810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Kacperczyk et al. (2008)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823960" y="3575304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3666744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703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2410C"/>
                </a:solidFill>
                <a:latin typeface="微软雅黑"/>
              </a:defRPr>
            </a:pPr>
            <a:r>
              <a:rPr>
                <a:solidFill/>
              </a:rPr>
              <a:t>L4 风险应对层(SDI)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9959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处置效应 / 过度自信 / 损失厌恶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6791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Kahneman &amp; Tversky (1979)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823960" y="4325112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0" y="4416552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531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>
                <a:solidFill/>
              </a:rPr>
              <a:t>L5 认知行为层(OCI/LA)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PS = 1 - 预测准确率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617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Cohen et al. (2026)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5"/>
              </a:lnSpc>
              <a:spcAft>
                <a:spcPts val="200"/>
              </a:spcAft>
              <a:defRPr sz="1050" b="1">
                <a:solidFill>
                  <a:srgbClr val="991B1B"/>
                </a:solidFill>
                <a:latin typeface="微软雅黑"/>
              </a:defRPr>
            </a:pPr>
            <a:r>
              <a:rPr>
                <a:solidFill/>
              </a:rPr>
              <a:t>学术逻辑核心：L1经理特征决定信息优势 -&gt; L2持仓偏离体现选股能力 -&gt; L3交易行为揭示隐性信息 -&gt; L4风险应对解释行为偏误 -&gt; L5认知行为验证不可预测性=Alpha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B91C1C"/>
                </a:solidFill>
                <a:latin typeface="微软雅黑"/>
              </a:defRPr>
            </a:pPr>
            <a:r>
              <a:t>每层输出为下层输入，构建从背景到行为到预测的完整因果链条，区别于现有文献的单层独立研究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1 详解：MVP四轮验证（已完成）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每一步做什么、算什么、用什么数据、结果如何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V1-V4四轮验证：200-&gt;400基金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全持仓数据修正AS公式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九指标全模型回归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= 1/2 x Sigma|w_fund - w_bench|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 = R_fund - R_holdings(持仓x个股收益)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ICI = Sigma(w_fund - w_market)^2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 = 风格权重曼哈顿距离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OCI = |RG| (申宇2013修正)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400只偏股混合基金(2006-2026)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361,636条全持仓记录(半年报)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602,904条日度净值记录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沪深300/中证500成分股权重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东方财富API + AKShare(免费)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AS负向(t=-26.81***) 最强预测因子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RG正向(t=+9.20***) 与文献一致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SDI负向(t=-7.69***) 风格漂移有害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全模型R^2=0.0684(提升195%)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FM截面: AS正向(t=+2.76**)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首次中国市场五层九指标整合验证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发现AS负向(与美股相反)+RG正向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OLS/FM方向矛盾是原创发现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全持仓替代前十大近似(方法学)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免费API替代付费数据库(可复现性)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OLS按基金聚类标准误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无未来函数: t-1指标预测t期收益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基金固定效应控制个体异质性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Winsorize极端值(1%/99%)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2 详解：稳健性检验与机制分析（进行中）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进行中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六种方法交叉验证 + 因果推断 + 机制检验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基金固定效应(within R^2)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牛熊市异质性分组检验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x ICI双重排序角落组合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滞后1-4Q预测力持续性分析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FM: 逐季度截面回归取均值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FE: within变换消除个体效应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牛熊市: 月收益&gt;0为牛, &lt;0为熊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双重排序: 先AS五分位再ICI五分位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基金规模变化作为工具变量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Phase 1的400基金面板(7,846 obs)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Fama-French三因子(中国市场)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沪深300月度收益(市场因子)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基金规模TNA(Wind/东方财富)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经理变更记录(事件研究用)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AS: OLS最强(t=-26.81***) / FM正向(t=+2.76**)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RG: OLS+FE均正向(最稳健, t=+9.20***/+7.77***)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SDI: OLS+FE均负向(t=-7.69***/-7.25***)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RG牛熊反转: 牛正(t=+12.62***)/熊负(t=-7.17***)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AS持续4Q / RG持续4Q(方向交替)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OLS负向/FM正向矛盾揭示AS时序vs截面效应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RG牛熊反转是原创发现(无竞争文献)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RG均值回归(1Q正-&gt;2Q负-&gt;3Q正)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SDI风格漂移持续损害业绩(稳健)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六种方法交叉验证增强结论可信度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Newey-West标准误修正自相关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AR检验拒绝弱工具变量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多重检验校正(Bonferroni/Holm)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Fama-French因子调整业绩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Clauser-Shiappacasse样本筛选标准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3 详解：样本扩展与AI预测（待启动）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待启动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>
                <a:solidFill/>
              </a:rPr>
              <a:t>07 论文写作计划 | L4风险应对(SDI) + L5认知行为 + 行为画像标签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样本扩展: 400-&gt;800+基金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市值加权基准AS(替代等权)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L4风险应对(SDI): 处置效应/过度自信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L5认知行为(OCI)(Logistic回归)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XGBoost+SHAP行为画像预测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 = 1 - Logistic预测准确率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处置效应比率 = P(buy loser)/P(sell winner)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过度自信指数 = 超额交易量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SHAP值: 各指标对业绩的贡献度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行为画像标签(聚类分析)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800+偏股混合基金(扩展样本)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基金经理变更事件记录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经理个人特征(年限/学历/性别)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行为金融问卷数据(如可得)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周度持仓数据(如有高频数据)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预期结果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PS高的基金(不可预测)业绩更好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认知偏差指标与业绩负相关(预期)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XGBoost预测R^2 &gt; 0.10(优于OLS)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行为画像: 识别3-5种经理类型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SHAP: AS/RG为最重要预测因子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Cohen et al.(2026)中国本土化验证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首次将五层指标输入ML模型预测业绩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SHAP可解释性弥补黑箱模型缺陷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行为画像标签连接学术与实践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PS独立于AS的增量信息验证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样本外预测(rolling window)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10折交叉验证防过拟合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特征全部滞后(无未来函数)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DID/IV因果推断(L1经理变更)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代码开源+数据公开(可复现性)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学术规范性检查清单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六大规范性维度 × 逐项检验标准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01  未来函数防控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所有指标使用t-1期数据预测t期收益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上季度持仓x 本期个股收益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AS: 使用已披露的半年报持仓计算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PS: 滚动训练窗口(20Q训练/8Q测试)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FM回归: 自变量在t-1取值, 因变量在t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02  过度拟合检验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OLS/FM/FE三种方法交叉验证一致性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XGBoost: 10折交叉验证+早停机制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Logistic PS: 样本外预测准确率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不追求R^2最大化, 关注经济显著性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Harvey &amp; Liu (2014)多重检验校正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03  统计显著性检验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t检验: ***p&lt;0.01, **p&lt;0.05, *p&lt;0.1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Newey-West标准误修正异方差+自相关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OLS按基金聚类(cluster by fund)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FM: Newey-West修正t值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IV: AR检验/Anderson LR/Cragg-Donald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04  样本选择偏差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包含已清盘基金(避免生存偏差)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剔除成立不满1年的基金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至少24个月历史净值数据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剔除停止申购/赎回的样本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稳健性: 含/不含停止申购样本对比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05  稳健性检验矩阵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六种方法: OLS/FM/FE/牛熊市/双重排序/滞后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因子模型: CAPM/FF3/Carhart4/FF5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基准选择: 沪深300/中证500/中证800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AS公式: 全持仓vs前十大对比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原版vs ARG(取绝对值)对比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06  可复现性保障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数据源: AKShare+东方财富(免费公开)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代码开源: Python全流程可复现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随机种子固定(np.random.seed)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版本控制: 参数版本+回滚机制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数据管线文档化: 每步可追溯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核心发现 + 学术贡献 + 局限性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核心发现（V5修复后）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1. AS负向预测(t=-26.81***)：与美股相反，A股高AS基金业绩更差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机制：A股散户占比高，主动偏离信息优势受限，过度自信导致过度交易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2. RG正向预测(t=+9.20***)：与Kacperczyk(2008)一致，隐形交易创造价值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机制：基金经理利用私有信息进行中间交易，净效应为正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3. SDI负向预测(t=-7.69***)：风格漂移持续损害业绩(OLS+FE均显著)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4. RG牛熊反转(牛正/熊负)：牛市隐形交易增厚收益，熊市拖累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5. OLS/FM方向矛盾：AS时序负向但截面正向，揭示两类信号差异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6. 全模型R^2=0.0684(提升195%)，行为信号分化而非全面负向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四重学术贡献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669280" cy="2286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框架整合创新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首次将5篇顶级期刊文献的独立指标整合为L1-&gt;L5因果递进框架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数据民主化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全流程免费API替代付费数据库，研究可复现性极大提升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中国市场本土化发现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AS负向+RG正向信号分化，OLS/FM矛盾是原创发现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全持仓方法学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通过东方财富API获取半年报全持仓，替代前十大近似计算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研究局限性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06240"/>
            <a:ext cx="5577840" cy="210312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51960"/>
            <a:ext cx="5303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1. 样本局限：400基金可能不足以代表全市场，需扩展至800+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2. 持仓频率：半年报全持仓仍低于美国季度披露，RG精度受限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3. 因果识别：预测性回归非严格因果，需IV/DID增强识别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4. L4风险应对(SDI已完成) | L5认知行为(OCI用|RG|代理, LA待补)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5. 因子模型：中国市场因子模型本身存在设定问题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6. 数据挖掘风险：多指标多方法检验可能产生假发现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未来研究方向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0624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394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1. L5完整实现：LSTM深度学习预测基金经理交易行为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2. 高频数据：周度/日度持仓数据提升RG和PS精度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3. 因果推断：经理变更事件作为自然实验(DID)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4. 行为问卷：结合行为金融问卷调查验证认知偏差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5. 跨市场比较：中国市场vs美国市场的行为差异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6. 实时预测系统：将研究成果转化为实时基金筛选工具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40080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论文写作计划核心：三阶段递进（MVP验证 -&gt; 稳健性检验 -&gt; AI预测），用最严谨的学术逻辑构建L1-L5因果链条，每一步可检验、可复现、可追溯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23727</Words>
  <Application>WPS 演示</Application>
  <PresentationFormat/>
  <Paragraphs>2597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Courier New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</cp:revision>
  <dcterms:created xsi:type="dcterms:W3CDTF">2026-08-05T01:04:03Z</dcterms:created>
  <dcterms:modified xsi:type="dcterms:W3CDTF">2026-08-05T01:04:04Z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