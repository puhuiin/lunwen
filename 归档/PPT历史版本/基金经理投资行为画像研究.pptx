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2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300" r:id="rId37"/>
    <p:sldId id="301" r:id="rId38"/>
    <p:sldId id="305" r:id="rId42"/>
    <p:sldId id="306" r:id="rId43"/>
    <p:sldId id="308" r:id="rId45"/>
    <p:sldId id="309" r:id="rId49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42.xml"/><Relationship Id="rId45" Type="http://schemas.openxmlformats.org/officeDocument/2006/relationships/slide" Target="slides/slide38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39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286000" cy="547884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286000" cy="527102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572000" cy="7356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BHS案例：小王(输家·新手) vs 老李(赢家·老手)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小王（从业3年·8亿规模）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上半年月收益：-1%, +0.5%, -2%, +1%, +0.5%, -1%</a:t>
            </a:r>
            <a:br/>
            <a:r>
              <a:t>CR = (0.99)(1.005)(0.98)(1.01)(1.005)(0.99)-1 = -2.0%</a:t>
            </a:r>
            <a:br/>
            <a:r>
              <a:t>同类100只基金排名：第85名 → 输家(Loser)</a:t>
            </a:r>
            <a:br/>
            <a:r>
              <a:t>上半年 σ_rank = 1.17%（月度波动小）</a:t>
            </a:r>
            <a:br/>
            <a:r>
              <a:t>下半年行为：重仓半导体 15%→40%，追涨杀跌</a:t>
            </a:r>
            <a:br/>
            <a:r>
              <a:t>下半年月收益：+4%, -3%, +5%, -2%, +3%, -4%</a:t>
            </a:r>
            <a:br/>
            <a:r>
              <a:t>下半年 σ_test = 3.94%（波动翻3倍）</a:t>
            </a:r>
            <a:br/>
            <a:r>
              <a:t>RAR = 3.94/1.17 = 3.37 &gt;&gt; 1 → 大幅增险</a:t>
            </a:r>
            <a:br/>
            <a:r>
              <a:t>结果：全年-8.5%，排名跌至后5%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老李（从业10年·50亿规模）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上半年月收益：+1.5%, +1%, +0.5%, +2%, +1%, +0.5%</a:t>
            </a:r>
            <a:br/>
            <a:r>
              <a:t>CR = (1.015)(1.01)(1.005)(1.02)(1.01)(1.005)-1 = +6.7%</a:t>
            </a:r>
            <a:br/>
            <a:r>
              <a:t>同类100只基金排名：第8名 → 赢家(Winner)</a:t>
            </a:r>
            <a:br/>
            <a:r>
              <a:t>上半年 σ_rank = 0.58%（波动平稳）</a:t>
            </a:r>
            <a:br/>
            <a:r>
              <a:t>下半年行为：维持均衡配置，适度获利了结</a:t>
            </a:r>
            <a:br/>
            <a:r>
              <a:t>下半年月收益：+0.8%, +0.5%, +1%, +0.3%, +0.6%, +0.4%</a:t>
            </a:r>
            <a:br/>
            <a:r>
              <a:t>下半年 σ_test = 0.26%（波动进一步降低）</a:t>
            </a:r>
            <a:br/>
            <a:r>
              <a:t>RAR = 0.26/0.58 = 0.45 &lt; 1 → 明显降险</a:t>
            </a:r>
            <a:br/>
            <a:r>
              <a:t>结果：全年+12.8%，排名稳居前10%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输家RAR(3.37) &gt;&gt; 赢家RAR(0.45)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从业年限短(3年)→职业忧虑强→增险更激进 | 从业年限长(10年)→职业安全高→降险保收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3200400" cy="55841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 CR</a:t>
            </a:r>
            <a:br/>
            <a:r>
              <a:t>上半年6个月收益率：</a:t>
            </a:r>
            <a:br/>
            <a:r>
              <a:t>  1月=-1%, 2月=+0.5%, 3月=-2%, 4月=+1%, 5月=+0.5%, 6月=-1%</a:t>
            </a:r>
            <a:br/>
            <a:r>
              <a:t>CR = (1-0.01)×(1+0.005)×(1-0.02)×(1+0.01)×(1+0.005)×(1-0.01) - 1</a:t>
            </a:r>
            <a:br/>
            <a:r>
              <a:t>   = 0.99 × 1.005 × 0.98 × 1.01 × 1.005 × 0.99 - 1</a:t>
            </a:r>
            <a:br/>
            <a:r>
              <a:t>   = 0.980 - 1 = -2.0%</a:t>
            </a:r>
            <a:br/>
            <a:r>
              <a:t>同类100只基金中排名第85 → 后15% → 输家(Loser)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743200" cy="657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 σ_rank</a:t>
            </a:r>
            <a:br/>
            <a:r>
              <a:t>上半年月度收益率均值 R̄ = (-1+0.5-2+1+0.5-1)/6 = -0.33%</a:t>
            </a:r>
            <a:br/>
            <a:r>
              <a:t>各月偏差²：(0.67²)+(0.83²)+(1.67²)+(1.33²)+(0.83²)+(0.67²)</a:t>
            </a:r>
            <a:br/>
            <a:r>
              <a:t>       = 0.45+0.69+2.79+1.77+0.69+0.45 = 6.84</a:t>
            </a:r>
            <a:br/>
            <a:r>
              <a:t>方差 = 6.84/5 = 1.37</a:t>
            </a:r>
            <a:br/>
            <a:r>
              <a:t>σ_rank = √1.37 = 1.17%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657600" cy="7598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 σ_test</a:t>
            </a:r>
            <a:br/>
            <a:r>
              <a:t>小王下半年重仓半导体(15%→40%)追涨</a:t>
            </a:r>
            <a:br/>
            <a:r>
              <a:t>下半年月收益：+4%, -3%, +5%, -2%, +3%, -4%</a:t>
            </a:r>
            <a:br/>
            <a:r>
              <a:t>均值 R̄ = (4-3+5-2+3-4)/6 = 0.5%</a:t>
            </a:r>
            <a:br/>
            <a:r>
              <a:t>偏差²之和 = 12.25+12.25+20.25+6.25+6.25+20.25 = 77.5</a:t>
            </a:r>
            <a:br/>
            <a:r>
              <a:t>方差 = 77.5/5 = 15.5</a:t>
            </a:r>
            <a:br/>
            <a:r>
              <a:t>σ_test = √15.5 = 3.94%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657600" cy="6844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 RAR</a:t>
            </a:r>
            <a:br/>
            <a:r>
              <a:t>RAR = σ_test / σ_rank = 3.94% / 1.17% = 3.37</a:t>
            </a:r>
            <a:br/>
            <a:r>
              <a:t>RAR = 3.37 &gt;&gt; 1 → 下半年风险是上半年的3.37倍</a:t>
            </a:r>
            <a:br/>
            <a:r>
              <a:t>经济含义：输家在下半年大幅增加风险敞口</a:t>
            </a:r>
            <a:br/>
            <a:r>
              <a:t>对比：赢家老李 RAR = 0.26/0.58 = 0.45 &lt; 1 → 降险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286000" cy="5271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  <a:br/>
            <a:r>
              <a:t>H0: 输家RAR = 赢家RAR（无锦标赛效应）</a:t>
            </a:r>
            <a:br/>
            <a:r>
              <a:t>H1: 输家RAR &gt; 赢家RAR（锦标赛效应存在）</a:t>
            </a:r>
            <a:br/>
            <a:r>
              <a:t>小王(输家) RAR = 3.37  vs  老李(赢家) RAR = 0.45</a:t>
            </a:r>
            <a:br/>
            <a:r>
              <a:t>输家RAR是赢家RAR的7.5倍 → 拒绝H0</a:t>
            </a:r>
            <a:br/>
            <a:r>
              <a:t>结论：锦标赛效应显著，输家增险翻盘，赢家降险保收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572000" cy="7356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BHS示例计算：小王2024年锦标赛行为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同类基金100只，CR=-2.0% 排名第85名(后15%) → 输家(Loser)</a:t>
            </a:r>
            <a:br/>
            <a:r>
              <a:t>[2] 下半年重仓半导体(15%→40%)，月收益波动从1.17%升至3.94%</a:t>
            </a:r>
            <a:br/>
            <a:r>
              <a:t>[3] RAR = 3.94/1.17 = 3.37 &gt;&gt; 1 → 大幅增险，锦标赛效应验证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</a:t>
            </a:r>
            <a:br/>
            <a:r>
              <a:t>直观对比：输家RAR=3.37(增险237%) vs 赢家RAR=0.45(降险55%) → 差异7.5倍</a:t>
            </a:r>
            <a:br/>
            <a:r>
              <a:t>数据来源：AKShare ak.fund_manager_em()（免费API）+ fund_open_fund_info_em（净值数据）| 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193792"/>
            <a:ext cx="1104528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325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440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6509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4114800" cy="102699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4114800" cy="1115416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3200400" cy="798777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3200400" cy="867546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881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求和上界（滚动窗口期数，如4季度T=4）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
[2] Q3 RG = +0.80%, Q4 RG = +0.30%
[3] ARG = |1.36|+|-0.50|+|0.80|+|0.30|
     = 1.36+0.50+0.80+0.30 = 2.96%/年
[4] ARG = 2.96% → 经理4季度隐形交易总规模2.96%，即使Q2操作拖累业绩（RG=-0.50%），其交易量仍计入总活跃度。ARG恒为正值，仅衡量交易频率，不判断收益方向。参考：ARG&lt;1%为低频交易型，ARG&gt;4%为高频调仓型</a:t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1920240"/>
            <a:ext cx="5603615" cy="1141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134558"/>
            <a:ext cx="5603615" cy="1519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463040"/>
            <a:ext cx="5603615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1965960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207710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207710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345459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345459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3701486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3701486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425237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425237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103120"/>
            <a:ext cx="2286000" cy="271661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47933"/>
            <a:ext cx="4572000" cy="522033"/>
          </a:xfrm>
          <a:prstGeom prst="rect">
            <a:avLst/>
          </a:prstGeom>
        </p:spPr>
      </p:pic>
      <p:pic>
        <p:nvPicPr>
          <p:cNvPr id="53" name="Picture 52" descr="u_shape_ax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975806"/>
            <a:ext cx="3200400" cy="376279"/>
          </a:xfrm>
          <a:prstGeom prst="rect">
            <a:avLst/>
          </a:prstGeom>
        </p:spPr>
      </p:pic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Barber &amp; Odean (2001) QJE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  <a:defRPr sz="1270">
                <a:solidFill>
                  <a:srgbClr val="4B5563"/>
                </a:solidFill>
                <a:latin typeface="宋体"/>
              </a:defRPr>
            </a:pPr>
            <a:r>
              <a:t>理论背景：Barber &amp; Odean(2001)发现过度自信投资者交易过多，用换手率衡量过度自信程度。OCI为本文构建指标，将换手率Z-score标准化以衡量基金经理过度自信。理论基础：前景理论(Kahneman &amp; Tversky, 1979)解释非理性行为。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45152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理论公式: OCI = (TO_{i,t} - TŌ_t) / σ(TO)，本文构建，受Barber &amp; Odean(2001)换手率代理启发 | 实际实现: OCI = |RG_t|（申宇2013 ARG代理，当前缺换手率数据时使用）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/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t>输入：L1~L5五层指标 | β₀~β₅: 回归系数 | σ: Sigmoid激活函数 | 输出：行为标签概率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3" y="3596539"/>
            <a:ext cx="4572000" cy="537542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OCI = |RG_t|（实际实现，理论公式见L5详解）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OCI: |RG|代理(均值0.028, 理论公式为换手率Z-score)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三阶段研究计划 + 2周写作计划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三阶段递进计划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1.0 — MVP四轮验证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V1-V4: 200→400基金, 全持仓修正AS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AS最强(t=-26.81***), R²=0.0684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2.0 — 稳健性检验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六种方法交叉验证: OLS/FM/FE/双重排序/牛熊市/滞后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FM: AS正向(t=+2.76**) | FE: RG最稳健(t=+7.77***)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待做: IV/DID因果推断 + 市值加权基准 + FF因子调整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Phase 3.0 — 扩展+预测 [待启动]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800+基金 + 经理变更事件(IV) + XGBoost预测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L5: OCI+LA(损失厌恶) + LSTM行为画像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不做: 实时交易策略/基金推荐系统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2周写作计划（七章约14,000字）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第1周: 实证收尾 + 文献定稿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FF三因子调整后收益回归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描述统计表 + 回归结果表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文献综述精修(补充邢欣羿/朱宏志)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第2周: 全文撰写 + 修改定稿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Ch1 引言(2,000字)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Ch2 文献综述(2,500字)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Ch3 研究设计(2,000字)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Ch4 实证结果(3,000字)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Ch5 稳健性检验(2,500字)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Ch6 结论讨论(2,000字)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○ 导师反馈 → 修改 → 查重定稿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逻辑: 做什么→用什么数据→怎么算→结果→含义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L1-L2 数据获取：BHS + AS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BHS需要: 基金月度净值收益率 → CR=Π(1+R_t)-1, RAR=σ_下半年/σ_上半年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fund_open_fund_info_em（免费，602,904条净值）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Experience: 基金经理任职起止日期 → Exp=(当前日期-首次任职)/365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fund_manager_em（5万+条任职记录，400基金100%覆盖）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补充: 学历/CFA/性别 → CSMAR基金经理库（学校账号）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Brown, Harlow &amp; Starks (1996) JF | Chevalier &amp; Ellison (1999) QJE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AS需要: 基金全持仓权重 + 基准指数成分股权重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东方财富全持仓API（半年报/年报, 185,144条）| 沪深300/中证500成分股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= 1/2 × Σ|w_fund - w_index|，V4修正后均值0.673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ICI需要: 基金行业配置权重 +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AKShare行业配置 + 申万一级31个行业全市场流通市值加权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= Σ(w_fund - w_market)²，V4修复后均值0.096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Cremers &amp; Petajisto (2009) RFS | Kacperczyk et al. (2005) 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P0(必须):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P1(重要):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P2(可选): Wind风格指数(付费) → 用行业配置法替代 | 换手率数据 → 用|RG|代理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L3-L5 数据获取：RG/ARG + SDI + OCI/PS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RG需要: 基金净值收益率 + 上季度末持仓权重 +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东方财富净值API | 全持仓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 = R_fund - Σ(w_i × r_i)，V4均值0.93%，t=9.20***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ARG = Σ|RG_t|（绝对值求和，非平均×4），覆盖95个季度观测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注意: 持仓日期 &lt; 收益日期（防未来函数）| 港股单独计算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Kacperczyk et al. (2008) RFS | 申宇等 (2013) 管理世界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风格漂移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SDI需要: 基金风格权重（相邻两期对比）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方法A(已验证): 行业配置法 → SDI = Σ|w_t - w_{t-1}|（无1/2系数）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方法B: 风格指数法 → Wind风格指数 或 自行构建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寇宗来等 (2020) 金融研究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486400" cy="12344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OCI +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OCI理论=(TO-TŌ)/σ(TO) | 实际=|RG|代理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PS = σ(β₀+Σβₖ·Lₖ)，输入L1~L5全部指标（含OCI），零额外数据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模型: 1.0 Logistic → 2.0 XGBoost → 3.0 LSTM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Barber &amp; Odean (2001) QJE | Kahneman &amp; Tversky (1979)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数据管线完整流程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Step1: 下载基金日度净值 → 月度收益率 | Step2: 提取上季度末全持仓权重 | Step3: 下载个股月度收益率（前复权）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Step4: 计算持仓模拟收益 R_hold = Σ(w_i × r_i) | Step5: RG = R_fund - R_hold | Step6: ARG = Σ|RG_t|（绝对值求和）</a:t>
            </a:r>
          </a:p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全部数据源免费可复现 | 400基金 × 20年 | 36万全持仓 + 60万净值 | 九指标全部计算完成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04 MVP与执行计划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 + MVP执行计划 + 数据需求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1. BHS替换RPI → L1引用顶刊JF原文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2. SDI删除1/2系数 → 纯曼哈顿距离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3. ARG改为Σ|RG_t| → 绝对值求和(申宇2013)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4. OCI标注为本文构建(理论=换手率Z-score, 实际=|RG|代理) → 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5. RG费用项说明 → 中国净值已费后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MVP四阶段: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0(2-3天): 修复数据+重算指标+重跑回归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1(1-2天): VIF+安慰剂+描述统计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2(2-3周): 写论文Ch4-7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3(1-2天): PPT+答辩+归档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核心原则: 每步变动重新验证 | 全部免费可复现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数据需求清单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L1 BHS: 月度净值(AKShare) + 经理任职(AKShare)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补充: CSMAR经理特征(学历/CFA/性别)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L2 AS/ICI: 全持仓(东方财富) + 基准成分股(AKShare)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申万一级31个行业权重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L3 RG/ARG: 净值 + 持仓 + 个股收益(AKShare)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ARG=Σ|RG_t|需保留每期RG正负号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L4 SDI: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L5 OCI: |RG|代理(当前) 或 换手率(季报)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PS: L1~L5全部指标（含OCI），零额外数据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P0(已获取): 净值+持仓+任职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P1(需补充): FF因子+CSMAR特征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P2(可选): Wind风格指数+换手率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预计总周期4-5周 | 新公式均对照原文核实 | 全部数据源免费可复现 | 代码开源确保可复现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