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99" r:id="rId49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24.xml"/><Relationship Id="rId46" Type="http://schemas.openxmlformats.org/officeDocument/2006/relationships/slide" Target="slides/slide26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背景特征层：职业忧虑如何驱动行为差异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理论依据：Chevalier &amp; Ellison (1999) QJE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排名压力指数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0.77（高压）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0.45（低压）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RPI、学历、管理规模等特征；3.0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RPI 排名压力指数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RPI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排名压力指数，取值 [0, 1]。越接近 1 表示经理面临的排名压力越大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当前时间点（如 2024Q4），即观测季度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经理从业年限（年），从首次任职日到 T 的年数。Exp = (T - 任职日期) / 365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同类型基金总数（如混合型 8479 只），用于标准化排名位置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该基金在过去 12 个月的业绩排名百分位（0=最好, 1=最差）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自然常数 e = 2.71828，用于指数衰减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A的RPI(0.512) &gt; B的RPI(0.184) → A排名压力更大，更保守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V4(400基金)实测：Exp 均值 5.2 年，RPI 均值 0.56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代入RPI公式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数据源：Morningstar 光盘（付费），样本 453名经理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代理变量：经理年龄 → 本文用 Experience（从业年限）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回归结果：β=0.0086, p&lt;0.001（显著）| RPI 越高 → AS 越低（保守持仓）→ 业绩越差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金融学季刊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本文构建（基于Berk &amp; Green 2004理性预期框架）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，不可预测性本身可能是Alpha来源（基于Berk &amp; Green 2004理性预期理论推演）。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OCI&gt;0 = 过度自信(交易频繁) | OCI&lt;0 = 谨慎(交易少)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73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Berk &amp; Green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300" b="1"/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950" b="0"/>
              <a:t>公式: AS = 1/2 x Sigma|w_fund - w_bench|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基准: 沪深300(300只)+中证500(500只)等权合成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数据: 东方财富全持仓API | 185,144条持仓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计算: 逐股比较基金与基准权重之差的绝对值，求和除以2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均值: 0.833 (60%+为默认值，缺实际基准)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950" b="0"/>
              <a:t>结果: t=-26.81*** (最强负向)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950" b="0"/>
              <a:t>对比: 美股正向 vs A股负向 -- 原创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300" b="1"/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950" b="0"/>
              <a:t>公式: ICI = Sigma(w_fund - w_market)^2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基准: 申万一级行业(31个) 全市场流通市值权重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数据: 东方财富行业配置 + AKShare市场权重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计算: 逐行业算基金与市场配置偏差的平方，求和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均值: 0.08 (标准化) | 原始712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950" b="0"/>
              <a:t>结果: t=-3.69*** (负向)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950" b="0"/>
              <a:t>对比: 美股正向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300" b="1"/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950" b="0"/>
              <a:t>公式: RG = R_fund - Sigma(w_i,t-1 x r_i,t)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基准: 无基准 | 全持仓x个股收益算模拟收益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数据: 东方财富净值API + 全持仓(18.5万条)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计算: 模拟收益=上季度持仓不变理论收益; RG=实际-模拟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均值: 0.93%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950" b="0"/>
              <a:t>结果: t=+9.20*** (正向，与美股一致)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950" b="0"/>
              <a:t>对比: V3前十大算RG=-3.67(错)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300" b="1"/>
              <a:t>SDI (风格漂移)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950" b="0"/>
              <a:t>公式: SDI = 1/2 x Sigma|w_k,t - w_k,t-1|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基准: 4类风格指数: 大盘成长/价值+小盘成长/价值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数据: 基金净值 + Wind四类风格指数(RBSA估计)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计算: 先RBSA回归估计风格权重，再算前后两期曼哈顿距离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均值: 0.15 (标准化) | 原始33.4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rPr sz="950" b="0"/>
              <a:t>结果: t=-7.69*** (负向稳健)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950" b="0"/>
              <a:t>对比: 寇宗来(2020)U型关系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300" b="1"/>
              <a:t>OCI (过度自信)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950" b="0"/>
              <a:t>公式: OCI = |RG| (申宇2013 ARG代理)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基准: 无基准 | 理论: 换手率偏离度(缺换手率数据)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数据: 当前用|RG|代理 | Phase2用实际换手率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计算: 取RG绝对值作为过度交易强度代理变量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均值: 0.028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950" b="0"/>
              <a:t>结果: t=+4.40*** | 因子调整后t=+4.79***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950" b="0"/>
              <a:t>对比: Barber&amp;Odean: 过度自信损害 | 本研究发现牛市正向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300" b="1"/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rPr sz="950" b="0"/>
              <a:t>公式: dAS = AS_t - AS_{t-1}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基准: 同AS，基于沪深300+中证500基准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数据: 由AS指标逐期差分得到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计算: 本期AS减上期AS，正值=增主动管理，负值=趋被动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均值: -0.001 (略微趋向被动)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950" b="0"/>
              <a:t>结果: t=+2.01** (正向弱显著)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rPr sz="950" b="0"/>
              <a:t>对比: 衡量经理增减主动赌注 | 预测力较弱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850" b="0"/>
              <a:t>基准: AS/ICI用沪深300+中证500等权合成 | RG/dAS无基准(全持仓算模拟收益)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/>
              </a:defRPr>
            </a:pPr>
            <a:r>
              <a:rPr sz="1000" b="0"/>
              <a:t>核心思想：如果行为指标真有预测力，不管用什么统计方法都应得到一致结论。</a:t>
            </a:r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/>
              </a:defRPr>
            </a:pPr>
            <a:r>
              <a:rPr sz="1000" b="0"/>
              <a:t>如果不同方法给出矛盾结果，那本身就是发现——说明该指标在不同维度有不同效应。类比医学：新药需经RCT、观察性研究、荟萃分析多方法验证。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rPr sz="1200" b="1"/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做什么: 用t-1期指标预测t期收益，按基金聚类调整标准误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为什么: 面板数据最基础方法，聚类标准误解决序列相关</a:t>
            </a:r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rPr sz="950" b="0"/>
              <a:t>结果: 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rPr sz="1200" b="1"/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做什么: 逐季度截面回归，40个季度系数取均值，Newey-West修正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为什么: 纯截面效应——同一时间高AS基金是否比低的收益高</a:t>
            </a:r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rPr sz="950" b="0"/>
              <a:t>结果: AS正向(t=+2.76**)——与OLS方向矛盾!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rPr sz="1200" b="1"/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做什么: 加入基金虚拟变量，消除不随时间变化的基金特征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为什么: 排除基金固有质量混杂，检验是否基金内部变化驱动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rPr sz="950" b="0"/>
              <a:t>结果: 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rPr sz="1200" b="1"/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做什么: 按AS五等分，每组内再按ICI五等分，比较最高最低组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为什么: 非参数方法，不依赖线性假设，直观看激进vs保守差距</a:t>
            </a:r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rPr sz="950" b="0"/>
              <a:t>结果: 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/>
              </a:defRPr>
            </a:pPr>
            <a:r>
              <a:rPr sz="1200" b="1"/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做什么: 按年度基准收益正负分牛市/熊市，分别回归比较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为什么: 检验环境依赖性——同一行为在不同市场下效果不同</a:t>
            </a:r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/>
              </a:defRPr>
            </a:pPr>
            <a:r>
              <a:rPr sz="950" b="0"/>
              <a:t>结果: 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/>
              </a:defRPr>
            </a:pPr>
            <a:r>
              <a:rPr sz="1200" b="1"/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做什么: 用t-1至t-4期指标分别预测t期收益，检验持续性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rPr sz="950" b="0"/>
              <a:t>为什么: 持续1期=噪声，持续4期=持久行为特征</a:t>
            </a:r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/>
              </a:defRPr>
            </a:pPr>
            <a:r>
              <a:rPr sz="950" b="0"/>
              <a:t>结果: AS持续4/4期，RG持续4/4期但方向交替(1Q正2Q负)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rPr sz="85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Cremers只研究AS（L2），Kacperczyk只研究RG（L3），Berk &amp; Green只做理论推导（L5），各篇相互独立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Cremers用CRSP+CDA（年费数万美元），寇宗来用Wind（年费数十万人民币），Berk &amp; Green为理论模型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rPr>
                <a:solidFill/>
              </a:rPr>
              <a:t>L4 风险应对层(SDI)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>
                <a:solidFill/>
              </a:rPr>
              <a:t>L5 认知行为层(OCI/LA)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rPr>
                <a:solidFill/>
              </a:rPr>
              <a:t>学术逻辑核心：L1经理特征决定信息优势 -&gt; L2持仓偏离体现选股能力 -&gt; L3交易行为揭示隐性信息 -&gt; L4风险应对解释行为偏误 -&gt; L5认知行为验证不可预测性=Alpha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olidFill/>
              </a:rPr>
              <a:t>07 论文写作计划 | L4风险应对(SDI) + L5认知行为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L4风险应对(SDI): 风格漂移分析/波动率管理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L5认知行为(OCI/LA): 过度自信/损失厌恶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4. L4风险应对(SDI已完成) | L5认知行为(OCI用|RG|代理, LA待补)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