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47"/>
    <p:sldId id="295" r:id="rId45"/>
    <p:sldId id="298" r:id="rId48"/>
    <p:sldId id="281" r:id="rId28"/>
    <p:sldId id="296" r:id="rId46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9"/>
    <p:sldId id="290" r:id="rId40"/>
    <p:sldId id="291" r:id="rId41"/>
    <p:sldId id="292" r:id="rId42"/>
    <p:sldId id="293" r:id="rId43"/>
    <p:sldId id="294" r:id="rId44"/>
  </p:sldIdLst>
  <p:sldSz cx="1219169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23.xml"/><Relationship Id="rId46" Type="http://schemas.openxmlformats.org/officeDocument/2006/relationships/slide" Target="slides/slide28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认知偏差层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Kahneman &amp; Tversky(1979)前景理论 · Barberis &amp; Thaler(2002)行为金融综述 · Puetz &amp; Ruenzi(2008)过度自信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AI预测层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Cohen et al.(2026)AI模仿金融行为 · Kaniel et al.(2022)ML预测技能 · Xu et al.(2025)中国ML预测 · Zhang(2024)StockAgent LLM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41-9"/>
          <p:cNvSpPr/>
          <p:nvPr/>
        </p:nvSpPr>
        <p:spPr>
          <a:xfrm>
            <a:off x="533267" y="843609"/>
            <a:ext cx="11122419" cy="139402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41-11"/>
          <p:cNvCxnSpPr/>
          <p:nvPr/>
        </p:nvCxnSpPr>
        <p:spPr>
          <a:xfrm>
            <a:off x="552312" y="843609"/>
            <a:ext cx="914" cy="139402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941-10"/>
          <p:cNvSpPr/>
          <p:nvPr/>
        </p:nvSpPr>
        <p:spPr>
          <a:xfrm>
            <a:off x="533267" y="2332857"/>
            <a:ext cx="11122419" cy="11141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5962-12"/>
          <p:cNvPicPr/>
          <p:nvPr/>
        </p:nvPicPr>
        <p:blipFill>
          <a:blip r:embed="rId1"/>
          <a:stretch>
            <a:fillRect/>
          </a:stretch>
        </p:blipFill>
        <p:spPr>
          <a:xfrm>
            <a:off x="4225067" y="2666149"/>
            <a:ext cx="3738818" cy="714196"/>
          </a:xfrm>
          <a:prstGeom prst="rect">
            <a:avLst/>
          </a:prstGeom>
          <a:ln>
            <a:noFill/>
          </a:ln>
        </p:spPr>
      </p:pic>
      <p:sp>
        <p:nvSpPr>
          <p:cNvPr id="7" name="el-1785891665972-19"/>
          <p:cNvSpPr/>
          <p:nvPr/>
        </p:nvSpPr>
        <p:spPr>
          <a:xfrm>
            <a:off x="533267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972-20"/>
          <p:cNvSpPr/>
          <p:nvPr/>
        </p:nvSpPr>
        <p:spPr>
          <a:xfrm>
            <a:off x="6161134" y="3542230"/>
            <a:ext cx="5494551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38-3"/>
          <p:cNvSpPr/>
          <p:nvPr/>
        </p:nvSpPr>
        <p:spPr>
          <a:xfrm>
            <a:off x="533267" y="5399141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5891665939-4"/>
          <p:cNvCxnSpPr/>
          <p:nvPr/>
        </p:nvCxnSpPr>
        <p:spPr>
          <a:xfrm>
            <a:off x="552312" y="5399141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5939-6"/>
          <p:cNvSpPr/>
          <p:nvPr/>
        </p:nvSpPr>
        <p:spPr>
          <a:xfrm>
            <a:off x="533267" y="6170473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5963-13"/>
          <p:cNvSpPr txBox="1"/>
          <p:nvPr/>
        </p:nvSpPr>
        <p:spPr>
          <a:xfrm>
            <a:off x="533267" y="149499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963-14"/>
          <p:cNvSpPr txBox="1"/>
          <p:nvPr/>
        </p:nvSpPr>
        <p:spPr>
          <a:xfrm>
            <a:off x="533267" y="401849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背景特征层：职业忧虑如何驱动行为差异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964-15"/>
          <p:cNvSpPr txBox="1"/>
          <p:nvPr/>
        </p:nvSpPr>
        <p:spPr>
          <a:xfrm>
            <a:off x="742764" y="948358"/>
            <a:ext cx="10865308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理论依据：Chevalier &amp; Ellison (1999) QJE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5965-16"/>
          <p:cNvSpPr txBox="1"/>
          <p:nvPr/>
        </p:nvSpPr>
        <p:spPr>
          <a:xfrm>
            <a:off x="742764" y="1319740"/>
            <a:ext cx="10627243" cy="5218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年轻基金经理面临更强的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——离职概率对业绩高度敏感，留任概率与业绩呈凹函数关系。因此年轻经理倾向于：</a:t>
            </a: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减少非系统性风险、避免极端行业配置、跟踪基准更紧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。经验丰富的经理职业忧虑较弱，更敢于偏离基准。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965-17"/>
          <p:cNvSpPr txBox="1"/>
          <p:nvPr/>
        </p:nvSpPr>
        <p:spPr>
          <a:xfrm>
            <a:off x="742764" y="1868183"/>
            <a:ext cx="6376346" cy="247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中国场景：</a:t>
            </a: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短期排名压力更强（季度排名公开），职业忧虑效应可能比美股更突出。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965-18"/>
          <p:cNvSpPr txBox="1"/>
          <p:nvPr/>
        </p:nvSpPr>
        <p:spPr>
          <a:xfrm>
            <a:off x="5478184" y="2399516"/>
            <a:ext cx="133923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排名压力指数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975-21"/>
          <p:cNvSpPr txBox="1"/>
          <p:nvPr/>
        </p:nvSpPr>
        <p:spPr>
          <a:xfrm>
            <a:off x="695151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经理A（年轻型）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975-22"/>
          <p:cNvSpPr txBox="1"/>
          <p:nvPr/>
        </p:nvSpPr>
        <p:spPr>
          <a:xfrm>
            <a:off x="695151" y="3965986"/>
            <a:ext cx="142714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从业2年，规模3亿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975-23"/>
          <p:cNvSpPr txBox="1"/>
          <p:nvPr/>
        </p:nvSpPr>
        <p:spPr>
          <a:xfrm>
            <a:off x="695151" y="4208813"/>
            <a:ext cx="157519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前十大持仓占比78%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975-24"/>
          <p:cNvSpPr txBox="1"/>
          <p:nvPr/>
        </p:nvSpPr>
        <p:spPr>
          <a:xfrm>
            <a:off x="695151" y="4451640"/>
            <a:ext cx="167904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行业配置接近沪深300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976-25"/>
          <p:cNvSpPr txBox="1"/>
          <p:nvPr/>
        </p:nvSpPr>
        <p:spPr>
          <a:xfrm>
            <a:off x="695151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0.68（保守）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976-26"/>
          <p:cNvSpPr txBox="1"/>
          <p:nvPr/>
        </p:nvSpPr>
        <p:spPr>
          <a:xfrm>
            <a:off x="695151" y="4937294"/>
            <a:ext cx="29747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2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0.77（高压）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976-27"/>
          <p:cNvSpPr txBox="1"/>
          <p:nvPr/>
        </p:nvSpPr>
        <p:spPr>
          <a:xfrm>
            <a:off x="6323019" y="3666024"/>
            <a:ext cx="528410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经理B（经验型）</a:t>
            </a:r>
            <a:endParaRPr sz="127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976-28"/>
          <p:cNvSpPr txBox="1"/>
          <p:nvPr/>
        </p:nvSpPr>
        <p:spPr>
          <a:xfrm>
            <a:off x="6323019" y="3965986"/>
            <a:ext cx="151745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从业8年，规模50亿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976-29"/>
          <p:cNvSpPr txBox="1"/>
          <p:nvPr/>
        </p:nvSpPr>
        <p:spPr>
          <a:xfrm>
            <a:off x="6323019" y="4208813"/>
            <a:ext cx="157667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前十大持仓占比62%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976-30"/>
          <p:cNvSpPr txBox="1"/>
          <p:nvPr/>
        </p:nvSpPr>
        <p:spPr>
          <a:xfrm>
            <a:off x="6323019" y="4451640"/>
            <a:ext cx="134054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超配新能源+消费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977-31"/>
          <p:cNvSpPr txBox="1"/>
          <p:nvPr/>
        </p:nvSpPr>
        <p:spPr>
          <a:xfrm>
            <a:off x="6323019" y="4694467"/>
            <a:ext cx="14994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0.85（主动）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977-32"/>
          <p:cNvSpPr txBox="1"/>
          <p:nvPr/>
        </p:nvSpPr>
        <p:spPr>
          <a:xfrm>
            <a:off x="6323019" y="4937294"/>
            <a:ext cx="297635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 = 8 →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RPI = 0.45（低压）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938-2"/>
          <p:cNvSpPr txBox="1"/>
          <p:nvPr/>
        </p:nvSpPr>
        <p:spPr>
          <a:xfrm>
            <a:off x="723719" y="5494367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Experience（从业年限）做 OLS 回归；2.0 阶段加入 RPI、学历、管理规模等特征；3.0 阶段考虑加入行为心理学问卷数据（如风险偏好测试）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939-5"/>
          <p:cNvSpPr txBox="1"/>
          <p:nvPr/>
        </p:nvSpPr>
        <p:spPr>
          <a:xfrm>
            <a:off x="578975" y="6218086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核心逻辑：职业忧虑（L1）→ 持仓偏离行为（L2）→ 业绩差异 | 为 H1 假设奠定因果基础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9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939-8"/>
          <p:cNvSpPr txBox="1"/>
          <p:nvPr/>
        </p:nvSpPr>
        <p:spPr>
          <a:xfrm>
            <a:off x="11462852" y="6519090"/>
            <a:ext cx="203308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98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995-17"/>
          <p:cNvSpPr/>
          <p:nvPr/>
        </p:nvSpPr>
        <p:spPr>
          <a:xfrm>
            <a:off x="457086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996-19"/>
          <p:cNvCxnSpPr/>
          <p:nvPr/>
        </p:nvCxnSpPr>
        <p:spPr>
          <a:xfrm>
            <a:off x="476131" y="1406931"/>
            <a:ext cx="914" cy="314246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017-20"/>
          <p:cNvPicPr/>
          <p:nvPr/>
        </p:nvPicPr>
        <p:blipFill>
          <a:blip r:embed="rId1"/>
          <a:stretch>
            <a:fillRect/>
          </a:stretch>
        </p:blipFill>
        <p:spPr>
          <a:xfrm>
            <a:off x="1890537" y="1792597"/>
            <a:ext cx="2741770" cy="523744"/>
          </a:xfrm>
          <a:prstGeom prst="rect">
            <a:avLst/>
          </a:prstGeom>
          <a:ln>
            <a:noFill/>
          </a:ln>
        </p:spPr>
      </p:pic>
      <p:sp>
        <p:nvSpPr>
          <p:cNvPr id="6" name="el-1785891665996-18"/>
          <p:cNvSpPr/>
          <p:nvPr/>
        </p:nvSpPr>
        <p:spPr>
          <a:xfrm>
            <a:off x="6151612" y="1406931"/>
            <a:ext cx="5580255" cy="314246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023-33"/>
          <p:cNvCxnSpPr/>
          <p:nvPr/>
        </p:nvCxnSpPr>
        <p:spPr>
          <a:xfrm>
            <a:off x="6294451" y="385424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991-6"/>
          <p:cNvSpPr/>
          <p:nvPr/>
        </p:nvSpPr>
        <p:spPr>
          <a:xfrm>
            <a:off x="457086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992-7"/>
          <p:cNvSpPr/>
          <p:nvPr/>
        </p:nvSpPr>
        <p:spPr>
          <a:xfrm>
            <a:off x="6151612" y="4606531"/>
            <a:ext cx="5580255" cy="84156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987-3"/>
          <p:cNvSpPr/>
          <p:nvPr/>
        </p:nvSpPr>
        <p:spPr>
          <a:xfrm>
            <a:off x="457086" y="5505228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992-8"/>
          <p:cNvSpPr txBox="1"/>
          <p:nvPr/>
        </p:nvSpPr>
        <p:spPr>
          <a:xfrm>
            <a:off x="457086" y="829027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5992-9"/>
          <p:cNvSpPr txBox="1"/>
          <p:nvPr/>
        </p:nvSpPr>
        <p:spPr>
          <a:xfrm>
            <a:off x="457086" y="1052809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 数据计算：公式字母详解与示例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6020-27"/>
          <p:cNvSpPr txBox="1"/>
          <p:nvPr/>
        </p:nvSpPr>
        <p:spPr>
          <a:xfrm>
            <a:off x="628493" y="1492635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RPI 排名压力指数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6029-34"/>
          <p:cNvSpPr txBox="1"/>
          <p:nvPr/>
        </p:nvSpPr>
        <p:spPr>
          <a:xfrm>
            <a:off x="628493" y="239252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RPI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5" name="el-1785891666029-35"/>
          <p:cNvSpPr txBox="1"/>
          <p:nvPr/>
        </p:nvSpPr>
        <p:spPr>
          <a:xfrm>
            <a:off x="952262" y="2392522"/>
            <a:ext cx="431925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排名压力指数，取值 [0, 1]。越接近 1 表示经理面临的排名压力越大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029-36"/>
          <p:cNvSpPr txBox="1"/>
          <p:nvPr/>
        </p:nvSpPr>
        <p:spPr>
          <a:xfrm>
            <a:off x="628493" y="2644872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7" name="el-1785891666030-37"/>
          <p:cNvSpPr txBox="1"/>
          <p:nvPr/>
        </p:nvSpPr>
        <p:spPr>
          <a:xfrm>
            <a:off x="952262" y="2644872"/>
            <a:ext cx="257200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当前时间点（如 2024Q4），即观测季度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030-38"/>
          <p:cNvSpPr txBox="1"/>
          <p:nvPr/>
        </p:nvSpPr>
        <p:spPr>
          <a:xfrm>
            <a:off x="628493" y="2897221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Exp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030-39"/>
          <p:cNvSpPr txBox="1"/>
          <p:nvPr/>
        </p:nvSpPr>
        <p:spPr>
          <a:xfrm>
            <a:off x="952262" y="2897221"/>
            <a:ext cx="486814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经理从业年限（年），从首次任职日到 T 的年数。Exp = (T - 任职日期) / 365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030-40"/>
          <p:cNvSpPr txBox="1"/>
          <p:nvPr/>
        </p:nvSpPr>
        <p:spPr>
          <a:xfrm>
            <a:off x="628493" y="3149571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N(T)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030-41"/>
          <p:cNvSpPr txBox="1"/>
          <p:nvPr/>
        </p:nvSpPr>
        <p:spPr>
          <a:xfrm>
            <a:off x="1028592" y="3149571"/>
            <a:ext cx="384758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同类型基金总数（如混合型 8479 只），用于标准化排名位置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031-42"/>
          <p:cNvSpPr txBox="1"/>
          <p:nvPr/>
        </p:nvSpPr>
        <p:spPr>
          <a:xfrm>
            <a:off x="628493" y="3401920"/>
            <a:ext cx="4429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Rank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031-43"/>
          <p:cNvSpPr txBox="1"/>
          <p:nvPr/>
        </p:nvSpPr>
        <p:spPr>
          <a:xfrm>
            <a:off x="1028592" y="3401920"/>
            <a:ext cx="385844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该基金在过去 12 个月的业绩排名百分位（0=最好, 1=最差）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031-44"/>
          <p:cNvSpPr txBox="1"/>
          <p:nvPr/>
        </p:nvSpPr>
        <p:spPr>
          <a:xfrm>
            <a:off x="628493" y="3654269"/>
            <a:ext cx="36662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e</a:t>
            </a:r>
            <a:endParaRPr sz="112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031-45"/>
          <p:cNvSpPr txBox="1"/>
          <p:nvPr/>
        </p:nvSpPr>
        <p:spPr>
          <a:xfrm>
            <a:off x="952262" y="3654269"/>
            <a:ext cx="245311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自然常数 e = 2.71828，用于指数衰减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021-28"/>
          <p:cNvSpPr txBox="1"/>
          <p:nvPr/>
        </p:nvSpPr>
        <p:spPr>
          <a:xfrm>
            <a:off x="6294451" y="1492635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示例计算（经理A vs 经理B）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6018-21"/>
          <p:cNvSpPr txBox="1"/>
          <p:nvPr/>
        </p:nvSpPr>
        <p:spPr>
          <a:xfrm>
            <a:off x="6294451" y="1811643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经理A：首次任职 2022Q1，当前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018-22"/>
          <p:cNvSpPr txBox="1"/>
          <p:nvPr/>
        </p:nvSpPr>
        <p:spPr>
          <a:xfrm>
            <a:off x="6294451" y="206399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(2024.75 - 2022.25)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021-29"/>
          <p:cNvSpPr txBox="1"/>
          <p:nvPr/>
        </p:nvSpPr>
        <p:spPr>
          <a:xfrm>
            <a:off x="6294451" y="2316342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0.70（排名后30%）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019-23"/>
          <p:cNvSpPr txBox="1"/>
          <p:nvPr/>
        </p:nvSpPr>
        <p:spPr>
          <a:xfrm>
            <a:off x="6294451" y="2568691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exp(-2.5/8) × 0.70 = 0.731 × 0.70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0.512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019-24"/>
          <p:cNvSpPr txBox="1"/>
          <p:nvPr/>
        </p:nvSpPr>
        <p:spPr>
          <a:xfrm>
            <a:off x="6294451" y="282104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经理B：首次任职 2016Q3，当前 2024Q4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020-25"/>
          <p:cNvSpPr txBox="1"/>
          <p:nvPr/>
        </p:nvSpPr>
        <p:spPr>
          <a:xfrm>
            <a:off x="6294451" y="3073390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Exp = (2024.75 - 2016.75)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8.0 年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022-30"/>
          <p:cNvSpPr txBox="1"/>
          <p:nvPr/>
        </p:nvSpPr>
        <p:spPr>
          <a:xfrm>
            <a:off x="6294451" y="3325739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Rank = 0.50（排名中等）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020-26"/>
          <p:cNvSpPr txBox="1"/>
          <p:nvPr/>
        </p:nvSpPr>
        <p:spPr>
          <a:xfrm>
            <a:off x="6294451" y="35780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RPI = exp(-8/8) × 0.50 = 0.368 × 0.50 = </a:t>
            </a:r>
            <a:r>
              <a:rPr sz="112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0.184</a:t>
            </a:r>
            <a:endParaRPr sz="112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022-31"/>
          <p:cNvSpPr txBox="1"/>
          <p:nvPr/>
        </p:nvSpPr>
        <p:spPr>
          <a:xfrm>
            <a:off x="6294451" y="3897096"/>
            <a:ext cx="5414561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A的RPI(0.512) &gt; B的RPI(0.184) → A排名压力更大，更保守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6022-32"/>
          <p:cNvSpPr txBox="1"/>
          <p:nvPr/>
        </p:nvSpPr>
        <p:spPr>
          <a:xfrm>
            <a:off x="6294451" y="4230388"/>
            <a:ext cx="5394564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V4(400基金)实测：Exp 均值 5.2 年，RPI 均值 0.56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993-10"/>
          <p:cNvSpPr txBox="1"/>
          <p:nvPr/>
        </p:nvSpPr>
        <p:spPr>
          <a:xfrm>
            <a:off x="580880" y="4644622"/>
            <a:ext cx="358782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ak.fund_manager_em()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，免费API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993-11"/>
          <p:cNvSpPr txBox="1"/>
          <p:nvPr/>
        </p:nvSpPr>
        <p:spPr>
          <a:xfrm>
            <a:off x="580880" y="4850251"/>
            <a:ext cx="3403176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获取情况：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 5万+条任职记录，400基金 100%覆盖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993-12"/>
          <p:cNvSpPr txBox="1"/>
          <p:nvPr/>
        </p:nvSpPr>
        <p:spPr>
          <a:xfrm>
            <a:off x="580880" y="5036835"/>
            <a:ext cx="4884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处理流程：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过滤在职经理 → 按 fund_code 匹配 → 计算任职年数 → 代入RPI公式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994-13"/>
          <p:cNvSpPr txBox="1"/>
          <p:nvPr/>
        </p:nvSpPr>
        <p:spPr>
          <a:xfrm>
            <a:off x="6275406" y="4644622"/>
            <a:ext cx="269835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994-14"/>
          <p:cNvSpPr txBox="1"/>
          <p:nvPr/>
        </p:nvSpPr>
        <p:spPr>
          <a:xfrm>
            <a:off x="6275406" y="4831206"/>
            <a:ext cx="326167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数据源：Morningstar 光盘（付费），样本 453名经理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994-15"/>
          <p:cNvSpPr txBox="1"/>
          <p:nvPr/>
        </p:nvSpPr>
        <p:spPr>
          <a:xfrm>
            <a:off x="6275406" y="5017789"/>
            <a:ext cx="345748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代理变量：经理年龄 → 本文用 Experience（从业年限）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994-16"/>
          <p:cNvSpPr txBox="1"/>
          <p:nvPr/>
        </p:nvSpPr>
        <p:spPr>
          <a:xfrm>
            <a:off x="6275406" y="5204373"/>
            <a:ext cx="3381155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API自动化5万+条 vs 手动453条，效率提升100倍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987-2"/>
          <p:cNvSpPr txBox="1"/>
          <p:nvPr/>
        </p:nvSpPr>
        <p:spPr>
          <a:xfrm>
            <a:off x="509460" y="5533796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H1 回归结果：β=0.0086, p&lt;0.001（显著）| RPI 越高 → AS 越低（保守持仓）→ 业绩越差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5987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5987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245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500110" y="2661834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2" name="el-1785891666264-26"/>
          <p:cNvPicPr/>
          <p:nvPr/>
        </p:nvPicPr>
        <p:blipFill>
          <a:blip r:embed="rId2"/>
          <a:stretch>
            <a:fillRect/>
          </a:stretch>
        </p:blipFill>
        <p:spPr>
          <a:xfrm>
            <a:off x="7127978" y="2419007"/>
            <a:ext cx="3589283" cy="685629"/>
          </a:xfrm>
          <a:prstGeom prst="rect">
            <a:avLst/>
          </a:prstGeom>
          <a:ln>
            <a:noFill/>
          </a:ln>
        </p:spPr>
      </p:pic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40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2495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el-1785891666413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379026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477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4769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6496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804060" y="2647699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6535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33278" y="1208444"/>
            <a:ext cx="3256438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-1785891666548-17"/>
          <p:cNvPicPr/>
          <p:nvPr/>
        </p:nvPicPr>
        <p:blipFill>
          <a:blip r:embed="rId2"/>
          <a:stretch>
            <a:fillRect/>
          </a:stretch>
        </p:blipFill>
        <p:spPr>
          <a:xfrm>
            <a:off x="1965379" y="4042614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73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73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6882-24"/>
          <p:cNvPicPr/>
          <p:nvPr/>
        </p:nvPicPr>
        <p:blipFill>
          <a:blip r:embed="rId1"/>
          <a:stretch>
            <a:fillRect/>
          </a:stretch>
        </p:blipFill>
        <p:spPr>
          <a:xfrm>
            <a:off x="1425863" y="2761822"/>
            <a:ext cx="4237268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金融学季刊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009-18"/>
          <p:cNvPicPr/>
          <p:nvPr/>
        </p:nvPicPr>
        <p:blipFill>
          <a:blip r:embed="rId1"/>
          <a:stretch>
            <a:fillRect/>
          </a:stretch>
        </p:blipFill>
        <p:spPr>
          <a:xfrm>
            <a:off x="1965379" y="1538611"/>
            <a:ext cx="2592235" cy="495176"/>
          </a:xfrm>
          <a:prstGeom prst="rect">
            <a:avLst/>
          </a:prstGeom>
          <a:ln>
            <a:noFill/>
          </a:ln>
        </p:spPr>
      </p:pic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1]。0=风格完全不变，1=完全切换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73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25-53"/>
          <p:cNvSpPr txBox="1"/>
          <p:nvPr/>
        </p:nvSpPr>
        <p:spPr>
          <a:xfrm>
            <a:off x="628493" y="356990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7025-54"/>
          <p:cNvSpPr txBox="1"/>
          <p:nvPr/>
        </p:nvSpPr>
        <p:spPr>
          <a:xfrm>
            <a:off x="952262" y="3569905"/>
            <a:ext cx="25431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系数，与AS相同，买卖两侧各算一次需除以2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1/2 × 80% = 0.40 → 中等风格漂移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金融学季刊，1,579只中国基金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6" name="el-1785891667066-25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607" y="2659602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11" name="el-1785891667081-26"/>
          <p:cNvPicPr/>
          <p:nvPr/>
        </p:nvPicPr>
        <p:blipFill>
          <a:blip r:embed="rId2"/>
          <a:stretch>
            <a:fillRect/>
          </a:stretch>
        </p:blipFill>
        <p:spPr>
          <a:xfrm>
            <a:off x="6771475" y="2902429"/>
            <a:ext cx="4302289" cy="809423"/>
          </a:xfrm>
          <a:prstGeom prst="rect">
            <a:avLst/>
          </a:prstGeom>
          <a:ln>
            <a:noFill/>
          </a:ln>
        </p:spPr>
      </p:pic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同类基金换手率中位数: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OCI = |280%-150%|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本文构建（基于Berk &amp; Green 2004理性预期框架）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，不可预测性本身可能是Alpha来源（基于Berk &amp; Green 2004理性预期理论推演）。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OCI=|RG|作为ARG代理(申宇2013) | 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el-1785891667130-16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770" y="1489659"/>
            <a:ext cx="3131305" cy="476131"/>
          </a:xfrm>
          <a:prstGeom prst="rect">
            <a:avLst/>
          </a:prstGeom>
          <a:ln>
            <a:noFill/>
          </a:ln>
        </p:spPr>
      </p:pic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过度自信指数，取值 [0, +∞)。越大越过度自信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的实际换手率（= 买入额+卖出额 / 平均资产）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73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OCI&gt;0 = 过度自信(交易频繁) | OCI&lt;0 = 谨慎(交易少)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73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RPI=0.51(高压),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73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97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Berk &amp; Green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MVP验证在做什么？先做最小版本再迭代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60120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24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什么是MVP？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5331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MVP = Minimum Viable Product</a:t>
            </a:r>
          </a:p>
          <a:p>
            <a:pPr>
              <a:spcAft>
                <a:spcPts val="200"/>
              </a:spcAft>
              <a:defRPr sz="950" b="0">
                <a:solidFill>
                  <a:srgbClr val="9CA3AF"/>
                </a:solidFill>
                <a:latin typeface="宋体"/>
              </a:defRPr>
            </a:pPr>
            <a:r>
              <a:t>（最小可行产品验证）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  <a:r>
              <a:t>借鉴软件工程『先做最小可用版本再迭代』的理念，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  <a:r>
              <a:t>在正式大规模研究前，用最小成本验证：</a:t>
            </a:r>
          </a:p>
          <a:p>
            <a:pPr>
              <a:spcAft>
                <a:spcPts val="200"/>
              </a:spcAft>
              <a:defRPr sz="9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五层框架 + 六个指标能否跑通？</a:t>
            </a: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指标方向是否与文献一致？</a:t>
            </a:r>
          </a:p>
          <a:p>
            <a:pPr>
              <a:spcAft>
                <a:spcPts val="200"/>
              </a:spcAft>
              <a:defRPr sz="950" b="1">
                <a:solidFill>
                  <a:srgbClr val="B91C1C"/>
                </a:solidFill>
                <a:latin typeface="宋体"/>
              </a:defRPr>
            </a:pPr>
            <a:r>
              <a:t>如果不一致，是数据问题还是市场差异？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960120"/>
            <a:ext cx="3840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24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9CA3AF"/>
                </a:solidFill>
                <a:latin typeface="宋体"/>
              </a:defRPr>
            </a:pPr>
            <a:r>
              <a:t>V1 模拟数据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200基金 | 验证代码管线能否跑通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105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RG正向(+2.57**) | R²=0.024 | 验证真实数据可行性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677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发现前十大偏差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2491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8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200"/>
              </a:spcAft>
              <a:defRPr sz="880" b="0">
                <a:solidFill>
                  <a:srgbClr val="1A1A2E"/>
                </a:solidFill>
                <a:latin typeface="宋体"/>
              </a:defRPr>
            </a:pPr>
            <a:r>
              <a:t>RG翻正(+9.20***) | R²=0.0684(+195%) | 最终验证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5592" y="960120"/>
            <a:ext cx="3685032" cy="224028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0241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黑体"/>
              </a:defRPr>
            </a:pPr>
            <a:r>
              <a:t>V3→V4 关键转折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35331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为什么RG会从负翻正？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V3用前十大重仓模拟『持仓不变收益』，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严重偏离真实持仓→RG计算失真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V4获取半年报/年报全持仓数据，</a:t>
            </a:r>
          </a:p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RG从-3.67***翻正为+9.20***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B91C1C"/>
                </a:solidFill>
                <a:latin typeface="宋体"/>
              </a:defRPr>
            </a:pPr>
            <a:r>
              <a:t>结论：全持仓是方法学核心</a:t>
            </a:r>
          </a:p>
          <a:p>
            <a:pPr>
              <a:spcAft>
                <a:spcPts val="20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没有全持仓，RG方向完全错误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364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/>
              </a:defRPr>
            </a:pPr>
            <a:r>
              <a:t>MVP验证回答了什么问题？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8328" y="3703320"/>
            <a:ext cx="22402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框架可行性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五层框架能否产生有意义预测？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宋体"/>
              </a:defRPr>
            </a:pPr>
            <a:r>
              <a:t>能，R²=0.0684，4/6指标显著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2616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42616" y="3703320"/>
            <a:ext cx="22402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4056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/>
              </a:defRPr>
            </a:pPr>
            <a:r>
              <a:t>方向一致性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4056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中国市场与美股文献方向一致？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D97706"/>
                </a:solidFill>
                <a:latin typeface="宋体"/>
              </a:defRPr>
            </a:pPr>
            <a:r>
              <a:t>部分一致(RG正向)，部分相反(AS负向)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6904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46904" y="3703320"/>
            <a:ext cx="22402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8344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/>
              </a:defRPr>
            </a:pPr>
            <a:r>
              <a:t>数据充分性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8344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400基金+36万持仓是否足够？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059669"/>
                </a:solidFill>
                <a:latin typeface="宋体"/>
              </a:defRPr>
            </a:pPr>
            <a:r>
              <a:t>足够产生统计显著结果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1192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51192" y="3703320"/>
            <a:ext cx="2240280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42632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/>
              </a:defRPr>
            </a:pPr>
            <a:r>
              <a:t>方法学修正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2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全持仓vs前十大影响多大？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B91C1C"/>
                </a:solidFill>
                <a:latin typeface="宋体"/>
              </a:defRPr>
            </a:pPr>
            <a:r>
              <a:t>影响巨大，RG方向完全翻转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55480" y="3703320"/>
            <a:ext cx="22402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55480" y="3703320"/>
            <a:ext cx="2240280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19" y="37764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/>
              </a:defRPr>
            </a:pPr>
            <a:r>
              <a:t>下一步方向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19" y="4050791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  <a:r>
              <a:t>哪些指标值得深入研究？</a:t>
            </a:r>
          </a:p>
          <a:p>
            <a:pPr>
              <a:spcAft>
                <a:spcPts val="200"/>
              </a:spcAft>
              <a:defRPr sz="850" b="0">
                <a:solidFill>
                  <a:srgbClr val="1A1A2E"/>
                </a:solidFill>
                <a:latin typeface="宋体"/>
              </a:defRPr>
            </a:pPr>
          </a:p>
          <a:p>
            <a:pPr>
              <a:spcAft>
                <a:spcPts val="200"/>
              </a:spcAft>
              <a:defRPr sz="850" b="1">
                <a:solidFill>
                  <a:srgbClr val="1C7293"/>
                </a:solidFill>
                <a:latin typeface="宋体"/>
              </a:defRPr>
            </a:pPr>
            <a:r>
              <a:t>RG(最稳健)、AS(最强待修正)、OCI(因子调整后翻正)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 = 用最小成本验证框架可行性 | 四轮迭代: V1模拟→V2小样本→V3前十大(偏差)→V4全持仓(修正) | V3→V4关键: 全持仓使RG从-3.67翻正为+9.20 | MVP回答了『能不能跑通/方向对不对/数据够不够』三个核心问题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  <p:sp>
        <p:nvSpPr>
          <p:cNvPr id="4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8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588-52"/>
          <p:cNvGraphicFramePr/>
          <p:nvPr/>
        </p:nvGraphicFramePr>
        <p:xfrm>
          <a:off x="457086" y="1297421"/>
          <a:ext cx="11274781" cy="291392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52992"/>
                <a:gridCol w="1420061"/>
                <a:gridCol w="2759476"/>
                <a:gridCol w="2416216"/>
                <a:gridCol w="2416513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 模拟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V2 原200全持仓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V3 400前十大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V4 400全持仓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基金数量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面板观测数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2,400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1,597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9,581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AS均值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0.948(旧公式)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0.705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0.673(修正)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H1: 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+2.57**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+6.34***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H3: RG→业绩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+2.43**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H5: ΔAS→业绩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-9.10***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H4: ICI→业绩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-8.59***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H6: OCI→业绩 (t)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N/A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九指标全模型R²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0.365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0.029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0.068(修复后)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590-54"/>
          <p:cNvSpPr/>
          <p:nvPr/>
        </p:nvSpPr>
        <p:spPr>
          <a:xfrm>
            <a:off x="457086" y="4287524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7591-56"/>
          <p:cNvSpPr/>
          <p:nvPr/>
        </p:nvSpPr>
        <p:spPr>
          <a:xfrm>
            <a:off x="457086" y="4874950"/>
            <a:ext cx="11274781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el-1785891667591-58"/>
          <p:cNvSpPr/>
          <p:nvPr/>
        </p:nvSpPr>
        <p:spPr>
          <a:xfrm>
            <a:off x="457086" y="5462377"/>
            <a:ext cx="11274781" cy="495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593-61"/>
          <p:cNvSpPr txBox="1"/>
          <p:nvPr/>
        </p:nvSpPr>
        <p:spPr>
          <a:xfrm>
            <a:off x="457086" y="705233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593-62"/>
          <p:cNvSpPr txBox="1"/>
          <p:nvPr/>
        </p:nvSpPr>
        <p:spPr>
          <a:xfrm>
            <a:off x="457086" y="92425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四轮验证对照 + V4含ICI完整回归（400基金全持仓）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el-1785891667589-53"/>
          <p:cNvSpPr txBox="1"/>
          <p:nvPr/>
        </p:nvSpPr>
        <p:spPr>
          <a:xfrm>
            <a:off x="580880" y="4363705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V4九指标全模型：AS β=-0.226(t=-24.30***) &gt;&gt; RG β=+0.108(t=+8.99***) &gt; OCI β=+0.054(t=+3.91***). AS是最强负向预测因子，RG正向预测。ΔAS(t=+2.01**)和SDI(t=-7.25***)在FE中显著。行为信号分化——AS拖累但RG增厚收益。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590-55"/>
          <p:cNvSpPr txBox="1"/>
          <p:nvPr/>
        </p:nvSpPr>
        <p:spPr>
          <a:xfrm>
            <a:off x="580880" y="4951131"/>
            <a:ext cx="1102719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Fama-MacBeth验证（截面内标准化, 40季度）：AS在FM中正向(t=+2.76**)，ΔAS(t=-2.41**)和SDI(t=-2.50**)在FM中变显著 | RG/OCI在FM中不显著——OCI预测力来自时序变化而非截面差异 | AS在FM截面中正向显著(正向) | AS在FM截面中正向显著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7591-57"/>
          <p:cNvSpPr txBox="1"/>
          <p:nvPr/>
        </p:nvSpPr>
        <p:spPr>
          <a:xfrm>
            <a:off x="590402" y="5509990"/>
            <a:ext cx="1100814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OLS: AS最强(t=-26.81***) | FM: AS正向(t=+2.76**) | 固定效应: RG最稳健(t=+7.77***) | 双重排序: AS五分位差-6.22%/季 | 滞后4Q: AS最强/RG正向/SDI负向 | 六种方法交叉验证完成(修复后)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92-59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7592-60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7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756-10"/>
          <p:cNvSpPr/>
          <p:nvPr/>
        </p:nvSpPr>
        <p:spPr>
          <a:xfrm>
            <a:off x="380905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7778-98"/>
          <p:cNvSpPr/>
          <p:nvPr/>
        </p:nvSpPr>
        <p:spPr>
          <a:xfrm>
            <a:off x="447563" y="209345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779-99"/>
          <p:cNvSpPr/>
          <p:nvPr/>
        </p:nvSpPr>
        <p:spPr>
          <a:xfrm>
            <a:off x="447563" y="2293428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771-83"/>
          <p:cNvSpPr/>
          <p:nvPr/>
        </p:nvSpPr>
        <p:spPr>
          <a:xfrm>
            <a:off x="447563" y="2493403"/>
            <a:ext cx="2106284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756-11"/>
          <p:cNvSpPr/>
          <p:nvPr/>
        </p:nvSpPr>
        <p:spPr>
          <a:xfrm>
            <a:off x="2677641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7779-100"/>
          <p:cNvSpPr/>
          <p:nvPr/>
        </p:nvSpPr>
        <p:spPr>
          <a:xfrm>
            <a:off x="274430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779-101"/>
          <p:cNvSpPr/>
          <p:nvPr/>
        </p:nvSpPr>
        <p:spPr>
          <a:xfrm>
            <a:off x="274430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771-84"/>
          <p:cNvSpPr/>
          <p:nvPr/>
        </p:nvSpPr>
        <p:spPr>
          <a:xfrm>
            <a:off x="274430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756-12"/>
          <p:cNvSpPr/>
          <p:nvPr/>
        </p:nvSpPr>
        <p:spPr>
          <a:xfrm>
            <a:off x="4974527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779-102"/>
          <p:cNvSpPr/>
          <p:nvPr/>
        </p:nvSpPr>
        <p:spPr>
          <a:xfrm>
            <a:off x="5041185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779-103"/>
          <p:cNvSpPr/>
          <p:nvPr/>
        </p:nvSpPr>
        <p:spPr>
          <a:xfrm>
            <a:off x="5041185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771-85"/>
          <p:cNvSpPr/>
          <p:nvPr/>
        </p:nvSpPr>
        <p:spPr>
          <a:xfrm>
            <a:off x="5041185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757-13"/>
          <p:cNvSpPr/>
          <p:nvPr/>
        </p:nvSpPr>
        <p:spPr>
          <a:xfrm>
            <a:off x="7271412" y="1841103"/>
            <a:ext cx="2239750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el-1785891667780-104"/>
          <p:cNvSpPr/>
          <p:nvPr/>
        </p:nvSpPr>
        <p:spPr>
          <a:xfrm>
            <a:off x="7338070" y="209345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780-105"/>
          <p:cNvSpPr/>
          <p:nvPr/>
        </p:nvSpPr>
        <p:spPr>
          <a:xfrm>
            <a:off x="7338070" y="2293428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772-86"/>
          <p:cNvSpPr/>
          <p:nvPr/>
        </p:nvSpPr>
        <p:spPr>
          <a:xfrm>
            <a:off x="7338070" y="2493403"/>
            <a:ext cx="2106433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757-14"/>
          <p:cNvSpPr/>
          <p:nvPr/>
        </p:nvSpPr>
        <p:spPr>
          <a:xfrm>
            <a:off x="9568298" y="1841103"/>
            <a:ext cx="2239601" cy="8998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7758-17"/>
          <p:cNvCxnSpPr/>
          <p:nvPr/>
        </p:nvCxnSpPr>
        <p:spPr>
          <a:xfrm>
            <a:off x="9582581" y="1841103"/>
            <a:ext cx="914" cy="899887"/>
          </a:xfrm>
          <a:prstGeom prst="line">
            <a:avLst/>
          </a:prstGeom>
          <a:ln w="28568" cap="flat">
            <a:solidFill>
              <a:srgbClr val="DC262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7780-106"/>
          <p:cNvSpPr/>
          <p:nvPr/>
        </p:nvSpPr>
        <p:spPr>
          <a:xfrm>
            <a:off x="9654001" y="209345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7780-107"/>
          <p:cNvSpPr/>
          <p:nvPr/>
        </p:nvSpPr>
        <p:spPr>
          <a:xfrm>
            <a:off x="9654001" y="2293428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7772-87"/>
          <p:cNvSpPr/>
          <p:nvPr/>
        </p:nvSpPr>
        <p:spPr>
          <a:xfrm>
            <a:off x="9654001" y="2493403"/>
            <a:ext cx="2087239" cy="1904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757-15"/>
          <p:cNvSpPr/>
          <p:nvPr/>
        </p:nvSpPr>
        <p:spPr>
          <a:xfrm>
            <a:off x="380905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5" name="el-1785891667764-46"/>
          <p:cNvGraphicFramePr/>
          <p:nvPr/>
        </p:nvGraphicFramePr>
        <p:xfrm>
          <a:off x="466608" y="3050476"/>
          <a:ext cx="5504074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40507"/>
                <a:gridCol w="1423334"/>
                <a:gridCol w="1830128"/>
                <a:gridCol w="131010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-0.370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-27.29***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+0.196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+12.62***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+0.063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+3.41***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极强负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-0.53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+0.096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+2.81***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-0.299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-12.36***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6" name="el-1785891667757-16"/>
          <p:cNvSpPr/>
          <p:nvPr/>
        </p:nvSpPr>
        <p:spPr>
          <a:xfrm>
            <a:off x="6132566" y="2798127"/>
            <a:ext cx="567548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27" name="el-1785891667767-75"/>
          <p:cNvGraphicFramePr/>
          <p:nvPr/>
        </p:nvGraphicFramePr>
        <p:xfrm>
          <a:off x="6218270" y="3050476"/>
          <a:ext cx="5504075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1041"/>
                <a:gridCol w="1407860"/>
                <a:gridCol w="1782218"/>
                <a:gridCol w="135295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β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t值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方向</a:t>
                      </a:r>
                      <a:endParaRPr sz="7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+0.301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+5.80***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正向(!)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-0.173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-5.39***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-0.071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-1.20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-0.175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-4.92***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-0.001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-6.79***</a:t>
                      </a:r>
                      <a:endParaRPr sz="7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强负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-0.000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-1.58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不显著</a:t>
                      </a:r>
                      <a:endParaRPr sz="7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68" marR="28568" marT="19045" marB="19045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8" name="el-1785891667752-3"/>
          <p:cNvSpPr/>
          <p:nvPr/>
        </p:nvSpPr>
        <p:spPr>
          <a:xfrm>
            <a:off x="380905" y="4588379"/>
            <a:ext cx="11427143" cy="4341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9" name="el-1785891667753-5"/>
          <p:cNvSpPr/>
          <p:nvPr/>
        </p:nvSpPr>
        <p:spPr>
          <a:xfrm>
            <a:off x="380905" y="5079686"/>
            <a:ext cx="11427143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755-8"/>
          <p:cNvSpPr txBox="1"/>
          <p:nvPr/>
        </p:nvSpPr>
        <p:spPr>
          <a:xfrm>
            <a:off x="380905" y="1302183"/>
            <a:ext cx="1152046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755-9"/>
          <p:cNvSpPr txBox="1"/>
          <p:nvPr/>
        </p:nvSpPr>
        <p:spPr>
          <a:xfrm>
            <a:off x="380905" y="1511680"/>
            <a:ext cx="11573791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V4九指标分组检验 + 牛熊市异质性（400基金全持仓）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768-76"/>
          <p:cNvSpPr txBox="1"/>
          <p:nvPr/>
        </p:nvSpPr>
        <p:spPr>
          <a:xfrm>
            <a:off x="447563" y="1898239"/>
            <a:ext cx="219294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7783-108"/>
          <p:cNvSpPr txBox="1"/>
          <p:nvPr/>
        </p:nvSpPr>
        <p:spPr>
          <a:xfrm>
            <a:off x="485654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783-109"/>
          <p:cNvSpPr txBox="1"/>
          <p:nvPr/>
        </p:nvSpPr>
        <p:spPr>
          <a:xfrm>
            <a:off x="2109260" y="2102975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+4.00%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783-110"/>
          <p:cNvSpPr txBox="1"/>
          <p:nvPr/>
        </p:nvSpPr>
        <p:spPr>
          <a:xfrm>
            <a:off x="485654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784-111"/>
          <p:cNvSpPr txBox="1"/>
          <p:nvPr/>
        </p:nvSpPr>
        <p:spPr>
          <a:xfrm>
            <a:off x="2094827" y="2302950"/>
            <a:ext cx="50092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-2.21%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775-88"/>
          <p:cNvSpPr txBox="1"/>
          <p:nvPr/>
        </p:nvSpPr>
        <p:spPr>
          <a:xfrm>
            <a:off x="485654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775-89"/>
          <p:cNvSpPr txBox="1"/>
          <p:nvPr/>
        </p:nvSpPr>
        <p:spPr>
          <a:xfrm>
            <a:off x="2121312" y="2502925"/>
            <a:ext cx="47443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-6.22%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769-77"/>
          <p:cNvSpPr txBox="1"/>
          <p:nvPr/>
        </p:nvSpPr>
        <p:spPr>
          <a:xfrm>
            <a:off x="274430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784-112"/>
          <p:cNvSpPr txBox="1"/>
          <p:nvPr/>
        </p:nvSpPr>
        <p:spPr>
          <a:xfrm>
            <a:off x="2782390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784-113"/>
          <p:cNvSpPr txBox="1"/>
          <p:nvPr/>
        </p:nvSpPr>
        <p:spPr>
          <a:xfrm>
            <a:off x="4391415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+1.80%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784-114"/>
          <p:cNvSpPr txBox="1"/>
          <p:nvPr/>
        </p:nvSpPr>
        <p:spPr>
          <a:xfrm>
            <a:off x="2782390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784-115"/>
          <p:cNvSpPr txBox="1"/>
          <p:nvPr/>
        </p:nvSpPr>
        <p:spPr>
          <a:xfrm>
            <a:off x="4391415" y="2302950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+6.93%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775-90"/>
          <p:cNvSpPr txBox="1"/>
          <p:nvPr/>
        </p:nvSpPr>
        <p:spPr>
          <a:xfrm>
            <a:off x="2782390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775-91"/>
          <p:cNvSpPr txBox="1"/>
          <p:nvPr/>
        </p:nvSpPr>
        <p:spPr>
          <a:xfrm>
            <a:off x="4433077" y="2502925"/>
            <a:ext cx="45955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+5.14%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769-78"/>
          <p:cNvSpPr txBox="1"/>
          <p:nvPr/>
        </p:nvSpPr>
        <p:spPr>
          <a:xfrm>
            <a:off x="5041185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7" name="el-1785891667784-116"/>
          <p:cNvSpPr txBox="1"/>
          <p:nvPr/>
        </p:nvSpPr>
        <p:spPr>
          <a:xfrm>
            <a:off x="5079276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784-117"/>
          <p:cNvSpPr txBox="1"/>
          <p:nvPr/>
        </p:nvSpPr>
        <p:spPr>
          <a:xfrm>
            <a:off x="6688301" y="2102975"/>
            <a:ext cx="50121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+0.85%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785-118"/>
          <p:cNvSpPr txBox="1"/>
          <p:nvPr/>
        </p:nvSpPr>
        <p:spPr>
          <a:xfrm>
            <a:off x="5079276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785-119"/>
          <p:cNvSpPr txBox="1"/>
          <p:nvPr/>
        </p:nvSpPr>
        <p:spPr>
          <a:xfrm>
            <a:off x="6703031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776-92"/>
          <p:cNvSpPr txBox="1"/>
          <p:nvPr/>
        </p:nvSpPr>
        <p:spPr>
          <a:xfrm>
            <a:off x="5079276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776-93"/>
          <p:cNvSpPr txBox="1"/>
          <p:nvPr/>
        </p:nvSpPr>
        <p:spPr>
          <a:xfrm>
            <a:off x="6730260" y="2502925"/>
            <a:ext cx="45925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+1.31%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769-79"/>
          <p:cNvSpPr txBox="1"/>
          <p:nvPr/>
        </p:nvSpPr>
        <p:spPr>
          <a:xfrm>
            <a:off x="7338070" y="1898239"/>
            <a:ext cx="219308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五分位</a:t>
            </a:r>
            <a:endParaRPr sz="9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el-1785891667785-120"/>
          <p:cNvSpPr txBox="1"/>
          <p:nvPr/>
        </p:nvSpPr>
        <p:spPr>
          <a:xfrm>
            <a:off x="7376161" y="2102975"/>
            <a:ext cx="221490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785-121"/>
          <p:cNvSpPr txBox="1"/>
          <p:nvPr/>
        </p:nvSpPr>
        <p:spPr>
          <a:xfrm>
            <a:off x="8999767" y="2102975"/>
            <a:ext cx="4866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+3.82%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785-122"/>
          <p:cNvSpPr txBox="1"/>
          <p:nvPr/>
        </p:nvSpPr>
        <p:spPr>
          <a:xfrm>
            <a:off x="7376161" y="2302950"/>
            <a:ext cx="23145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785-123"/>
          <p:cNvSpPr txBox="1"/>
          <p:nvPr/>
        </p:nvSpPr>
        <p:spPr>
          <a:xfrm>
            <a:off x="8985037" y="2302950"/>
            <a:ext cx="50136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+4.15%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776-94"/>
          <p:cNvSpPr txBox="1"/>
          <p:nvPr/>
        </p:nvSpPr>
        <p:spPr>
          <a:xfrm>
            <a:off x="7376161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776-95"/>
          <p:cNvSpPr txBox="1"/>
          <p:nvPr/>
        </p:nvSpPr>
        <p:spPr>
          <a:xfrm>
            <a:off x="9011671" y="2502925"/>
            <a:ext cx="47473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+0.33%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769-80"/>
          <p:cNvSpPr txBox="1"/>
          <p:nvPr/>
        </p:nvSpPr>
        <p:spPr>
          <a:xfrm>
            <a:off x="9654001" y="1898239"/>
            <a:ext cx="217389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DC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五分位</a:t>
            </a:r>
            <a:endParaRPr sz="970" b="1">
              <a:solidFill>
                <a:srgbClr val="DC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1" name="el-1785891667785-124"/>
          <p:cNvSpPr txBox="1"/>
          <p:nvPr/>
        </p:nvSpPr>
        <p:spPr>
          <a:xfrm>
            <a:off x="9692092" y="2102975"/>
            <a:ext cx="41893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Q1(低)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7786-125"/>
          <p:cNvSpPr txBox="1"/>
          <p:nvPr/>
        </p:nvSpPr>
        <p:spPr>
          <a:xfrm>
            <a:off x="11297248" y="2102975"/>
            <a:ext cx="485892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+3.82%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786-126"/>
          <p:cNvSpPr txBox="1"/>
          <p:nvPr/>
        </p:nvSpPr>
        <p:spPr>
          <a:xfrm>
            <a:off x="9692092" y="2302950"/>
            <a:ext cx="42890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Q5(高)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786-127"/>
          <p:cNvSpPr txBox="1"/>
          <p:nvPr/>
        </p:nvSpPr>
        <p:spPr>
          <a:xfrm>
            <a:off x="11296653" y="2302950"/>
            <a:ext cx="486487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+1.04%</a:t>
            </a:r>
            <a:endParaRPr sz="8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776-96"/>
          <p:cNvSpPr txBox="1"/>
          <p:nvPr/>
        </p:nvSpPr>
        <p:spPr>
          <a:xfrm>
            <a:off x="9692092" y="2502925"/>
            <a:ext cx="42414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Q5-Q1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776-97"/>
          <p:cNvSpPr txBox="1"/>
          <p:nvPr/>
        </p:nvSpPr>
        <p:spPr>
          <a:xfrm>
            <a:off x="11308556" y="2502925"/>
            <a:ext cx="474584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+1.36%</a:t>
            </a:r>
            <a:endParaRPr sz="8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769-81"/>
          <p:cNvSpPr txBox="1"/>
          <p:nvPr/>
        </p:nvSpPr>
        <p:spPr>
          <a:xfrm>
            <a:off x="466608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15803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牛市（5,700观测）九指标全模型 R²=0.0642</a:t>
            </a:r>
            <a:endParaRPr sz="970" b="1">
              <a:solidFill>
                <a:srgbClr val="15803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el-1785891667769-82"/>
          <p:cNvSpPr txBox="1"/>
          <p:nvPr/>
        </p:nvSpPr>
        <p:spPr>
          <a:xfrm>
            <a:off x="6218270" y="2855262"/>
            <a:ext cx="55907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熊市（3,481观测）九指标全模型 R²=0.0650</a:t>
            </a:r>
            <a:endParaRPr sz="9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9" name="el-1785891667752-2"/>
          <p:cNvSpPr txBox="1"/>
          <p:nvPr/>
        </p:nvSpPr>
        <p:spPr>
          <a:xfrm>
            <a:off x="485654" y="4645515"/>
            <a:ext cx="11217645" cy="31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牛熊均负向但牛市更强(牛t=-27.29***/熊t=-7.09***)。RG牛熊方向反转(牛正t=+12.62***/熊负t=-7.17***)——牛市中隐形交易增厚收益，熊市中拖累。SDI牛熊反转(牛负t=-12.36***/熊正t=+4.03***)——牛市风格漂移致命，熊市反而有效。行为指标在不同市场状态下呈现差异化预测模式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el-1785891667752-4"/>
          <p:cNvSpPr txBox="1"/>
          <p:nvPr/>
        </p:nvSpPr>
        <p:spPr>
          <a:xfrm>
            <a:off x="408520" y="5117777"/>
            <a:ext cx="1137191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牛市R²=0.0642 &gt; 熊市R²=0.0650 | OCI牛市极强(t=-15.54)但熊市消失(t=-1.20) | AS牛熊反转(牛-5.86/熊+5.80) | FM: AS最稳健(t=-3.02***)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" name="el-1785891667753-6"/>
          <p:cNvSpPr txBox="1"/>
          <p:nvPr/>
        </p:nvSpPr>
        <p:spPr>
          <a:xfrm>
            <a:off x="609448" y="6526232"/>
            <a:ext cx="95993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03 MVP验证结果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2" name="el-1785891667753-7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3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87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882-6"/>
          <p:cNvSpPr/>
          <p:nvPr/>
        </p:nvSpPr>
        <p:spPr>
          <a:xfrm>
            <a:off x="457086" y="1099232"/>
            <a:ext cx="5072878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885-8"/>
          <p:cNvCxnSpPr/>
          <p:nvPr/>
        </p:nvCxnSpPr>
        <p:spPr>
          <a:xfrm>
            <a:off x="476131" y="1099232"/>
            <a:ext cx="914" cy="505651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894-24"/>
          <p:cNvSpPr/>
          <p:nvPr/>
        </p:nvSpPr>
        <p:spPr>
          <a:xfrm>
            <a:off x="609448" y="148013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7895-25"/>
          <p:cNvSpPr/>
          <p:nvPr/>
        </p:nvSpPr>
        <p:spPr>
          <a:xfrm>
            <a:off x="609448" y="176581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895-26"/>
          <p:cNvSpPr/>
          <p:nvPr/>
        </p:nvSpPr>
        <p:spPr>
          <a:xfrm>
            <a:off x="609448" y="205149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895-27"/>
          <p:cNvSpPr/>
          <p:nvPr/>
        </p:nvSpPr>
        <p:spPr>
          <a:xfrm>
            <a:off x="609448" y="2337172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895-28"/>
          <p:cNvSpPr/>
          <p:nvPr/>
        </p:nvSpPr>
        <p:spPr>
          <a:xfrm>
            <a:off x="609448" y="2622851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7895-29"/>
          <p:cNvSpPr/>
          <p:nvPr/>
        </p:nvSpPr>
        <p:spPr>
          <a:xfrm>
            <a:off x="609448" y="290852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896-30"/>
          <p:cNvSpPr/>
          <p:nvPr/>
        </p:nvSpPr>
        <p:spPr>
          <a:xfrm>
            <a:off x="609448" y="3194208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7896-31"/>
          <p:cNvSpPr/>
          <p:nvPr/>
        </p:nvSpPr>
        <p:spPr>
          <a:xfrm>
            <a:off x="609448" y="347988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896-32"/>
          <p:cNvSpPr/>
          <p:nvPr/>
        </p:nvSpPr>
        <p:spPr>
          <a:xfrm>
            <a:off x="609448" y="3765565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896-33"/>
          <p:cNvSpPr/>
          <p:nvPr/>
        </p:nvSpPr>
        <p:spPr>
          <a:xfrm>
            <a:off x="609448" y="405124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896-34"/>
          <p:cNvSpPr/>
          <p:nvPr/>
        </p:nvSpPr>
        <p:spPr>
          <a:xfrm>
            <a:off x="609448" y="4651169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897-35"/>
          <p:cNvSpPr/>
          <p:nvPr/>
        </p:nvSpPr>
        <p:spPr>
          <a:xfrm>
            <a:off x="609448" y="4936847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897-36"/>
          <p:cNvSpPr/>
          <p:nvPr/>
        </p:nvSpPr>
        <p:spPr>
          <a:xfrm>
            <a:off x="609448" y="5222526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7897-37"/>
          <p:cNvSpPr/>
          <p:nvPr/>
        </p:nvSpPr>
        <p:spPr>
          <a:xfrm>
            <a:off x="609448" y="5508204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7897-38"/>
          <p:cNvSpPr/>
          <p:nvPr/>
        </p:nvSpPr>
        <p:spPr>
          <a:xfrm>
            <a:off x="609448" y="5793883"/>
            <a:ext cx="4796722" cy="2571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882-7"/>
          <p:cNvSpPr/>
          <p:nvPr/>
        </p:nvSpPr>
        <p:spPr>
          <a:xfrm>
            <a:off x="5644235" y="1099232"/>
            <a:ext cx="6087483" cy="5056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1" name="el-1785891667892-19"/>
          <p:cNvCxnSpPr/>
          <p:nvPr/>
        </p:nvCxnSpPr>
        <p:spPr>
          <a:xfrm>
            <a:off x="5768029" y="191996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5891667892-20"/>
          <p:cNvCxnSpPr/>
          <p:nvPr/>
        </p:nvCxnSpPr>
        <p:spPr>
          <a:xfrm>
            <a:off x="5768029" y="239311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l-1785891667893-21"/>
          <p:cNvCxnSpPr/>
          <p:nvPr/>
        </p:nvCxnSpPr>
        <p:spPr>
          <a:xfrm>
            <a:off x="5768029" y="286627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-1785891667893-22"/>
          <p:cNvCxnSpPr/>
          <p:nvPr/>
        </p:nvCxnSpPr>
        <p:spPr>
          <a:xfrm>
            <a:off x="5768029" y="3339428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-1785891667893-23"/>
          <p:cNvCxnSpPr/>
          <p:nvPr/>
        </p:nvCxnSpPr>
        <p:spPr>
          <a:xfrm>
            <a:off x="5768029" y="3812583"/>
            <a:ext cx="5839895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5891667892-15"/>
          <p:cNvSpPr/>
          <p:nvPr/>
        </p:nvSpPr>
        <p:spPr>
          <a:xfrm>
            <a:off x="5768029" y="3845912"/>
            <a:ext cx="5839895" cy="652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el-1785891667881-4"/>
          <p:cNvSpPr txBox="1"/>
          <p:nvPr/>
        </p:nvSpPr>
        <p:spPr>
          <a:xfrm>
            <a:off x="457086" y="507044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881-5"/>
          <p:cNvSpPr txBox="1"/>
          <p:nvPr/>
        </p:nvSpPr>
        <p:spPr>
          <a:xfrm>
            <a:off x="457086" y="726064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V5修复后验证：AS负向+RG正向信号分化 + 文献支撑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7892-16"/>
          <p:cNvSpPr txBox="1"/>
          <p:nvPr/>
        </p:nvSpPr>
        <p:spPr>
          <a:xfrm>
            <a:off x="609448" y="1203981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 九指标数据规模与统计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7901-39"/>
          <p:cNvSpPr txBox="1"/>
          <p:nvPr/>
        </p:nvSpPr>
        <p:spPr>
          <a:xfrm>
            <a:off x="666583" y="150870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基金数量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01-40"/>
          <p:cNvSpPr txBox="1"/>
          <p:nvPr/>
        </p:nvSpPr>
        <p:spPr>
          <a:xfrm>
            <a:off x="4978544" y="1508704"/>
            <a:ext cx="46381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400只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901-41"/>
          <p:cNvSpPr txBox="1"/>
          <p:nvPr/>
        </p:nvSpPr>
        <p:spPr>
          <a:xfrm>
            <a:off x="666583" y="1794383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全持仓记录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02-42"/>
          <p:cNvSpPr txBox="1"/>
          <p:nvPr/>
        </p:nvSpPr>
        <p:spPr>
          <a:xfrm>
            <a:off x="4713101" y="1794383"/>
            <a:ext cx="72925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361,636条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902-43"/>
          <p:cNvSpPr txBox="1"/>
          <p:nvPr/>
        </p:nvSpPr>
        <p:spPr>
          <a:xfrm>
            <a:off x="666583" y="2080062"/>
            <a:ext cx="89322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日度净值记录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02-44"/>
          <p:cNvSpPr txBox="1"/>
          <p:nvPr/>
        </p:nvSpPr>
        <p:spPr>
          <a:xfrm>
            <a:off x="4695990" y="2080062"/>
            <a:ext cx="74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602,904条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902-45"/>
          <p:cNvSpPr txBox="1"/>
          <p:nvPr/>
        </p:nvSpPr>
        <p:spPr>
          <a:xfrm>
            <a:off x="666583" y="2365740"/>
            <a:ext cx="7599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面板观测数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02-46"/>
          <p:cNvSpPr txBox="1"/>
          <p:nvPr/>
        </p:nvSpPr>
        <p:spPr>
          <a:xfrm>
            <a:off x="4870968" y="2365740"/>
            <a:ext cx="57138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7,846条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902-47"/>
          <p:cNvSpPr txBox="1"/>
          <p:nvPr/>
        </p:nvSpPr>
        <p:spPr>
          <a:xfrm>
            <a:off x="666583" y="2651419"/>
            <a:ext cx="8950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AS均值(修正)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902-48"/>
          <p:cNvSpPr txBox="1"/>
          <p:nvPr/>
        </p:nvSpPr>
        <p:spPr>
          <a:xfrm>
            <a:off x="4320739" y="2651419"/>
            <a:ext cx="11216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0.673 (σ=0.218)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903-49"/>
          <p:cNvSpPr txBox="1"/>
          <p:nvPr/>
        </p:nvSpPr>
        <p:spPr>
          <a:xfrm>
            <a:off x="666583" y="2937097"/>
            <a:ext cx="55710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ICI均值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03-50"/>
          <p:cNvSpPr txBox="1"/>
          <p:nvPr/>
        </p:nvSpPr>
        <p:spPr>
          <a:xfrm>
            <a:off x="4586331" y="2937097"/>
            <a:ext cx="85602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0.08 (σ=0.13)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03-51"/>
          <p:cNvSpPr txBox="1"/>
          <p:nvPr/>
        </p:nvSpPr>
        <p:spPr>
          <a:xfrm>
            <a:off x="666583" y="3222776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时间跨度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03-52"/>
          <p:cNvSpPr txBox="1"/>
          <p:nvPr/>
        </p:nvSpPr>
        <p:spPr>
          <a:xfrm>
            <a:off x="4201260" y="3222776"/>
            <a:ext cx="124109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2006Q4 ~ 2026Q2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03-53"/>
          <p:cNvSpPr txBox="1"/>
          <p:nvPr/>
        </p:nvSpPr>
        <p:spPr>
          <a:xfrm>
            <a:off x="666583" y="3508454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行业分类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903-54"/>
          <p:cNvSpPr txBox="1"/>
          <p:nvPr/>
        </p:nvSpPr>
        <p:spPr>
          <a:xfrm>
            <a:off x="4301248" y="3508454"/>
            <a:ext cx="11411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31类(关键词匹配)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903-55"/>
          <p:cNvSpPr txBox="1"/>
          <p:nvPr/>
        </p:nvSpPr>
        <p:spPr>
          <a:xfrm>
            <a:off x="666583" y="3794133"/>
            <a:ext cx="113084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全模型R²(九指标)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04-56"/>
          <p:cNvSpPr txBox="1"/>
          <p:nvPr/>
        </p:nvSpPr>
        <p:spPr>
          <a:xfrm>
            <a:off x="4908761" y="3794133"/>
            <a:ext cx="53359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0.0684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04-57"/>
          <p:cNvSpPr txBox="1"/>
          <p:nvPr/>
        </p:nvSpPr>
        <p:spPr>
          <a:xfrm>
            <a:off x="666583" y="4079811"/>
            <a:ext cx="62658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04-58"/>
          <p:cNvSpPr txBox="1"/>
          <p:nvPr/>
        </p:nvSpPr>
        <p:spPr>
          <a:xfrm>
            <a:off x="3901893" y="4079811"/>
            <a:ext cx="154046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东方财富API+AKShare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892-17"/>
          <p:cNvSpPr txBox="1"/>
          <p:nvPr/>
        </p:nvSpPr>
        <p:spPr>
          <a:xfrm>
            <a:off x="609448" y="4375013"/>
            <a:ext cx="490337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V4九指标全模型回归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904-59"/>
          <p:cNvSpPr txBox="1"/>
          <p:nvPr/>
        </p:nvSpPr>
        <p:spPr>
          <a:xfrm>
            <a:off x="666583" y="4679736"/>
            <a:ext cx="3431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904-60"/>
          <p:cNvSpPr txBox="1"/>
          <p:nvPr/>
        </p:nvSpPr>
        <p:spPr>
          <a:xfrm>
            <a:off x="3990721" y="4679736"/>
            <a:ext cx="145163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β=-0.135, t=-14.20***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904-61"/>
          <p:cNvSpPr txBox="1"/>
          <p:nvPr/>
        </p:nvSpPr>
        <p:spPr>
          <a:xfrm>
            <a:off x="666583" y="4965415"/>
            <a:ext cx="26472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04-62"/>
          <p:cNvSpPr txBox="1"/>
          <p:nvPr/>
        </p:nvSpPr>
        <p:spPr>
          <a:xfrm>
            <a:off x="4053065" y="4965415"/>
            <a:ext cx="13892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β=-0.053, t=-3.31***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05-63"/>
          <p:cNvSpPr txBox="1"/>
          <p:nvPr/>
        </p:nvSpPr>
        <p:spPr>
          <a:xfrm>
            <a:off x="666583" y="5251094"/>
            <a:ext cx="28481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05-64"/>
          <p:cNvSpPr txBox="1"/>
          <p:nvPr/>
        </p:nvSpPr>
        <p:spPr>
          <a:xfrm>
            <a:off x="4036698" y="5251094"/>
            <a:ext cx="140565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β=-0.047, t=-4.45***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05-65"/>
          <p:cNvSpPr txBox="1"/>
          <p:nvPr/>
        </p:nvSpPr>
        <p:spPr>
          <a:xfrm>
            <a:off x="666583" y="5536772"/>
            <a:ext cx="2904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05-66"/>
          <p:cNvSpPr txBox="1"/>
          <p:nvPr/>
        </p:nvSpPr>
        <p:spPr>
          <a:xfrm>
            <a:off x="4215991" y="5536772"/>
            <a:ext cx="122636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DC262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β=-0.016, t=-1.81*</a:t>
            </a:r>
            <a:endParaRPr sz="1040" b="1">
              <a:solidFill>
                <a:srgbClr val="DC2626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05-67"/>
          <p:cNvSpPr txBox="1"/>
          <p:nvPr/>
        </p:nvSpPr>
        <p:spPr>
          <a:xfrm>
            <a:off x="666583" y="5822451"/>
            <a:ext cx="6288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ΔAS/SDI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7905-68"/>
          <p:cNvSpPr txBox="1"/>
          <p:nvPr/>
        </p:nvSpPr>
        <p:spPr>
          <a:xfrm>
            <a:off x="4052469" y="5822451"/>
            <a:ext cx="138988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不显著(t=0.75/-0.25)</a:t>
            </a:r>
            <a:endParaRPr sz="104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7892-18"/>
          <p:cNvSpPr txBox="1"/>
          <p:nvPr/>
        </p:nvSpPr>
        <p:spPr>
          <a:xfrm>
            <a:off x="5768029" y="1203981"/>
            <a:ext cx="594654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负向预测的文献支撑与机制分析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2" name="el-1785891667888-9"/>
          <p:cNvSpPr txBox="1"/>
          <p:nvPr/>
        </p:nvSpPr>
        <p:spPr>
          <a:xfrm>
            <a:off x="5768029" y="151822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AS负向（A股）：郑中华、李建军(2014)发现A股AS与基金净值呈负向。V5修正后AS牛熊均负向(牛t=-27.29***/熊t=-7.09***)，但FM截面中AS正向(t=+2.76**)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7889-10"/>
          <p:cNvSpPr txBox="1"/>
          <p:nvPr/>
        </p:nvSpPr>
        <p:spPr>
          <a:xfrm>
            <a:off x="5768029" y="199138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AS负向（国际）：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Jin et al.(2016)发现最高AS分位基金后续业绩显著为负，过度自信导致过度交易——</a:t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Semantic Scholar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7890-11"/>
          <p:cNvSpPr txBox="1"/>
          <p:nvPr/>
        </p:nvSpPr>
        <p:spPr>
          <a:xfrm>
            <a:off x="5768029" y="2464537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RG正向（修复后）：V5修正RG计算后(持仓×个股收益)，RG正向预测业绩(t=+9.20***)，与Kacperczyk(2008)一致。牛市正向(t=+12.62***)，熊市负向(t=-7.17***)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7890-12"/>
          <p:cNvSpPr txBox="1"/>
          <p:nvPr/>
        </p:nvSpPr>
        <p:spPr>
          <a:xfrm>
            <a:off x="5768029" y="2937692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ICI边际负向：V5修正量纲后ICI均值0.08(旧值712)，单变量边际负向(t=-1.78*)。样本有限(420观测)，需扩展验证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7891-13"/>
          <p:cNvSpPr txBox="1"/>
          <p:nvPr/>
        </p:nvSpPr>
        <p:spPr>
          <a:xfrm>
            <a:off x="5768029" y="3410848"/>
            <a:ext cx="5839895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OCI(=|RG|)正向预测：V5用|RG|作为ARG代理(申宇2013)，OCI正向预测(t=+4.40***)。牛市正向(t=+3.41***)，熊市不显著(t=+0.96)。交易活跃度在牛市中增厚收益</a:t>
            </a:r>
            <a:r>
              <a:rPr sz="9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7891-14"/>
          <p:cNvSpPr txBox="1"/>
          <p:nvPr/>
        </p:nvSpPr>
        <p:spPr>
          <a:xfrm>
            <a:off x="5872778" y="3912570"/>
            <a:ext cx="5630397" cy="51957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9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双重排序角落组合(AS×ICI)：AS五分位差-6.22%/季(高AS组最差) | RG五分位差+5.14%/季(高RG组最好) | SDI五分位差-0.33% | 低AS+高RG(保守交易型)为最优组合</a:t>
            </a:r>
            <a:r>
              <a:rPr sz="97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el-1785891667880-2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真实数据验证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9" name="el-1785891667880-3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A1A2E"/>
                </a:solidFill>
                <a:latin typeface="宋体"/>
              </a:defRPr>
            </a:pPr>
            <a:r>
              <a:t>核心思想：如果一个行为指标真的有预测力，不管用什么统计方法、从什么角度切入，都应该得到一致（或可解释的差异）的结论。</a:t>
            </a:r>
          </a:p>
          <a:p>
            <a:pPr>
              <a:spcAft>
                <a:spcPts val="200"/>
              </a:spcAft>
              <a:defRPr sz="950" b="0">
                <a:solidFill>
                  <a:srgbClr val="9CA3AF"/>
                </a:solidFill>
                <a:latin typeface="宋体"/>
              </a:defRPr>
            </a:pPr>
            <a:r>
              <a:t>如果不同方法给出矛盾结果，那本身就是一个重要发现——说明该指标在不同维度上有不同效应。类比医学：新药需经RCT、观察性研究、荟萃分析多方法验证疗效。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91C1C"/>
                </a:solidFill>
                <a:latin typeface="黑体"/>
              </a:defRPr>
            </a:pPr>
            <a:r>
              <a:t>1. OLS聚类回归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做什么：用t-1期行为指标预测t期收益，按基金聚类调整标准误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为什么：面板数据最基础方法，聚类标准误解决序列相关</a:t>
            </a:r>
          </a:p>
          <a:p>
            <a:pPr>
              <a:spcAft>
                <a:spcPts val="200"/>
              </a:spcAft>
              <a:defRPr sz="830" b="1">
                <a:solidFill>
                  <a:srgbClr val="B91C1C"/>
                </a:solidFill>
                <a:latin typeface="宋体"/>
              </a:defRPr>
            </a:pPr>
            <a:r>
              <a:t>结果：AS最强负向(t=-26.81***)，RG正向(t=+9.20***)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C7293"/>
                </a:solidFill>
                <a:latin typeface="黑体"/>
              </a:defRPr>
            </a:pPr>
            <a:r>
              <a:t>2. Fama-MacBeth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做什么：逐季度做截面回归，得到40个季度系数取均值，Newey-West修正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为什么：纯粹捕捉截面效应——同一时间高AS基金是否比低的收益高</a:t>
            </a:r>
          </a:p>
          <a:p>
            <a:pPr>
              <a:spcAft>
                <a:spcPts val="200"/>
              </a:spcAft>
              <a:defRPr sz="830" b="1">
                <a:solidFill>
                  <a:srgbClr val="1C7293"/>
                </a:solidFill>
                <a:latin typeface="宋体"/>
              </a:defRPr>
            </a:pPr>
            <a:r>
              <a:t>结果：AS正向(t=+2.76**)——与OLS方向矛盾！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59669"/>
                </a:solidFill>
                <a:latin typeface="黑体"/>
              </a:defRPr>
            </a:pPr>
            <a:r>
              <a:t>3. 基金固定效应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做什么：加入基金个体虚拟变量，消除不随时间变化的基金特征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为什么：排除『基金固有质量』的混杂，检验是否基金内部变化驱动</a:t>
            </a:r>
          </a:p>
          <a:p>
            <a:pPr>
              <a:spcAft>
                <a:spcPts val="200"/>
              </a:spcAft>
              <a:defRPr sz="830" b="1">
                <a:solidFill>
                  <a:srgbClr val="059669"/>
                </a:solidFill>
                <a:latin typeface="宋体"/>
              </a:defRPr>
            </a:pPr>
            <a:r>
              <a:t>结果：RG最稳健(t=+7.77***)，SDI负向(t=-7.25***)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584448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D97706"/>
                </a:solidFill>
                <a:latin typeface="黑体"/>
              </a:defRPr>
            </a:pPr>
            <a:r>
              <a:t>4. 双重排序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做什么：按AS五等分，每组内再按ICI五等分，比较最高最低组收益差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为什么：非参数方法，不依赖线性假设，直观看到最激进vs最保守的差距</a:t>
            </a:r>
          </a:p>
          <a:p>
            <a:pPr>
              <a:spcAft>
                <a:spcPts val="200"/>
              </a:spcAft>
              <a:defRPr sz="830" b="1">
                <a:solidFill>
                  <a:srgbClr val="D97706"/>
                </a:solidFill>
                <a:latin typeface="宋体"/>
              </a:defRPr>
            </a:pPr>
            <a:r>
              <a:t>结果：AS五分位差-6.22%/季，RG五分位差+5.14%/季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7096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584448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7C3AED"/>
                </a:solidFill>
                <a:latin typeface="黑体"/>
              </a:defRPr>
            </a:pPr>
            <a:r>
              <a:t>5. 牛熊市分组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做什么：按年度基准收益正负分牛市/熊市子样本，分别回归比较系数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为什么：检验行为指标的『环境依赖性』——同一行为在不同市场下效果不同</a:t>
            </a:r>
          </a:p>
          <a:p>
            <a:pPr>
              <a:spcAft>
                <a:spcPts val="200"/>
              </a:spcAft>
              <a:defRPr sz="830" b="1">
                <a:solidFill>
                  <a:srgbClr val="7C3AED"/>
                </a:solidFill>
                <a:latin typeface="宋体"/>
              </a:defRPr>
            </a:pPr>
            <a:r>
              <a:t>结果：RG牛正熊负(反转)，SDI牛负熊正(反转)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5863" y="3584448"/>
            <a:ext cx="376732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584448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657600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89191"/>
                </a:solidFill>
                <a:latin typeface="黑体"/>
              </a:defRPr>
            </a:pPr>
            <a:r>
              <a:t>6. 滞后阶数分析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1" y="393192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做什么：用t-1至t-4期指标分别预测t期收益，检验预测力持续性</a:t>
            </a:r>
          </a:p>
          <a:p>
            <a:pPr>
              <a:spcAft>
                <a:spcPts val="200"/>
              </a:spcAft>
              <a:defRPr sz="830" b="0">
                <a:solidFill>
                  <a:srgbClr val="1A1A2E"/>
                </a:solidFill>
                <a:latin typeface="宋体"/>
              </a:defRPr>
            </a:pPr>
            <a:r>
              <a:t>为什么：只持续1期=短期噪声，持续4期=持久行为特征</a:t>
            </a:r>
          </a:p>
          <a:p>
            <a:pPr>
              <a:spcAft>
                <a:spcPts val="200"/>
              </a:spcAft>
              <a:defRPr sz="830" b="1">
                <a:solidFill>
                  <a:srgbClr val="089191"/>
                </a:solidFill>
                <a:latin typeface="宋体"/>
              </a:defRPr>
            </a:pPr>
            <a:r>
              <a:t>结果：AS持续4/4期，RG持续4/4期但方向交替(1Q正→2Q负)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" y="5303520"/>
            <a:ext cx="11494008" cy="4572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3309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A1A2E"/>
                </a:solidFill>
                <a:latin typeface="宋体"/>
              </a:defRPr>
            </a:pPr>
            <a:r>
              <a:t>交叉验证核心发现：OLS显示AS负向但Fama-MacBeth显示AS正向——这个矛盾是原创发现，说明AS存在『时序效应』(同一基金AS升高→收益降低)和『截面效应』(同一时间高AS基金→收益高)的双重维度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六种方法交叉验证 = 用不同统计角度反复检验同一结论 | OLS(混合)→FM(截面)→FE(组内)→双重排序(非参数)→牛熊市(环境)→滞后(持续性) | 矛盾结果本身是发现: AS时序负/截面正 | RG最稳健(OLS+FE均正向)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27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890">
                <a:solidFill>
                  <a:srgbClr val="92400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970">
                <a:solidFill>
                  <a:srgbClr val="004D4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Cremers只研究AS（L2），Kacperczyk只研究RG（L3），Berk &amp; Green只做理论推导（L5），各篇相互独立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Cremers用CRSP+CDA（年费数万美元），寇宗来用Wind（年费数十万人民币），Berk &amp; Green为理论模型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/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极端市场状态×SDI交互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PS(LSTM)+行为金融问卷验证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7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8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 rot="0">
            <a:off x="988082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论文整体学术逻辑框架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七章结构 × L1-L5因果递进链条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4572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论文七章结构（约14,000字）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第1章  引言与研究背景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研究问题、贡献声明、论文结构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第2章  文献综述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L1-L5五层分类综述，研究空白论证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916936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第3章  研究设计与数据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五层框架、数据来源、指标定义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666744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12463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第4章  实证结果：九指标回归  (3,000字)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描述统计+OLS+FM+FE回归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416552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62272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第5章  稳健性检验与异质性  (2,500字)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六种方法+牛熊市+滞后阶数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166359"/>
            <a:ext cx="53035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12079"/>
            <a:ext cx="5029200" cy="5669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10"/>
              </a:lnSpc>
              <a:spcAft>
                <a:spcPts val="200"/>
              </a:spcAft>
              <a:defRPr sz="1100" b="1">
                <a:solidFill>
                  <a:srgbClr val="1F2937"/>
                </a:solidFill>
                <a:latin typeface="微软雅黑"/>
              </a:defRPr>
            </a:pPr>
            <a:r>
              <a:t>第6章  结论、讨论与展望  (2,000字)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6B7280"/>
                </a:solidFill>
                <a:latin typeface="微软雅黑"/>
              </a:defRPr>
            </a:pPr>
            <a:r>
              <a:t>核心发现+贡献+局限+未来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L1-L5因果递进链条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1417320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5389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L1 背景特征层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746504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从业年限/学历/管理规模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18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Chevalier &amp; Ellison (1999)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8823960" y="2075688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167128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20370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E40AF"/>
                </a:solidFill>
                <a:latin typeface="微软雅黑"/>
              </a:defRPr>
            </a:pPr>
            <a:r>
              <a:t>L2 持仓偏离层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963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AS(0.673) / ICI(0.08)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68296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Cremers &amp; Petajisto (2009)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8823960" y="2825496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0" y="2916936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29535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微软雅黑"/>
              </a:defRPr>
            </a:pPr>
            <a:r>
              <a:t>L3 交易行为层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2461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RG(0.93%) / SDI(0.15) / OCI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118104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Kacperczyk et al. (2008)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23960" y="3575304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3666744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370332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2410C"/>
                </a:solidFill>
                <a:latin typeface="微软雅黑"/>
              </a:defRPr>
            </a:pPr>
            <a:r>
              <a:t>L4 认知偏差层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9959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处置效应 / 过度自信 / 损失厌恶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867911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Kahneman &amp; Tversky (1979)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8823960" y="4325112"/>
            <a:ext cx="182880" cy="914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0" y="4416552"/>
            <a:ext cx="5760720" cy="658368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445312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L5 AI预测层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745736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PS = 1 - 预测准确率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61772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50" b="0">
                <a:solidFill>
                  <a:srgbClr val="6B7280"/>
                </a:solidFill>
                <a:latin typeface="微软雅黑"/>
              </a:defRPr>
            </a:pPr>
            <a:r>
              <a:t>Cohen et al. (2026)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669280"/>
            <a:ext cx="11430000" cy="640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5"/>
              </a:lnSpc>
              <a:spcAft>
                <a:spcPts val="200"/>
              </a:spcAft>
              <a:defRPr sz="1050" b="1">
                <a:solidFill>
                  <a:srgbClr val="991B1B"/>
                </a:solidFill>
                <a:latin typeface="微软雅黑"/>
              </a:defRPr>
            </a:pPr>
            <a:r>
              <a:t>学术逻辑核心：L1经理特征决定信息优势 -&gt; L2持仓偏离体现选股能力 -&gt; L3交易行为揭示隐性信息 -&gt; L4认知偏差解释行为偏误 -&gt; L5 AI预测验证不可预测性=Alpha</a:t>
            </a:r>
          </a:p>
          <a:p>
            <a:pPr algn="l">
              <a:lnSpc>
                <a:spcPts val="1045"/>
              </a:lnSpc>
              <a:spcAft>
                <a:spcPts val="200"/>
              </a:spcAft>
              <a:defRPr sz="950" b="0">
                <a:solidFill>
                  <a:srgbClr val="B91C1C"/>
                </a:solidFill>
                <a:latin typeface="微软雅黑"/>
              </a:defRPr>
            </a:pPr>
            <a:r>
              <a:t>每层输出为下层输入，构建从背景到行为到预测的完整因果链条，区别于现有文献的单层独立研究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34</a:t>
            </a:r>
          </a:p>
        </p:txBody>
      </p:sp>
      <p:sp>
        <p:nvSpPr>
          <p:cNvPr id="49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1 详解：MVP四轮验证（已完成）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每一步做什么、算什么、用什么数据、结果如何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V1-V4四轮验证：200-&gt;400基金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全持仓数据修正AS公式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九指标全模型回归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= 1/2 x Sigma|w_fund - w_bench|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 = R_fund - R_holdings(持仓x个股收益)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ICI = Sigma(w_fund - w_market)^2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 = 风格权重曼哈顿距离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OCI = |RG| (申宇2013修正)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400只偏股混合基金(2006-2026)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361,636条全持仓记录(半年报)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602,904条日度净值记录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沪深300/中证500成分股权重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东方财富API + AKShare(免费)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AS负向(t=-26.81***) 最强预测因子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RG正向(t=+9.20***) 与文献一致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SDI负向(t=-7.69***) 风格漂移有害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全模型R^2=0.0684(提升195%)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FM截面: AS正向(t=+2.76**)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首次中国市场五层九指标整合验证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发现AS负向(与美股相反)+RG正向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OLS/FM方向矛盾是原创发现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全持仓替代前十大近似(方法学)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免费API替代付费数据库(可复现性)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OLS按基金聚类标准误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无未来函数: t-1指标预测t期收益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基金固定效应控制个体异质性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Winsorize极端值(1%/99%)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35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2 详解：稳健性检验与机制分析（进行中）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进行中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六种方法交叉验证 + 因果推断 + 机制检验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Fama-MacBeth截面回归(40季度)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基金固定效应(within R^2)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牛熊市异质性分组检验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 x ICI双重排序角落组合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滞后1-4Q预测力持续性分析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FM: 逐季度截面回归取均值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FE: within变换消除个体效应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牛熊市: 月收益&gt;0为牛, &lt;0为熊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双重排序: 先AS五分位再ICI五分位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基金规模变化作为工具变量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Phase 1的400基金面板(7,846 obs)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Fama-French三因子(中国市场)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沪深300月度收益(市场因子)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基金规模TNA(Wind/东方财富)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经理变更记录(事件研究用)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AS: OLS最强(t=-26.81***) / FM正向(t=+2.76**)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RG: OLS+FE均正向(最稳健, t=+9.20***/+7.77***)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SDI: OLS+FE均负向(t=-7.69***/-7.25***)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RG牛熊反转: 牛正(t=+12.62***)/熊负(t=-7.17***)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AS持续4Q / RG持续4Q(方向交替)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OLS负向/FM正向矛盾揭示AS时序vs截面效应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RG牛熊反转是原创发现(无竞争文献)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RG均值回归(1Q正-&gt;2Q负-&gt;3Q正)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SDI风格漂移持续损害业绩(稳健)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六种方法交叉验证增强结论可信度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Newey-West标准误修正自相关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IV: AR检验拒绝弱工具变量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多重检验校正(Bonferroni/Holm)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Fama-French因子调整业绩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Clauser-Shiappacasse样本筛选标准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36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Phase 3 详解：样本扩展与AI预测（待启动）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228600"/>
            <a:ext cx="1463040" cy="292608"/>
          </a:xfrm>
          <a:prstGeom prst="roundRect">
            <a:avLst>
              <a:gd name="adj" fmla="val 3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待启动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L4认知偏差 + L5 AI预测 + 行为画像标签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样本扩展: 400-&gt;800+基金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市值加权基准AS(替代等权)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L4认知偏差: 处置效应/过度自信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L5简化版PS(Logistic回归)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XGBoost+SHAP行为画像预测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计算什么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 = 1 - Logistic预测准确率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处置效应比率 = P(buy loser)/P(sell winner)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过度自信指数 = 超额交易量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SHAP值: 各指标对业绩的贡献度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行为画像标签(聚类分析)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用什么数据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800+偏股混合基金(扩展样本)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基金经理变更事件记录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经理个人特征(年限/学历/性别)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行为金融问卷数据(如可得)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周度持仓数据(如有高频数据)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预期结果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PS高的基金(不可预测)业绩更好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认知偏差指标与业绩负相关(预期)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XGBoost预测R^2 &gt; 0.10(优于OLS)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行为画像: 识别3-5种经理类型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SHAP: AS/RG为最重要预测因子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学术价值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Cohen et al.(2026)中国本土化验证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首次将五层指标输入ML模型预测业绩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SHAP可解释性弥补黑箱模型缺陷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行为画像标签连接学术与实践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PS独立于AS的增量信息验证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规范性检查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样本外预测(rolling window)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10折交叉验证防过拟合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特征全部滞后(无未来函数)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DID/IV因果推断(L1经理变更)</a:t>
            </a:r>
          </a:p>
          <a:p>
            <a:pPr algn="l">
              <a:lnSpc>
                <a:spcPts val="1187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  -  代码开源+数据公开(可复现性)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3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学术规范性检查清单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六大规范性维度 × 逐项检验标准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01  未来函数防控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所有指标使用t-1期数据预测t期收益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上季度持仓x 本期个股收益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AS: 使用已披露的半年报持仓计算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PS: 滚动训练窗口(20Q训练/8Q测试)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FM回归: 自变量在t-1取值, 因变量在t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657600" cy="320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02  过度拟合检验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OLS/FM/FE三种方法交叉验证一致性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XGBoost: 10折交叉验证+早停机制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Logistic PS: 样本外预测准确率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不追求R^2最大化, 关注经济显著性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Harvey &amp; Liu (2014)多重检验校正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657600" cy="3200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02412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03  统计显著性检验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38988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t检验: ***p&lt;0.01, **p&lt;0.05, *p&lt;0.1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Newey-West标准误修正异方差+自相关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OLS按基金聚类(cluster by fund)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FM: Newey-West修正t值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IV: AR检验/Anderson LR/Cragg-Donald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04  样本选择偏差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包含已清盘基金(避免生存偏差)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剔除成立不满1年的基金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至少24个月历史净值数据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剔除停止申购/赎回的样本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稳健性: 含/不含停止申购样本对比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947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05  稳健性检验矩阵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六种方法: OLS/FM/FE/牛熊市/双重排序/滞后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因子模型: CAPM/FF3/Carhart4/FF5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基准选择: 沪深300/中证500/中证800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AS公式: 全持仓vs前十大对比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RG: 原版vs ARG(取绝对值)对比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94760"/>
            <a:ext cx="3657600" cy="265176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947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813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>
                <a:solidFill>
                  <a:srgbClr val="FFFFFF"/>
                </a:solidFill>
                <a:latin typeface="微软雅黑"/>
              </a:defRPr>
            </a:pPr>
            <a:r>
              <a:t>06  可复现性保障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78808"/>
            <a:ext cx="34747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数据源: AKShare+东方财富(免费公开)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代码开源: Python全流程可复现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随机种子固定(np.random.seed)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版本控制: 参数版本+回滚机制</a:t>
            </a:r>
          </a:p>
          <a:p>
            <a:pPr algn="l">
              <a:lnSpc>
                <a:spcPts val="1080"/>
              </a:lnSpc>
              <a:spcAft>
                <a:spcPts val="200"/>
              </a:spcAft>
              <a:defRPr sz="900" b="0">
                <a:solidFill>
                  <a:srgbClr val="374151"/>
                </a:solidFill>
                <a:latin typeface="微软雅黑"/>
              </a:defRPr>
            </a:pPr>
            <a:r>
              <a:t>  -  数据管线文档化: 每步可追溯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基金经理投资行为画像研究 | 论文写作计划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38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"/>
            <a:ext cx="12191695" cy="5486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1F2937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微软雅黑"/>
              </a:defRPr>
            </a:pPr>
            <a:r>
              <a:t>07 论文写作计划 | 核心发现 + 学术贡献 + 局限性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核心发现（V5修复后）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577840" cy="22860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30352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1. AS负向预测(t=-26.81***)：与美股相反，A股高AS基金业绩更差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机制：A股散户占比高，主动偏离信息优势受限，过度自信导致过度交易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2. RG正向预测(t=+9.20***)：与Kacperczyk(2008)一致，隐形交易创造价值</a:t>
            </a:r>
          </a:p>
          <a:p>
            <a:pPr algn="l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   机制：基金经理利用私有信息进行中间交易，净效应为正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3. SDI负向预测(t=-7.69***)：风格漂移持续损害业绩(OLS+FE均显著)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4. RG牛熊反转(牛正/熊负)：牛市隐形交易增厚收益，熊市拖累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5. OLS/FM方向矛盾：AS时序负向但截面正向，揭示两类信号差异</a:t>
            </a:r>
          </a:p>
          <a:p>
            <a:pPr algn="l">
              <a:lnSpc>
                <a:spcPts val="1150"/>
              </a:lnSpc>
              <a:spcAft>
                <a:spcPts val="200"/>
              </a:spcAft>
              <a:defRPr sz="1000" b="1">
                <a:solidFill>
                  <a:srgbClr val="1F2937"/>
                </a:solidFill>
                <a:latin typeface="微软雅黑"/>
              </a:defRPr>
            </a:pPr>
            <a:r>
              <a:t>6. 全模型R^2=0.0684(提升195%)，行为信号分化而非全面负向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98755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四重学术贡献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669280" cy="2286000"/>
          </a:xfrm>
          <a:prstGeom prst="roundRect">
            <a:avLst>
              <a:gd name="adj" fmla="val 3000"/>
            </a:avLst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2194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框架整合创新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首次将5篇顶级期刊文献的独立指标整合为L1-&gt;L5因果递进框架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数据民主化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全流程免费API替代付费数据库，研究可复现性极大提升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中国市场本土化发现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AS负向+RG正向信号分化，OLS/FM矛盾是原创发现</a:t>
            </a:r>
          </a:p>
          <a:p>
            <a:pPr algn="l">
              <a:lnSpc>
                <a:spcPts val="1320"/>
              </a:lnSpc>
              <a:spcAft>
                <a:spcPts val="200"/>
              </a:spcAft>
              <a:defRPr sz="1100" b="1">
                <a:solidFill>
                  <a:srgbClr val="7C3AED"/>
                </a:solidFill>
                <a:latin typeface="微软雅黑"/>
              </a:defRPr>
            </a:pPr>
            <a:r>
              <a:t>全持仓方法学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通过东方财富API获取半年报全持仓，替代前十大近似计算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研究局限性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06240"/>
            <a:ext cx="5577840" cy="210312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51960"/>
            <a:ext cx="530352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1. 样本局限：400基金可能不足以代表全市场，需扩展至800+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2. 持仓频率：半年报全持仓仍低于美国季度披露，RG精度受限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3. 因果识别：预测性回归非严格因果，需IV/DID增强识别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4. L4/L5待补：认知偏差层和AI预测层尚未完成实证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5. 因子模型：中国市场因子模型本身存在设定问题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0">
                <a:solidFill>
                  <a:srgbClr val="374151"/>
                </a:solidFill>
                <a:latin typeface="微软雅黑"/>
              </a:defRPr>
            </a:pPr>
            <a:r>
              <a:t>6. 数据挖掘风险：多指标多方法检验可能产生假发现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45720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822192"/>
            <a:ext cx="5486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F2937"/>
                </a:solidFill>
                <a:latin typeface="微软雅黑"/>
              </a:defRPr>
            </a:pPr>
            <a:r>
              <a:t>未来研究方向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06240"/>
            <a:ext cx="5669280" cy="21031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251960"/>
            <a:ext cx="53949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1. L5完整实现：LSTM深度学习预测基金经理交易行为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2. 高频数据：周度/日度持仓数据提升RG和PS精度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3. 因果推断：经理变更事件作为自然实验(DID)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4. 行为问卷：结合行为金融问卷调查验证认知偏差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5. 跨市场比较：中国市场vs美国市场的行为差异</a:t>
            </a:r>
          </a:p>
          <a:p>
            <a:pPr algn="l">
              <a:lnSpc>
                <a:spcPts val="1140"/>
              </a:lnSpc>
              <a:spcAft>
                <a:spcPts val="200"/>
              </a:spcAft>
              <a:defRPr sz="950" b="1">
                <a:solidFill>
                  <a:srgbClr val="059669"/>
                </a:solidFill>
                <a:latin typeface="微软雅黑"/>
              </a:defRPr>
            </a:pPr>
            <a:r>
              <a:t>6. 实时预测系统：将研究成果转化为实时基金筛选工具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640080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F2937"/>
          </a:solidFill>
          <a:ln w="9525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论文写作计划核心：三阶段递进（MVP验证 -&gt; 稳健性检验 -&gt; AI预测），用最严谨的学术逻辑构建L1-L5因果链条，每一步可检验、可复现、可追溯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900" b="0">
                <a:solidFill>
                  <a:srgbClr val="6B7280"/>
                </a:solidFill>
                <a:latin typeface="微软雅黑"/>
              </a:defRPr>
            </a:pPr>
            <a:r>
              <a:t>39</a:t>
            </a:r>
          </a:p>
        </p:txBody>
      </p:sp>
      <p:sp>
        <p:nvSpPr>
          <p:cNvPr id="24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5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91C1C"/>
                </a:solidFill>
                <a:latin typeface="黑体"/>
              </a:defRPr>
            </a:pPr>
            <a:r>
              <a:t>AS (Active Share)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AS = 1/2 x Sigma|w_fund - w_bench|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沪深300(300只) + 中证500(500只) 等权合成基准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东方财富全持仓API(半年报/年报) | 185,144条持仓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逐股比较基金权重与基准权重之差的绝对值，求和后除以2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0.833 (60%+为默认值，因缺少各基金实际基准)</a:t>
            </a:r>
          </a:p>
          <a:p>
            <a:pPr>
              <a:spcAft>
                <a:spcPts val="150"/>
              </a:spcAft>
              <a:defRPr sz="780" b="1">
                <a:solidFill>
                  <a:srgbClr val="DC2626"/>
                </a:solidFill>
                <a:latin typeface="宋体"/>
              </a:defRPr>
            </a:pPr>
            <a:r>
              <a:t>结果: OLS: t=-26.81*** (最强负向预测因子)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美股正向(Cremers 2009) vs A股负向 -- 原创发现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B91C1C"/>
                </a:solidFill>
                <a:latin typeface="黑体"/>
              </a:defRPr>
            </a:pPr>
            <a:r>
              <a:t>ICI (行业集中度)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L2 持仓偏离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ICI = Sigma(w_fund,j - w_market,j)^2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申万一级行业(31个行业) 全市场自由流通市值权重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东方财富基金行业配置 + AKShare市场行业权重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逐行业计算基金配置与市场配置偏差的平方，求和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0.08 (标准化后) | 原始值712</a:t>
            </a:r>
          </a:p>
          <a:p>
            <a:pPr>
              <a:spcAft>
                <a:spcPts val="150"/>
              </a:spcAft>
              <a:defRPr sz="780" b="1">
                <a:solidFill>
                  <a:srgbClr val="DC2626"/>
                </a:solidFill>
                <a:latin typeface="宋体"/>
              </a:defRPr>
            </a:pPr>
            <a:r>
              <a:t>结果: OLS: t=-3.69*** (负向显著)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美股正向(Kacperczyk 2005) vs A股负向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C7293"/>
                </a:solidFill>
                <a:latin typeface="黑体"/>
              </a:defRPr>
            </a:pPr>
            <a:r>
              <a:t>RG (Return Gap)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RG = R_fund - R_holdings = R_fund - Sigma(w_i,t-1 x r_i,t)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无基准指数 | 用上季度末全持仓 x 本季个股收益算模拟收益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东方财富净值API + 全持仓数据(18.5万条)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模拟收益=上季度末持仓不变的理论收益; RG=实际净值收益-模拟收益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0.93% (季度均值)</a:t>
            </a:r>
          </a:p>
          <a:p>
            <a:pPr>
              <a:spcAft>
                <a:spcPts val="150"/>
              </a:spcAft>
              <a:defRPr sz="780" b="1">
                <a:solidFill>
                  <a:srgbClr val="059669"/>
                </a:solidFill>
                <a:latin typeface="宋体"/>
              </a:defRPr>
            </a:pPr>
            <a:r>
              <a:t>结果: OLS: t=+9.20*** (正向，与美股一致) | FM截面不显著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V3前十大算RG=-3.67*** (错误方向) -&gt; V4全持仓翻正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059669"/>
                </a:solidFill>
                <a:latin typeface="黑体"/>
              </a:defRPr>
            </a:pPr>
            <a:r>
              <a:t>SDI (风格漂移指数)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L4 风险应对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SDI = 1/2 x Sigma|w_k,t - w_k,t-1|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4类风格指数: 大盘成长/价值 + 小盘成长/价值 (RBSA估计)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基金净值 + Wind四类风格指数 | 用Sharpe强式模型估计风格暴露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先用RBSA回归估计基金对4类风格的权重，再算前后两期权重的曼哈顿距离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0.15 (标准化后) | 原始值33.4</a:t>
            </a:r>
          </a:p>
          <a:p>
            <a:pPr>
              <a:spcAft>
                <a:spcPts val="150"/>
              </a:spcAft>
              <a:defRPr sz="780" b="1">
                <a:solidFill>
                  <a:srgbClr val="DC2626"/>
                </a:solidFill>
                <a:latin typeface="宋体"/>
              </a:defRPr>
            </a:pPr>
            <a:r>
              <a:t>结果: OLS: t=-7.69*** (负向) | FE: t=-7.25*** (稳健)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寇宗来(2020)发现U型关系(对称轴0.63) | 牛熊反转: 牛负熊正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D97706"/>
                </a:solidFill>
                <a:latin typeface="黑体"/>
              </a:defRPr>
            </a:pPr>
            <a:r>
              <a:t>OCI (过度自信指数)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L5 认知行为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当前代理: OCI = |RG| (申宇2013 ARG方法)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无基准 | 理论公式: (TO_i - TO_mean) / sigma(TO) 换手率偏离度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当前用|RG|代理(因缺换手率数据) | 计划Phase 2用实际换手率计算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取RG绝对值作为过度交易强度的代理变量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0.028 (季度均值)</a:t>
            </a:r>
          </a:p>
          <a:p>
            <a:pPr>
              <a:spcAft>
                <a:spcPts val="150"/>
              </a:spcAft>
              <a:defRPr sz="780" b="1">
                <a:solidFill>
                  <a:srgbClr val="059669"/>
                </a:solidFill>
                <a:latin typeface="宋体"/>
              </a:defRPr>
            </a:pPr>
            <a:r>
              <a:t>结果: OLS: t=+4.40*** | 因子调整后t=+4.79*** (翻正=承担系统风险)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Barber&amp;Odean(2001): 过度自信损害业绩 | 本研究发现牛市中正向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C7293"/>
                </a:solidFill>
                <a:latin typeface="黑体"/>
              </a:defRPr>
            </a:pPr>
            <a:r>
              <a:t>dAS (主动份额变化)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9CA3AF"/>
                </a:solidFill>
                <a:latin typeface="宋体"/>
              </a:defRPr>
            </a:pPr>
            <a:r>
              <a:t>L3 交易行为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780" b="1">
                <a:solidFill>
                  <a:srgbClr val="1A1A2E"/>
                </a:solidFill>
                <a:latin typeface="宋体"/>
              </a:defRPr>
            </a:pPr>
            <a:r>
              <a:t>公式: dAS = AS_t - AS_{t-1}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基准: 同AS，基于沪深300+中证500基准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数据: 由AS指标逐期差分得到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计算: 本期AS减去上期AS，正值=增加主动管理，负值=趋向被动</a:t>
            </a:r>
          </a:p>
          <a:p>
            <a:pPr>
              <a:spcAft>
                <a:spcPts val="150"/>
              </a:spcAft>
              <a:defRPr sz="780" b="0">
                <a:solidFill>
                  <a:srgbClr val="1A1A2E"/>
                </a:solidFill>
                <a:latin typeface="宋体"/>
              </a:defRPr>
            </a:pPr>
            <a:r>
              <a:t>均值: -0.001 (略微趋向被动)</a:t>
            </a:r>
          </a:p>
          <a:p>
            <a:pPr>
              <a:spcAft>
                <a:spcPts val="150"/>
              </a:spcAft>
              <a:defRPr sz="780" b="1">
                <a:solidFill>
                  <a:srgbClr val="059669"/>
                </a:solidFill>
                <a:latin typeface="宋体"/>
              </a:defRPr>
            </a:pPr>
            <a:r>
              <a:t>结果: OLS: t=+2.01** (正向弱显著) | FE: t=+2.01** (稳健)</a:t>
            </a:r>
          </a:p>
          <a:p>
            <a:pPr>
              <a:spcAft>
                <a:spcPts val="150"/>
              </a:spcAft>
              <a:defRPr sz="780" b="0">
                <a:solidFill>
                  <a:srgbClr val="9CA3AF"/>
                </a:solidFill>
                <a:latin typeface="宋体"/>
              </a:defRPr>
            </a:pPr>
            <a:r>
              <a:t>对比: 衡量经理是否在增减主动赌注 | 预测力较弱但方向稳定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基准指数: AS/ICI用沪深300+中证500成份股等权合成 | RG/dAS无基准(用全持仓算模拟收益) | SDI用4类Wind风格指数 | OCI用|RG|代理 | 数据量: 400基金 x 40季度 = 9,581观测, 18.5万条持仓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040" b="1">
                <a:solidFill>
                  <a:srgbClr val="FFFFFF"/>
                </a:solidFill>
                <a:latin typeface="宋体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69" b="0">
                <a:solidFill>
                  <a:srgbClr val="9CA3AF"/>
                </a:solidFill>
                <a:latin typeface="宋体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23727</Words>
  <Application>WPS 演示</Application>
  <PresentationFormat/>
  <Paragraphs>2597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Courier New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1</cp:revision>
  <dcterms:created xsi:type="dcterms:W3CDTF">2026-08-05T01:04:03Z</dcterms:created>
  <dcterms:modified xsi:type="dcterms:W3CDTF">2026-08-05T01:04:04Z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