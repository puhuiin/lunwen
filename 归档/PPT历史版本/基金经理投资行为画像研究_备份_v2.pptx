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95" r:id="rId45"/>
    <p:sldId id="278" r:id="rId25"/>
    <p:sldId id="279" r:id="rId26"/>
    <p:sldId id="280" r:id="rId27"/>
    <p:sldId id="281" r:id="rId28"/>
    <p:sldId id="296" r:id="rId46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9"/>
    <p:sldId id="290" r:id="rId40"/>
    <p:sldId id="291" r:id="rId41"/>
    <p:sldId id="292" r:id="rId42"/>
    <p:sldId id="293" r:id="rId43"/>
    <p:sldId id="294" r:id="rId44"/>
  </p:sldIdLst>
  <p:sldSz cx="1219169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ableStyles" Target="tableStyles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465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5891664668-7"/>
          <p:cNvCxnSpPr/>
          <p:nvPr/>
        </p:nvCxnSpPr>
        <p:spPr>
          <a:xfrm>
            <a:off x="533267" y="2327947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5891664669-8"/>
          <p:cNvCxnSpPr/>
          <p:nvPr/>
        </p:nvCxnSpPr>
        <p:spPr>
          <a:xfrm>
            <a:off x="533267" y="3155374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4669-9"/>
          <p:cNvCxnSpPr/>
          <p:nvPr/>
        </p:nvCxnSpPr>
        <p:spPr>
          <a:xfrm>
            <a:off x="533267" y="3982800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4669-10"/>
          <p:cNvCxnSpPr/>
          <p:nvPr/>
        </p:nvCxnSpPr>
        <p:spPr>
          <a:xfrm>
            <a:off x="533267" y="4810226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4669-11"/>
          <p:cNvCxnSpPr/>
          <p:nvPr/>
        </p:nvCxnSpPr>
        <p:spPr>
          <a:xfrm>
            <a:off x="533267" y="5637652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4669-12"/>
          <p:cNvCxnSpPr/>
          <p:nvPr/>
        </p:nvCxnSpPr>
        <p:spPr>
          <a:xfrm>
            <a:off x="533267" y="6465079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4666-4"/>
          <p:cNvSpPr txBox="1"/>
          <p:nvPr/>
        </p:nvSpPr>
        <p:spPr>
          <a:xfrm>
            <a:off x="533267" y="212140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CONTENTS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4666-5"/>
          <p:cNvSpPr txBox="1"/>
          <p:nvPr/>
        </p:nvSpPr>
        <p:spPr>
          <a:xfrm>
            <a:off x="533267" y="564477"/>
            <a:ext cx="11362389" cy="44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目录</a:t>
            </a:r>
            <a:endParaRPr sz="26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4666-6"/>
          <p:cNvSpPr txBox="1"/>
          <p:nvPr/>
        </p:nvSpPr>
        <p:spPr>
          <a:xfrm>
            <a:off x="533267" y="123864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六大模块 · 33页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4671-13"/>
          <p:cNvSpPr txBox="1"/>
          <p:nvPr/>
        </p:nvSpPr>
        <p:spPr>
          <a:xfrm>
            <a:off x="533267" y="1676689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4676-19"/>
          <p:cNvSpPr txBox="1"/>
          <p:nvPr/>
        </p:nvSpPr>
        <p:spPr>
          <a:xfrm>
            <a:off x="1142714" y="1762393"/>
            <a:ext cx="515474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研究概述与文献工作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4676-20"/>
          <p:cNvSpPr txBox="1"/>
          <p:nvPr/>
        </p:nvSpPr>
        <p:spPr>
          <a:xfrm>
            <a:off x="1142714" y="2033788"/>
            <a:ext cx="513474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大白话介绍、文献下载分类、阅读后工作、与文献关系区别、五层递进框架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4671-14"/>
          <p:cNvSpPr txBox="1"/>
          <p:nvPr/>
        </p:nvSpPr>
        <p:spPr>
          <a:xfrm>
            <a:off x="533267" y="2504116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4676-21"/>
          <p:cNvSpPr txBox="1"/>
          <p:nvPr/>
        </p:nvSpPr>
        <p:spPr>
          <a:xfrm>
            <a:off x="1142714" y="2589819"/>
            <a:ext cx="3143387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企业实践对比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4676-22"/>
          <p:cNvSpPr txBox="1"/>
          <p:nvPr/>
        </p:nvSpPr>
        <p:spPr>
          <a:xfrm>
            <a:off x="1142714" y="2861214"/>
            <a:ext cx="3123389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晨星5P、华泰100因子、招商CAPM逐一展开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4672-15"/>
          <p:cNvSpPr txBox="1"/>
          <p:nvPr/>
        </p:nvSpPr>
        <p:spPr>
          <a:xfrm>
            <a:off x="533267" y="3331542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4677-23"/>
          <p:cNvSpPr txBox="1"/>
          <p:nvPr/>
        </p:nvSpPr>
        <p:spPr>
          <a:xfrm>
            <a:off x="1142714" y="3417246"/>
            <a:ext cx="4326870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五层理论精讲（含数据计算）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4677-24"/>
          <p:cNvSpPr txBox="1"/>
          <p:nvPr/>
        </p:nvSpPr>
        <p:spPr>
          <a:xfrm>
            <a:off x="1142714" y="3688640"/>
            <a:ext cx="430687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L1-L5理论、公式、数据来源、文献对比、1.0/2.0/3.0阶段安排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4672-16"/>
          <p:cNvSpPr txBox="1"/>
          <p:nvPr/>
        </p:nvSpPr>
        <p:spPr>
          <a:xfrm>
            <a:off x="533267" y="4158968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4677-25"/>
          <p:cNvSpPr txBox="1"/>
          <p:nvPr/>
        </p:nvSpPr>
        <p:spPr>
          <a:xfrm>
            <a:off x="1142714" y="4244672"/>
            <a:ext cx="285979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MVP验证与真实数据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4677-26"/>
          <p:cNvSpPr txBox="1"/>
          <p:nvPr/>
        </p:nvSpPr>
        <p:spPr>
          <a:xfrm>
            <a:off x="1142714" y="4516066"/>
            <a:ext cx="2839794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V4九指标验证、400基金全持仓数据管线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4672-17"/>
          <p:cNvSpPr txBox="1"/>
          <p:nvPr/>
        </p:nvSpPr>
        <p:spPr>
          <a:xfrm>
            <a:off x="533267" y="4986395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4677-27"/>
          <p:cNvSpPr txBox="1"/>
          <p:nvPr/>
        </p:nvSpPr>
        <p:spPr>
          <a:xfrm>
            <a:off x="1142714" y="5072098"/>
            <a:ext cx="2412228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文献对比与超越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4677-28"/>
          <p:cNvSpPr txBox="1"/>
          <p:nvPr/>
        </p:nvSpPr>
        <p:spPr>
          <a:xfrm>
            <a:off x="1142714" y="5343493"/>
            <a:ext cx="239223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核心文献数据来源对比，四重超越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4672-18"/>
          <p:cNvSpPr txBox="1"/>
          <p:nvPr/>
        </p:nvSpPr>
        <p:spPr>
          <a:xfrm>
            <a:off x="533267" y="5813821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4677-29"/>
          <p:cNvSpPr txBox="1"/>
          <p:nvPr/>
        </p:nvSpPr>
        <p:spPr>
          <a:xfrm>
            <a:off x="1142714" y="5899524"/>
            <a:ext cx="204010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研究计划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4678-30"/>
          <p:cNvSpPr txBox="1"/>
          <p:nvPr/>
        </p:nvSpPr>
        <p:spPr>
          <a:xfrm>
            <a:off x="1142714" y="6170919"/>
            <a:ext cx="202010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三阶段路线图、2周写作计划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4661-2"/>
          <p:cNvSpPr txBox="1"/>
          <p:nvPr/>
        </p:nvSpPr>
        <p:spPr>
          <a:xfrm>
            <a:off x="609448" y="6526232"/>
            <a:ext cx="145139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基金经理投资行为画像研究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4662-3"/>
          <p:cNvSpPr txBox="1"/>
          <p:nvPr/>
        </p:nvSpPr>
        <p:spPr>
          <a:xfrm>
            <a:off x="11521178" y="6519090"/>
            <a:ext cx="14498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696-5"/>
          <p:cNvSpPr txBox="1"/>
          <p:nvPr/>
        </p:nvSpPr>
        <p:spPr>
          <a:xfrm>
            <a:off x="533267" y="57905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696-6"/>
          <p:cNvSpPr txBox="1"/>
          <p:nvPr/>
        </p:nvSpPr>
        <p:spPr>
          <a:xfrm>
            <a:off x="533267" y="807602"/>
            <a:ext cx="1132239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这项研究到底在干什么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695-3"/>
          <p:cNvSpPr txBox="1"/>
          <p:nvPr/>
        </p:nvSpPr>
        <p:spPr>
          <a:xfrm>
            <a:off x="799900" y="1578934"/>
            <a:ext cx="10589152" cy="11311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50"/>
              </a:lnSpc>
            </a:pP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你买基金的时候，只能看到基金的历史涨跌，但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不知道基金经理到底是怎么操作的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——他选了什么股票、偏离基准多远、换手有多频繁、追涨杀跌了没有。我们的研究就是：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用全持仓数据把这些行为全算出来，然后看哪些行为能预测基金未来的业绩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699-7"/>
          <p:cNvSpPr txBox="1"/>
          <p:nvPr/>
        </p:nvSpPr>
        <p:spPr>
          <a:xfrm>
            <a:off x="704674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699-8"/>
          <p:cNvSpPr txBox="1"/>
          <p:nvPr/>
        </p:nvSpPr>
        <p:spPr>
          <a:xfrm>
            <a:off x="704674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拆解行为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699-9"/>
          <p:cNvSpPr txBox="1"/>
          <p:nvPr/>
        </p:nvSpPr>
        <p:spPr>
          <a:xfrm>
            <a:off x="704674" y="4043209"/>
            <a:ext cx="3262985" cy="7713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把基金经理的投资行为拆成五个层次：背景特征→持仓偏离→交易行为→风险应对→认知偏差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699-10"/>
          <p:cNvSpPr txBox="1"/>
          <p:nvPr/>
        </p:nvSpPr>
        <p:spPr>
          <a:xfrm>
            <a:off x="4462835" y="3205218"/>
            <a:ext cx="344977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699-11"/>
          <p:cNvSpPr txBox="1"/>
          <p:nvPr/>
        </p:nvSpPr>
        <p:spPr>
          <a:xfrm>
            <a:off x="4462835" y="3681349"/>
            <a:ext cx="339645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算出指标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00-12"/>
          <p:cNvSpPr txBox="1"/>
          <p:nvPr/>
        </p:nvSpPr>
        <p:spPr>
          <a:xfrm>
            <a:off x="4462835" y="4043209"/>
            <a:ext cx="326313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用400只基金的真实全持仓数据，算出9个量化指标，每个指标对应一个具体行为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00-13"/>
          <p:cNvSpPr txBox="1"/>
          <p:nvPr/>
        </p:nvSpPr>
        <p:spPr>
          <a:xfrm>
            <a:off x="8221145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00-14"/>
          <p:cNvSpPr txBox="1"/>
          <p:nvPr/>
        </p:nvSpPr>
        <p:spPr>
          <a:xfrm>
            <a:off x="8221145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验证预测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00-15"/>
          <p:cNvSpPr txBox="1"/>
          <p:nvPr/>
        </p:nvSpPr>
        <p:spPr>
          <a:xfrm>
            <a:off x="8221145" y="4043209"/>
            <a:ext cx="3262985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用六种统计方法检验这些指标能不能预测基金下季度的业绩，找到最关键的行为信号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696-4"/>
          <p:cNvSpPr txBox="1"/>
          <p:nvPr/>
        </p:nvSpPr>
        <p:spPr>
          <a:xfrm>
            <a:off x="799900" y="5271627"/>
            <a:ext cx="10589152" cy="5787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70"/>
              </a:lnSpc>
            </a:pP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核心发现：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过度交易（OCI）是A股基金业绩最大的拖累</a:t>
            </a:r>
            <a:r>
              <a:rPr sz="142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，在牛市中尤其致命（t=-15.54***）；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持仓偏离（AS）是最稳健的截面预测因子</a:t>
            </a: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。两者互补——一个管时序，一个管截面。</a:t>
            </a:r>
            <a:endParaRPr sz="142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690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691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713-3"/>
          <p:cNvSpPr txBox="1"/>
          <p:nvPr/>
        </p:nvSpPr>
        <p:spPr>
          <a:xfrm>
            <a:off x="533267" y="1719244"/>
            <a:ext cx="429660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713-4"/>
          <p:cNvSpPr txBox="1"/>
          <p:nvPr/>
        </p:nvSpPr>
        <p:spPr>
          <a:xfrm>
            <a:off x="533267" y="2100148"/>
            <a:ext cx="4389927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文献工作概述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713-5"/>
          <p:cNvSpPr txBox="1"/>
          <p:nvPr/>
        </p:nvSpPr>
        <p:spPr>
          <a:xfrm>
            <a:off x="533267" y="2681028"/>
            <a:ext cx="4189952" cy="5484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5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系统检索、下载、阅读了行为金融与基金评价领域的核心文献，按五层框架分类整理。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727-25"/>
          <p:cNvSpPr txBox="1"/>
          <p:nvPr/>
        </p:nvSpPr>
        <p:spPr>
          <a:xfrm>
            <a:off x="533267" y="3458014"/>
            <a:ext cx="1028859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727-26"/>
          <p:cNvSpPr txBox="1"/>
          <p:nvPr/>
        </p:nvSpPr>
        <p:spPr>
          <a:xfrm>
            <a:off x="533267" y="3972236"/>
            <a:ext cx="90220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已下载PDF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727-27"/>
          <p:cNvSpPr txBox="1"/>
          <p:nvPr/>
        </p:nvSpPr>
        <p:spPr>
          <a:xfrm>
            <a:off x="1550699" y="3458014"/>
            <a:ext cx="1049393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727-28"/>
          <p:cNvSpPr txBox="1"/>
          <p:nvPr/>
        </p:nvSpPr>
        <p:spPr>
          <a:xfrm>
            <a:off x="1550699" y="3972236"/>
            <a:ext cx="92274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已分类索引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727-29"/>
          <p:cNvSpPr txBox="1"/>
          <p:nvPr/>
        </p:nvSpPr>
        <p:spPr>
          <a:xfrm>
            <a:off x="2588664" y="3458014"/>
            <a:ext cx="887508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28-30"/>
          <p:cNvSpPr txBox="1"/>
          <p:nvPr/>
        </p:nvSpPr>
        <p:spPr>
          <a:xfrm>
            <a:off x="2588664" y="3972236"/>
            <a:ext cx="76085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分类层次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13-6"/>
          <p:cNvSpPr txBox="1"/>
          <p:nvPr/>
        </p:nvSpPr>
        <p:spPr>
          <a:xfrm>
            <a:off x="533267" y="4367424"/>
            <a:ext cx="4235661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来源：NBER、SSRN、JSTOR、知网、万方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时间跨度：1967-2026年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20-13"/>
          <p:cNvSpPr txBox="1"/>
          <p:nvPr/>
        </p:nvSpPr>
        <p:spPr>
          <a:xfrm>
            <a:off x="5104124" y="71683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17-7"/>
          <p:cNvSpPr txBox="1"/>
          <p:nvPr/>
        </p:nvSpPr>
        <p:spPr>
          <a:xfrm>
            <a:off x="5884978" y="493504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背景特征层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Chevalier &amp; Ellison(1999)职业忧虑 · Jensen(1967)Alpha · 吴栩(2017)中国经理特征 · 于静(2013)个性与盈利 · Barber &amp; Odean(2001)性别与过度自信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721-14"/>
          <p:cNvSpPr txBox="1"/>
          <p:nvPr/>
        </p:nvSpPr>
        <p:spPr>
          <a:xfrm>
            <a:off x="10867213" y="67398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721-15"/>
          <p:cNvSpPr txBox="1"/>
          <p:nvPr/>
        </p:nvSpPr>
        <p:spPr>
          <a:xfrm>
            <a:off x="5104124" y="168740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718-8"/>
          <p:cNvSpPr txBox="1"/>
          <p:nvPr/>
        </p:nvSpPr>
        <p:spPr>
          <a:xfrm>
            <a:off x="5884978" y="146406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Cremers &amp; Petajisto(2009)Active Share · Kacperczyk et al.(2005)ICI · Petajisto(2013)AS与业绩 · 寇宗来等(2020)风格漂移U型 · 邢欣翽孙谦(2015)中国ICI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5891664721-16"/>
          <p:cNvSpPr txBox="1"/>
          <p:nvPr/>
        </p:nvSpPr>
        <p:spPr>
          <a:xfrm>
            <a:off x="10867213" y="1644551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5891664721-17"/>
          <p:cNvSpPr txBox="1"/>
          <p:nvPr/>
        </p:nvSpPr>
        <p:spPr>
          <a:xfrm>
            <a:off x="5104124" y="265796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5891664719-9"/>
          <p:cNvSpPr txBox="1"/>
          <p:nvPr/>
        </p:nvSpPr>
        <p:spPr>
          <a:xfrm>
            <a:off x="5884978" y="2434630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交易行为层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Kacperczyk et al.(2008)Return Gap · 申宇(2013)中国隐形交易 · Odean(1998)处置效应 · Grinblatt et al.(1995)动量与羊群 · 孔东民个体沟通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5891664722-18"/>
          <p:cNvSpPr txBox="1"/>
          <p:nvPr/>
        </p:nvSpPr>
        <p:spPr>
          <a:xfrm>
            <a:off x="10867213" y="2615114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5891664722-19"/>
          <p:cNvSpPr txBox="1"/>
          <p:nvPr/>
        </p:nvSpPr>
        <p:spPr>
          <a:xfrm>
            <a:off x="5104124" y="362852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L4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5891664719-10"/>
          <p:cNvSpPr txBox="1"/>
          <p:nvPr/>
        </p:nvSpPr>
        <p:spPr>
          <a:xfrm>
            <a:off x="5884978" y="3405193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认知偏差层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Kahneman &amp; Tversky(1979)前景理论 · Barberis &amp; Thaler(2002)行为金融综述 · Puetz &amp; Ruenzi(2008)过度自信 · Menkhoff(2006)经验与行为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5891664722-20"/>
          <p:cNvSpPr txBox="1"/>
          <p:nvPr/>
        </p:nvSpPr>
        <p:spPr>
          <a:xfrm>
            <a:off x="10867213" y="358567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5891664722-21"/>
          <p:cNvSpPr txBox="1"/>
          <p:nvPr/>
        </p:nvSpPr>
        <p:spPr>
          <a:xfrm>
            <a:off x="5104124" y="459909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L5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5891664720-11"/>
          <p:cNvSpPr txBox="1"/>
          <p:nvPr/>
        </p:nvSpPr>
        <p:spPr>
          <a:xfrm>
            <a:off x="5884978" y="437575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AI预测层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Cohen et al.(2026)AI模仿金融行为 · Kaniel et al.(2022)ML预测技能 · Xu et al.(2025)中国ML预测 · Zhang(2024)StockAgent LLM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5891664722-22"/>
          <p:cNvSpPr txBox="1"/>
          <p:nvPr/>
        </p:nvSpPr>
        <p:spPr>
          <a:xfrm>
            <a:off x="10867213" y="4556240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5891664723-23"/>
          <p:cNvSpPr txBox="1"/>
          <p:nvPr/>
        </p:nvSpPr>
        <p:spPr>
          <a:xfrm>
            <a:off x="5104124" y="556965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5891664720-12"/>
          <p:cNvSpPr txBox="1"/>
          <p:nvPr/>
        </p:nvSpPr>
        <p:spPr>
          <a:xfrm>
            <a:off x="5884978" y="5463567"/>
            <a:ext cx="5027943" cy="469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综述与其他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Cuthbertson et al. 行为与管理效应综述 · 覆盖基金评价、行为偏差、业绩持续性等主题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5891664723-24"/>
          <p:cNvSpPr txBox="1"/>
          <p:nvPr/>
        </p:nvSpPr>
        <p:spPr>
          <a:xfrm>
            <a:off x="10867213" y="5526803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5891664710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5891664710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el-1785891665230-27"/>
          <p:cNvGraphicFramePr/>
          <p:nvPr/>
        </p:nvGraphicFramePr>
        <p:xfrm>
          <a:off x="6208747" y="1362592"/>
          <a:ext cx="5446938" cy="453871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89298"/>
                <a:gridCol w="2178745"/>
                <a:gridCol w="2178894"/>
              </a:tblGrid>
              <a:tr h="38090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文献中的做法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我们的超越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架构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各文献单层独立研究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首次五层统一框架，同批400基金同时检验九指标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数据精度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未讨论前十大近似偏误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量化偏误(0.975→0.833)，提出修正公式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ICI方向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美股正向、A股正向(邢欣翽2015)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2020-2024年A股发现负向(t=-3.69***)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RG模式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美股逐渐衰减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发现A股1Q动量+2Q反转，非单调衰减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牛熊市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无文献研究ICI/OCI调节效应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OCI牛市极强(t=-15.54***)但熊市消失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AS变化率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Jin(2016)研究反向因果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首次研究ΔAS→未来业绩，t=-4.82***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通常只用1-2种方法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六种方法交叉验证，结论更稳健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</a:tbl>
          </a:graphicData>
        </a:graphic>
      </p:graphicFrame>
      <p:sp>
        <p:nvSpPr>
          <p:cNvPr id="3" name="el-1785891665232-28"/>
          <p:cNvSpPr txBox="1"/>
          <p:nvPr/>
        </p:nvSpPr>
        <p:spPr>
          <a:xfrm>
            <a:off x="53326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5232-29"/>
          <p:cNvSpPr txBox="1"/>
          <p:nvPr/>
        </p:nvSpPr>
        <p:spPr>
          <a:xfrm>
            <a:off x="53326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阅读后做了什么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5234-32"/>
          <p:cNvSpPr txBox="1"/>
          <p:nvPr/>
        </p:nvSpPr>
        <p:spPr>
          <a:xfrm>
            <a:off x="704674" y="149590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提取核心指标与方法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5235-33"/>
          <p:cNvSpPr txBox="1"/>
          <p:nvPr/>
        </p:nvSpPr>
        <p:spPr>
          <a:xfrm>
            <a:off x="704674" y="1819677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逐篇提取预测指标（AS/ICI/RG等）、数据来源（全持仓/前十大）、样本范围、统计方法，建立文献-指标对照表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5235-34"/>
          <p:cNvSpPr txBox="1"/>
          <p:nvPr/>
        </p:nvSpPr>
        <p:spPr>
          <a:xfrm>
            <a:off x="704674" y="2686236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构建五层递进框架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5235-35"/>
          <p:cNvSpPr txBox="1"/>
          <p:nvPr/>
        </p:nvSpPr>
        <p:spPr>
          <a:xfrm>
            <a:off x="704674" y="301000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将分散的文献按"背景→持仓→交易→风险→认知"组织为因果递进链条，每层对应一个文献群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5235-36"/>
          <p:cNvSpPr txBox="1"/>
          <p:nvPr/>
        </p:nvSpPr>
        <p:spPr>
          <a:xfrm>
            <a:off x="704674" y="3876563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用V4数据验证每层指标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5235-37"/>
          <p:cNvSpPr txBox="1"/>
          <p:nvPr/>
        </p:nvSpPr>
        <p:spPr>
          <a:xfrm>
            <a:off x="704674" y="4200332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400基金全持仓数据，九个指标完整面板，六种方法交叉验证，逐一对比文献结论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5235-38"/>
          <p:cNvSpPr txBox="1"/>
          <p:nvPr/>
        </p:nvSpPr>
        <p:spPr>
          <a:xfrm>
            <a:off x="704674" y="5066890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识别A股与美股的方向性差异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5235-39"/>
          <p:cNvSpPr txBox="1"/>
          <p:nvPr/>
        </p:nvSpPr>
        <p:spPr>
          <a:xfrm>
            <a:off x="704674" y="5390659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发现ICI在A股负向预测（vs美股正向）、RG动量-反转交替（vs美股衰减）、AS牛熊反转——这些差异是核心原创贡献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5232-30"/>
          <p:cNvSpPr txBox="1"/>
          <p:nvPr/>
        </p:nvSpPr>
        <p:spPr>
          <a:xfrm>
            <a:off x="620874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5232-31"/>
          <p:cNvSpPr txBox="1"/>
          <p:nvPr/>
        </p:nvSpPr>
        <p:spPr>
          <a:xfrm>
            <a:off x="620874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与文献的关系和区别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5216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5217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1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22-6"/>
          <p:cNvSpPr/>
          <p:nvPr/>
        </p:nvSpPr>
        <p:spPr>
          <a:xfrm>
            <a:off x="4928253" y="1162617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23-9"/>
          <p:cNvCxnSpPr/>
          <p:nvPr/>
        </p:nvCxnSpPr>
        <p:spPr>
          <a:xfrm>
            <a:off x="4947298" y="1162617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22-7"/>
          <p:cNvSpPr/>
          <p:nvPr/>
        </p:nvSpPr>
        <p:spPr>
          <a:xfrm>
            <a:off x="4928253" y="2633861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024-10"/>
          <p:cNvCxnSpPr/>
          <p:nvPr/>
        </p:nvCxnSpPr>
        <p:spPr>
          <a:xfrm>
            <a:off x="4947298" y="2633861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023-8"/>
          <p:cNvSpPr/>
          <p:nvPr/>
        </p:nvSpPr>
        <p:spPr>
          <a:xfrm>
            <a:off x="4928253" y="4105106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24-11"/>
          <p:cNvCxnSpPr/>
          <p:nvPr/>
        </p:nvCxnSpPr>
        <p:spPr>
          <a:xfrm>
            <a:off x="4947298" y="4105106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17-4"/>
          <p:cNvSpPr txBox="1"/>
          <p:nvPr/>
        </p:nvSpPr>
        <p:spPr>
          <a:xfrm>
            <a:off x="533267" y="2317234"/>
            <a:ext cx="42978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研究背景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018-5"/>
          <p:cNvSpPr txBox="1"/>
          <p:nvPr/>
        </p:nvSpPr>
        <p:spPr>
          <a:xfrm>
            <a:off x="533267" y="2650526"/>
            <a:ext cx="4290237" cy="7427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现有基金评价方法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的三个不足（本文归纳）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029-21"/>
          <p:cNvSpPr txBox="1"/>
          <p:nvPr/>
        </p:nvSpPr>
        <p:spPr>
          <a:xfrm>
            <a:off x="533267" y="3564697"/>
            <a:ext cx="1330161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30万亿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029-22"/>
          <p:cNvSpPr txBox="1"/>
          <p:nvPr/>
        </p:nvSpPr>
        <p:spPr>
          <a:xfrm>
            <a:off x="533267" y="4078919"/>
            <a:ext cx="119684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公募基金规模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029-23"/>
          <p:cNvSpPr txBox="1"/>
          <p:nvPr/>
        </p:nvSpPr>
        <p:spPr>
          <a:xfrm>
            <a:off x="1852001" y="3564697"/>
            <a:ext cx="2058790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8479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029-24"/>
          <p:cNvSpPr txBox="1"/>
          <p:nvPr/>
        </p:nvSpPr>
        <p:spPr>
          <a:xfrm>
            <a:off x="1852001" y="4078919"/>
            <a:ext cx="19254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混合型基金(AKShare获取)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025-12"/>
          <p:cNvSpPr txBox="1"/>
          <p:nvPr/>
        </p:nvSpPr>
        <p:spPr>
          <a:xfrm>
            <a:off x="5137750" y="1305456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缺陷一：维度并列，缺乏递进逻辑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025-13"/>
          <p:cNvSpPr txBox="1"/>
          <p:nvPr/>
        </p:nvSpPr>
        <p:spPr>
          <a:xfrm>
            <a:off x="5137750" y="163398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晨星5P评价体系（Performance/Price/Portfolio/People/Parent）五个维度并列展开，无法揭示从背景特征到行为表现再到业绩结果的因果链条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026-14"/>
          <p:cNvSpPr txBox="1"/>
          <p:nvPr/>
        </p:nvSpPr>
        <p:spPr>
          <a:xfrm>
            <a:off x="5137750" y="2148208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例：晨星给某基金"People"3星、"Portfolio"5星，但无法说明经理背景如何影响持仓选择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026-15"/>
          <p:cNvSpPr txBox="1"/>
          <p:nvPr/>
        </p:nvSpPr>
        <p:spPr>
          <a:xfrm>
            <a:off x="5137750" y="2776701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缺陷二：因子过多，可解释性差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026-16"/>
          <p:cNvSpPr txBox="1"/>
          <p:nvPr/>
        </p:nvSpPr>
        <p:spPr>
          <a:xfrm>
            <a:off x="5137750" y="3105231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华泰证券100因子聚类方法维度过多，因子间高度共线性，投资者难以提取核心行为信号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026-17"/>
          <p:cNvSpPr txBox="1"/>
          <p:nvPr/>
        </p:nvSpPr>
        <p:spPr>
          <a:xfrm>
            <a:off x="5137750" y="3390910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例：100个因子中"换手率""持仓集中度""行业偏离"高度相关，实际信息量远低于100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026-18"/>
          <p:cNvSpPr txBox="1"/>
          <p:nvPr/>
        </p:nvSpPr>
        <p:spPr>
          <a:xfrm>
            <a:off x="5137750" y="4247945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缺陷三：缺乏行为维度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026-19"/>
          <p:cNvSpPr txBox="1"/>
          <p:nvPr/>
        </p:nvSpPr>
        <p:spPr>
          <a:xfrm>
            <a:off x="5137750" y="457647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招商证券沿用的CAPM+Jensen Alpha方法完全缺乏行为维度，无法回答"经理为什么赚钱"这一根本问题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026-20"/>
          <p:cNvSpPr txBox="1"/>
          <p:nvPr/>
        </p:nvSpPr>
        <p:spPr>
          <a:xfrm>
            <a:off x="5137750" y="5090697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例：两个Jensen Alpha相同的基金，一个靠选股、一个靠择时，传统方法无法区分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15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016-3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37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42-7"/>
          <p:cNvSpPr/>
          <p:nvPr/>
        </p:nvSpPr>
        <p:spPr>
          <a:xfrm>
            <a:off x="533267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44-12"/>
          <p:cNvCxnSpPr/>
          <p:nvPr/>
        </p:nvCxnSpPr>
        <p:spPr>
          <a:xfrm>
            <a:off x="533267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56-38"/>
          <p:cNvSpPr/>
          <p:nvPr/>
        </p:nvSpPr>
        <p:spPr>
          <a:xfrm>
            <a:off x="676106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057-40"/>
          <p:cNvSpPr/>
          <p:nvPr/>
        </p:nvSpPr>
        <p:spPr>
          <a:xfrm>
            <a:off x="676106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5042-8"/>
          <p:cNvSpPr/>
          <p:nvPr/>
        </p:nvSpPr>
        <p:spPr>
          <a:xfrm>
            <a:off x="2784324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44-13"/>
          <p:cNvCxnSpPr/>
          <p:nvPr/>
        </p:nvCxnSpPr>
        <p:spPr>
          <a:xfrm>
            <a:off x="2784324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57-42"/>
          <p:cNvSpPr/>
          <p:nvPr/>
        </p:nvSpPr>
        <p:spPr>
          <a:xfrm>
            <a:off x="2927164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057-44"/>
          <p:cNvSpPr/>
          <p:nvPr/>
        </p:nvSpPr>
        <p:spPr>
          <a:xfrm>
            <a:off x="2927164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5043-9"/>
          <p:cNvSpPr/>
          <p:nvPr/>
        </p:nvSpPr>
        <p:spPr>
          <a:xfrm>
            <a:off x="5035531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5044-14"/>
          <p:cNvCxnSpPr/>
          <p:nvPr/>
        </p:nvCxnSpPr>
        <p:spPr>
          <a:xfrm>
            <a:off x="5035531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5058-46"/>
          <p:cNvSpPr/>
          <p:nvPr/>
        </p:nvSpPr>
        <p:spPr>
          <a:xfrm>
            <a:off x="5178370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058-48"/>
          <p:cNvSpPr/>
          <p:nvPr/>
        </p:nvSpPr>
        <p:spPr>
          <a:xfrm>
            <a:off x="5178370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5043-10"/>
          <p:cNvSpPr/>
          <p:nvPr/>
        </p:nvSpPr>
        <p:spPr>
          <a:xfrm>
            <a:off x="7286589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5045-15"/>
          <p:cNvCxnSpPr/>
          <p:nvPr/>
        </p:nvCxnSpPr>
        <p:spPr>
          <a:xfrm>
            <a:off x="7286589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5059-50"/>
          <p:cNvSpPr/>
          <p:nvPr/>
        </p:nvSpPr>
        <p:spPr>
          <a:xfrm>
            <a:off x="7429428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5059-52"/>
          <p:cNvSpPr/>
          <p:nvPr/>
        </p:nvSpPr>
        <p:spPr>
          <a:xfrm>
            <a:off x="7429428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5891665044-11"/>
          <p:cNvSpPr/>
          <p:nvPr/>
        </p:nvSpPr>
        <p:spPr>
          <a:xfrm>
            <a:off x="9537795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0" name="el-1785891665045-16"/>
          <p:cNvCxnSpPr/>
          <p:nvPr/>
        </p:nvCxnSpPr>
        <p:spPr>
          <a:xfrm>
            <a:off x="9537795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5059-54"/>
          <p:cNvSpPr/>
          <p:nvPr/>
        </p:nvSpPr>
        <p:spPr>
          <a:xfrm>
            <a:off x="9680635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5891665060-56"/>
          <p:cNvSpPr/>
          <p:nvPr/>
        </p:nvSpPr>
        <p:spPr>
          <a:xfrm>
            <a:off x="9680635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5891665041-4"/>
          <p:cNvSpPr txBox="1"/>
          <p:nvPr/>
        </p:nvSpPr>
        <p:spPr>
          <a:xfrm>
            <a:off x="533267" y="1298463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41-5"/>
          <p:cNvSpPr txBox="1"/>
          <p:nvPr/>
        </p:nvSpPr>
        <p:spPr>
          <a:xfrm>
            <a:off x="533267" y="1536528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五层递进框架：从"经理是谁"到"经理怎么想"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5041-6"/>
          <p:cNvSpPr txBox="1"/>
          <p:nvPr/>
        </p:nvSpPr>
        <p:spPr>
          <a:xfrm>
            <a:off x="533267" y="1940198"/>
            <a:ext cx="1123573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 → 过程 → 输出 → 认知 → 预测的完整行为画像系统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047-17"/>
          <p:cNvSpPr txBox="1"/>
          <p:nvPr/>
        </p:nvSpPr>
        <p:spPr>
          <a:xfrm>
            <a:off x="676106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047-18"/>
          <p:cNvSpPr txBox="1"/>
          <p:nvPr/>
        </p:nvSpPr>
        <p:spPr>
          <a:xfrm>
            <a:off x="676106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背景特征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048-19"/>
          <p:cNvSpPr txBox="1"/>
          <p:nvPr/>
        </p:nvSpPr>
        <p:spPr>
          <a:xfrm>
            <a:off x="676106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"经理是谁？"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056-37"/>
          <p:cNvSpPr txBox="1"/>
          <p:nvPr/>
        </p:nvSpPr>
        <p:spPr>
          <a:xfrm>
            <a:off x="752287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056-39"/>
          <p:cNvSpPr txBox="1"/>
          <p:nvPr/>
        </p:nvSpPr>
        <p:spPr>
          <a:xfrm>
            <a:off x="752287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RPI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048-20"/>
          <p:cNvSpPr txBox="1"/>
          <p:nvPr/>
        </p:nvSpPr>
        <p:spPr>
          <a:xfrm>
            <a:off x="676106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Chevalier &amp; Ellison (1999) QJE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职业忧虑理论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048-21"/>
          <p:cNvSpPr txBox="1"/>
          <p:nvPr/>
        </p:nvSpPr>
        <p:spPr>
          <a:xfrm>
            <a:off x="2927164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5048-22"/>
          <p:cNvSpPr txBox="1"/>
          <p:nvPr/>
        </p:nvSpPr>
        <p:spPr>
          <a:xfrm>
            <a:off x="2927164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持仓偏离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048-23"/>
          <p:cNvSpPr txBox="1"/>
          <p:nvPr/>
        </p:nvSpPr>
        <p:spPr>
          <a:xfrm>
            <a:off x="2927164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"持有什么？"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057-41"/>
          <p:cNvSpPr txBox="1"/>
          <p:nvPr/>
        </p:nvSpPr>
        <p:spPr>
          <a:xfrm>
            <a:off x="3003345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057-43"/>
          <p:cNvSpPr txBox="1"/>
          <p:nvPr/>
        </p:nvSpPr>
        <p:spPr>
          <a:xfrm>
            <a:off x="3003345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049-24"/>
          <p:cNvSpPr txBox="1"/>
          <p:nvPr/>
        </p:nvSpPr>
        <p:spPr>
          <a:xfrm>
            <a:off x="2927164" y="4368466"/>
            <a:ext cx="1832211" cy="8528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049-25"/>
          <p:cNvSpPr txBox="1"/>
          <p:nvPr/>
        </p:nvSpPr>
        <p:spPr>
          <a:xfrm>
            <a:off x="5178370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5049-26"/>
          <p:cNvSpPr txBox="1"/>
          <p:nvPr/>
        </p:nvSpPr>
        <p:spPr>
          <a:xfrm>
            <a:off x="5178370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交易行为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5049-27"/>
          <p:cNvSpPr txBox="1"/>
          <p:nvPr/>
        </p:nvSpPr>
        <p:spPr>
          <a:xfrm>
            <a:off x="5178370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"做了什么？"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058-45"/>
          <p:cNvSpPr txBox="1"/>
          <p:nvPr/>
        </p:nvSpPr>
        <p:spPr>
          <a:xfrm>
            <a:off x="5254551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058-47"/>
          <p:cNvSpPr txBox="1"/>
          <p:nvPr/>
        </p:nvSpPr>
        <p:spPr>
          <a:xfrm>
            <a:off x="5254551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049-28"/>
          <p:cNvSpPr txBox="1"/>
          <p:nvPr/>
        </p:nvSpPr>
        <p:spPr>
          <a:xfrm>
            <a:off x="5178370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5049-29"/>
          <p:cNvSpPr txBox="1"/>
          <p:nvPr/>
        </p:nvSpPr>
        <p:spPr>
          <a:xfrm>
            <a:off x="7429428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5050-30"/>
          <p:cNvSpPr txBox="1"/>
          <p:nvPr/>
        </p:nvSpPr>
        <p:spPr>
          <a:xfrm>
            <a:off x="7429428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风险应对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5050-31"/>
          <p:cNvSpPr txBox="1"/>
          <p:nvPr/>
        </p:nvSpPr>
        <p:spPr>
          <a:xfrm>
            <a:off x="7429428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"怎么应对？"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5058-49"/>
          <p:cNvSpPr txBox="1"/>
          <p:nvPr/>
        </p:nvSpPr>
        <p:spPr>
          <a:xfrm>
            <a:off x="7505609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5059-51"/>
          <p:cNvSpPr txBox="1"/>
          <p:nvPr/>
        </p:nvSpPr>
        <p:spPr>
          <a:xfrm>
            <a:off x="7505609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波动率管理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5050-32"/>
          <p:cNvSpPr txBox="1"/>
          <p:nvPr/>
        </p:nvSpPr>
        <p:spPr>
          <a:xfrm>
            <a:off x="7429428" y="4368466"/>
            <a:ext cx="1832211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金融学季刊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风格漂移U型关系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5050-33"/>
          <p:cNvSpPr txBox="1"/>
          <p:nvPr/>
        </p:nvSpPr>
        <p:spPr>
          <a:xfrm>
            <a:off x="9680635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5050-34"/>
          <p:cNvSpPr txBox="1"/>
          <p:nvPr/>
        </p:nvSpPr>
        <p:spPr>
          <a:xfrm>
            <a:off x="9680635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认知行为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5050-35"/>
          <p:cNvSpPr txBox="1"/>
          <p:nvPr/>
        </p:nvSpPr>
        <p:spPr>
          <a:xfrm>
            <a:off x="9680635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"怎么想的？"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5059-53"/>
          <p:cNvSpPr txBox="1"/>
          <p:nvPr/>
        </p:nvSpPr>
        <p:spPr>
          <a:xfrm>
            <a:off x="9756816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5059-55"/>
          <p:cNvSpPr txBox="1"/>
          <p:nvPr/>
        </p:nvSpPr>
        <p:spPr>
          <a:xfrm>
            <a:off x="9756816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5051-36"/>
          <p:cNvSpPr txBox="1"/>
          <p:nvPr/>
        </p:nvSpPr>
        <p:spPr>
          <a:xfrm>
            <a:off x="9680635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过度自信与前景理论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5039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5039-3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3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47-10"/>
          <p:cNvSpPr/>
          <p:nvPr/>
        </p:nvSpPr>
        <p:spPr>
          <a:xfrm>
            <a:off x="533267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5891665353-20"/>
          <p:cNvSpPr/>
          <p:nvPr/>
        </p:nvSpPr>
        <p:spPr>
          <a:xfrm>
            <a:off x="733242" y="2409187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891665358-35"/>
          <p:cNvCxnSpPr/>
          <p:nvPr/>
        </p:nvCxnSpPr>
        <p:spPr>
          <a:xfrm>
            <a:off x="747526" y="2409187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5354-22"/>
          <p:cNvSpPr/>
          <p:nvPr/>
        </p:nvSpPr>
        <p:spPr>
          <a:xfrm>
            <a:off x="733242" y="2793812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891665359-36"/>
          <p:cNvCxnSpPr/>
          <p:nvPr/>
        </p:nvCxnSpPr>
        <p:spPr>
          <a:xfrm>
            <a:off x="747526" y="2793812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355-24"/>
          <p:cNvSpPr/>
          <p:nvPr/>
        </p:nvSpPr>
        <p:spPr>
          <a:xfrm>
            <a:off x="733242" y="3178436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891665359-37"/>
          <p:cNvCxnSpPr/>
          <p:nvPr/>
        </p:nvCxnSpPr>
        <p:spPr>
          <a:xfrm>
            <a:off x="747526" y="3178436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5356-26"/>
          <p:cNvSpPr/>
          <p:nvPr/>
        </p:nvSpPr>
        <p:spPr>
          <a:xfrm>
            <a:off x="733242" y="3563061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5891665359-38"/>
          <p:cNvCxnSpPr/>
          <p:nvPr/>
        </p:nvCxnSpPr>
        <p:spPr>
          <a:xfrm>
            <a:off x="747526" y="3563061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5347-11"/>
          <p:cNvSpPr/>
          <p:nvPr/>
        </p:nvSpPr>
        <p:spPr>
          <a:xfrm>
            <a:off x="6189702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5348-12"/>
          <p:cNvCxnSpPr/>
          <p:nvPr/>
        </p:nvCxnSpPr>
        <p:spPr>
          <a:xfrm>
            <a:off x="6208747" y="1556913"/>
            <a:ext cx="914" cy="285738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5356-28"/>
          <p:cNvSpPr/>
          <p:nvPr/>
        </p:nvSpPr>
        <p:spPr>
          <a:xfrm>
            <a:off x="6418245" y="2409187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5360-39"/>
          <p:cNvCxnSpPr/>
          <p:nvPr/>
        </p:nvCxnSpPr>
        <p:spPr>
          <a:xfrm>
            <a:off x="6432529" y="2409187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5357-30"/>
          <p:cNvSpPr/>
          <p:nvPr/>
        </p:nvSpPr>
        <p:spPr>
          <a:xfrm>
            <a:off x="6418245" y="2793812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7" name="el-1785891665360-40"/>
          <p:cNvCxnSpPr/>
          <p:nvPr/>
        </p:nvCxnSpPr>
        <p:spPr>
          <a:xfrm>
            <a:off x="6432529" y="2793812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5358-32"/>
          <p:cNvSpPr/>
          <p:nvPr/>
        </p:nvSpPr>
        <p:spPr>
          <a:xfrm>
            <a:off x="6418245" y="3178436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9" name="el-1785891665360-41"/>
          <p:cNvCxnSpPr/>
          <p:nvPr/>
        </p:nvCxnSpPr>
        <p:spPr>
          <a:xfrm>
            <a:off x="6432529" y="3178436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l-1785891665358-34"/>
          <p:cNvSpPr/>
          <p:nvPr/>
        </p:nvSpPr>
        <p:spPr>
          <a:xfrm>
            <a:off x="6418245" y="3563061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1" name="el-1785891665360-42"/>
          <p:cNvCxnSpPr/>
          <p:nvPr/>
        </p:nvCxnSpPr>
        <p:spPr>
          <a:xfrm>
            <a:off x="6432529" y="3563061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l-1785891665343-3"/>
          <p:cNvSpPr/>
          <p:nvPr/>
        </p:nvSpPr>
        <p:spPr>
          <a:xfrm>
            <a:off x="533267" y="4547610"/>
            <a:ext cx="11122419" cy="8951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el-1785891665344-5"/>
          <p:cNvSpPr/>
          <p:nvPr/>
        </p:nvSpPr>
        <p:spPr>
          <a:xfrm>
            <a:off x="533267" y="557605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5346-8"/>
          <p:cNvSpPr txBox="1"/>
          <p:nvPr/>
        </p:nvSpPr>
        <p:spPr>
          <a:xfrm>
            <a:off x="533267" y="824713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框架创新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346-9"/>
          <p:cNvSpPr txBox="1"/>
          <p:nvPr/>
        </p:nvSpPr>
        <p:spPr>
          <a:xfrm>
            <a:off x="533267" y="107706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本文方法 vs 现有研究：递进验证后再综合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349-13"/>
          <p:cNvSpPr txBox="1"/>
          <p:nvPr/>
        </p:nvSpPr>
        <p:spPr>
          <a:xfrm>
            <a:off x="733242" y="1718797"/>
            <a:ext cx="519268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现有研究：单层指标直接回归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349-14"/>
          <p:cNvSpPr txBox="1"/>
          <p:nvPr/>
        </p:nvSpPr>
        <p:spPr>
          <a:xfrm>
            <a:off x="733242" y="2085418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每篇文献只研究1个指标对业绩的预测力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353-19"/>
          <p:cNvSpPr txBox="1"/>
          <p:nvPr/>
        </p:nvSpPr>
        <p:spPr>
          <a:xfrm>
            <a:off x="857036" y="2466323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Cremers(2009): AS → 业绩（仅L2）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353-21"/>
          <p:cNvSpPr txBox="1"/>
          <p:nvPr/>
        </p:nvSpPr>
        <p:spPr>
          <a:xfrm>
            <a:off x="857036" y="2850947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Kacperczyk(2008): RG → 业绩（仅L3）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354-23"/>
          <p:cNvSpPr txBox="1"/>
          <p:nvPr/>
        </p:nvSpPr>
        <p:spPr>
          <a:xfrm>
            <a:off x="857036" y="3235572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寇宗来(2020): SDI → 业绩（仅L4）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355-25"/>
          <p:cNvSpPr txBox="1"/>
          <p:nvPr/>
        </p:nvSpPr>
        <p:spPr>
          <a:xfrm>
            <a:off x="857036" y="3620196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各篇独立，不验证层间因果关系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349-15"/>
          <p:cNvSpPr txBox="1"/>
          <p:nvPr/>
        </p:nvSpPr>
        <p:spPr>
          <a:xfrm>
            <a:off x="733242" y="4023866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局限：无法回答"经验如何影响持仓→持仓如何影响交易"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349-16"/>
          <p:cNvSpPr txBox="1"/>
          <p:nvPr/>
        </p:nvSpPr>
        <p:spPr>
          <a:xfrm>
            <a:off x="6418245" y="1718797"/>
            <a:ext cx="516411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本文：逐层验证→因果链→综合回归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350-17"/>
          <p:cNvSpPr txBox="1"/>
          <p:nvPr/>
        </p:nvSpPr>
        <p:spPr>
          <a:xfrm>
            <a:off x="6418245" y="2085418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先验证每层独立预测力，再验证层间因果传导，最后综合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56-27"/>
          <p:cNvSpPr txBox="1"/>
          <p:nvPr/>
        </p:nvSpPr>
        <p:spPr>
          <a:xfrm>
            <a:off x="6542039" y="2466323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第一步：H1-H5逐层回归（每层独立检验）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56-29"/>
          <p:cNvSpPr txBox="1"/>
          <p:nvPr/>
        </p:nvSpPr>
        <p:spPr>
          <a:xfrm>
            <a:off x="6542039" y="2850947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第二步：L1→L2→L3→L4→L5因果链验证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57-31"/>
          <p:cNvSpPr txBox="1"/>
          <p:nvPr/>
        </p:nvSpPr>
        <p:spPr>
          <a:xfrm>
            <a:off x="6542039" y="3235572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第三步：综合回归方程（确认各层增量贡献）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58-33"/>
          <p:cNvSpPr txBox="1"/>
          <p:nvPr/>
        </p:nvSpPr>
        <p:spPr>
          <a:xfrm>
            <a:off x="6542039" y="3620196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第四步：牛熊市/固定效应等稳健性检验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50-18"/>
          <p:cNvSpPr txBox="1"/>
          <p:nvPr/>
        </p:nvSpPr>
        <p:spPr>
          <a:xfrm>
            <a:off x="6418245" y="4023866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优势：因果可解释 + 层级可检验 + 增量贡献可量化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5342-2"/>
          <p:cNvSpPr txBox="1"/>
          <p:nvPr/>
        </p:nvSpPr>
        <p:spPr>
          <a:xfrm>
            <a:off x="695151" y="4652359"/>
            <a:ext cx="10798650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回应"综合=扁平化"的质疑：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本文最终的综合回归方程确实同时包含所有指标，但这与"扁平化"有本质区别。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扁平化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是将所有特征一次性投入模型，不关心特征间关系；本文在综合之前，已逐层验证了每个指标的独立显著性和层间因果传导。综合回归的作用是确认各层的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增量贡献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（而非替代关系），回答"在控制其他层后，本层是否仍有预测力"。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343-4"/>
          <p:cNvSpPr txBox="1"/>
          <p:nvPr/>
        </p:nvSpPr>
        <p:spPr>
          <a:xfrm>
            <a:off x="572309" y="564271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区别不在于"是否综合"，而在于"综合前是否验证了因果链" | 现有研究跳过因果验证直接回归 | 本文先因果后综合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344-6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344-7"/>
          <p:cNvSpPr txBox="1"/>
          <p:nvPr/>
        </p:nvSpPr>
        <p:spPr>
          <a:xfrm>
            <a:off x="11511507" y="6519090"/>
            <a:ext cx="15465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7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82-9"/>
          <p:cNvSpPr/>
          <p:nvPr/>
        </p:nvSpPr>
        <p:spPr>
          <a:xfrm>
            <a:off x="457086" y="1353813"/>
            <a:ext cx="5835877" cy="119032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383-13"/>
          <p:cNvCxnSpPr/>
          <p:nvPr/>
        </p:nvCxnSpPr>
        <p:spPr>
          <a:xfrm>
            <a:off x="476131" y="1353813"/>
            <a:ext cx="914" cy="119032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383-10"/>
          <p:cNvSpPr/>
          <p:nvPr/>
        </p:nvSpPr>
        <p:spPr>
          <a:xfrm>
            <a:off x="457086" y="2620321"/>
            <a:ext cx="5835877" cy="117961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384-14"/>
          <p:cNvCxnSpPr/>
          <p:nvPr/>
        </p:nvCxnSpPr>
        <p:spPr>
          <a:xfrm>
            <a:off x="476131" y="2620321"/>
            <a:ext cx="914" cy="11796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63-26"/>
          <p:cNvSpPr/>
          <p:nvPr/>
        </p:nvSpPr>
        <p:spPr>
          <a:xfrm>
            <a:off x="628493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63-27"/>
          <p:cNvSpPr/>
          <p:nvPr/>
        </p:nvSpPr>
        <p:spPr>
          <a:xfrm>
            <a:off x="1740407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464-28"/>
          <p:cNvSpPr/>
          <p:nvPr/>
        </p:nvSpPr>
        <p:spPr>
          <a:xfrm>
            <a:off x="2852322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5464-29"/>
          <p:cNvSpPr/>
          <p:nvPr/>
        </p:nvSpPr>
        <p:spPr>
          <a:xfrm>
            <a:off x="3964236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5464-30"/>
          <p:cNvSpPr/>
          <p:nvPr/>
        </p:nvSpPr>
        <p:spPr>
          <a:xfrm>
            <a:off x="5076151" y="3020271"/>
            <a:ext cx="1073973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5383-11"/>
          <p:cNvSpPr/>
          <p:nvPr/>
        </p:nvSpPr>
        <p:spPr>
          <a:xfrm>
            <a:off x="457086" y="3876117"/>
            <a:ext cx="5835877" cy="146410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5377-3"/>
          <p:cNvSpPr/>
          <p:nvPr/>
        </p:nvSpPr>
        <p:spPr>
          <a:xfrm>
            <a:off x="457086" y="5749692"/>
            <a:ext cx="11274781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379-6"/>
          <p:cNvSpPr txBox="1"/>
          <p:nvPr/>
        </p:nvSpPr>
        <p:spPr>
          <a:xfrm>
            <a:off x="457086" y="703448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379-7"/>
          <p:cNvSpPr txBox="1"/>
          <p:nvPr/>
        </p:nvSpPr>
        <p:spPr>
          <a:xfrm>
            <a:off x="457086" y="936752"/>
            <a:ext cx="11448092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晨星 Medalist：5P定性评级方法论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458-17"/>
          <p:cNvSpPr txBox="1"/>
          <p:nvPr/>
        </p:nvSpPr>
        <p:spPr>
          <a:xfrm>
            <a:off x="628493" y="1458562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怎么做：5P前瞻性定性评价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5455-16"/>
          <p:cNvSpPr txBox="1"/>
          <p:nvPr/>
        </p:nvSpPr>
        <p:spPr>
          <a:xfrm>
            <a:off x="628493" y="1753763"/>
            <a:ext cx="5521631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晨星分析师从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5个维度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（5P）评估基金"未来5年能否跑赢同类"。区别于纯量化评级，Medalist强调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前瞻性主观判断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。每个P维度由分析师打分1-5，加权后映射到金/银/铜/中性/负面五级评级。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58-18"/>
          <p:cNvSpPr txBox="1"/>
          <p:nvPr/>
        </p:nvSpPr>
        <p:spPr>
          <a:xfrm>
            <a:off x="628493" y="2725070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五大支柱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466-31"/>
          <p:cNvSpPr txBox="1"/>
          <p:nvPr/>
        </p:nvSpPr>
        <p:spPr>
          <a:xfrm>
            <a:off x="595164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People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5467-32"/>
          <p:cNvSpPr txBox="1"/>
          <p:nvPr/>
        </p:nvSpPr>
        <p:spPr>
          <a:xfrm>
            <a:off x="695151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经理团队经验与稳定性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67-33"/>
          <p:cNvSpPr txBox="1"/>
          <p:nvPr/>
        </p:nvSpPr>
        <p:spPr>
          <a:xfrm>
            <a:off x="1707078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Process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467-34"/>
          <p:cNvSpPr txBox="1"/>
          <p:nvPr/>
        </p:nvSpPr>
        <p:spPr>
          <a:xfrm>
            <a:off x="1713744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投资流程系统化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67-35"/>
          <p:cNvSpPr txBox="1"/>
          <p:nvPr/>
        </p:nvSpPr>
        <p:spPr>
          <a:xfrm>
            <a:off x="2818993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Parent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5467-36"/>
          <p:cNvSpPr txBox="1"/>
          <p:nvPr/>
        </p:nvSpPr>
        <p:spPr>
          <a:xfrm>
            <a:off x="2825659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公司治理与合规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68-37"/>
          <p:cNvSpPr txBox="1"/>
          <p:nvPr/>
        </p:nvSpPr>
        <p:spPr>
          <a:xfrm>
            <a:off x="3930907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Perf.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468-38"/>
          <p:cNvSpPr txBox="1"/>
          <p:nvPr/>
        </p:nvSpPr>
        <p:spPr>
          <a:xfrm>
            <a:off x="4030895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长期风险调整后业绩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468-39"/>
          <p:cNvSpPr txBox="1"/>
          <p:nvPr/>
        </p:nvSpPr>
        <p:spPr>
          <a:xfrm>
            <a:off x="5042822" y="3067884"/>
            <a:ext cx="114063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Price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468-40"/>
          <p:cNvSpPr txBox="1"/>
          <p:nvPr/>
        </p:nvSpPr>
        <p:spPr>
          <a:xfrm>
            <a:off x="5049488" y="3301189"/>
            <a:ext cx="112730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费率合理性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458-19"/>
          <p:cNvSpPr txBox="1"/>
          <p:nvPr/>
        </p:nvSpPr>
        <p:spPr>
          <a:xfrm>
            <a:off x="580880" y="3961820"/>
            <a:ext cx="56949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459-20"/>
          <p:cNvSpPr txBox="1"/>
          <p:nvPr/>
        </p:nvSpPr>
        <p:spPr>
          <a:xfrm>
            <a:off x="580880" y="4218931"/>
            <a:ext cx="30143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金/银评级基金5年期跑赢同类约65-70%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460-21"/>
          <p:cNvSpPr txBox="1"/>
          <p:nvPr/>
        </p:nvSpPr>
        <p:spPr>
          <a:xfrm>
            <a:off x="580880" y="4426048"/>
            <a:ext cx="455315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5P维度并列打分，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无因果递进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——People好不代表Process好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460-22"/>
          <p:cNvSpPr txBox="1"/>
          <p:nvPr/>
        </p:nvSpPr>
        <p:spPr>
          <a:xfrm>
            <a:off x="580880" y="4633165"/>
            <a:ext cx="281423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依赖分析师主观判断，可复现性低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460-23"/>
          <p:cNvSpPr txBox="1"/>
          <p:nvPr/>
        </p:nvSpPr>
        <p:spPr>
          <a:xfrm>
            <a:off x="580880" y="4840282"/>
            <a:ext cx="28521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完全缺乏行为维度（AS/RG/OCI）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5461-24"/>
          <p:cNvSpPr txBox="1"/>
          <p:nvPr/>
        </p:nvSpPr>
        <p:spPr>
          <a:xfrm>
            <a:off x="580880" y="5047399"/>
            <a:ext cx="359702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中国仅约800只基金有评级（全市场8000+只）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82-8"/>
          <p:cNvSpPr txBox="1"/>
          <p:nvPr/>
        </p:nvSpPr>
        <p:spPr>
          <a:xfrm>
            <a:off x="457086" y="5435446"/>
            <a:ext cx="5929199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04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morningstar.cn/AboutUs/Analyst_Rating.htm</a:t>
            </a: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（左图为官网截图）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76-2"/>
          <p:cNvSpPr txBox="1"/>
          <p:nvPr/>
        </p:nvSpPr>
        <p:spPr>
          <a:xfrm>
            <a:off x="502794" y="5797305"/>
            <a:ext cx="11183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晨星5P：前瞻性强但无因果递进、无行为维度 | 本文：五层递进+量化行为指标+免费可复现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77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77-5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83-12"/>
          <p:cNvSpPr/>
          <p:nvPr/>
        </p:nvSpPr>
        <p:spPr>
          <a:xfrm>
            <a:off x="6426280" y="1353813"/>
            <a:ext cx="5305587" cy="30283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40" name="el-1785891665454-15"/>
          <p:cNvPicPr/>
          <p:nvPr/>
        </p:nvPicPr>
        <p:blipFill>
          <a:blip r:embed="rId1"/>
          <a:stretch>
            <a:fillRect/>
          </a:stretch>
        </p:blipFill>
        <p:spPr>
          <a:xfrm>
            <a:off x="6473893" y="1401426"/>
            <a:ext cx="5210360" cy="2656959"/>
          </a:xfrm>
          <a:prstGeom prst="rect">
            <a:avLst/>
          </a:prstGeom>
          <a:ln>
            <a:noFill/>
          </a:ln>
        </p:spPr>
      </p:pic>
      <p:sp>
        <p:nvSpPr>
          <p:cNvPr id="41" name="el-1785891665461-25"/>
          <p:cNvSpPr txBox="1"/>
          <p:nvPr/>
        </p:nvSpPr>
        <p:spPr>
          <a:xfrm>
            <a:off x="6380571" y="4096476"/>
            <a:ext cx="53970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晨星中国官网：定性评价与报告（5P方法论说明页）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48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499-15"/>
          <p:cNvSpPr/>
          <p:nvPr/>
        </p:nvSpPr>
        <p:spPr>
          <a:xfrm>
            <a:off x="533267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499-17"/>
          <p:cNvCxnSpPr/>
          <p:nvPr/>
        </p:nvCxnSpPr>
        <p:spPr>
          <a:xfrm>
            <a:off x="552312" y="1785753"/>
            <a:ext cx="914" cy="153314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499-16"/>
          <p:cNvSpPr/>
          <p:nvPr/>
        </p:nvSpPr>
        <p:spPr>
          <a:xfrm>
            <a:off x="6151612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500-18"/>
          <p:cNvCxnSpPr/>
          <p:nvPr/>
        </p:nvCxnSpPr>
        <p:spPr>
          <a:xfrm>
            <a:off x="6170657" y="1785753"/>
            <a:ext cx="914" cy="1533142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92-6"/>
          <p:cNvSpPr/>
          <p:nvPr/>
        </p:nvSpPr>
        <p:spPr>
          <a:xfrm>
            <a:off x="533267" y="3452211"/>
            <a:ext cx="11122419" cy="170454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91-3"/>
          <p:cNvSpPr/>
          <p:nvPr/>
        </p:nvSpPr>
        <p:spPr>
          <a:xfrm>
            <a:off x="533267" y="5290077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5493-7"/>
          <p:cNvSpPr txBox="1"/>
          <p:nvPr/>
        </p:nvSpPr>
        <p:spPr>
          <a:xfrm>
            <a:off x="533267" y="106783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494-8"/>
          <p:cNvSpPr txBox="1"/>
          <p:nvPr/>
        </p:nvSpPr>
        <p:spPr>
          <a:xfrm>
            <a:off x="533267" y="130590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华泰证券：100+因子聚类基金评价详解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502-20"/>
          <p:cNvSpPr txBox="1"/>
          <p:nvPr/>
        </p:nvSpPr>
        <p:spPr>
          <a:xfrm>
            <a:off x="723719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怎么做：多因子+PCA+K-means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501-19"/>
          <p:cNvSpPr txBox="1"/>
          <p:nvPr/>
        </p:nvSpPr>
        <p:spPr>
          <a:xfrm>
            <a:off x="723719" y="2223794"/>
            <a:ext cx="5151737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华泰金融工程团队构建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评价体系（收益/风险/风格/行为四大类）。技术路线：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Z-score标准化→PCA降维（100+→10-15主成分）→K-means聚类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，输出基金风格群组标签和因子得分雷达图。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502-21"/>
          <p:cNvSpPr txBox="1"/>
          <p:nvPr/>
        </p:nvSpPr>
        <p:spPr>
          <a:xfrm>
            <a:off x="6342064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来源与可查证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503-22"/>
          <p:cNvSpPr txBox="1"/>
          <p:nvPr/>
        </p:nvSpPr>
        <p:spPr>
          <a:xfrm>
            <a:off x="6342064" y="2223794"/>
            <a:ext cx="2466001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研报：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《多因子系列之一》2016.9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503-23"/>
          <p:cNvSpPr txBox="1"/>
          <p:nvPr/>
        </p:nvSpPr>
        <p:spPr>
          <a:xfrm>
            <a:off x="6342064" y="2466620"/>
            <a:ext cx="2660322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华泰证券研报平台/CRM终端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503-24"/>
          <p:cNvSpPr txBox="1"/>
          <p:nvPr/>
        </p:nvSpPr>
        <p:spPr>
          <a:xfrm>
            <a:off x="6342064" y="2709447"/>
            <a:ext cx="49698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华泰金工团队内部使用，为客户输出基金风格分析和筛选报告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504-25"/>
          <p:cNvSpPr txBox="1"/>
          <p:nvPr/>
        </p:nvSpPr>
        <p:spPr>
          <a:xfrm>
            <a:off x="6342064" y="2952274"/>
            <a:ext cx="137551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参考：</a:t>
            </a:r>
            <a:r>
              <a:rPr sz="127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CSDN文库</a:t>
            </a:r>
            <a:endParaRPr sz="127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95-9"/>
          <p:cNvSpPr txBox="1"/>
          <p:nvPr/>
        </p:nvSpPr>
        <p:spPr>
          <a:xfrm>
            <a:off x="695151" y="3556960"/>
            <a:ext cx="1091196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496-10"/>
          <p:cNvSpPr txBox="1"/>
          <p:nvPr/>
        </p:nvSpPr>
        <p:spPr>
          <a:xfrm>
            <a:off x="695151" y="3837877"/>
            <a:ext cx="513173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因子覆盖全面，聚类后同类基金可比性强，雷达图可视化直观。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496-11"/>
          <p:cNvSpPr txBox="1"/>
          <p:nvPr/>
        </p:nvSpPr>
        <p:spPr>
          <a:xfrm>
            <a:off x="695151" y="4080704"/>
            <a:ext cx="545893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缺陷一：共线性高。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100+因子大量线性相关（VIF&gt;10），冗余信息干扰聚类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97-12"/>
          <p:cNvSpPr txBox="1"/>
          <p:nvPr/>
        </p:nvSpPr>
        <p:spPr>
          <a:xfrm>
            <a:off x="695151" y="4323531"/>
            <a:ext cx="567497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缺陷二：可解释性差。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PCA主成分缺乏经济学含义，"第3主成分高分"难以解释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497-13"/>
          <p:cNvSpPr txBox="1"/>
          <p:nvPr/>
        </p:nvSpPr>
        <p:spPr>
          <a:xfrm>
            <a:off x="695151" y="4566358"/>
            <a:ext cx="590039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缺陷三：无因果递进。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所有因子并列输入，不区分"经理→持仓→交易"的因果链条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97-14"/>
          <p:cNvSpPr txBox="1"/>
          <p:nvPr/>
        </p:nvSpPr>
        <p:spPr>
          <a:xfrm>
            <a:off x="695151" y="4809185"/>
            <a:ext cx="532040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缺陷四：数据需求大。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100+因子采集清洗成本高，部分因子数据源不公开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490-2"/>
          <p:cNvSpPr txBox="1"/>
          <p:nvPr/>
        </p:nvSpPr>
        <p:spPr>
          <a:xfrm>
            <a:off x="578975" y="5337690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华泰100因子：覆盖全面但共线性高、可解释性差 | 本文：9个精选指标+因果递进+可解释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91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491-5"/>
          <p:cNvSpPr txBox="1"/>
          <p:nvPr/>
        </p:nvSpPr>
        <p:spPr>
          <a:xfrm>
            <a:off x="11509870" y="6519090"/>
            <a:ext cx="15629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79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809-14"/>
          <p:cNvSpPr/>
          <p:nvPr/>
        </p:nvSpPr>
        <p:spPr>
          <a:xfrm>
            <a:off x="533267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809-16"/>
          <p:cNvCxnSpPr/>
          <p:nvPr/>
        </p:nvCxnSpPr>
        <p:spPr>
          <a:xfrm>
            <a:off x="552312" y="1250403"/>
            <a:ext cx="914" cy="239493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813-23"/>
          <p:cNvSpPr/>
          <p:nvPr/>
        </p:nvSpPr>
        <p:spPr>
          <a:xfrm>
            <a:off x="704674" y="2378834"/>
            <a:ext cx="5189827" cy="11617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809-15"/>
          <p:cNvSpPr/>
          <p:nvPr/>
        </p:nvSpPr>
        <p:spPr>
          <a:xfrm>
            <a:off x="6151612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5810-17"/>
          <p:cNvCxnSpPr/>
          <p:nvPr/>
        </p:nvCxnSpPr>
        <p:spPr>
          <a:xfrm>
            <a:off x="6170657" y="1250403"/>
            <a:ext cx="914" cy="2394939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804-7"/>
          <p:cNvSpPr/>
          <p:nvPr/>
        </p:nvSpPr>
        <p:spPr>
          <a:xfrm>
            <a:off x="533267" y="3778659"/>
            <a:ext cx="11122419" cy="149460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803-4"/>
          <p:cNvSpPr/>
          <p:nvPr/>
        </p:nvSpPr>
        <p:spPr>
          <a:xfrm>
            <a:off x="533267" y="5844621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805-8"/>
          <p:cNvSpPr txBox="1"/>
          <p:nvPr/>
        </p:nvSpPr>
        <p:spPr>
          <a:xfrm>
            <a:off x="533267" y="53248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5806-9"/>
          <p:cNvSpPr txBox="1"/>
          <p:nvPr/>
        </p:nvSpPr>
        <p:spPr>
          <a:xfrm>
            <a:off x="533267" y="77055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 CAPM评级 + Active Share官网 + 中信AI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811-19"/>
          <p:cNvSpPr txBox="1"/>
          <p:nvPr/>
        </p:nvSpPr>
        <p:spPr>
          <a:xfrm>
            <a:off x="704674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招商证券：CAPM + Jensen Alpha + 星级评级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5811-18"/>
          <p:cNvSpPr txBox="1"/>
          <p:nvPr/>
        </p:nvSpPr>
        <p:spPr>
          <a:xfrm>
            <a:off x="704674" y="1645592"/>
            <a:ext cx="5189827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招商证券基金评价中心（2010年获批资格）采用传统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CAPM模型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计算Jensen Alpha，作为基金评价核心。根据Alpha排名给予1-5星评级，同时担任金牛奖评委。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5815-24"/>
          <p:cNvSpPr txBox="1"/>
          <p:nvPr/>
        </p:nvSpPr>
        <p:spPr>
          <a:xfrm>
            <a:off x="799900" y="2445492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核心指标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815-25"/>
          <p:cNvSpPr txBox="1"/>
          <p:nvPr/>
        </p:nvSpPr>
        <p:spPr>
          <a:xfrm>
            <a:off x="2660233" y="2445492"/>
            <a:ext cx="324569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Jensen α = R_fund - [R_f + β×(R_m-R_f)]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815-26"/>
          <p:cNvSpPr txBox="1"/>
          <p:nvPr/>
        </p:nvSpPr>
        <p:spPr>
          <a:xfrm>
            <a:off x="799900" y="2712125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评价维度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815-27"/>
          <p:cNvSpPr txBox="1"/>
          <p:nvPr/>
        </p:nvSpPr>
        <p:spPr>
          <a:xfrm>
            <a:off x="4052172" y="2712125"/>
            <a:ext cx="185375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仅1维（风险调整后收益）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816-28"/>
          <p:cNvSpPr txBox="1"/>
          <p:nvPr/>
        </p:nvSpPr>
        <p:spPr>
          <a:xfrm>
            <a:off x="799900" y="2978759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输出形式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816-29"/>
          <p:cNvSpPr txBox="1"/>
          <p:nvPr/>
        </p:nvSpPr>
        <p:spPr>
          <a:xfrm>
            <a:off x="4042054" y="2978759"/>
            <a:ext cx="18638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星级评分1-5星 + 风险等级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816-30"/>
          <p:cNvSpPr txBox="1"/>
          <p:nvPr/>
        </p:nvSpPr>
        <p:spPr>
          <a:xfrm>
            <a:off x="799900" y="3245392"/>
            <a:ext cx="56388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可查证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816-31"/>
          <p:cNvSpPr txBox="1"/>
          <p:nvPr/>
        </p:nvSpPr>
        <p:spPr>
          <a:xfrm>
            <a:off x="3909928" y="3245392"/>
            <a:ext cx="199600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招商证券基金评价年报/季报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812-20"/>
          <p:cNvSpPr txBox="1"/>
          <p:nvPr/>
        </p:nvSpPr>
        <p:spPr>
          <a:xfrm>
            <a:off x="6323019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官网 + 中信证券 AI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5812-21"/>
          <p:cNvSpPr txBox="1"/>
          <p:nvPr/>
        </p:nvSpPr>
        <p:spPr>
          <a:xfrm>
            <a:off x="6323019" y="1645592"/>
            <a:ext cx="5139387" cy="6761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Share官网（activeshare.nd.edu）：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Cremers教授个人维护，免费查询全美6000+基金AS值，用AS×跟踪误差构建四象限分类（主动选股/因子押注/跟踪指数/隐蔽指数）。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812-22"/>
          <p:cNvSpPr txBox="1"/>
          <p:nvPr/>
        </p:nvSpPr>
        <p:spPr>
          <a:xfrm>
            <a:off x="6323019" y="2331221"/>
            <a:ext cx="5126591" cy="4475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中信证券：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使用DeepSeek R1大模型分析2,715份基金季报，自动提取投资风格/风险态度/行业观点等文本特征，构建文本维度经理画像。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807-10"/>
          <p:cNvSpPr txBox="1"/>
          <p:nvPr/>
        </p:nvSpPr>
        <p:spPr>
          <a:xfrm>
            <a:off x="657061" y="3864362"/>
            <a:ext cx="109814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808-11"/>
          <p:cNvSpPr txBox="1"/>
          <p:nvPr/>
        </p:nvSpPr>
        <p:spPr>
          <a:xfrm>
            <a:off x="657061" y="4111950"/>
            <a:ext cx="10675004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计算简单透明，星级评分市场认知度高；高星级基金长期业绩突出（Alpha因子有效）。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仅1维度，完全缺乏行为维度（持仓/交易/认知）；CAPM单因子假设过强（Fama-French已证其不足）；基于历史业绩无前瞻性。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808-12"/>
          <p:cNvSpPr txBox="1"/>
          <p:nvPr/>
        </p:nvSpPr>
        <p:spPr>
          <a:xfrm>
            <a:off x="657061" y="4538385"/>
            <a:ext cx="9785800" cy="219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AS指标被广泛引用，"隐蔽指数基金"概念深入人心。缺陷：仅L2层持仓偏离，缺乏交易和认知维度；仅覆盖美国市场。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808-13"/>
          <p:cNvSpPr txBox="1"/>
          <p:nvPr/>
        </p:nvSpPr>
        <p:spPr>
          <a:xfrm>
            <a:off x="657061" y="4751602"/>
            <a:ext cx="10777819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中信AI效果：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NLP提取效率高（2小时/份→自动化）；标签与持仓一致性75-80%。缺陷：仅文本维度，缺乏系统性行为框架；依赖Prompt质量，结果可复现性存疑。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802-2"/>
          <p:cNvSpPr txBox="1"/>
          <p:nvPr/>
        </p:nvSpPr>
        <p:spPr>
          <a:xfrm>
            <a:off x="533267" y="5444671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activeshare.nd.edu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招商证券基金风险评价方法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中信证券DeepSeek基金研报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802-3"/>
          <p:cNvSpPr txBox="1"/>
          <p:nvPr/>
        </p:nvSpPr>
        <p:spPr>
          <a:xfrm>
            <a:off x="578975" y="5882711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招商仅1维(收益) | Active Share仅L2(持仓) | 中信仅L5(文本) | 本文：L1-L5五层9指标递进，覆盖收益+持仓+交易+风险+认知全维度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803-5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803-6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93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941-9"/>
          <p:cNvSpPr/>
          <p:nvPr/>
        </p:nvSpPr>
        <p:spPr>
          <a:xfrm>
            <a:off x="533267" y="843609"/>
            <a:ext cx="11122419" cy="139402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941-11"/>
          <p:cNvCxnSpPr/>
          <p:nvPr/>
        </p:nvCxnSpPr>
        <p:spPr>
          <a:xfrm>
            <a:off x="552312" y="843609"/>
            <a:ext cx="914" cy="139402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941-10"/>
          <p:cNvSpPr/>
          <p:nvPr/>
        </p:nvSpPr>
        <p:spPr>
          <a:xfrm>
            <a:off x="533267" y="2332857"/>
            <a:ext cx="11122419" cy="11141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5962-12"/>
          <p:cNvPicPr/>
          <p:nvPr/>
        </p:nvPicPr>
        <p:blipFill>
          <a:blip r:embed="rId1"/>
          <a:stretch>
            <a:fillRect/>
          </a:stretch>
        </p:blipFill>
        <p:spPr>
          <a:xfrm>
            <a:off x="4225067" y="2666149"/>
            <a:ext cx="3738818" cy="714196"/>
          </a:xfrm>
          <a:prstGeom prst="rect">
            <a:avLst/>
          </a:prstGeom>
          <a:ln>
            <a:noFill/>
          </a:ln>
        </p:spPr>
      </p:pic>
      <p:sp>
        <p:nvSpPr>
          <p:cNvPr id="7" name="el-1785891665972-19"/>
          <p:cNvSpPr/>
          <p:nvPr/>
        </p:nvSpPr>
        <p:spPr>
          <a:xfrm>
            <a:off x="533267" y="3542230"/>
            <a:ext cx="5494551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972-20"/>
          <p:cNvSpPr/>
          <p:nvPr/>
        </p:nvSpPr>
        <p:spPr>
          <a:xfrm>
            <a:off x="6161134" y="3542230"/>
            <a:ext cx="5494551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938-3"/>
          <p:cNvSpPr/>
          <p:nvPr/>
        </p:nvSpPr>
        <p:spPr>
          <a:xfrm>
            <a:off x="533267" y="5399141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0" name="el-1785891665939-4"/>
          <p:cNvCxnSpPr/>
          <p:nvPr/>
        </p:nvCxnSpPr>
        <p:spPr>
          <a:xfrm>
            <a:off x="552312" y="5399141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5939-6"/>
          <p:cNvSpPr/>
          <p:nvPr/>
        </p:nvSpPr>
        <p:spPr>
          <a:xfrm>
            <a:off x="533267" y="6170473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5963-13"/>
          <p:cNvSpPr txBox="1"/>
          <p:nvPr/>
        </p:nvSpPr>
        <p:spPr>
          <a:xfrm>
            <a:off x="533267" y="149499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963-14"/>
          <p:cNvSpPr txBox="1"/>
          <p:nvPr/>
        </p:nvSpPr>
        <p:spPr>
          <a:xfrm>
            <a:off x="533267" y="401849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 背景特征层：职业忧虑如何驱动行为差异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964-15"/>
          <p:cNvSpPr txBox="1"/>
          <p:nvPr/>
        </p:nvSpPr>
        <p:spPr>
          <a:xfrm>
            <a:off x="742764" y="948358"/>
            <a:ext cx="10865308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理论依据：Chevalier &amp; Ellison (1999) QJE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5965-16"/>
          <p:cNvSpPr txBox="1"/>
          <p:nvPr/>
        </p:nvSpPr>
        <p:spPr>
          <a:xfrm>
            <a:off x="742764" y="1319740"/>
            <a:ext cx="10627243" cy="5218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5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年轻基金经理面临更强的</a:t>
            </a:r>
            <a:r>
              <a:rPr sz="13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职业忧虑</a:t>
            </a: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——离职概率对业绩高度敏感，留任概率与业绩呈凹函数关系。因此年轻经理倾向于：</a:t>
            </a:r>
            <a:r>
              <a:rPr sz="13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减少非系统性风险、避免极端行业配置、跟踪基准更紧</a:t>
            </a: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。经验丰富的经理职业忧虑较弱，更敢于偏离基准。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965-17"/>
          <p:cNvSpPr txBox="1"/>
          <p:nvPr/>
        </p:nvSpPr>
        <p:spPr>
          <a:xfrm>
            <a:off x="742764" y="1868183"/>
            <a:ext cx="6376346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中国场景：</a:t>
            </a: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短期排名压力更强（季度排名公开），职业忧虑效应可能比美股更突出。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965-18"/>
          <p:cNvSpPr txBox="1"/>
          <p:nvPr/>
        </p:nvSpPr>
        <p:spPr>
          <a:xfrm>
            <a:off x="5478184" y="2399516"/>
            <a:ext cx="133923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RPI 排名压力指数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975-21"/>
          <p:cNvSpPr txBox="1"/>
          <p:nvPr/>
        </p:nvSpPr>
        <p:spPr>
          <a:xfrm>
            <a:off x="695151" y="3666024"/>
            <a:ext cx="528410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经理A（年轻型）</a:t>
            </a:r>
            <a:endParaRPr sz="127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975-22"/>
          <p:cNvSpPr txBox="1"/>
          <p:nvPr/>
        </p:nvSpPr>
        <p:spPr>
          <a:xfrm>
            <a:off x="695151" y="3965986"/>
            <a:ext cx="142714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从业2年，规模3亿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975-23"/>
          <p:cNvSpPr txBox="1"/>
          <p:nvPr/>
        </p:nvSpPr>
        <p:spPr>
          <a:xfrm>
            <a:off x="695151" y="4208813"/>
            <a:ext cx="157519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前十大持仓占比78%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975-24"/>
          <p:cNvSpPr txBox="1"/>
          <p:nvPr/>
        </p:nvSpPr>
        <p:spPr>
          <a:xfrm>
            <a:off x="695151" y="4451640"/>
            <a:ext cx="167904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行业配置接近沪深300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976-25"/>
          <p:cNvSpPr txBox="1"/>
          <p:nvPr/>
        </p:nvSpPr>
        <p:spPr>
          <a:xfrm>
            <a:off x="695151" y="4694467"/>
            <a:ext cx="14994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 = 0.68（保守）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976-26"/>
          <p:cNvSpPr txBox="1"/>
          <p:nvPr/>
        </p:nvSpPr>
        <p:spPr>
          <a:xfrm>
            <a:off x="695151" y="4937294"/>
            <a:ext cx="297471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 = 2 →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RPI = 0.77（高压）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976-27"/>
          <p:cNvSpPr txBox="1"/>
          <p:nvPr/>
        </p:nvSpPr>
        <p:spPr>
          <a:xfrm>
            <a:off x="6323019" y="3666024"/>
            <a:ext cx="528410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经理B（经验型）</a:t>
            </a:r>
            <a:endParaRPr sz="127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976-28"/>
          <p:cNvSpPr txBox="1"/>
          <p:nvPr/>
        </p:nvSpPr>
        <p:spPr>
          <a:xfrm>
            <a:off x="6323019" y="3965986"/>
            <a:ext cx="151745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从业8年，规模50亿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976-29"/>
          <p:cNvSpPr txBox="1"/>
          <p:nvPr/>
        </p:nvSpPr>
        <p:spPr>
          <a:xfrm>
            <a:off x="6323019" y="4208813"/>
            <a:ext cx="1576678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前十大持仓占比62%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976-30"/>
          <p:cNvSpPr txBox="1"/>
          <p:nvPr/>
        </p:nvSpPr>
        <p:spPr>
          <a:xfrm>
            <a:off x="6323019" y="4451640"/>
            <a:ext cx="134054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超配新能源+消费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977-31"/>
          <p:cNvSpPr txBox="1"/>
          <p:nvPr/>
        </p:nvSpPr>
        <p:spPr>
          <a:xfrm>
            <a:off x="6323019" y="4694467"/>
            <a:ext cx="14994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 = 0.85（主动）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977-32"/>
          <p:cNvSpPr txBox="1"/>
          <p:nvPr/>
        </p:nvSpPr>
        <p:spPr>
          <a:xfrm>
            <a:off x="6323019" y="4937294"/>
            <a:ext cx="2976354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 = 8 →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RPI = 0.45（低压）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938-2"/>
          <p:cNvSpPr txBox="1"/>
          <p:nvPr/>
        </p:nvSpPr>
        <p:spPr>
          <a:xfrm>
            <a:off x="723719" y="5494367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阶段仅用 Experience（从业年限）做 OLS 回归；2.0 阶段加入 RPI、学历、管理规模等特征；3.0 阶段考虑加入行为心理学问卷数据（如风险偏好测试）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939-5"/>
          <p:cNvSpPr txBox="1"/>
          <p:nvPr/>
        </p:nvSpPr>
        <p:spPr>
          <a:xfrm>
            <a:off x="578975" y="6218086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核心逻辑：职业忧虑（L1）→ 持仓偏离行为（L2）→ 业绩差异 | 为 H1 假设奠定因果基础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939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939-8"/>
          <p:cNvSpPr txBox="1"/>
          <p:nvPr/>
        </p:nvSpPr>
        <p:spPr>
          <a:xfrm>
            <a:off x="11462852" y="6519090"/>
            <a:ext cx="203308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98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995-17"/>
          <p:cNvSpPr/>
          <p:nvPr/>
        </p:nvSpPr>
        <p:spPr>
          <a:xfrm>
            <a:off x="457086" y="1406931"/>
            <a:ext cx="5580255" cy="314246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996-19"/>
          <p:cNvCxnSpPr/>
          <p:nvPr/>
        </p:nvCxnSpPr>
        <p:spPr>
          <a:xfrm>
            <a:off x="476131" y="1406931"/>
            <a:ext cx="914" cy="314246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017-20"/>
          <p:cNvPicPr/>
          <p:nvPr/>
        </p:nvPicPr>
        <p:blipFill>
          <a:blip r:embed="rId1"/>
          <a:stretch>
            <a:fillRect/>
          </a:stretch>
        </p:blipFill>
        <p:spPr>
          <a:xfrm>
            <a:off x="1890537" y="1792597"/>
            <a:ext cx="2741770" cy="523744"/>
          </a:xfrm>
          <a:prstGeom prst="rect">
            <a:avLst/>
          </a:prstGeom>
          <a:ln>
            <a:noFill/>
          </a:ln>
        </p:spPr>
      </p:pic>
      <p:sp>
        <p:nvSpPr>
          <p:cNvPr id="6" name="el-1785891665996-18"/>
          <p:cNvSpPr/>
          <p:nvPr/>
        </p:nvSpPr>
        <p:spPr>
          <a:xfrm>
            <a:off x="6151612" y="1406931"/>
            <a:ext cx="5580255" cy="314246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6023-33"/>
          <p:cNvCxnSpPr/>
          <p:nvPr/>
        </p:nvCxnSpPr>
        <p:spPr>
          <a:xfrm>
            <a:off x="6294451" y="385424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991-6"/>
          <p:cNvSpPr/>
          <p:nvPr/>
        </p:nvSpPr>
        <p:spPr>
          <a:xfrm>
            <a:off x="457086" y="4606531"/>
            <a:ext cx="5580255" cy="84156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992-7"/>
          <p:cNvSpPr/>
          <p:nvPr/>
        </p:nvSpPr>
        <p:spPr>
          <a:xfrm>
            <a:off x="6151612" y="4606531"/>
            <a:ext cx="5580255" cy="84156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5987-3"/>
          <p:cNvSpPr/>
          <p:nvPr/>
        </p:nvSpPr>
        <p:spPr>
          <a:xfrm>
            <a:off x="457086" y="5505228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5992-8"/>
          <p:cNvSpPr txBox="1"/>
          <p:nvPr/>
        </p:nvSpPr>
        <p:spPr>
          <a:xfrm>
            <a:off x="457086" y="829027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5992-9"/>
          <p:cNvSpPr txBox="1"/>
          <p:nvPr/>
        </p:nvSpPr>
        <p:spPr>
          <a:xfrm>
            <a:off x="457086" y="1052809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 数据计算：公式字母详解与示例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6020-27"/>
          <p:cNvSpPr txBox="1"/>
          <p:nvPr/>
        </p:nvSpPr>
        <p:spPr>
          <a:xfrm>
            <a:off x="628493" y="1492635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RPI 排名压力指数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6029-34"/>
          <p:cNvSpPr txBox="1"/>
          <p:nvPr/>
        </p:nvSpPr>
        <p:spPr>
          <a:xfrm>
            <a:off x="628493" y="2392522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RPI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5" name="el-1785891666029-35"/>
          <p:cNvSpPr txBox="1"/>
          <p:nvPr/>
        </p:nvSpPr>
        <p:spPr>
          <a:xfrm>
            <a:off x="952262" y="2392522"/>
            <a:ext cx="431925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排名压力指数，取值 [0, 1]。越接近 1 表示经理面临的排名压力越大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6029-36"/>
          <p:cNvSpPr txBox="1"/>
          <p:nvPr/>
        </p:nvSpPr>
        <p:spPr>
          <a:xfrm>
            <a:off x="628493" y="2644872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7" name="el-1785891666030-37"/>
          <p:cNvSpPr txBox="1"/>
          <p:nvPr/>
        </p:nvSpPr>
        <p:spPr>
          <a:xfrm>
            <a:off x="952262" y="2644872"/>
            <a:ext cx="2572000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当前时间点（如 2024Q4），即观测季度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6030-38"/>
          <p:cNvSpPr txBox="1"/>
          <p:nvPr/>
        </p:nvSpPr>
        <p:spPr>
          <a:xfrm>
            <a:off x="628493" y="2897221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Exp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030-39"/>
          <p:cNvSpPr txBox="1"/>
          <p:nvPr/>
        </p:nvSpPr>
        <p:spPr>
          <a:xfrm>
            <a:off x="952262" y="2897221"/>
            <a:ext cx="486814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经理从业年限（年），从首次任职日到 T 的年数。Exp = (T - 任职日期) / 365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030-40"/>
          <p:cNvSpPr txBox="1"/>
          <p:nvPr/>
        </p:nvSpPr>
        <p:spPr>
          <a:xfrm>
            <a:off x="628493" y="3149571"/>
            <a:ext cx="4429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N(T)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030-41"/>
          <p:cNvSpPr txBox="1"/>
          <p:nvPr/>
        </p:nvSpPr>
        <p:spPr>
          <a:xfrm>
            <a:off x="1028592" y="3149571"/>
            <a:ext cx="384758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同类型基金总数（如混合型 8479 只），用于标准化排名位置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031-42"/>
          <p:cNvSpPr txBox="1"/>
          <p:nvPr/>
        </p:nvSpPr>
        <p:spPr>
          <a:xfrm>
            <a:off x="628493" y="3401920"/>
            <a:ext cx="4429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Rank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3" name="el-1785891666031-43"/>
          <p:cNvSpPr txBox="1"/>
          <p:nvPr/>
        </p:nvSpPr>
        <p:spPr>
          <a:xfrm>
            <a:off x="1028592" y="3401920"/>
            <a:ext cx="385844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该基金在过去 12 个月的业绩排名百分位（0=最好, 1=最差）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031-44"/>
          <p:cNvSpPr txBox="1"/>
          <p:nvPr/>
        </p:nvSpPr>
        <p:spPr>
          <a:xfrm>
            <a:off x="628493" y="3654269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e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5" name="el-1785891666031-45"/>
          <p:cNvSpPr txBox="1"/>
          <p:nvPr/>
        </p:nvSpPr>
        <p:spPr>
          <a:xfrm>
            <a:off x="952262" y="3654269"/>
            <a:ext cx="245311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自然常数 e = 2.71828，用于指数衰减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021-28"/>
          <p:cNvSpPr txBox="1"/>
          <p:nvPr/>
        </p:nvSpPr>
        <p:spPr>
          <a:xfrm>
            <a:off x="6294451" y="1492635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示例计算（经理A vs 经理B）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6018-21"/>
          <p:cNvSpPr txBox="1"/>
          <p:nvPr/>
        </p:nvSpPr>
        <p:spPr>
          <a:xfrm>
            <a:off x="6294451" y="1811643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经理A：首次任职 2022Q1，当前 2024Q4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018-22"/>
          <p:cNvSpPr txBox="1"/>
          <p:nvPr/>
        </p:nvSpPr>
        <p:spPr>
          <a:xfrm>
            <a:off x="6294451" y="2063992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Exp = (2024.75 - 2022.25)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2.5 年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021-29"/>
          <p:cNvSpPr txBox="1"/>
          <p:nvPr/>
        </p:nvSpPr>
        <p:spPr>
          <a:xfrm>
            <a:off x="6294451" y="2316342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Rank = 0.70（排名后30%）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019-23"/>
          <p:cNvSpPr txBox="1"/>
          <p:nvPr/>
        </p:nvSpPr>
        <p:spPr>
          <a:xfrm>
            <a:off x="6294451" y="2568691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RPI = exp(-2.5/8) × 0.70 = 0.731 × 0.70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0.512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019-24"/>
          <p:cNvSpPr txBox="1"/>
          <p:nvPr/>
        </p:nvSpPr>
        <p:spPr>
          <a:xfrm>
            <a:off x="6294451" y="2821040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经理B：首次任职 2016Q3，当前 2024Q4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020-25"/>
          <p:cNvSpPr txBox="1"/>
          <p:nvPr/>
        </p:nvSpPr>
        <p:spPr>
          <a:xfrm>
            <a:off x="6294451" y="3073390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Exp = (2024.75 - 2016.75)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8.0 年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022-30"/>
          <p:cNvSpPr txBox="1"/>
          <p:nvPr/>
        </p:nvSpPr>
        <p:spPr>
          <a:xfrm>
            <a:off x="6294451" y="3325739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Rank = 0.50（排名中等）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020-26"/>
          <p:cNvSpPr txBox="1"/>
          <p:nvPr/>
        </p:nvSpPr>
        <p:spPr>
          <a:xfrm>
            <a:off x="6294451" y="3578088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RPI = exp(-8/8) × 0.50 = 0.368 × 0.50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0.184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022-31"/>
          <p:cNvSpPr txBox="1"/>
          <p:nvPr/>
        </p:nvSpPr>
        <p:spPr>
          <a:xfrm>
            <a:off x="6294451" y="3897096"/>
            <a:ext cx="5414561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A的RPI(0.512) &gt; B的RPI(0.184) → A排名压力更大，更保守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el-1785891666022-32"/>
          <p:cNvSpPr txBox="1"/>
          <p:nvPr/>
        </p:nvSpPr>
        <p:spPr>
          <a:xfrm>
            <a:off x="6294451" y="4230388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V4(400基金)实测：Exp 均值 5.2 年，RPI 均值 0.56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993-10"/>
          <p:cNvSpPr txBox="1"/>
          <p:nvPr/>
        </p:nvSpPr>
        <p:spPr>
          <a:xfrm>
            <a:off x="580880" y="4644622"/>
            <a:ext cx="3587825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AKShare </a:t>
            </a:r>
            <a:r>
              <a:rPr sz="1040">
                <a:solidFill>
                  <a:srgbClr val="1A1A2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ak.fund_manager_em()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，免费API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993-11"/>
          <p:cNvSpPr txBox="1"/>
          <p:nvPr/>
        </p:nvSpPr>
        <p:spPr>
          <a:xfrm>
            <a:off x="580880" y="4850251"/>
            <a:ext cx="3403176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获取情况：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 5万+条任职记录，400基金 100%覆盖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993-12"/>
          <p:cNvSpPr txBox="1"/>
          <p:nvPr/>
        </p:nvSpPr>
        <p:spPr>
          <a:xfrm>
            <a:off x="580880" y="5036835"/>
            <a:ext cx="488453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处理流程：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过滤在职经理 → 按 fund_code 匹配 → 计算任职年数 → 代入RPI公式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5994-13"/>
          <p:cNvSpPr txBox="1"/>
          <p:nvPr/>
        </p:nvSpPr>
        <p:spPr>
          <a:xfrm>
            <a:off x="6275406" y="4644622"/>
            <a:ext cx="2698353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文献对比：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Chevalier &amp; Ellison (1999) QJE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994-14"/>
          <p:cNvSpPr txBox="1"/>
          <p:nvPr/>
        </p:nvSpPr>
        <p:spPr>
          <a:xfrm>
            <a:off x="6275406" y="4831206"/>
            <a:ext cx="3261675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数据源：Morningstar 光盘（付费），样本 453名经理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994-15"/>
          <p:cNvSpPr txBox="1"/>
          <p:nvPr/>
        </p:nvSpPr>
        <p:spPr>
          <a:xfrm>
            <a:off x="6275406" y="5017789"/>
            <a:ext cx="3457484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代理变量：经理年龄 → 本文用 Experience（从业年限）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994-16"/>
          <p:cNvSpPr txBox="1"/>
          <p:nvPr/>
        </p:nvSpPr>
        <p:spPr>
          <a:xfrm>
            <a:off x="6275406" y="5204373"/>
            <a:ext cx="3381155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API自动化5万+条 vs 手动453条，效率提升100倍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5987-2"/>
          <p:cNvSpPr txBox="1"/>
          <p:nvPr/>
        </p:nvSpPr>
        <p:spPr>
          <a:xfrm>
            <a:off x="509460" y="5533796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H1 回归结果：β=0.0086, p&lt;0.001（显著）| RPI 越高 → AS 越低（保守持仓）→ 业绩越差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5987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5987-5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2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219-11"/>
          <p:cNvSpPr/>
          <p:nvPr/>
        </p:nvSpPr>
        <p:spPr>
          <a:xfrm>
            <a:off x="533267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219-13"/>
          <p:cNvCxnSpPr/>
          <p:nvPr/>
        </p:nvCxnSpPr>
        <p:spPr>
          <a:xfrm>
            <a:off x="552312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223-21"/>
          <p:cNvSpPr/>
          <p:nvPr/>
        </p:nvSpPr>
        <p:spPr>
          <a:xfrm>
            <a:off x="723719" y="2323781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6245-25"/>
          <p:cNvPicPr/>
          <p:nvPr/>
        </p:nvPicPr>
        <p:blipFill>
          <a:blip r:embed="rId1"/>
          <a:stretch>
            <a:fillRect/>
          </a:stretch>
        </p:blipFill>
        <p:spPr>
          <a:xfrm>
            <a:off x="1500110" y="2661834"/>
            <a:ext cx="3589283" cy="685629"/>
          </a:xfrm>
          <a:prstGeom prst="rect">
            <a:avLst/>
          </a:prstGeom>
          <a:ln>
            <a:noFill/>
          </a:ln>
        </p:spPr>
      </p:pic>
      <p:sp>
        <p:nvSpPr>
          <p:cNvPr id="7" name="el-1785891666223-22"/>
          <p:cNvSpPr/>
          <p:nvPr/>
        </p:nvSpPr>
        <p:spPr>
          <a:xfrm>
            <a:off x="723719" y="3509347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" name="el-1785891666270-33"/>
          <p:cNvCxnSpPr/>
          <p:nvPr/>
        </p:nvCxnSpPr>
        <p:spPr>
          <a:xfrm>
            <a:off x="837990" y="4133079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219-12"/>
          <p:cNvSpPr/>
          <p:nvPr/>
        </p:nvSpPr>
        <p:spPr>
          <a:xfrm>
            <a:off x="6161134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219-14"/>
          <p:cNvCxnSpPr/>
          <p:nvPr/>
        </p:nvCxnSpPr>
        <p:spPr>
          <a:xfrm>
            <a:off x="6180180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6223-23"/>
          <p:cNvSpPr/>
          <p:nvPr/>
        </p:nvSpPr>
        <p:spPr>
          <a:xfrm>
            <a:off x="6351587" y="2080954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12" name="el-1785891666264-26"/>
          <p:cNvPicPr/>
          <p:nvPr/>
        </p:nvPicPr>
        <p:blipFill>
          <a:blip r:embed="rId2"/>
          <a:stretch>
            <a:fillRect/>
          </a:stretch>
        </p:blipFill>
        <p:spPr>
          <a:xfrm>
            <a:off x="7127978" y="2419007"/>
            <a:ext cx="3589283" cy="685629"/>
          </a:xfrm>
          <a:prstGeom prst="rect">
            <a:avLst/>
          </a:prstGeom>
          <a:ln>
            <a:noFill/>
          </a:ln>
        </p:spPr>
      </p:pic>
      <p:sp>
        <p:nvSpPr>
          <p:cNvPr id="13" name="el-1785891666224-24"/>
          <p:cNvSpPr/>
          <p:nvPr/>
        </p:nvSpPr>
        <p:spPr>
          <a:xfrm>
            <a:off x="6351587" y="3266520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271-34"/>
          <p:cNvCxnSpPr/>
          <p:nvPr/>
        </p:nvCxnSpPr>
        <p:spPr>
          <a:xfrm>
            <a:off x="6465858" y="3890252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215-3"/>
          <p:cNvSpPr/>
          <p:nvPr/>
        </p:nvSpPr>
        <p:spPr>
          <a:xfrm>
            <a:off x="533267" y="5471007"/>
            <a:ext cx="11122419" cy="4332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6" name="el-1785891666215-4"/>
          <p:cNvCxnSpPr/>
          <p:nvPr/>
        </p:nvCxnSpPr>
        <p:spPr>
          <a:xfrm>
            <a:off x="552312" y="5471007"/>
            <a:ext cx="914" cy="43327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6216-6"/>
          <p:cNvSpPr/>
          <p:nvPr/>
        </p:nvSpPr>
        <p:spPr>
          <a:xfrm>
            <a:off x="533267" y="5999512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6218-9"/>
          <p:cNvSpPr txBox="1"/>
          <p:nvPr/>
        </p:nvSpPr>
        <p:spPr>
          <a:xfrm>
            <a:off x="533267" y="3203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6218-10"/>
          <p:cNvSpPr txBox="1"/>
          <p:nvPr/>
        </p:nvSpPr>
        <p:spPr>
          <a:xfrm>
            <a:off x="533267" y="5726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221-15"/>
          <p:cNvSpPr txBox="1"/>
          <p:nvPr/>
        </p:nvSpPr>
        <p:spPr>
          <a:xfrm>
            <a:off x="723719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6221-16"/>
          <p:cNvSpPr txBox="1"/>
          <p:nvPr/>
        </p:nvSpPr>
        <p:spPr>
          <a:xfrm>
            <a:off x="723719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221-17"/>
          <p:cNvSpPr txBox="1"/>
          <p:nvPr/>
        </p:nvSpPr>
        <p:spPr>
          <a:xfrm>
            <a:off x="723719" y="1761947"/>
            <a:ext cx="514221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衡量基金持仓偏离基准的程度。AS=0 完全复制，AS=1 完全不同。AS&gt;0.6 为主动选股型。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268-29"/>
          <p:cNvSpPr txBox="1"/>
          <p:nvPr/>
        </p:nvSpPr>
        <p:spPr>
          <a:xfrm>
            <a:off x="2683444" y="2409485"/>
            <a:ext cx="13227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268-30"/>
          <p:cNvSpPr txBox="1"/>
          <p:nvPr/>
        </p:nvSpPr>
        <p:spPr>
          <a:xfrm>
            <a:off x="837990" y="358552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计算示例（3只股票简化）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273-35"/>
          <p:cNvSpPr txBox="1"/>
          <p:nvPr/>
        </p:nvSpPr>
        <p:spPr>
          <a:xfrm>
            <a:off x="837990" y="387120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股票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274-36"/>
          <p:cNvSpPr txBox="1"/>
          <p:nvPr/>
        </p:nvSpPr>
        <p:spPr>
          <a:xfrm>
            <a:off x="2369228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274-37"/>
          <p:cNvSpPr txBox="1"/>
          <p:nvPr/>
        </p:nvSpPr>
        <p:spPr>
          <a:xfrm>
            <a:off x="3486499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274-38"/>
          <p:cNvSpPr txBox="1"/>
          <p:nvPr/>
        </p:nvSpPr>
        <p:spPr>
          <a:xfrm>
            <a:off x="4603770" y="387120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274-39"/>
          <p:cNvSpPr txBox="1"/>
          <p:nvPr/>
        </p:nvSpPr>
        <p:spPr>
          <a:xfrm>
            <a:off x="837990" y="415688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贵州茅台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274-40"/>
          <p:cNvSpPr txBox="1"/>
          <p:nvPr/>
        </p:nvSpPr>
        <p:spPr>
          <a:xfrm>
            <a:off x="2369228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274-41"/>
          <p:cNvSpPr txBox="1"/>
          <p:nvPr/>
        </p:nvSpPr>
        <p:spPr>
          <a:xfrm>
            <a:off x="3486499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274-42"/>
          <p:cNvSpPr txBox="1"/>
          <p:nvPr/>
        </p:nvSpPr>
        <p:spPr>
          <a:xfrm>
            <a:off x="4603770" y="415688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275-43"/>
          <p:cNvSpPr txBox="1"/>
          <p:nvPr/>
        </p:nvSpPr>
        <p:spPr>
          <a:xfrm>
            <a:off x="837990" y="442351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宁德时代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275-44"/>
          <p:cNvSpPr txBox="1"/>
          <p:nvPr/>
        </p:nvSpPr>
        <p:spPr>
          <a:xfrm>
            <a:off x="2369228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275-45"/>
          <p:cNvSpPr txBox="1"/>
          <p:nvPr/>
        </p:nvSpPr>
        <p:spPr>
          <a:xfrm>
            <a:off x="3486499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275-46"/>
          <p:cNvSpPr txBox="1"/>
          <p:nvPr/>
        </p:nvSpPr>
        <p:spPr>
          <a:xfrm>
            <a:off x="4603770" y="442351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275-47"/>
          <p:cNvSpPr txBox="1"/>
          <p:nvPr/>
        </p:nvSpPr>
        <p:spPr>
          <a:xfrm>
            <a:off x="837990" y="469015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招商银行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275-48"/>
          <p:cNvSpPr txBox="1"/>
          <p:nvPr/>
        </p:nvSpPr>
        <p:spPr>
          <a:xfrm>
            <a:off x="2369228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275-49"/>
          <p:cNvSpPr txBox="1"/>
          <p:nvPr/>
        </p:nvSpPr>
        <p:spPr>
          <a:xfrm>
            <a:off x="3486499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276-50"/>
          <p:cNvSpPr txBox="1"/>
          <p:nvPr/>
        </p:nvSpPr>
        <p:spPr>
          <a:xfrm>
            <a:off x="4603770" y="469015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267-27"/>
          <p:cNvSpPr txBox="1"/>
          <p:nvPr/>
        </p:nvSpPr>
        <p:spPr>
          <a:xfrm>
            <a:off x="837990" y="496630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 = 1/2 × (3%+7%+3%+90%)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0.515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221-18"/>
          <p:cNvSpPr txBox="1"/>
          <p:nvPr/>
        </p:nvSpPr>
        <p:spPr>
          <a:xfrm>
            <a:off x="6351587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行业集中度指数 (ICI)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3" name="el-1785891666221-19"/>
          <p:cNvSpPr txBox="1"/>
          <p:nvPr/>
        </p:nvSpPr>
        <p:spPr>
          <a:xfrm>
            <a:off x="6351587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222-20"/>
          <p:cNvSpPr txBox="1"/>
          <p:nvPr/>
        </p:nvSpPr>
        <p:spPr>
          <a:xfrm>
            <a:off x="6351587" y="1761947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衡量行业配置偏离全市场的程度，与 AS 互补：个股层 vs 行业层。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269-31"/>
          <p:cNvSpPr txBox="1"/>
          <p:nvPr/>
        </p:nvSpPr>
        <p:spPr>
          <a:xfrm>
            <a:off x="8652192" y="2166658"/>
            <a:ext cx="6409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269-32"/>
          <p:cNvSpPr txBox="1"/>
          <p:nvPr/>
        </p:nvSpPr>
        <p:spPr>
          <a:xfrm>
            <a:off x="6465858" y="334270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计算示例（3个行业简化）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276-51"/>
          <p:cNvSpPr txBox="1"/>
          <p:nvPr/>
        </p:nvSpPr>
        <p:spPr>
          <a:xfrm>
            <a:off x="6465858" y="362838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276-52"/>
          <p:cNvSpPr txBox="1"/>
          <p:nvPr/>
        </p:nvSpPr>
        <p:spPr>
          <a:xfrm>
            <a:off x="7997095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276-53"/>
          <p:cNvSpPr txBox="1"/>
          <p:nvPr/>
        </p:nvSpPr>
        <p:spPr>
          <a:xfrm>
            <a:off x="9114366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276-54"/>
          <p:cNvSpPr txBox="1"/>
          <p:nvPr/>
        </p:nvSpPr>
        <p:spPr>
          <a:xfrm>
            <a:off x="10231637" y="362838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偏离²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276-55"/>
          <p:cNvSpPr txBox="1"/>
          <p:nvPr/>
        </p:nvSpPr>
        <p:spPr>
          <a:xfrm>
            <a:off x="6465858" y="391405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新能源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277-56"/>
          <p:cNvSpPr txBox="1"/>
          <p:nvPr/>
        </p:nvSpPr>
        <p:spPr>
          <a:xfrm>
            <a:off x="7997095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277-57"/>
          <p:cNvSpPr txBox="1"/>
          <p:nvPr/>
        </p:nvSpPr>
        <p:spPr>
          <a:xfrm>
            <a:off x="9114366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277-58"/>
          <p:cNvSpPr txBox="1"/>
          <p:nvPr/>
        </p:nvSpPr>
        <p:spPr>
          <a:xfrm>
            <a:off x="10231637" y="391405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5.29%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277-59"/>
          <p:cNvSpPr txBox="1"/>
          <p:nvPr/>
        </p:nvSpPr>
        <p:spPr>
          <a:xfrm>
            <a:off x="6465858" y="418069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277-60"/>
          <p:cNvSpPr txBox="1"/>
          <p:nvPr/>
        </p:nvSpPr>
        <p:spPr>
          <a:xfrm>
            <a:off x="7997095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277-61"/>
          <p:cNvSpPr txBox="1"/>
          <p:nvPr/>
        </p:nvSpPr>
        <p:spPr>
          <a:xfrm>
            <a:off x="9114366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277-62"/>
          <p:cNvSpPr txBox="1"/>
          <p:nvPr/>
        </p:nvSpPr>
        <p:spPr>
          <a:xfrm>
            <a:off x="10231637" y="418069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1.44%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278-63"/>
          <p:cNvSpPr txBox="1"/>
          <p:nvPr/>
        </p:nvSpPr>
        <p:spPr>
          <a:xfrm>
            <a:off x="6465858" y="444732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金融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278-64"/>
          <p:cNvSpPr txBox="1"/>
          <p:nvPr/>
        </p:nvSpPr>
        <p:spPr>
          <a:xfrm>
            <a:off x="7997095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278-65"/>
          <p:cNvSpPr txBox="1"/>
          <p:nvPr/>
        </p:nvSpPr>
        <p:spPr>
          <a:xfrm>
            <a:off x="9114366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el-1785891666278-66"/>
          <p:cNvSpPr txBox="1"/>
          <p:nvPr/>
        </p:nvSpPr>
        <p:spPr>
          <a:xfrm>
            <a:off x="10231637" y="444732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2.89%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3" name="el-1785891666268-28"/>
          <p:cNvSpPr txBox="1"/>
          <p:nvPr/>
        </p:nvSpPr>
        <p:spPr>
          <a:xfrm>
            <a:off x="6465858" y="472348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= 5.29%+1.44%+2.89%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0.096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el-1785891666214-2"/>
          <p:cNvSpPr txBox="1"/>
          <p:nvPr/>
        </p:nvSpPr>
        <p:spPr>
          <a:xfrm>
            <a:off x="723719" y="5566233"/>
            <a:ext cx="1104528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V4(400基金)修正AS公式后均值0.833；V2旧公式0.948高估，前十大近似0.705低估；3.0阶段引入市值加权基准提升区分度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5" name="el-1785891666215-5"/>
          <p:cNvSpPr txBox="1"/>
          <p:nvPr/>
        </p:nvSpPr>
        <p:spPr>
          <a:xfrm>
            <a:off x="578975" y="6047125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AS在美股正向(Cremers 2009) | V4(400基金)AS负向(t=-5.24***)，ICI负向(t=-3.69***) | A股行为指标全面负向预测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6216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6216-8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383-10"/>
          <p:cNvSpPr/>
          <p:nvPr/>
        </p:nvSpPr>
        <p:spPr>
          <a:xfrm>
            <a:off x="457086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384-14"/>
          <p:cNvCxnSpPr/>
          <p:nvPr/>
        </p:nvCxnSpPr>
        <p:spPr>
          <a:xfrm>
            <a:off x="476131" y="863845"/>
            <a:ext cx="914" cy="248361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400-16"/>
          <p:cNvPicPr/>
          <p:nvPr/>
        </p:nvPicPr>
        <p:blipFill>
          <a:blip r:embed="rId1"/>
          <a:stretch>
            <a:fillRect/>
          </a:stretch>
        </p:blipFill>
        <p:spPr>
          <a:xfrm>
            <a:off x="1965379" y="1249511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6" name="el-1785891666383-11"/>
          <p:cNvSpPr/>
          <p:nvPr/>
        </p:nvSpPr>
        <p:spPr>
          <a:xfrm>
            <a:off x="6151612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6422-35"/>
          <p:cNvCxnSpPr/>
          <p:nvPr/>
        </p:nvCxnSpPr>
        <p:spPr>
          <a:xfrm>
            <a:off x="6294451" y="228479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383-12"/>
          <p:cNvSpPr/>
          <p:nvPr/>
        </p:nvSpPr>
        <p:spPr>
          <a:xfrm>
            <a:off x="457086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385-15"/>
          <p:cNvCxnSpPr/>
          <p:nvPr/>
        </p:nvCxnSpPr>
        <p:spPr>
          <a:xfrm>
            <a:off x="476131" y="3404598"/>
            <a:ext cx="914" cy="20610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el-1785891666413-17"/>
          <p:cNvPicPr/>
          <p:nvPr/>
        </p:nvPicPr>
        <p:blipFill>
          <a:blip r:embed="rId2"/>
          <a:stretch>
            <a:fillRect/>
          </a:stretch>
        </p:blipFill>
        <p:spPr>
          <a:xfrm>
            <a:off x="1965379" y="3790264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11" name="el-1785891666384-13"/>
          <p:cNvSpPr/>
          <p:nvPr/>
        </p:nvSpPr>
        <p:spPr>
          <a:xfrm>
            <a:off x="6151612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6422-36"/>
          <p:cNvCxnSpPr/>
          <p:nvPr/>
        </p:nvCxnSpPr>
        <p:spPr>
          <a:xfrm>
            <a:off x="6294451" y="462706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6375-3"/>
          <p:cNvSpPr/>
          <p:nvPr/>
        </p:nvSpPr>
        <p:spPr>
          <a:xfrm>
            <a:off x="457086" y="5522786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891666376-5"/>
          <p:cNvSpPr/>
          <p:nvPr/>
        </p:nvSpPr>
        <p:spPr>
          <a:xfrm>
            <a:off x="457086" y="60483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6381-8"/>
          <p:cNvSpPr txBox="1"/>
          <p:nvPr/>
        </p:nvSpPr>
        <p:spPr>
          <a:xfrm>
            <a:off x="457086" y="2859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6381-9"/>
          <p:cNvSpPr txBox="1"/>
          <p:nvPr/>
        </p:nvSpPr>
        <p:spPr>
          <a:xfrm>
            <a:off x="457086" y="509722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数据计算：AS 与 ICI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6418-25"/>
          <p:cNvSpPr txBox="1"/>
          <p:nvPr/>
        </p:nvSpPr>
        <p:spPr>
          <a:xfrm>
            <a:off x="628493" y="94954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31-41"/>
          <p:cNvSpPr txBox="1"/>
          <p:nvPr/>
        </p:nvSpPr>
        <p:spPr>
          <a:xfrm>
            <a:off x="628493" y="18018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431-42"/>
          <p:cNvSpPr txBox="1"/>
          <p:nvPr/>
        </p:nvSpPr>
        <p:spPr>
          <a:xfrm>
            <a:off x="952262" y="1801823"/>
            <a:ext cx="3026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主动份额，取值 [0, 1]。0=完全复制基准，1=完全不同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31-43"/>
          <p:cNvSpPr txBox="1"/>
          <p:nvPr/>
        </p:nvSpPr>
        <p:spPr>
          <a:xfrm>
            <a:off x="628493" y="20131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432-44"/>
          <p:cNvSpPr txBox="1"/>
          <p:nvPr/>
        </p:nvSpPr>
        <p:spPr>
          <a:xfrm>
            <a:off x="952262" y="2013106"/>
            <a:ext cx="272873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基准指数成分股总数（如沪深300的300只股票）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32-45"/>
          <p:cNvSpPr txBox="1"/>
          <p:nvPr/>
        </p:nvSpPr>
        <p:spPr>
          <a:xfrm>
            <a:off x="628493" y="22243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3" name="el-1785891666432-46"/>
          <p:cNvSpPr txBox="1"/>
          <p:nvPr/>
        </p:nvSpPr>
        <p:spPr>
          <a:xfrm>
            <a:off x="952262" y="2224389"/>
            <a:ext cx="192169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只股票的索引，i = 1, 2, ..., N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29-37"/>
          <p:cNvSpPr txBox="1"/>
          <p:nvPr/>
        </p:nvSpPr>
        <p:spPr>
          <a:xfrm>
            <a:off x="628493" y="243567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5" name="el-1785891666432-47"/>
          <p:cNvSpPr txBox="1"/>
          <p:nvPr/>
        </p:nvSpPr>
        <p:spPr>
          <a:xfrm>
            <a:off x="1038709" y="2435672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基金持仓中第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30-38"/>
          <p:cNvSpPr txBox="1"/>
          <p:nvPr/>
        </p:nvSpPr>
        <p:spPr>
          <a:xfrm>
            <a:off x="628493" y="2646955"/>
            <a:ext cx="4955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bench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7" name="el-1785891666433-48"/>
          <p:cNvSpPr txBox="1"/>
          <p:nvPr/>
        </p:nvSpPr>
        <p:spPr>
          <a:xfrm>
            <a:off x="1094506" y="2646955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433-49"/>
          <p:cNvSpPr txBox="1"/>
          <p:nvPr/>
        </p:nvSpPr>
        <p:spPr>
          <a:xfrm>
            <a:off x="628493" y="2858238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|·|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9" name="el-1785891666433-50"/>
          <p:cNvSpPr txBox="1"/>
          <p:nvPr/>
        </p:nvSpPr>
        <p:spPr>
          <a:xfrm>
            <a:off x="952262" y="2858238"/>
            <a:ext cx="219130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绝对值符号，确保偏离无论正负都计入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433-51"/>
          <p:cNvSpPr txBox="1"/>
          <p:nvPr/>
        </p:nvSpPr>
        <p:spPr>
          <a:xfrm>
            <a:off x="628493" y="3069521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1" name="el-1785891666433-52"/>
          <p:cNvSpPr txBox="1"/>
          <p:nvPr/>
        </p:nvSpPr>
        <p:spPr>
          <a:xfrm>
            <a:off x="952262" y="3069521"/>
            <a:ext cx="21365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系数，因为买卖两侧各算一次需除以2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419-26"/>
          <p:cNvSpPr txBox="1"/>
          <p:nvPr/>
        </p:nvSpPr>
        <p:spPr>
          <a:xfrm>
            <a:off x="6294451" y="94954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示例计算（3只股票简化）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6414-18"/>
          <p:cNvSpPr txBox="1"/>
          <p:nvPr/>
        </p:nvSpPr>
        <p:spPr>
          <a:xfrm>
            <a:off x="6294451" y="125903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贵州茅台：w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=8%, 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 → |8%-5%|=3%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415-19"/>
          <p:cNvSpPr txBox="1"/>
          <p:nvPr/>
        </p:nvSpPr>
        <p:spPr>
          <a:xfrm>
            <a:off x="6294451" y="145752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宁德时代：w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=7%, 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 → |7%-0%|=7%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16-20"/>
          <p:cNvSpPr txBox="1"/>
          <p:nvPr/>
        </p:nvSpPr>
        <p:spPr>
          <a:xfrm>
            <a:off x="6294451" y="165600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招商银行：w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=0%, 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=3% → |0%-3%|=3%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16-21"/>
          <p:cNvSpPr txBox="1"/>
          <p:nvPr/>
        </p:nvSpPr>
        <p:spPr>
          <a:xfrm>
            <a:off x="6294451" y="18544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其余297只：基金全配0%，基准各0.30%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19-27"/>
          <p:cNvSpPr txBox="1"/>
          <p:nvPr/>
        </p:nvSpPr>
        <p:spPr>
          <a:xfrm>
            <a:off x="6294451" y="20529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Sum = 3%+7%+3%+297×0.30% = 3%+7%+3%+89.1% = 102.1%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19-28"/>
          <p:cNvSpPr txBox="1"/>
          <p:nvPr/>
        </p:nvSpPr>
        <p:spPr>
          <a:xfrm>
            <a:off x="6294451" y="232765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= 1/2 × 102.1% = 0.5105 → 主动管理程度中等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6420-29"/>
          <p:cNvSpPr txBox="1"/>
          <p:nvPr/>
        </p:nvSpPr>
        <p:spPr>
          <a:xfrm>
            <a:off x="6294451" y="26133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V4实测：修正AS均值0.673(旧公式0.948, 前十大0.705)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420-30"/>
          <p:cNvSpPr txBox="1"/>
          <p:nvPr/>
        </p:nvSpPr>
        <p:spPr>
          <a:xfrm>
            <a:off x="628493" y="349030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行业集中度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6434-53"/>
          <p:cNvSpPr txBox="1"/>
          <p:nvPr/>
        </p:nvSpPr>
        <p:spPr>
          <a:xfrm>
            <a:off x="628493" y="434257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2" name="el-1785891666434-54"/>
          <p:cNvSpPr txBox="1"/>
          <p:nvPr/>
        </p:nvSpPr>
        <p:spPr>
          <a:xfrm>
            <a:off x="952262" y="4342576"/>
            <a:ext cx="314981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行业集中度指数，取值 [0, 1]。0=完全分散，1=单一行业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6434-55"/>
          <p:cNvSpPr txBox="1"/>
          <p:nvPr/>
        </p:nvSpPr>
        <p:spPr>
          <a:xfrm>
            <a:off x="628493" y="455385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4" name="el-1785891666434-56"/>
          <p:cNvSpPr txBox="1"/>
          <p:nvPr/>
        </p:nvSpPr>
        <p:spPr>
          <a:xfrm>
            <a:off x="952262" y="4553859"/>
            <a:ext cx="229664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j 个行业的索引（申万一级10个行业）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431-39"/>
          <p:cNvSpPr txBox="1"/>
          <p:nvPr/>
        </p:nvSpPr>
        <p:spPr>
          <a:xfrm>
            <a:off x="628493" y="476514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6" name="el-1785891666434-57"/>
          <p:cNvSpPr txBox="1"/>
          <p:nvPr/>
        </p:nvSpPr>
        <p:spPr>
          <a:xfrm>
            <a:off x="1038709" y="4765142"/>
            <a:ext cx="16741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基金在第 j 个行业的配置权重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431-40"/>
          <p:cNvSpPr txBox="1"/>
          <p:nvPr/>
        </p:nvSpPr>
        <p:spPr>
          <a:xfrm>
            <a:off x="628493" y="49764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w̄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8" name="el-1785891666435-58"/>
          <p:cNvSpPr txBox="1"/>
          <p:nvPr/>
        </p:nvSpPr>
        <p:spPr>
          <a:xfrm>
            <a:off x="952262" y="4976426"/>
            <a:ext cx="204548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全市场在第 j 个行业的平均配置权重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435-59"/>
          <p:cNvSpPr txBox="1"/>
          <p:nvPr/>
        </p:nvSpPr>
        <p:spPr>
          <a:xfrm>
            <a:off x="628493" y="51877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()²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50" name="el-1785891666435-60"/>
          <p:cNvSpPr txBox="1"/>
          <p:nvPr/>
        </p:nvSpPr>
        <p:spPr>
          <a:xfrm>
            <a:off x="952262" y="5187709"/>
            <a:ext cx="268648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平方运算，使偏离无论正负都为正，且放大偏离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420-31"/>
          <p:cNvSpPr txBox="1"/>
          <p:nvPr/>
        </p:nvSpPr>
        <p:spPr>
          <a:xfrm>
            <a:off x="6294451" y="349030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示例计算（3个行业简化）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6417-22"/>
          <p:cNvSpPr txBox="1"/>
          <p:nvPr/>
        </p:nvSpPr>
        <p:spPr>
          <a:xfrm>
            <a:off x="6294451" y="379978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新能源：w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=35%, w̄=12% → (35%-12%)²=5.29%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418-23"/>
          <p:cNvSpPr txBox="1"/>
          <p:nvPr/>
        </p:nvSpPr>
        <p:spPr>
          <a:xfrm>
            <a:off x="6294451" y="399827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消费：w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=30%, w̄=18% → (30%-18%)²=1.44%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418-24"/>
          <p:cNvSpPr txBox="1"/>
          <p:nvPr/>
        </p:nvSpPr>
        <p:spPr>
          <a:xfrm>
            <a:off x="6294451" y="419676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金融：w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=5%, w̄=22% → (5%-22%)²=2.89%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421-32"/>
          <p:cNvSpPr txBox="1"/>
          <p:nvPr/>
        </p:nvSpPr>
        <p:spPr>
          <a:xfrm>
            <a:off x="6294451" y="439524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其余7个行业偏离小，合计≈0.38%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421-33"/>
          <p:cNvSpPr txBox="1"/>
          <p:nvPr/>
        </p:nvSpPr>
        <p:spPr>
          <a:xfrm>
            <a:off x="6294451" y="466991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= 5.29%+1.44%+2.89%+0.38% = 0.100 → 行业偏离较大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7" name="el-1785891666421-34"/>
          <p:cNvSpPr txBox="1"/>
          <p:nvPr/>
        </p:nvSpPr>
        <p:spPr>
          <a:xfrm>
            <a:off x="6294451" y="4955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V4实测：ICI均值712，t=-3.69***；OCI是最强预测因子t=-13.45***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375-2"/>
          <p:cNvSpPr txBox="1"/>
          <p:nvPr/>
        </p:nvSpPr>
        <p:spPr>
          <a:xfrm>
            <a:off x="580880" y="5570399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东方财富全持仓API（半年报/年报）+ AKShare行业配置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 用全持仓；Kacperczyk et al. (2005) JF 提出 ICI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邢欣翽孙谦(2015)在早期A股发现ICI正向，我们在2020-2024发现负向（注册制后行业轮动加速）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376-4"/>
          <p:cNvSpPr txBox="1"/>
          <p:nvPr/>
        </p:nvSpPr>
        <p:spPr>
          <a:xfrm>
            <a:off x="509460" y="6076883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AS→业绩(-, t=-5.24***) | ICI→业绩(-, t=-3.69***) | OCI是最强行为信号(t=-13.45***)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376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377-7"/>
          <p:cNvSpPr txBox="1"/>
          <p:nvPr/>
        </p:nvSpPr>
        <p:spPr>
          <a:xfrm>
            <a:off x="11452437" y="6519090"/>
            <a:ext cx="21372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14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44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454-11"/>
          <p:cNvSpPr/>
          <p:nvPr/>
        </p:nvSpPr>
        <p:spPr>
          <a:xfrm>
            <a:off x="533267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454-13"/>
          <p:cNvCxnSpPr/>
          <p:nvPr/>
        </p:nvCxnSpPr>
        <p:spPr>
          <a:xfrm>
            <a:off x="552312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458-21"/>
          <p:cNvSpPr/>
          <p:nvPr/>
        </p:nvSpPr>
        <p:spPr>
          <a:xfrm>
            <a:off x="742764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6477-25"/>
          <p:cNvPicPr/>
          <p:nvPr/>
        </p:nvPicPr>
        <p:blipFill>
          <a:blip r:embed="rId1"/>
          <a:stretch>
            <a:fillRect/>
          </a:stretch>
        </p:blipFill>
        <p:spPr>
          <a:xfrm>
            <a:off x="1143607" y="2647699"/>
            <a:ext cx="4302289" cy="809423"/>
          </a:xfrm>
          <a:prstGeom prst="rect">
            <a:avLst/>
          </a:prstGeom>
          <a:ln>
            <a:noFill/>
          </a:ln>
        </p:spPr>
      </p:pic>
      <p:sp>
        <p:nvSpPr>
          <p:cNvPr id="7" name="el-1785891666458-22"/>
          <p:cNvSpPr/>
          <p:nvPr/>
        </p:nvSpPr>
        <p:spPr>
          <a:xfrm>
            <a:off x="742764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454-12"/>
          <p:cNvSpPr/>
          <p:nvPr/>
        </p:nvSpPr>
        <p:spPr>
          <a:xfrm>
            <a:off x="6161134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455-14"/>
          <p:cNvCxnSpPr/>
          <p:nvPr/>
        </p:nvCxnSpPr>
        <p:spPr>
          <a:xfrm>
            <a:off x="6180180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458-23"/>
          <p:cNvSpPr/>
          <p:nvPr/>
        </p:nvSpPr>
        <p:spPr>
          <a:xfrm>
            <a:off x="6370632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11" name="el-1785891666496-26"/>
          <p:cNvPicPr/>
          <p:nvPr/>
        </p:nvPicPr>
        <p:blipFill>
          <a:blip r:embed="rId2"/>
          <a:stretch>
            <a:fillRect/>
          </a:stretch>
        </p:blipFill>
        <p:spPr>
          <a:xfrm>
            <a:off x="6804060" y="2647699"/>
            <a:ext cx="4237268" cy="809423"/>
          </a:xfrm>
          <a:prstGeom prst="rect">
            <a:avLst/>
          </a:prstGeom>
          <a:ln>
            <a:noFill/>
          </a:ln>
        </p:spPr>
      </p:pic>
      <p:sp>
        <p:nvSpPr>
          <p:cNvPr id="12" name="el-1785891666459-24"/>
          <p:cNvSpPr/>
          <p:nvPr/>
        </p:nvSpPr>
        <p:spPr>
          <a:xfrm>
            <a:off x="6370632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6450-3"/>
          <p:cNvSpPr/>
          <p:nvPr/>
        </p:nvSpPr>
        <p:spPr>
          <a:xfrm>
            <a:off x="533267" y="536164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450-4"/>
          <p:cNvCxnSpPr/>
          <p:nvPr/>
        </p:nvCxnSpPr>
        <p:spPr>
          <a:xfrm>
            <a:off x="552312" y="536164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451-6"/>
          <p:cNvSpPr/>
          <p:nvPr/>
        </p:nvSpPr>
        <p:spPr>
          <a:xfrm>
            <a:off x="533267" y="615202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453-9"/>
          <p:cNvSpPr txBox="1"/>
          <p:nvPr/>
        </p:nvSpPr>
        <p:spPr>
          <a:xfrm>
            <a:off x="533267" y="24904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453-10"/>
          <p:cNvSpPr txBox="1"/>
          <p:nvPr/>
        </p:nvSpPr>
        <p:spPr>
          <a:xfrm>
            <a:off x="533267" y="501390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56-15"/>
          <p:cNvSpPr txBox="1"/>
          <p:nvPr/>
        </p:nvSpPr>
        <p:spPr>
          <a:xfrm>
            <a:off x="742764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456-16"/>
          <p:cNvSpPr txBox="1"/>
          <p:nvPr/>
        </p:nvSpPr>
        <p:spPr>
          <a:xfrm>
            <a:off x="742764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56-17"/>
          <p:cNvSpPr txBox="1"/>
          <p:nvPr/>
        </p:nvSpPr>
        <p:spPr>
          <a:xfrm>
            <a:off x="742764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基金真实收益与"持仓不变"模拟收益之差，捕捉季报间隐形交易的净效应。正值说明经理主动操作增厚收益，负值说明操作拖累业绩。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499-31"/>
          <p:cNvSpPr txBox="1"/>
          <p:nvPr/>
        </p:nvSpPr>
        <p:spPr>
          <a:xfrm>
            <a:off x="2719600" y="2395349"/>
            <a:ext cx="1250290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99-32"/>
          <p:cNvSpPr txBox="1"/>
          <p:nvPr/>
        </p:nvSpPr>
        <p:spPr>
          <a:xfrm>
            <a:off x="857036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计算推演（月度）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499-33"/>
          <p:cNvSpPr txBox="1"/>
          <p:nvPr/>
        </p:nvSpPr>
        <p:spPr>
          <a:xfrm>
            <a:off x="857036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上月末持仓：茅台8% + 宁德7% + 招行5% ...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97-27"/>
          <p:cNvSpPr txBox="1"/>
          <p:nvPr/>
        </p:nvSpPr>
        <p:spPr>
          <a:xfrm>
            <a:off x="857036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持仓不变模拟收益 R_hold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+2.1%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497-28"/>
          <p:cNvSpPr txBox="1"/>
          <p:nvPr/>
        </p:nvSpPr>
        <p:spPr>
          <a:xfrm>
            <a:off x="857036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基金实际月收益 R_fund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+2.8%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98-29"/>
          <p:cNvSpPr txBox="1"/>
          <p:nvPr/>
        </p:nvSpPr>
        <p:spPr>
          <a:xfrm>
            <a:off x="857036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RG = 2.8% - 2.1%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456-18"/>
          <p:cNvSpPr txBox="1"/>
          <p:nvPr/>
        </p:nvSpPr>
        <p:spPr>
          <a:xfrm>
            <a:off x="6370632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ARG（中国修正版）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6456-19"/>
          <p:cNvSpPr txBox="1"/>
          <p:nvPr/>
        </p:nvSpPr>
        <p:spPr>
          <a:xfrm>
            <a:off x="6370632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456-20"/>
          <p:cNvSpPr txBox="1"/>
          <p:nvPr/>
        </p:nvSpPr>
        <p:spPr>
          <a:xfrm>
            <a:off x="6370632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原版 RG 正负相抵会低估交易强度。申宇等取绝对值后加总，更准确反映隐形交易的总规模。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500-34"/>
          <p:cNvSpPr txBox="1"/>
          <p:nvPr/>
        </p:nvSpPr>
        <p:spPr>
          <a:xfrm>
            <a:off x="8602942" y="2395349"/>
            <a:ext cx="7394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00-35"/>
          <p:cNvSpPr txBox="1"/>
          <p:nvPr/>
        </p:nvSpPr>
        <p:spPr>
          <a:xfrm>
            <a:off x="6484903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计算推演（季度3个月）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00-36"/>
          <p:cNvSpPr txBox="1"/>
          <p:nvPr/>
        </p:nvSpPr>
        <p:spPr>
          <a:xfrm>
            <a:off x="6484903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1月: RG = +0.7% → |RG| = 0.7%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00-37"/>
          <p:cNvSpPr txBox="1"/>
          <p:nvPr/>
        </p:nvSpPr>
        <p:spPr>
          <a:xfrm>
            <a:off x="6484903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2月: RG = -0.3% → |RG| = 0.3%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500-38"/>
          <p:cNvSpPr txBox="1"/>
          <p:nvPr/>
        </p:nvSpPr>
        <p:spPr>
          <a:xfrm>
            <a:off x="6484903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3月: RG = +0.5% → |RG| = 0.5%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99-30"/>
          <p:cNvSpPr txBox="1"/>
          <p:nvPr/>
        </p:nvSpPr>
        <p:spPr>
          <a:xfrm>
            <a:off x="6484903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= 0.7%+0.3%+0.5%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1.5%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50-2"/>
          <p:cNvSpPr txBox="1"/>
          <p:nvPr/>
        </p:nvSpPr>
        <p:spPr>
          <a:xfrm>
            <a:off x="723719" y="545687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阶段用月度 RG 做 OLS 回归（已验证，均值0.20%，H3通过）；2.0 阶段加入 ARG 和 RG 波动率（4期滚动std，H4通过 t=2.02）；3.0 阶段引入高频持仓数据（如可获取）计算周度 RG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51-5"/>
          <p:cNvSpPr txBox="1"/>
          <p:nvPr/>
        </p:nvSpPr>
        <p:spPr>
          <a:xfrm>
            <a:off x="572309" y="621868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RG在美股正向(Kacperczyk 2008) | V4修正后RG正向(t=9.20***) | A股RG正向预测，与美股方向一致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51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451-8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521-10"/>
          <p:cNvSpPr/>
          <p:nvPr/>
        </p:nvSpPr>
        <p:spPr>
          <a:xfrm>
            <a:off x="457086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522-14"/>
          <p:cNvCxnSpPr/>
          <p:nvPr/>
        </p:nvCxnSpPr>
        <p:spPr>
          <a:xfrm>
            <a:off x="476131" y="822778"/>
            <a:ext cx="914" cy="277703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535-16"/>
          <p:cNvPicPr/>
          <p:nvPr/>
        </p:nvPicPr>
        <p:blipFill>
          <a:blip r:embed="rId1"/>
          <a:stretch>
            <a:fillRect/>
          </a:stretch>
        </p:blipFill>
        <p:spPr>
          <a:xfrm>
            <a:off x="1633278" y="1208444"/>
            <a:ext cx="3256438" cy="495176"/>
          </a:xfrm>
          <a:prstGeom prst="rect">
            <a:avLst/>
          </a:prstGeom>
          <a:ln>
            <a:noFill/>
          </a:ln>
        </p:spPr>
      </p:pic>
      <p:sp>
        <p:nvSpPr>
          <p:cNvPr id="6" name="el-1785891666549-18"/>
          <p:cNvSpPr/>
          <p:nvPr/>
        </p:nvSpPr>
        <p:spPr>
          <a:xfrm>
            <a:off x="628493" y="3047500"/>
            <a:ext cx="5266008" cy="46660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ysDash"/>
          </a:ln>
        </p:spPr>
        <p:txBody>
          <a:bodyPr/>
          <a:lstStyle/>
          <a:p/>
        </p:txBody>
      </p:sp>
      <p:sp>
        <p:nvSpPr>
          <p:cNvPr id="7" name="el-1785891666521-11"/>
          <p:cNvSpPr/>
          <p:nvPr/>
        </p:nvSpPr>
        <p:spPr>
          <a:xfrm>
            <a:off x="6151612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6560-37"/>
          <p:cNvCxnSpPr/>
          <p:nvPr/>
        </p:nvCxnSpPr>
        <p:spPr>
          <a:xfrm>
            <a:off x="6294451" y="2243732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522-12"/>
          <p:cNvSpPr/>
          <p:nvPr/>
        </p:nvSpPr>
        <p:spPr>
          <a:xfrm>
            <a:off x="457086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522-15"/>
          <p:cNvCxnSpPr/>
          <p:nvPr/>
        </p:nvCxnSpPr>
        <p:spPr>
          <a:xfrm>
            <a:off x="476131" y="3656948"/>
            <a:ext cx="914" cy="1849769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el-1785891666548-17"/>
          <p:cNvPicPr/>
          <p:nvPr/>
        </p:nvPicPr>
        <p:blipFill>
          <a:blip r:embed="rId2"/>
          <a:stretch>
            <a:fillRect/>
          </a:stretch>
        </p:blipFill>
        <p:spPr>
          <a:xfrm>
            <a:off x="1965379" y="4042614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12" name="el-1785891666522-13"/>
          <p:cNvSpPr/>
          <p:nvPr/>
        </p:nvSpPr>
        <p:spPr>
          <a:xfrm>
            <a:off x="6151612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6560-38"/>
          <p:cNvCxnSpPr/>
          <p:nvPr/>
        </p:nvCxnSpPr>
        <p:spPr>
          <a:xfrm>
            <a:off x="6294451" y="487941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517-3"/>
          <p:cNvSpPr/>
          <p:nvPr/>
        </p:nvSpPr>
        <p:spPr>
          <a:xfrm>
            <a:off x="457086" y="5563852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6518-5"/>
          <p:cNvSpPr/>
          <p:nvPr/>
        </p:nvSpPr>
        <p:spPr>
          <a:xfrm>
            <a:off x="457086" y="6089382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520-8"/>
          <p:cNvSpPr txBox="1"/>
          <p:nvPr/>
        </p:nvSpPr>
        <p:spPr>
          <a:xfrm>
            <a:off x="457086" y="244874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520-9"/>
          <p:cNvSpPr txBox="1"/>
          <p:nvPr/>
        </p:nvSpPr>
        <p:spPr>
          <a:xfrm>
            <a:off x="457086" y="468656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数据计算：RG 与 ARG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555-28"/>
          <p:cNvSpPr txBox="1"/>
          <p:nvPr/>
        </p:nvSpPr>
        <p:spPr>
          <a:xfrm>
            <a:off x="628493" y="90848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568-44"/>
          <p:cNvSpPr txBox="1"/>
          <p:nvPr/>
        </p:nvSpPr>
        <p:spPr>
          <a:xfrm>
            <a:off x="628493" y="17607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6568-45"/>
          <p:cNvSpPr txBox="1"/>
          <p:nvPr/>
        </p:nvSpPr>
        <p:spPr>
          <a:xfrm>
            <a:off x="952262" y="1760756"/>
            <a:ext cx="277902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收益缺口，衡量经理"看不见的操作"对收益的贡献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566-39"/>
          <p:cNvSpPr txBox="1"/>
          <p:nvPr/>
        </p:nvSpPr>
        <p:spPr>
          <a:xfrm>
            <a:off x="628493" y="1972039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6569-46"/>
          <p:cNvSpPr txBox="1"/>
          <p:nvPr/>
        </p:nvSpPr>
        <p:spPr>
          <a:xfrm>
            <a:off x="1038709" y="1972039"/>
            <a:ext cx="291904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的实际净值增长率（已包含所有操作）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566-40"/>
          <p:cNvSpPr txBox="1"/>
          <p:nvPr/>
        </p:nvSpPr>
        <p:spPr>
          <a:xfrm>
            <a:off x="628493" y="218332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hold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6569-47"/>
          <p:cNvSpPr txBox="1"/>
          <p:nvPr/>
        </p:nvSpPr>
        <p:spPr>
          <a:xfrm>
            <a:off x="1038709" y="2183322"/>
            <a:ext cx="305786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持仓收益率：用上季度末持仓组合不变计算的理论收益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569-48"/>
          <p:cNvSpPr txBox="1"/>
          <p:nvPr/>
        </p:nvSpPr>
        <p:spPr>
          <a:xfrm>
            <a:off x="628493" y="23946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6569-49"/>
          <p:cNvSpPr txBox="1"/>
          <p:nvPr/>
        </p:nvSpPr>
        <p:spPr>
          <a:xfrm>
            <a:off x="952262" y="2394606"/>
            <a:ext cx="208149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季度索引（如 2024Q1, 2024Q2 等）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567-41"/>
          <p:cNvSpPr txBox="1"/>
          <p:nvPr/>
        </p:nvSpPr>
        <p:spPr>
          <a:xfrm>
            <a:off x="628493" y="26058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6570-50"/>
          <p:cNvSpPr txBox="1"/>
          <p:nvPr/>
        </p:nvSpPr>
        <p:spPr>
          <a:xfrm>
            <a:off x="952262" y="2605889"/>
            <a:ext cx="20481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只股票在上一季度末的持仓权重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567-42"/>
          <p:cNvSpPr txBox="1"/>
          <p:nvPr/>
        </p:nvSpPr>
        <p:spPr>
          <a:xfrm>
            <a:off x="628493" y="281717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6570-51"/>
          <p:cNvSpPr txBox="1"/>
          <p:nvPr/>
        </p:nvSpPr>
        <p:spPr>
          <a:xfrm>
            <a:off x="952262" y="2817172"/>
            <a:ext cx="19093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只股票在时期 t 的个股收益率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56-29"/>
          <p:cNvSpPr txBox="1"/>
          <p:nvPr/>
        </p:nvSpPr>
        <p:spPr>
          <a:xfrm>
            <a:off x="676106" y="3086781"/>
            <a:ext cx="3261556" cy="2029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73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Σ w</a:t>
            </a:r>
            <a:r>
              <a:rPr sz="73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× r</a:t>
            </a:r>
            <a:r>
              <a:rPr sz="73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（按上季度末持仓不变计算的理论收益）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57-30"/>
          <p:cNvSpPr txBox="1"/>
          <p:nvPr/>
        </p:nvSpPr>
        <p:spPr>
          <a:xfrm>
            <a:off x="676106" y="3272472"/>
            <a:ext cx="3467929" cy="1892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 = R</a:t>
            </a:r>
            <a:r>
              <a:rPr sz="73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- R</a:t>
            </a:r>
            <a:r>
              <a:rPr sz="73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（实际收益减去理论收益 = 主动操作贡献）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57-31"/>
          <p:cNvSpPr txBox="1"/>
          <p:nvPr/>
        </p:nvSpPr>
        <p:spPr>
          <a:xfrm>
            <a:off x="6294451" y="90848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6550-19"/>
          <p:cNvSpPr txBox="1"/>
          <p:nvPr/>
        </p:nvSpPr>
        <p:spPr>
          <a:xfrm>
            <a:off x="6294451" y="121796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上季度末持仓：茅台8%、宁德7%、招行5%、现金80%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551-20"/>
          <p:cNvSpPr txBox="1"/>
          <p:nvPr/>
        </p:nvSpPr>
        <p:spPr>
          <a:xfrm>
            <a:off x="6294451" y="141645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本季个股收益：茅台+5%, 宁德+12%, 招行-2%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551-21"/>
          <p:cNvSpPr txBox="1"/>
          <p:nvPr/>
        </p:nvSpPr>
        <p:spPr>
          <a:xfrm>
            <a:off x="6294451" y="161494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0.08×5% + 0.07×12% + 0.05×(-2%) = 0.4%+0.84%-0.1%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1.14%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552-22"/>
          <p:cNvSpPr txBox="1"/>
          <p:nvPr/>
        </p:nvSpPr>
        <p:spPr>
          <a:xfrm>
            <a:off x="6294451" y="18134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基金实际净值增长率 R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2.50%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553-23"/>
          <p:cNvSpPr txBox="1"/>
          <p:nvPr/>
        </p:nvSpPr>
        <p:spPr>
          <a:xfrm>
            <a:off x="6294451" y="201191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RG = 2.50% - 1.14%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1.36%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558-32"/>
          <p:cNvSpPr txBox="1"/>
          <p:nvPr/>
        </p:nvSpPr>
        <p:spPr>
          <a:xfrm>
            <a:off x="6294451" y="2286583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= +1.36% → 经理主动操作（加仓/减仓/择时）贡献了正收益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6558-33"/>
          <p:cNvSpPr txBox="1"/>
          <p:nvPr/>
        </p:nvSpPr>
        <p:spPr>
          <a:xfrm>
            <a:off x="6294451" y="257226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V4实测：RG均值0.93%，H3回归 t=9.20, p&lt;0.001（正向）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558-34"/>
          <p:cNvSpPr txBox="1"/>
          <p:nvPr/>
        </p:nvSpPr>
        <p:spPr>
          <a:xfrm>
            <a:off x="628493" y="3742651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年化收益缺口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6570-52"/>
          <p:cNvSpPr txBox="1"/>
          <p:nvPr/>
        </p:nvSpPr>
        <p:spPr>
          <a:xfrm>
            <a:off x="628493" y="45949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6570-53"/>
          <p:cNvSpPr txBox="1"/>
          <p:nvPr/>
        </p:nvSpPr>
        <p:spPr>
          <a:xfrm>
            <a:off x="952262" y="4594926"/>
            <a:ext cx="249275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年化收益缺口，将季度RG年化便于跨期比较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568-43"/>
          <p:cNvSpPr txBox="1"/>
          <p:nvPr/>
        </p:nvSpPr>
        <p:spPr>
          <a:xfrm>
            <a:off x="628493" y="48062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5" name="el-1785891666570-54"/>
          <p:cNvSpPr txBox="1"/>
          <p:nvPr/>
        </p:nvSpPr>
        <p:spPr>
          <a:xfrm>
            <a:off x="952262" y="4806209"/>
            <a:ext cx="2279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t 季度的收益缺口（如上例的1.36%）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571-55"/>
          <p:cNvSpPr txBox="1"/>
          <p:nvPr/>
        </p:nvSpPr>
        <p:spPr>
          <a:xfrm>
            <a:off x="628493" y="501749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7" name="el-1785891666571-56"/>
          <p:cNvSpPr txBox="1"/>
          <p:nvPr/>
        </p:nvSpPr>
        <p:spPr>
          <a:xfrm>
            <a:off x="952262" y="5017492"/>
            <a:ext cx="176829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年化系数，季度×4，月度×12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571-57"/>
          <p:cNvSpPr txBox="1"/>
          <p:nvPr/>
        </p:nvSpPr>
        <p:spPr>
          <a:xfrm>
            <a:off x="628493" y="5228775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9" name="el-1785891666571-58"/>
          <p:cNvSpPr txBox="1"/>
          <p:nvPr/>
        </p:nvSpPr>
        <p:spPr>
          <a:xfrm>
            <a:off x="952262" y="5228775"/>
            <a:ext cx="288541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滚动窗口包含的期数（如4个季度的滚动窗口 n=4）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558-35"/>
          <p:cNvSpPr txBox="1"/>
          <p:nvPr/>
        </p:nvSpPr>
        <p:spPr>
          <a:xfrm>
            <a:off x="6294451" y="3742651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示例计算（4季度滚动）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6554-24"/>
          <p:cNvSpPr txBox="1"/>
          <p:nvPr/>
        </p:nvSpPr>
        <p:spPr>
          <a:xfrm>
            <a:off x="6294451" y="405213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Q1 RG = +1.36%, Q2 RG = -0.50%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554-25"/>
          <p:cNvSpPr txBox="1"/>
          <p:nvPr/>
        </p:nvSpPr>
        <p:spPr>
          <a:xfrm>
            <a:off x="6294451" y="425062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Q3 RG = +0.80%, Q4 RG = +0.30%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555-26"/>
          <p:cNvSpPr txBox="1"/>
          <p:nvPr/>
        </p:nvSpPr>
        <p:spPr>
          <a:xfrm>
            <a:off x="6294451" y="444911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滚动平均 = (1.36-0.50+0.80+0.30)/4 = 0.49%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555-27"/>
          <p:cNvSpPr txBox="1"/>
          <p:nvPr/>
        </p:nvSpPr>
        <p:spPr>
          <a:xfrm>
            <a:off x="6294451" y="464759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ARG = 0.49% × 4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1.96%/年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559-36"/>
          <p:cNvSpPr txBox="1"/>
          <p:nvPr/>
        </p:nvSpPr>
        <p:spPr>
          <a:xfrm>
            <a:off x="6294451" y="492226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&gt; 0 → 经理主动操作整体增厚收益约2%/年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el-1785891666517-2"/>
          <p:cNvSpPr txBox="1"/>
          <p:nvPr/>
        </p:nvSpPr>
        <p:spPr>
          <a:xfrm>
            <a:off x="580880" y="5611465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东方财富净值API + 全持仓数据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Kacperczyk, Sialm &amp; Zheng (2008) RFS 提出 RG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朱宏志(2012)研究了中国RG有效性，我们发现RG呈1Q动量(t=2.70)+2Q反转(t=-4.46)，vs美股逐渐衰减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518-4"/>
          <p:cNvSpPr txBox="1"/>
          <p:nvPr/>
        </p:nvSpPr>
        <p:spPr>
          <a:xfrm>
            <a:off x="509460" y="6117949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RG→业绩(-, t=-3.67***) | RG在牛市弱负(t=-1.91*)，熊市强负(t=-5.45***) | 高RG(隐形交易多)损害业绩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518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518-7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84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855-11"/>
          <p:cNvSpPr/>
          <p:nvPr/>
        </p:nvSpPr>
        <p:spPr>
          <a:xfrm>
            <a:off x="533267" y="1114408"/>
            <a:ext cx="5994042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856-13"/>
          <p:cNvCxnSpPr/>
          <p:nvPr/>
        </p:nvCxnSpPr>
        <p:spPr>
          <a:xfrm>
            <a:off x="552312" y="1114408"/>
            <a:ext cx="914" cy="3980455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859-17"/>
          <p:cNvSpPr/>
          <p:nvPr/>
        </p:nvSpPr>
        <p:spPr>
          <a:xfrm>
            <a:off x="742764" y="2423769"/>
            <a:ext cx="5603615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6882-24"/>
          <p:cNvPicPr/>
          <p:nvPr/>
        </p:nvPicPr>
        <p:blipFill>
          <a:blip r:embed="rId1"/>
          <a:stretch>
            <a:fillRect/>
          </a:stretch>
        </p:blipFill>
        <p:spPr>
          <a:xfrm>
            <a:off x="1425863" y="2761822"/>
            <a:ext cx="4237268" cy="809423"/>
          </a:xfrm>
          <a:prstGeom prst="rect">
            <a:avLst/>
          </a:prstGeom>
          <a:ln>
            <a:noFill/>
          </a:ln>
        </p:spPr>
      </p:pic>
      <p:sp>
        <p:nvSpPr>
          <p:cNvPr id="7" name="el-1785891666859-18"/>
          <p:cNvSpPr/>
          <p:nvPr/>
        </p:nvSpPr>
        <p:spPr>
          <a:xfrm>
            <a:off x="742764" y="3733129"/>
            <a:ext cx="5603615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855-12"/>
          <p:cNvSpPr/>
          <p:nvPr/>
        </p:nvSpPr>
        <p:spPr>
          <a:xfrm>
            <a:off x="6660625" y="1114408"/>
            <a:ext cx="4995060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6859-19"/>
          <p:cNvSpPr/>
          <p:nvPr/>
        </p:nvSpPr>
        <p:spPr>
          <a:xfrm>
            <a:off x="6841555" y="160482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6859-20"/>
          <p:cNvSpPr/>
          <p:nvPr/>
        </p:nvSpPr>
        <p:spPr>
          <a:xfrm>
            <a:off x="6841555" y="2275126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6860-21"/>
          <p:cNvSpPr/>
          <p:nvPr/>
        </p:nvSpPr>
        <p:spPr>
          <a:xfrm>
            <a:off x="6841555" y="2945430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860-22"/>
          <p:cNvSpPr/>
          <p:nvPr/>
        </p:nvSpPr>
        <p:spPr>
          <a:xfrm>
            <a:off x="6841555" y="361573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F5E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5891666861-23"/>
          <p:cNvCxnSpPr/>
          <p:nvPr/>
        </p:nvCxnSpPr>
        <p:spPr>
          <a:xfrm>
            <a:off x="6855839" y="3615733"/>
            <a:ext cx="914" cy="613167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852-3"/>
          <p:cNvSpPr/>
          <p:nvPr/>
        </p:nvSpPr>
        <p:spPr>
          <a:xfrm>
            <a:off x="533267" y="520913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6852-4"/>
          <p:cNvCxnSpPr/>
          <p:nvPr/>
        </p:nvCxnSpPr>
        <p:spPr>
          <a:xfrm>
            <a:off x="552312" y="520913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6852-6"/>
          <p:cNvSpPr/>
          <p:nvPr/>
        </p:nvSpPr>
        <p:spPr>
          <a:xfrm>
            <a:off x="533267" y="599951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6854-9"/>
          <p:cNvSpPr txBox="1"/>
          <p:nvPr/>
        </p:nvSpPr>
        <p:spPr>
          <a:xfrm>
            <a:off x="533267" y="40125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6854-10"/>
          <p:cNvSpPr txBox="1"/>
          <p:nvPr/>
        </p:nvSpPr>
        <p:spPr>
          <a:xfrm>
            <a:off x="533267" y="65360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858-15"/>
          <p:cNvSpPr txBox="1"/>
          <p:nvPr/>
        </p:nvSpPr>
        <p:spPr>
          <a:xfrm>
            <a:off x="742764" y="1257248"/>
            <a:ext cx="57369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理论依据：寇宗来等 (2020) 金融学季刊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857-14"/>
          <p:cNvSpPr txBox="1"/>
          <p:nvPr/>
        </p:nvSpPr>
        <p:spPr>
          <a:xfrm>
            <a:off x="742764" y="1619107"/>
            <a:ext cx="5603615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业绩极好时经理产生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"乐观自我能力确认"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，主动切换风格追击强势赛道；业绩极差时产生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"自我怀疑"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，模仿绩优基金以求翻盘；业绩居中时因调整成本维持原风格。形成业绩-风格漂移的 U 型关系。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882-25"/>
          <p:cNvSpPr txBox="1"/>
          <p:nvPr/>
        </p:nvSpPr>
        <p:spPr>
          <a:xfrm>
            <a:off x="2970611" y="2509472"/>
            <a:ext cx="124776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 SDI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887-34"/>
          <p:cNvSpPr txBox="1"/>
          <p:nvPr/>
        </p:nvSpPr>
        <p:spPr>
          <a:xfrm>
            <a:off x="857036" y="3828355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888-35"/>
          <p:cNvSpPr txBox="1"/>
          <p:nvPr/>
        </p:nvSpPr>
        <p:spPr>
          <a:xfrm>
            <a:off x="5502883" y="3828355"/>
            <a:ext cx="83587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-0.293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888-36"/>
          <p:cNvSpPr txBox="1"/>
          <p:nvPr/>
        </p:nvSpPr>
        <p:spPr>
          <a:xfrm>
            <a:off x="857036" y="4094988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888-37"/>
          <p:cNvSpPr txBox="1"/>
          <p:nvPr/>
        </p:nvSpPr>
        <p:spPr>
          <a:xfrm>
            <a:off x="5467620" y="4094988"/>
            <a:ext cx="8711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+0.232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888-38"/>
          <p:cNvSpPr txBox="1"/>
          <p:nvPr/>
        </p:nvSpPr>
        <p:spPr>
          <a:xfrm>
            <a:off x="857036" y="4361621"/>
            <a:ext cx="8376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U型对称轴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888-39"/>
          <p:cNvSpPr txBox="1"/>
          <p:nvPr/>
        </p:nvSpPr>
        <p:spPr>
          <a:xfrm>
            <a:off x="5469703" y="4361621"/>
            <a:ext cx="8690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= 0.63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889-40"/>
          <p:cNvSpPr txBox="1"/>
          <p:nvPr/>
        </p:nvSpPr>
        <p:spPr>
          <a:xfrm>
            <a:off x="857036" y="4628255"/>
            <a:ext cx="41152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889-41"/>
          <p:cNvSpPr txBox="1"/>
          <p:nvPr/>
        </p:nvSpPr>
        <p:spPr>
          <a:xfrm>
            <a:off x="5077341" y="4628255"/>
            <a:ext cx="12614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1,579只中国基金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858-16"/>
          <p:cNvSpPr txBox="1"/>
          <p:nvPr/>
        </p:nvSpPr>
        <p:spPr>
          <a:xfrm>
            <a:off x="6841555" y="1257248"/>
            <a:ext cx="475985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三种场景案例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el-1785891666883-26"/>
          <p:cNvSpPr txBox="1"/>
          <p:nvPr/>
        </p:nvSpPr>
        <p:spPr>
          <a:xfrm>
            <a:off x="6955827" y="1681004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场景A：业绩极好 (SDI=0.85)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883-27"/>
          <p:cNvSpPr txBox="1"/>
          <p:nvPr/>
        </p:nvSpPr>
        <p:spPr>
          <a:xfrm>
            <a:off x="6955827" y="1928592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从"金融"切换到"新能源"→追高被套，风格漂移损害业绩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883-28"/>
          <p:cNvSpPr txBox="1"/>
          <p:nvPr/>
        </p:nvSpPr>
        <p:spPr>
          <a:xfrm>
            <a:off x="6955827" y="2351307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场景B：业绩居中 (SDI=0.20)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883-29"/>
          <p:cNvSpPr txBox="1"/>
          <p:nvPr/>
        </p:nvSpPr>
        <p:spPr>
          <a:xfrm>
            <a:off x="6955827" y="2598895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维持消费+科技均衡配置→风格稳定，业绩持续性好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883-30"/>
          <p:cNvSpPr txBox="1"/>
          <p:nvPr/>
        </p:nvSpPr>
        <p:spPr>
          <a:xfrm>
            <a:off x="6955827" y="3021610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场景C：业绩极差 (SDI=0.78)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883-31"/>
          <p:cNvSpPr txBox="1"/>
          <p:nvPr/>
        </p:nvSpPr>
        <p:spPr>
          <a:xfrm>
            <a:off x="6955827" y="3269199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模仿明星基金重仓半导体→风格混乱，加重亏损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884-32"/>
          <p:cNvSpPr txBox="1"/>
          <p:nvPr/>
        </p:nvSpPr>
        <p:spPr>
          <a:xfrm>
            <a:off x="6984394" y="3691914"/>
            <a:ext cx="4482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最优策略 (SDI≈0.63)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884-33"/>
          <p:cNvSpPr txBox="1"/>
          <p:nvPr/>
        </p:nvSpPr>
        <p:spPr>
          <a:xfrm>
            <a:off x="6984394" y="3939502"/>
            <a:ext cx="4482743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适度调整行业权重，不大幅切换风格→业绩持续性最强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851-2"/>
          <p:cNvSpPr txBox="1"/>
          <p:nvPr/>
        </p:nvSpPr>
        <p:spPr>
          <a:xfrm>
            <a:off x="723719" y="530436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阶段用行业配置数据近似计算 SDI（已验证，均值~0.20）；2.0 阶段用四类风格指数（大/小盘×成长/价值）精确计算并验证 U 型关系；3.0 阶段加入市场状态交互项（牛熊市分组已发现 ICI 效应放大100倍）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852-5"/>
          <p:cNvSpPr txBox="1"/>
          <p:nvPr/>
        </p:nvSpPr>
        <p:spPr>
          <a:xfrm>
            <a:off x="572309" y="606617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揭示"经理怎么应对风险" | 漂移极小或极大都损害业绩，适度稳定(SDI≈0.63)最优 | 为 H4 假设提供理论依据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852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853-8"/>
          <p:cNvSpPr txBox="1"/>
          <p:nvPr/>
        </p:nvSpPr>
        <p:spPr>
          <a:xfrm>
            <a:off x="11453181" y="6519090"/>
            <a:ext cx="21297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97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987-14"/>
          <p:cNvSpPr/>
          <p:nvPr/>
        </p:nvSpPr>
        <p:spPr>
          <a:xfrm>
            <a:off x="457086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988-17"/>
          <p:cNvCxnSpPr/>
          <p:nvPr/>
        </p:nvCxnSpPr>
        <p:spPr>
          <a:xfrm>
            <a:off x="476131" y="1152945"/>
            <a:ext cx="914" cy="269490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7009-18"/>
          <p:cNvPicPr/>
          <p:nvPr/>
        </p:nvPicPr>
        <p:blipFill>
          <a:blip r:embed="rId1"/>
          <a:stretch>
            <a:fillRect/>
          </a:stretch>
        </p:blipFill>
        <p:spPr>
          <a:xfrm>
            <a:off x="1965379" y="1538611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6" name="el-1785891666987-15"/>
          <p:cNvSpPr/>
          <p:nvPr/>
        </p:nvSpPr>
        <p:spPr>
          <a:xfrm>
            <a:off x="6151612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016-37"/>
          <p:cNvCxnSpPr/>
          <p:nvPr/>
        </p:nvCxnSpPr>
        <p:spPr>
          <a:xfrm>
            <a:off x="6294451" y="2970873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988-16"/>
          <p:cNvSpPr/>
          <p:nvPr/>
        </p:nvSpPr>
        <p:spPr>
          <a:xfrm>
            <a:off x="457086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3E0"/>
          </a:solidFill>
          <a:ln w="9523" algn="in">
            <a:solidFill>
              <a:srgbClr val="E65100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17-38"/>
          <p:cNvCxnSpPr/>
          <p:nvPr/>
        </p:nvCxnSpPr>
        <p:spPr>
          <a:xfrm>
            <a:off x="599925" y="5325935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984-6"/>
          <p:cNvSpPr/>
          <p:nvPr/>
        </p:nvSpPr>
        <p:spPr>
          <a:xfrm>
            <a:off x="6151612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6981-3"/>
          <p:cNvSpPr/>
          <p:nvPr/>
        </p:nvSpPr>
        <p:spPr>
          <a:xfrm>
            <a:off x="457086" y="57592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985-7"/>
          <p:cNvSpPr txBox="1"/>
          <p:nvPr/>
        </p:nvSpPr>
        <p:spPr>
          <a:xfrm>
            <a:off x="457086" y="5750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6985-8"/>
          <p:cNvSpPr txBox="1"/>
          <p:nvPr/>
        </p:nvSpPr>
        <p:spPr>
          <a:xfrm>
            <a:off x="457086" y="798823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数据计算：SDI 风格漂移指数公式详解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013-25"/>
          <p:cNvSpPr txBox="1"/>
          <p:nvPr/>
        </p:nvSpPr>
        <p:spPr>
          <a:xfrm>
            <a:off x="628493" y="1238649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风格漂移指数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7023-41"/>
          <p:cNvSpPr txBox="1"/>
          <p:nvPr/>
        </p:nvSpPr>
        <p:spPr>
          <a:xfrm>
            <a:off x="628493" y="20909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SDI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" name="el-1785891667023-42"/>
          <p:cNvSpPr txBox="1"/>
          <p:nvPr/>
        </p:nvSpPr>
        <p:spPr>
          <a:xfrm>
            <a:off x="952262" y="2090923"/>
            <a:ext cx="327360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风格漂移指数，取值 [0, 1]。0=风格完全不变，1=完全切换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23-43"/>
          <p:cNvSpPr txBox="1"/>
          <p:nvPr/>
        </p:nvSpPr>
        <p:spPr>
          <a:xfrm>
            <a:off x="628493" y="23022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023-44"/>
          <p:cNvSpPr txBox="1"/>
          <p:nvPr/>
        </p:nvSpPr>
        <p:spPr>
          <a:xfrm>
            <a:off x="952262" y="2302206"/>
            <a:ext cx="1414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当前季度（如 2024Q1）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024-45"/>
          <p:cNvSpPr txBox="1"/>
          <p:nvPr/>
        </p:nvSpPr>
        <p:spPr>
          <a:xfrm>
            <a:off x="628493" y="25134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024-46"/>
          <p:cNvSpPr txBox="1"/>
          <p:nvPr/>
        </p:nvSpPr>
        <p:spPr>
          <a:xfrm>
            <a:off x="952262" y="2513489"/>
            <a:ext cx="14247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上一季度（如 2023Q4）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24-47"/>
          <p:cNvSpPr txBox="1"/>
          <p:nvPr/>
        </p:nvSpPr>
        <p:spPr>
          <a:xfrm>
            <a:off x="628493" y="272477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024-48"/>
          <p:cNvSpPr txBox="1"/>
          <p:nvPr/>
        </p:nvSpPr>
        <p:spPr>
          <a:xfrm>
            <a:off x="952262" y="2724773"/>
            <a:ext cx="428702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k 个风格类别的索引（大盘成长、大盘价值、小盘成长、小盘价值 共4类）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22-39"/>
          <p:cNvSpPr txBox="1"/>
          <p:nvPr/>
        </p:nvSpPr>
        <p:spPr>
          <a:xfrm>
            <a:off x="628493" y="29360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024-49"/>
          <p:cNvSpPr txBox="1"/>
          <p:nvPr/>
        </p:nvSpPr>
        <p:spPr>
          <a:xfrm>
            <a:off x="952262" y="2936056"/>
            <a:ext cx="21910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23-40"/>
          <p:cNvSpPr txBox="1"/>
          <p:nvPr/>
        </p:nvSpPr>
        <p:spPr>
          <a:xfrm>
            <a:off x="628493" y="3147339"/>
            <a:ext cx="3840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7025-50"/>
          <p:cNvSpPr txBox="1"/>
          <p:nvPr/>
        </p:nvSpPr>
        <p:spPr>
          <a:xfrm>
            <a:off x="983062" y="3147339"/>
            <a:ext cx="229084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t-1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025-51"/>
          <p:cNvSpPr txBox="1"/>
          <p:nvPr/>
        </p:nvSpPr>
        <p:spPr>
          <a:xfrm>
            <a:off x="628493" y="335862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7025-52"/>
          <p:cNvSpPr txBox="1"/>
          <p:nvPr/>
        </p:nvSpPr>
        <p:spPr>
          <a:xfrm>
            <a:off x="952262" y="3358622"/>
            <a:ext cx="14635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风格类别总数，本文 K=4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025-53"/>
          <p:cNvSpPr txBox="1"/>
          <p:nvPr/>
        </p:nvSpPr>
        <p:spPr>
          <a:xfrm>
            <a:off x="628493" y="3569905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7025-54"/>
          <p:cNvSpPr txBox="1"/>
          <p:nvPr/>
        </p:nvSpPr>
        <p:spPr>
          <a:xfrm>
            <a:off x="952262" y="3569905"/>
            <a:ext cx="254319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系数，与AS相同，买卖两侧各算一次需除以2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13-26"/>
          <p:cNvSpPr txBox="1"/>
          <p:nvPr/>
        </p:nvSpPr>
        <p:spPr>
          <a:xfrm>
            <a:off x="6294451" y="1238649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示例计算（4类风格简化）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010-19"/>
          <p:cNvSpPr txBox="1"/>
          <p:nvPr/>
        </p:nvSpPr>
        <p:spPr>
          <a:xfrm>
            <a:off x="6294451" y="154813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13-27"/>
          <p:cNvSpPr txBox="1"/>
          <p:nvPr/>
        </p:nvSpPr>
        <p:spPr>
          <a:xfrm>
            <a:off x="6294451" y="174662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50%, 大盘价值 30%, 小盘成长 10%,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11-20"/>
          <p:cNvSpPr txBox="1"/>
          <p:nvPr/>
        </p:nvSpPr>
        <p:spPr>
          <a:xfrm>
            <a:off x="6294451" y="194510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13-28"/>
          <p:cNvSpPr txBox="1"/>
          <p:nvPr/>
        </p:nvSpPr>
        <p:spPr>
          <a:xfrm>
            <a:off x="6294451" y="2143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20%, 大盘价值 20%, 小盘成长 50%,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11-21"/>
          <p:cNvSpPr txBox="1"/>
          <p:nvPr/>
        </p:nvSpPr>
        <p:spPr>
          <a:xfrm>
            <a:off x="6294451" y="23420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逐类计算 |Δw|：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14-29"/>
          <p:cNvSpPr txBox="1"/>
          <p:nvPr/>
        </p:nvSpPr>
        <p:spPr>
          <a:xfrm>
            <a:off x="6294451" y="25405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|50%-20%| + |30%-20%| + |10%-50%| + |10%-10%|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014-30"/>
          <p:cNvSpPr txBox="1"/>
          <p:nvPr/>
        </p:nvSpPr>
        <p:spPr>
          <a:xfrm>
            <a:off x="6294451" y="273905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= 30% + 10% + 40% + 0% = 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014-31"/>
          <p:cNvSpPr txBox="1"/>
          <p:nvPr/>
        </p:nvSpPr>
        <p:spPr>
          <a:xfrm>
            <a:off x="6294451" y="3013725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= 1/2 × 80% = 0.40 → 中等风格漂移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014-32"/>
          <p:cNvSpPr txBox="1"/>
          <p:nvPr/>
        </p:nvSpPr>
        <p:spPr>
          <a:xfrm>
            <a:off x="6294451" y="329940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V4(400基金)实测：SDI均值0.15，负向显著(t=-7.69***)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014-33"/>
          <p:cNvSpPr txBox="1"/>
          <p:nvPr/>
        </p:nvSpPr>
        <p:spPr>
          <a:xfrm>
            <a:off x="599925" y="3990686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V4验证结果（400基金全持仓）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7014-34"/>
          <p:cNvSpPr txBox="1"/>
          <p:nvPr/>
        </p:nvSpPr>
        <p:spPr>
          <a:xfrm>
            <a:off x="599925" y="430017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V4单变量回归：SDI→未来业绩 t=-0.30 (p=0.76)，不显著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015-35"/>
          <p:cNvSpPr txBox="1"/>
          <p:nvPr/>
        </p:nvSpPr>
        <p:spPr>
          <a:xfrm>
            <a:off x="599925" y="449865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V4全模型：SDI β=-0.002, t=-0.25，控制其他指标后仍不显著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012-22"/>
          <p:cNvSpPr txBox="1"/>
          <p:nvPr/>
        </p:nvSpPr>
        <p:spPr>
          <a:xfrm>
            <a:off x="599925" y="469714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V4用31个申万一级行业分类(vs V2用4类风格)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7012-23"/>
          <p:cNvSpPr txBox="1"/>
          <p:nvPr/>
        </p:nvSpPr>
        <p:spPr>
          <a:xfrm>
            <a:off x="599925" y="489563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 SDI均值33.4（行业维度，量纲不同）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012-24"/>
          <p:cNvSpPr txBox="1"/>
          <p:nvPr/>
        </p:nvSpPr>
        <p:spPr>
          <a:xfrm>
            <a:off x="599925" y="509411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V2发现U型效应(β₁=-0.293, β₂=+0.232)，需在V4验证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015-36"/>
          <p:cNvSpPr txBox="1"/>
          <p:nvPr/>
        </p:nvSpPr>
        <p:spPr>
          <a:xfrm>
            <a:off x="599925" y="5368787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V4结论：SDI预测力弱，可能被OCI吸收 → 风格漂移本身不是核心问题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8" name="el-1785891666985-9"/>
          <p:cNvSpPr txBox="1"/>
          <p:nvPr/>
        </p:nvSpPr>
        <p:spPr>
          <a:xfrm>
            <a:off x="6275406" y="3943073"/>
            <a:ext cx="383853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申万一级行业分类 + 基金行业配置数据（东方财富）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986-10"/>
          <p:cNvSpPr txBox="1"/>
          <p:nvPr/>
        </p:nvSpPr>
        <p:spPr>
          <a:xfrm>
            <a:off x="6275406" y="4129656"/>
            <a:ext cx="328458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金融学季刊，1,579只中国基金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986-11"/>
          <p:cNvSpPr txBox="1"/>
          <p:nvPr/>
        </p:nvSpPr>
        <p:spPr>
          <a:xfrm>
            <a:off x="6275406" y="4316240"/>
            <a:ext cx="378036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31个行业分类，SDI均值33.4，不显著(t=-0.30)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986-12"/>
          <p:cNvSpPr txBox="1"/>
          <p:nvPr/>
        </p:nvSpPr>
        <p:spPr>
          <a:xfrm>
            <a:off x="6275406" y="4502824"/>
            <a:ext cx="38000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V2(200基金)：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4类风格，U型效应显著(β₁=-0.293, β₂=+0.232)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986-13"/>
          <p:cNvSpPr txBox="1"/>
          <p:nvPr/>
        </p:nvSpPr>
        <p:spPr>
          <a:xfrm>
            <a:off x="6275406" y="4689408"/>
            <a:ext cx="3083573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差异原因：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V4用行业维度+OCI吸收了SDI的预测力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980-2"/>
          <p:cNvSpPr txBox="1"/>
          <p:nvPr/>
        </p:nvSpPr>
        <p:spPr>
          <a:xfrm>
            <a:off x="509460" y="5787782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SDI在400基金中不显著(t=-0.30) | V2(200基金)发现U型效应但需用风格维度验证 | OCI(过度交易)吸收了SDI的预测力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981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981-5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03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042-11"/>
          <p:cNvSpPr/>
          <p:nvPr/>
        </p:nvSpPr>
        <p:spPr>
          <a:xfrm>
            <a:off x="533267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043-13"/>
          <p:cNvCxnSpPr/>
          <p:nvPr/>
        </p:nvCxnSpPr>
        <p:spPr>
          <a:xfrm>
            <a:off x="552312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047-21"/>
          <p:cNvSpPr/>
          <p:nvPr/>
        </p:nvSpPr>
        <p:spPr>
          <a:xfrm>
            <a:off x="742764" y="2321549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7066-25"/>
          <p:cNvPicPr/>
          <p:nvPr/>
        </p:nvPicPr>
        <p:blipFill>
          <a:blip r:embed="rId1"/>
          <a:stretch>
            <a:fillRect/>
          </a:stretch>
        </p:blipFill>
        <p:spPr>
          <a:xfrm>
            <a:off x="1143607" y="2659602"/>
            <a:ext cx="4302289" cy="809423"/>
          </a:xfrm>
          <a:prstGeom prst="rect">
            <a:avLst/>
          </a:prstGeom>
          <a:ln>
            <a:noFill/>
          </a:ln>
        </p:spPr>
      </p:pic>
      <p:sp>
        <p:nvSpPr>
          <p:cNvPr id="7" name="el-1785891667048-22"/>
          <p:cNvSpPr/>
          <p:nvPr/>
        </p:nvSpPr>
        <p:spPr>
          <a:xfrm>
            <a:off x="742764" y="3630909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7042-12"/>
          <p:cNvSpPr/>
          <p:nvPr/>
        </p:nvSpPr>
        <p:spPr>
          <a:xfrm>
            <a:off x="6161134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43-14"/>
          <p:cNvCxnSpPr/>
          <p:nvPr/>
        </p:nvCxnSpPr>
        <p:spPr>
          <a:xfrm>
            <a:off x="6180180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048-23"/>
          <p:cNvSpPr/>
          <p:nvPr/>
        </p:nvSpPr>
        <p:spPr>
          <a:xfrm>
            <a:off x="6370632" y="256437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11" name="el-1785891667081-26"/>
          <p:cNvPicPr/>
          <p:nvPr/>
        </p:nvPicPr>
        <p:blipFill>
          <a:blip r:embed="rId2"/>
          <a:stretch>
            <a:fillRect/>
          </a:stretch>
        </p:blipFill>
        <p:spPr>
          <a:xfrm>
            <a:off x="6771475" y="2902429"/>
            <a:ext cx="4302289" cy="809423"/>
          </a:xfrm>
          <a:prstGeom prst="rect">
            <a:avLst/>
          </a:prstGeom>
          <a:ln>
            <a:noFill/>
          </a:ln>
        </p:spPr>
      </p:pic>
      <p:sp>
        <p:nvSpPr>
          <p:cNvPr id="12" name="el-1785891667048-24"/>
          <p:cNvSpPr/>
          <p:nvPr/>
        </p:nvSpPr>
        <p:spPr>
          <a:xfrm>
            <a:off x="6370632" y="3873736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038-3"/>
          <p:cNvSpPr/>
          <p:nvPr/>
        </p:nvSpPr>
        <p:spPr>
          <a:xfrm>
            <a:off x="533267" y="5349742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7038-4"/>
          <p:cNvCxnSpPr/>
          <p:nvPr/>
        </p:nvCxnSpPr>
        <p:spPr>
          <a:xfrm>
            <a:off x="552312" y="5349742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7039-6"/>
          <p:cNvSpPr/>
          <p:nvPr/>
        </p:nvSpPr>
        <p:spPr>
          <a:xfrm>
            <a:off x="533267" y="6140119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7041-9"/>
          <p:cNvSpPr txBox="1"/>
          <p:nvPr/>
        </p:nvSpPr>
        <p:spPr>
          <a:xfrm>
            <a:off x="533267" y="26094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41-10"/>
          <p:cNvSpPr txBox="1"/>
          <p:nvPr/>
        </p:nvSpPr>
        <p:spPr>
          <a:xfrm>
            <a:off x="533267" y="51329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认知行为层：前景理论与不可预测性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045-17"/>
          <p:cNvSpPr txBox="1"/>
          <p:nvPr/>
        </p:nvSpPr>
        <p:spPr>
          <a:xfrm>
            <a:off x="742764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过度自信指数 OCI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7046-18"/>
          <p:cNvSpPr txBox="1"/>
          <p:nvPr/>
        </p:nvSpPr>
        <p:spPr>
          <a:xfrm>
            <a:off x="742764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 Econometrica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045-15"/>
          <p:cNvSpPr txBox="1"/>
          <p:nvPr/>
        </p:nvSpPr>
        <p:spPr>
          <a:xfrm>
            <a:off x="742764" y="175971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前景理论核心：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损失厌恶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（损失敏感度约为收益2.25倍）、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参考点依赖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敏感性递减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。OCI 用换手率偏离度衡量过度自信。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85-31"/>
          <p:cNvSpPr txBox="1"/>
          <p:nvPr/>
        </p:nvSpPr>
        <p:spPr>
          <a:xfrm>
            <a:off x="2996352" y="2407253"/>
            <a:ext cx="69678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085-32"/>
          <p:cNvSpPr txBox="1"/>
          <p:nvPr/>
        </p:nvSpPr>
        <p:spPr>
          <a:xfrm>
            <a:off x="857036" y="3707090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82-27"/>
          <p:cNvSpPr txBox="1"/>
          <p:nvPr/>
        </p:nvSpPr>
        <p:spPr>
          <a:xfrm>
            <a:off x="857036" y="399276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基金季度换手率: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083-28"/>
          <p:cNvSpPr txBox="1"/>
          <p:nvPr/>
        </p:nvSpPr>
        <p:spPr>
          <a:xfrm>
            <a:off x="857036" y="425940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同类基金换手率中位数: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84-29"/>
          <p:cNvSpPr txBox="1"/>
          <p:nvPr/>
        </p:nvSpPr>
        <p:spPr>
          <a:xfrm>
            <a:off x="857036" y="452603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OCI = |280%-150%|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1.30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046-19"/>
          <p:cNvSpPr txBox="1"/>
          <p:nvPr/>
        </p:nvSpPr>
        <p:spPr>
          <a:xfrm>
            <a:off x="6370632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不可预测性分数 PS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046-20"/>
          <p:cNvSpPr txBox="1"/>
          <p:nvPr/>
        </p:nvSpPr>
        <p:spPr>
          <a:xfrm>
            <a:off x="6370632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本文构建（基于Berk &amp; Green 2004理性预期框架）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045-16"/>
          <p:cNvSpPr txBox="1"/>
          <p:nvPr/>
        </p:nvSpPr>
        <p:spPr>
          <a:xfrm>
            <a:off x="6370632" y="1759715"/>
            <a:ext cx="5104124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用Logistic回归预测经理下季度交易方向。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难以被预测的经理可能具有更强的私有信息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，不可预测性本身可能是Alpha来源（基于Berk &amp; Green 2004理性预期理论推演）。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086-33"/>
          <p:cNvSpPr txBox="1"/>
          <p:nvPr/>
        </p:nvSpPr>
        <p:spPr>
          <a:xfrm>
            <a:off x="8670940" y="2650080"/>
            <a:ext cx="603347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086-34"/>
          <p:cNvSpPr txBox="1"/>
          <p:nvPr/>
        </p:nvSpPr>
        <p:spPr>
          <a:xfrm>
            <a:off x="6484903" y="394991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87-35"/>
          <p:cNvSpPr txBox="1"/>
          <p:nvPr/>
        </p:nvSpPr>
        <p:spPr>
          <a:xfrm>
            <a:off x="6484903" y="423559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LSTM 预测加仓白酒 → 实际减仓 → 错误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7087-36"/>
          <p:cNvSpPr txBox="1"/>
          <p:nvPr/>
        </p:nvSpPr>
        <p:spPr>
          <a:xfrm>
            <a:off x="6484903" y="450222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多次预测，准确率 = 72%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84-30"/>
          <p:cNvSpPr txBox="1"/>
          <p:nvPr/>
        </p:nvSpPr>
        <p:spPr>
          <a:xfrm>
            <a:off x="6484903" y="476886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PS = 1 - 0.72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0.28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38-2"/>
          <p:cNvSpPr txBox="1"/>
          <p:nvPr/>
        </p:nvSpPr>
        <p:spPr>
          <a:xfrm>
            <a:off x="723719" y="5444968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阶段仅用 OCI（换手率偏离度，H5通过 p=0.003）；2.0 阶段加入 LA（损失厌恶指数，用处置效应代理）；3.0 阶段用 LSTM 神经网络替代 Logistic 计算 PS（提升预测精度）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39-5"/>
          <p:cNvSpPr txBox="1"/>
          <p:nvPr/>
        </p:nvSpPr>
        <p:spPr>
          <a:xfrm>
            <a:off x="572309" y="6206778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OCI=|RG|作为ARG代理(申宇2013) | OCI均值0.028, 正向预测(t=4.40***) | 交易活跃度与未来业绩正相关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39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39-8"/>
          <p:cNvSpPr txBox="1"/>
          <p:nvPr/>
        </p:nvSpPr>
        <p:spPr>
          <a:xfrm>
            <a:off x="11451544" y="6519090"/>
            <a:ext cx="2146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115-10"/>
          <p:cNvSpPr/>
          <p:nvPr/>
        </p:nvSpPr>
        <p:spPr>
          <a:xfrm>
            <a:off x="457086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116-14"/>
          <p:cNvCxnSpPr/>
          <p:nvPr/>
        </p:nvCxnSpPr>
        <p:spPr>
          <a:xfrm>
            <a:off x="476131" y="1103993"/>
            <a:ext cx="914" cy="202117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7130-16"/>
          <p:cNvPicPr/>
          <p:nvPr/>
        </p:nvPicPr>
        <p:blipFill>
          <a:blip r:embed="rId1"/>
          <a:stretch>
            <a:fillRect/>
          </a:stretch>
        </p:blipFill>
        <p:spPr>
          <a:xfrm>
            <a:off x="1695770" y="1489659"/>
            <a:ext cx="3131305" cy="476131"/>
          </a:xfrm>
          <a:prstGeom prst="rect">
            <a:avLst/>
          </a:prstGeom>
          <a:ln>
            <a:noFill/>
          </a:ln>
        </p:spPr>
      </p:pic>
      <p:sp>
        <p:nvSpPr>
          <p:cNvPr id="6" name="el-1785891667116-11"/>
          <p:cNvSpPr/>
          <p:nvPr/>
        </p:nvSpPr>
        <p:spPr>
          <a:xfrm>
            <a:off x="6151612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139-37"/>
          <p:cNvCxnSpPr/>
          <p:nvPr/>
        </p:nvCxnSpPr>
        <p:spPr>
          <a:xfrm>
            <a:off x="6294451" y="2326459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7116-12"/>
          <p:cNvSpPr/>
          <p:nvPr/>
        </p:nvSpPr>
        <p:spPr>
          <a:xfrm>
            <a:off x="457086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117-15"/>
          <p:cNvCxnSpPr/>
          <p:nvPr/>
        </p:nvCxnSpPr>
        <p:spPr>
          <a:xfrm>
            <a:off x="476131" y="3182305"/>
            <a:ext cx="914" cy="20241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116-13"/>
          <p:cNvSpPr/>
          <p:nvPr/>
        </p:nvSpPr>
        <p:spPr>
          <a:xfrm>
            <a:off x="6151612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7139-38"/>
          <p:cNvCxnSpPr/>
          <p:nvPr/>
        </p:nvCxnSpPr>
        <p:spPr>
          <a:xfrm>
            <a:off x="6294451" y="460325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7112-3"/>
          <p:cNvSpPr/>
          <p:nvPr/>
        </p:nvSpPr>
        <p:spPr>
          <a:xfrm>
            <a:off x="457086" y="5263592"/>
            <a:ext cx="11274781" cy="4874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7112-5"/>
          <p:cNvSpPr/>
          <p:nvPr/>
        </p:nvSpPr>
        <p:spPr>
          <a:xfrm>
            <a:off x="457086" y="5808167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7115-8"/>
          <p:cNvSpPr txBox="1"/>
          <p:nvPr/>
        </p:nvSpPr>
        <p:spPr>
          <a:xfrm>
            <a:off x="457086" y="526089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115-9"/>
          <p:cNvSpPr txBox="1"/>
          <p:nvPr/>
        </p:nvSpPr>
        <p:spPr>
          <a:xfrm>
            <a:off x="457086" y="749871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7135-24"/>
          <p:cNvSpPr txBox="1"/>
          <p:nvPr/>
        </p:nvSpPr>
        <p:spPr>
          <a:xfrm>
            <a:off x="628493" y="1189697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过度自信指数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7145-42"/>
          <p:cNvSpPr txBox="1"/>
          <p:nvPr/>
        </p:nvSpPr>
        <p:spPr>
          <a:xfrm>
            <a:off x="628493" y="2022926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OCI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145-43"/>
          <p:cNvSpPr txBox="1"/>
          <p:nvPr/>
        </p:nvSpPr>
        <p:spPr>
          <a:xfrm>
            <a:off x="1161759" y="2022926"/>
            <a:ext cx="26473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过度自信指数，取值 [0, +∞)。越大越过度自信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144-39"/>
          <p:cNvSpPr txBox="1"/>
          <p:nvPr/>
        </p:nvSpPr>
        <p:spPr>
          <a:xfrm>
            <a:off x="628493" y="2234209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i,t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146-44"/>
          <p:cNvSpPr txBox="1"/>
          <p:nvPr/>
        </p:nvSpPr>
        <p:spPr>
          <a:xfrm>
            <a:off x="1161759" y="2234209"/>
            <a:ext cx="342954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 i 在季度 t 的实际换手率（= 买入额+卖出额 / 平均资产）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145-40"/>
          <p:cNvSpPr txBox="1"/>
          <p:nvPr/>
        </p:nvSpPr>
        <p:spPr>
          <a:xfrm>
            <a:off x="628493" y="2445492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TŌ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146-45"/>
          <p:cNvSpPr txBox="1"/>
          <p:nvPr/>
        </p:nvSpPr>
        <p:spPr>
          <a:xfrm>
            <a:off x="1161759" y="2445492"/>
            <a:ext cx="267145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同类基金在季度 t 的平均换手率（横截面均值）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146-46"/>
          <p:cNvSpPr txBox="1"/>
          <p:nvPr/>
        </p:nvSpPr>
        <p:spPr>
          <a:xfrm>
            <a:off x="628493" y="265677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σ(TO)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146-47"/>
          <p:cNvSpPr txBox="1"/>
          <p:nvPr/>
        </p:nvSpPr>
        <p:spPr>
          <a:xfrm>
            <a:off x="1161759" y="2656775"/>
            <a:ext cx="2562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同类基金换手率的横截面标准差，用于标准化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135-25"/>
          <p:cNvSpPr txBox="1"/>
          <p:nvPr/>
        </p:nvSpPr>
        <p:spPr>
          <a:xfrm>
            <a:off x="628493" y="2868058"/>
            <a:ext cx="5345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OCI&gt;0 = 过度自信(交易频繁) | OCI&lt;0 = 谨慎(交易少)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135-26"/>
          <p:cNvSpPr txBox="1"/>
          <p:nvPr/>
        </p:nvSpPr>
        <p:spPr>
          <a:xfrm>
            <a:off x="6294451" y="1189697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131-17"/>
          <p:cNvSpPr txBox="1"/>
          <p:nvPr/>
        </p:nvSpPr>
        <p:spPr>
          <a:xfrm>
            <a:off x="6294451" y="14991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基金A本季换手率 TO</a:t>
            </a:r>
            <a:r>
              <a:rPr sz="730" baseline="-25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180%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131-18"/>
          <p:cNvSpPr txBox="1"/>
          <p:nvPr/>
        </p:nvSpPr>
        <p:spPr>
          <a:xfrm>
            <a:off x="6294451" y="16976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同类基金均值 TŌ = 120%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132-19"/>
          <p:cNvSpPr txBox="1"/>
          <p:nvPr/>
        </p:nvSpPr>
        <p:spPr>
          <a:xfrm>
            <a:off x="6294451" y="189615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同类基金标准差 σ(TO) = 50%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133-20"/>
          <p:cNvSpPr txBox="1"/>
          <p:nvPr/>
        </p:nvSpPr>
        <p:spPr>
          <a:xfrm>
            <a:off x="6294451" y="209464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OCI = (180% - 120%) / 50% = 60/50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136-27"/>
          <p:cNvSpPr txBox="1"/>
          <p:nvPr/>
        </p:nvSpPr>
        <p:spPr>
          <a:xfrm>
            <a:off x="6294451" y="2369311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= 1.20 &gt; 0 → 该经理过度自信，交易频率远超同行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136-28"/>
          <p:cNvSpPr txBox="1"/>
          <p:nvPr/>
        </p:nvSpPr>
        <p:spPr>
          <a:xfrm>
            <a:off x="6294451" y="265499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对比：基金B换手率90% → OCI = (90-120)/50 = -0.60 → 谨慎型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136-29"/>
          <p:cNvSpPr txBox="1"/>
          <p:nvPr/>
        </p:nvSpPr>
        <p:spPr>
          <a:xfrm>
            <a:off x="628493" y="326800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行为风格画像 — 公式说明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7137-30"/>
          <p:cNvSpPr txBox="1"/>
          <p:nvPr/>
        </p:nvSpPr>
        <p:spPr>
          <a:xfrm>
            <a:off x="628493" y="3596539"/>
            <a:ext cx="217832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= Logistic(L1~L5 → 行为标签)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137-31"/>
          <p:cNvSpPr txBox="1"/>
          <p:nvPr/>
        </p:nvSpPr>
        <p:spPr>
          <a:xfrm>
            <a:off x="628493" y="3783122"/>
            <a:ext cx="431437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输入：五层指标 | 模型：1.0用Logistic, 3.0升级LSTM | 输出：行为标签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146-48"/>
          <p:cNvSpPr txBox="1"/>
          <p:nvPr/>
        </p:nvSpPr>
        <p:spPr>
          <a:xfrm>
            <a:off x="628493" y="403636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7" name="el-1785891667147-49"/>
          <p:cNvSpPr txBox="1"/>
          <p:nvPr/>
        </p:nvSpPr>
        <p:spPr>
          <a:xfrm>
            <a:off x="1161759" y="4036365"/>
            <a:ext cx="194371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行为风格画像得分，多维概率向量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147-50"/>
          <p:cNvSpPr txBox="1"/>
          <p:nvPr/>
        </p:nvSpPr>
        <p:spPr>
          <a:xfrm>
            <a:off x="628493" y="4247648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L1~L5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9" name="el-1785891667147-51"/>
          <p:cNvSpPr txBox="1"/>
          <p:nvPr/>
        </p:nvSpPr>
        <p:spPr>
          <a:xfrm>
            <a:off x="1161759" y="4247648"/>
            <a:ext cx="13247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五层指标作为特征输入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7147-52"/>
          <p:cNvSpPr txBox="1"/>
          <p:nvPr/>
        </p:nvSpPr>
        <p:spPr>
          <a:xfrm>
            <a:off x="628493" y="4458931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1" name="el-1785891667147-53"/>
          <p:cNvSpPr txBox="1"/>
          <p:nvPr/>
        </p:nvSpPr>
        <p:spPr>
          <a:xfrm>
            <a:off x="1161759" y="4458931"/>
            <a:ext cx="192243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Logistic回归系数，从数据中学习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147-54"/>
          <p:cNvSpPr txBox="1"/>
          <p:nvPr/>
        </p:nvSpPr>
        <p:spPr>
          <a:xfrm>
            <a:off x="628493" y="4670214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7145-41"/>
          <p:cNvSpPr txBox="1"/>
          <p:nvPr/>
        </p:nvSpPr>
        <p:spPr>
          <a:xfrm>
            <a:off x="1161759" y="4670214"/>
            <a:ext cx="17864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Sigmoid函数：σ(z) = 1/(1+e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-z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137-32"/>
          <p:cNvSpPr txBox="1"/>
          <p:nvPr/>
        </p:nvSpPr>
        <p:spPr>
          <a:xfrm>
            <a:off x="6294451" y="326800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示例（Logistic分类）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133-21"/>
          <p:cNvSpPr txBox="1"/>
          <p:nvPr/>
        </p:nvSpPr>
        <p:spPr>
          <a:xfrm>
            <a:off x="6294451" y="357749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经理A五层指标：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137-33"/>
          <p:cNvSpPr txBox="1"/>
          <p:nvPr/>
        </p:nvSpPr>
        <p:spPr>
          <a:xfrm>
            <a:off x="6294451" y="377598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L1: RPI=0.51(高压), L2: AS=0.68(低), ICI=0.15(高)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137-34"/>
          <p:cNvSpPr txBox="1"/>
          <p:nvPr/>
        </p:nvSpPr>
        <p:spPr>
          <a:xfrm>
            <a:off x="6294451" y="397446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L3: RG=-0.3%(负), L4: SDI=0.35(中等), L5: OCI=0.8(偏高)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134-22"/>
          <p:cNvSpPr txBox="1"/>
          <p:nvPr/>
        </p:nvSpPr>
        <p:spPr>
          <a:xfrm>
            <a:off x="6294451" y="417295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Logistic得分 z = β₀+β₁×0.51+β₂×0.68+...= -0.85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135-23"/>
          <p:cNvSpPr txBox="1"/>
          <p:nvPr/>
        </p:nvSpPr>
        <p:spPr>
          <a:xfrm>
            <a:off x="6294451" y="437144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σ(-0.85) = 1/(1+e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0.85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= 1/2.34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138-35"/>
          <p:cNvSpPr txBox="1"/>
          <p:nvPr/>
        </p:nvSpPr>
        <p:spPr>
          <a:xfrm>
            <a:off x="6294451" y="464611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PS=0.30 → 分类标签：保守型（高压力+低偏离+负RG）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7138-36"/>
          <p:cNvSpPr txBox="1"/>
          <p:nvPr/>
        </p:nvSpPr>
        <p:spPr>
          <a:xfrm>
            <a:off x="6294451" y="493178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V4(400基金)实测：OCI是最强预测因子 t=-13.45***, R²=0.0172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7111-2"/>
          <p:cNvSpPr txBox="1"/>
          <p:nvPr/>
        </p:nvSpPr>
        <p:spPr>
          <a:xfrm>
            <a:off x="580880" y="5311205"/>
            <a:ext cx="11027193" cy="3922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换手率来自基金季报，AKShare </a:t>
            </a:r>
            <a:r>
              <a:rPr sz="1040">
                <a:solidFill>
                  <a:srgbClr val="1A1A2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fund_portfolio_hold_em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理论依据：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 前景理论 + Berk &amp; Green (2004) JF 理性预期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PS指标：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本文构建，无前人文献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7112-4"/>
          <p:cNvSpPr txBox="1"/>
          <p:nvPr/>
        </p:nvSpPr>
        <p:spPr>
          <a:xfrm>
            <a:off x="509460" y="5836735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V4核心发现：OCI是最强预测因子(t=-14.20***, R²=0.0232) | 过度交易是A股基金业绩最大拖累 | AS/RG在控制OCI后仍显著为负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112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112-7"/>
          <p:cNvSpPr txBox="1"/>
          <p:nvPr/>
        </p:nvSpPr>
        <p:spPr>
          <a:xfrm>
            <a:off x="11441426" y="6519090"/>
            <a:ext cx="22473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42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7439-73"/>
          <p:cNvGraphicFramePr/>
          <p:nvPr/>
        </p:nvGraphicFramePr>
        <p:xfrm>
          <a:off x="457086" y="1756888"/>
          <a:ext cx="11274781" cy="28329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28518"/>
                <a:gridCol w="857036"/>
                <a:gridCol w="1904524"/>
                <a:gridCol w="714196"/>
                <a:gridCol w="714196"/>
                <a:gridCol w="761810"/>
                <a:gridCol w="659739"/>
                <a:gridCol w="690836"/>
                <a:gridCol w="4543926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公式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均值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单变量t值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全模型β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全模型t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FM 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文献来源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63801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Experience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当前季度-首次任职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</a:p>
                  </a:txBody>
                  <a:tcPr marL="0" marR="0" marT="0" marB="0" anchor="ctr"/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1/2×Σ|w_f-w_b|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0.673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-0.226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-24.30***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Σ(w_f-w_m)²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R_fund-R_holdings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0.009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+0.108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+8.99***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AS_t-AS_{t-1}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0.000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本文新增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Σ|w_m,t-w_m,t-1|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0.15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|RG|（ARG代理）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0.028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+0.054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+3.91***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Kahneman &amp; Tversky (1979)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7440-74"/>
          <p:cNvSpPr/>
          <p:nvPr/>
        </p:nvSpPr>
        <p:spPr>
          <a:xfrm>
            <a:off x="514221" y="2233019"/>
            <a:ext cx="25145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7440-74__text"/>
          <p:cNvSpPr txBox="1"/>
          <p:nvPr/>
        </p:nvSpPr>
        <p:spPr>
          <a:xfrm>
            <a:off x="514221" y="2233019"/>
            <a:ext cx="25145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7440-75"/>
          <p:cNvSpPr/>
          <p:nvPr/>
        </p:nvSpPr>
        <p:spPr>
          <a:xfrm>
            <a:off x="514221" y="2782950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7440-75__text"/>
          <p:cNvSpPr txBox="1"/>
          <p:nvPr/>
        </p:nvSpPr>
        <p:spPr>
          <a:xfrm>
            <a:off x="514221" y="2782950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7440-76"/>
          <p:cNvSpPr/>
          <p:nvPr/>
        </p:nvSpPr>
        <p:spPr>
          <a:xfrm>
            <a:off x="514221" y="3156713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7440-76__text"/>
          <p:cNvSpPr txBox="1"/>
          <p:nvPr/>
        </p:nvSpPr>
        <p:spPr>
          <a:xfrm>
            <a:off x="514221" y="3156713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7441-77"/>
          <p:cNvSpPr/>
          <p:nvPr/>
        </p:nvSpPr>
        <p:spPr>
          <a:xfrm>
            <a:off x="514221" y="344715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441-77__text"/>
          <p:cNvSpPr txBox="1"/>
          <p:nvPr/>
        </p:nvSpPr>
        <p:spPr>
          <a:xfrm>
            <a:off x="514221" y="344715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441-78"/>
          <p:cNvSpPr/>
          <p:nvPr/>
        </p:nvSpPr>
        <p:spPr>
          <a:xfrm>
            <a:off x="514221" y="373759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441-78__text"/>
          <p:cNvSpPr txBox="1"/>
          <p:nvPr/>
        </p:nvSpPr>
        <p:spPr>
          <a:xfrm>
            <a:off x="514221" y="373759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7441-79"/>
          <p:cNvSpPr/>
          <p:nvPr/>
        </p:nvSpPr>
        <p:spPr>
          <a:xfrm>
            <a:off x="514221" y="402803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7441-79__text"/>
          <p:cNvSpPr txBox="1"/>
          <p:nvPr/>
        </p:nvSpPr>
        <p:spPr>
          <a:xfrm>
            <a:off x="514221" y="402803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L4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441-80"/>
          <p:cNvSpPr/>
          <p:nvPr/>
        </p:nvSpPr>
        <p:spPr>
          <a:xfrm>
            <a:off x="514221" y="4318472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7441-80__text"/>
          <p:cNvSpPr txBox="1"/>
          <p:nvPr/>
        </p:nvSpPr>
        <p:spPr>
          <a:xfrm>
            <a:off x="514221" y="4318472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L5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7443-82"/>
          <p:cNvSpPr/>
          <p:nvPr/>
        </p:nvSpPr>
        <p:spPr>
          <a:xfrm>
            <a:off x="457086" y="4647002"/>
            <a:ext cx="11274781" cy="47970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5891667443-84"/>
          <p:cNvSpPr/>
          <p:nvPr/>
        </p:nvSpPr>
        <p:spPr>
          <a:xfrm>
            <a:off x="457086" y="5202885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5891667445-87"/>
          <p:cNvSpPr txBox="1"/>
          <p:nvPr/>
        </p:nvSpPr>
        <p:spPr>
          <a:xfrm>
            <a:off x="457086" y="1164700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指标汇总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445-88"/>
          <p:cNvSpPr txBox="1"/>
          <p:nvPr/>
        </p:nvSpPr>
        <p:spPr>
          <a:xfrm>
            <a:off x="457086" y="1383720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九指标汇总：V4 400基金全持仓完整验证结果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7442-81"/>
          <p:cNvSpPr txBox="1"/>
          <p:nvPr/>
        </p:nvSpPr>
        <p:spPr>
          <a:xfrm>
            <a:off x="580880" y="4713661"/>
            <a:ext cx="11027193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6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 vs Fama-MacBeth：OLS中AS最强(t=-26.81***)，FM截面中AS正向(t=+2.76**)。OLS负向/FM正向的矛盾揭示AS时序与截面效应方向相反。RG在OLS和FE中均正向显著，是交易行为的核心信号。</a:t>
            </a:r>
            <a:r>
              <a:rPr sz="97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443-83"/>
          <p:cNvSpPr txBox="1"/>
          <p:nvPr/>
        </p:nvSpPr>
        <p:spPr>
          <a:xfrm>
            <a:off x="497081" y="5250498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V5修复后(400基金, 5,187观测): AS t=-24.30*** | RG t=+8.99*** | OCI t=+3.91*** | SDI t=-7.25*** | R²=0.0684 | AS负向+RG正向，行为信号分化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443-85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444-86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53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569-17"/>
          <p:cNvSpPr/>
          <p:nvPr/>
        </p:nvSpPr>
        <p:spPr>
          <a:xfrm>
            <a:off x="533267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569-19"/>
          <p:cNvCxnSpPr/>
          <p:nvPr/>
        </p:nvCxnSpPr>
        <p:spPr>
          <a:xfrm>
            <a:off x="552312" y="928866"/>
            <a:ext cx="914" cy="2071170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569-18"/>
          <p:cNvSpPr/>
          <p:nvPr/>
        </p:nvSpPr>
        <p:spPr>
          <a:xfrm>
            <a:off x="6161134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7570-20"/>
          <p:cNvCxnSpPr/>
          <p:nvPr/>
        </p:nvCxnSpPr>
        <p:spPr>
          <a:xfrm>
            <a:off x="6180180" y="928866"/>
            <a:ext cx="914" cy="2071170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7542-6"/>
          <p:cNvSpPr/>
          <p:nvPr/>
        </p:nvSpPr>
        <p:spPr>
          <a:xfrm>
            <a:off x="533267" y="3114307"/>
            <a:ext cx="11122419" cy="13426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8" name="el-1785891667564-8"/>
          <p:cNvPicPr/>
          <p:nvPr/>
        </p:nvPicPr>
        <p:blipFill>
          <a:blip r:embed="rId1"/>
          <a:stretch>
            <a:fillRect/>
          </a:stretch>
        </p:blipFill>
        <p:spPr>
          <a:xfrm>
            <a:off x="1106112" y="3523780"/>
            <a:ext cx="9976729" cy="809423"/>
          </a:xfrm>
          <a:prstGeom prst="rect">
            <a:avLst/>
          </a:prstGeom>
          <a:ln>
            <a:noFill/>
          </a:ln>
        </p:spPr>
      </p:pic>
      <p:sp>
        <p:nvSpPr>
          <p:cNvPr id="9" name="el-1785891667542-7"/>
          <p:cNvSpPr/>
          <p:nvPr/>
        </p:nvSpPr>
        <p:spPr>
          <a:xfrm>
            <a:off x="533267" y="4571268"/>
            <a:ext cx="11122419" cy="14998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7540-3"/>
          <p:cNvSpPr/>
          <p:nvPr/>
        </p:nvSpPr>
        <p:spPr>
          <a:xfrm>
            <a:off x="533267" y="618535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565-9"/>
          <p:cNvSpPr txBox="1"/>
          <p:nvPr/>
        </p:nvSpPr>
        <p:spPr>
          <a:xfrm>
            <a:off x="533267" y="2157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565-10"/>
          <p:cNvSpPr txBox="1"/>
          <p:nvPr/>
        </p:nvSpPr>
        <p:spPr>
          <a:xfrm>
            <a:off x="533267" y="4680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之后：五层指标如何综合判断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7572-21"/>
          <p:cNvSpPr txBox="1"/>
          <p:nvPr/>
        </p:nvSpPr>
        <p:spPr>
          <a:xfrm>
            <a:off x="742764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其他机构的做法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572-22"/>
          <p:cNvSpPr txBox="1"/>
          <p:nvPr/>
        </p:nvSpPr>
        <p:spPr>
          <a:xfrm>
            <a:off x="742764" y="1400236"/>
            <a:ext cx="5050559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 Medalist：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5P维度各自打分1-5，加权求和。权重靠分析师主观判断，维度间无因果关系。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572-23"/>
          <p:cNvSpPr txBox="1"/>
          <p:nvPr/>
        </p:nvSpPr>
        <p:spPr>
          <a:xfrm>
            <a:off x="742764" y="1885889"/>
            <a:ext cx="4931080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100+因子标准化→PCA降维→K-means聚类。因子共线性高，可解释性差。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572-24"/>
          <p:cNvSpPr txBox="1"/>
          <p:nvPr/>
        </p:nvSpPr>
        <p:spPr>
          <a:xfrm>
            <a:off x="742764" y="2371543"/>
            <a:ext cx="507243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AS×跟踪误差二维象限→4类基金。仅L2层，无递进。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573-25"/>
          <p:cNvSpPr txBox="1"/>
          <p:nvPr/>
        </p:nvSpPr>
        <p:spPr>
          <a:xfrm>
            <a:off x="6370632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本文方案：级联式综合判断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573-26"/>
          <p:cNvSpPr txBox="1"/>
          <p:nvPr/>
        </p:nvSpPr>
        <p:spPr>
          <a:xfrm>
            <a:off x="6370632" y="1400236"/>
            <a:ext cx="497036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区别于"并列打分"或"聚类分类"，采用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因果递进+分布分类+回归验证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三步法：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573-27"/>
          <p:cNvSpPr txBox="1"/>
          <p:nvPr/>
        </p:nvSpPr>
        <p:spPr>
          <a:xfrm>
            <a:off x="6370632" y="1885889"/>
            <a:ext cx="279631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层内标准化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：9指标 z-score 归一化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573-28"/>
          <p:cNvSpPr txBox="1"/>
          <p:nvPr/>
        </p:nvSpPr>
        <p:spPr>
          <a:xfrm>
            <a:off x="6370632" y="2128716"/>
            <a:ext cx="354875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因果链验证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：L1→L2→L3→L4→L5 逐层回归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574-29"/>
          <p:cNvSpPr txBox="1"/>
          <p:nvPr/>
        </p:nvSpPr>
        <p:spPr>
          <a:xfrm>
            <a:off x="6370632" y="2371543"/>
            <a:ext cx="4119068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综合评分+分布分类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：加权综合分→五分位→行为画像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566-11"/>
          <p:cNvSpPr txBox="1"/>
          <p:nvPr/>
        </p:nvSpPr>
        <p:spPr>
          <a:xfrm>
            <a:off x="5637242" y="3238101"/>
            <a:ext cx="10209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综合回归方程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567-12"/>
          <p:cNvSpPr txBox="1"/>
          <p:nvPr/>
        </p:nvSpPr>
        <p:spPr>
          <a:xfrm>
            <a:off x="714196" y="4695062"/>
            <a:ext cx="1087387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能得出什么结论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567-13"/>
          <p:cNvSpPr txBox="1"/>
          <p:nvPr/>
        </p:nvSpPr>
        <p:spPr>
          <a:xfrm>
            <a:off x="714196" y="4975979"/>
            <a:ext cx="710798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行为画像分类：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每只基金获得"保守从众型/稳健主动型/激进投机型/风格漂移型/认知偏差型"标签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567-14"/>
          <p:cNvSpPr txBox="1"/>
          <p:nvPr/>
        </p:nvSpPr>
        <p:spPr>
          <a:xfrm>
            <a:off x="714196" y="5218806"/>
            <a:ext cx="765121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业绩预测能力：AS是最强预测因子（t=-26.81***），AS五分位差-6.22%，RG差+5.14%，OCI差+1.36%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568-15"/>
          <p:cNvSpPr txBox="1"/>
          <p:nvPr/>
        </p:nvSpPr>
        <p:spPr>
          <a:xfrm>
            <a:off x="714196" y="5461633"/>
            <a:ext cx="7727694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双重排序角落：高RG+低SDI(稳健交易)=最优组合 | AS五分位差-6.22%/季 | RG五分位差+5.14%/季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568-16"/>
          <p:cNvSpPr txBox="1"/>
          <p:nvPr/>
        </p:nvSpPr>
        <p:spPr>
          <a:xfrm>
            <a:off x="714196" y="5704460"/>
            <a:ext cx="675742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独立效应：AS负向效应在OLS中最强(t=-26.81***) | FM中AS正向(t=+2.76**)→截面信号vs时序信号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540-2"/>
          <p:cNvSpPr txBox="1"/>
          <p:nvPr/>
        </p:nvSpPr>
        <p:spPr>
          <a:xfrm>
            <a:off x="572309" y="625201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V5全模型R²=0.0684(提升195%) | AS最强(t=-26.81***) | RG正向(t=+9.20***) | SDI负向(t=-7.69***) | 行为信号分化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540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541-5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58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7588-52"/>
          <p:cNvGraphicFramePr/>
          <p:nvPr/>
        </p:nvGraphicFramePr>
        <p:xfrm>
          <a:off x="457086" y="1297421"/>
          <a:ext cx="11274781" cy="291392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52992"/>
                <a:gridCol w="1420061"/>
                <a:gridCol w="2759476"/>
                <a:gridCol w="2416216"/>
                <a:gridCol w="2416513"/>
              </a:tblGrid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V1 模拟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V2 原200全持仓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V3 400前十大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V4 400全持仓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基金数量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面板观测数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2,400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1,597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9,581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9,581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AS均值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0.95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0.948(旧公式)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0.705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0.673(修正)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H1: AS→业绩 (t)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N/A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+2.57**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+6.34***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H3: RG→业绩 (t)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N/A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+2.43**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-3.67***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H5: ΔAS→业绩 (t)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N/A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+2.80***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-9.10***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H4: ICI→业绩 (t)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N/A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-8.59***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H6: OCI→业绩 (t)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N/A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九指标全模型R²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0.365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0.024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0.029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0.068(修复后)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7590-54"/>
          <p:cNvSpPr/>
          <p:nvPr/>
        </p:nvSpPr>
        <p:spPr>
          <a:xfrm>
            <a:off x="457086" y="4287524"/>
            <a:ext cx="11274781" cy="5112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el-1785891667591-56"/>
          <p:cNvSpPr/>
          <p:nvPr/>
        </p:nvSpPr>
        <p:spPr>
          <a:xfrm>
            <a:off x="457086" y="4874950"/>
            <a:ext cx="11274781" cy="5112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0F2F1"/>
          </a:solidFill>
          <a:ln w="9523" algn="in">
            <a:solidFill>
              <a:srgbClr val="80CBC4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el-1785891667591-58"/>
          <p:cNvSpPr/>
          <p:nvPr/>
        </p:nvSpPr>
        <p:spPr>
          <a:xfrm>
            <a:off x="457086" y="5462377"/>
            <a:ext cx="11274781" cy="495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7593-61"/>
          <p:cNvSpPr txBox="1"/>
          <p:nvPr/>
        </p:nvSpPr>
        <p:spPr>
          <a:xfrm>
            <a:off x="457086" y="705233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 MVP验证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7593-62"/>
          <p:cNvSpPr txBox="1"/>
          <p:nvPr/>
        </p:nvSpPr>
        <p:spPr>
          <a:xfrm>
            <a:off x="457086" y="924254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四轮验证对照 + V4含ICI完整回归（400基金全持仓）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el-1785891667589-53"/>
          <p:cNvSpPr txBox="1"/>
          <p:nvPr/>
        </p:nvSpPr>
        <p:spPr>
          <a:xfrm>
            <a:off x="580880" y="4363705"/>
            <a:ext cx="11027193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V4九指标全模型：AS β=-0.226(t=-24.30***) &gt;&gt; RG β=+0.108(t=+8.99***) &gt; OCI β=+0.054(t=+3.91***). AS是最强负向预测因子，RG正向预测。ΔAS(t=+2.01**)和SDI(t=-7.25***)在FE中显著。行为信号分化——AS拖累但RG增厚收益。</a:t>
            </a:r>
            <a:r>
              <a:rPr sz="97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970">
              <a:solidFill>
                <a:srgbClr val="92400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7590-55"/>
          <p:cNvSpPr txBox="1"/>
          <p:nvPr/>
        </p:nvSpPr>
        <p:spPr>
          <a:xfrm>
            <a:off x="580880" y="4951131"/>
            <a:ext cx="11027193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Fama-MacBeth验证（截面内标准化, 40季度）：AS在FM中正向(t=+2.76**)，ΔAS(t=-2.41**)和SDI(t=-2.50**)在FM中变显著 | RG/OCI在FM中不显著——OCI预测力来自时序变化而非截面差异 | AS在FM截面中正向显著(正向) | AS在FM截面中正向显著</a:t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7591-57"/>
          <p:cNvSpPr txBox="1"/>
          <p:nvPr/>
        </p:nvSpPr>
        <p:spPr>
          <a:xfrm>
            <a:off x="590402" y="5509990"/>
            <a:ext cx="1100814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56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OLS: AS最强(t=-26.81***) | FM: AS正向(t=+2.76**) | 固定效应: RG最稳健(t=+7.77***) | 双重排序: AS五分位差-6.22%/季 | 滞后4Q: AS最强/RG正向/SDI负向 | 六种方法交叉验证完成(修复后)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592-59"/>
          <p:cNvSpPr txBox="1"/>
          <p:nvPr/>
        </p:nvSpPr>
        <p:spPr>
          <a:xfrm>
            <a:off x="609448" y="6526232"/>
            <a:ext cx="95993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 MVP验证结果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7592-60"/>
          <p:cNvSpPr txBox="1"/>
          <p:nvPr/>
        </p:nvSpPr>
        <p:spPr>
          <a:xfrm>
            <a:off x="11441426" y="6519090"/>
            <a:ext cx="22473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74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756-10"/>
          <p:cNvSpPr/>
          <p:nvPr/>
        </p:nvSpPr>
        <p:spPr>
          <a:xfrm>
            <a:off x="380905" y="1841103"/>
            <a:ext cx="2239601" cy="89988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5891667778-98"/>
          <p:cNvSpPr/>
          <p:nvPr/>
        </p:nvSpPr>
        <p:spPr>
          <a:xfrm>
            <a:off x="447563" y="2093453"/>
            <a:ext cx="2106284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7779-99"/>
          <p:cNvSpPr/>
          <p:nvPr/>
        </p:nvSpPr>
        <p:spPr>
          <a:xfrm>
            <a:off x="447563" y="2293428"/>
            <a:ext cx="2106284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7771-83"/>
          <p:cNvSpPr/>
          <p:nvPr/>
        </p:nvSpPr>
        <p:spPr>
          <a:xfrm>
            <a:off x="447563" y="2493403"/>
            <a:ext cx="2106284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7756-11"/>
          <p:cNvSpPr/>
          <p:nvPr/>
        </p:nvSpPr>
        <p:spPr>
          <a:xfrm>
            <a:off x="2677641" y="1841103"/>
            <a:ext cx="2239750" cy="89988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7779-100"/>
          <p:cNvSpPr/>
          <p:nvPr/>
        </p:nvSpPr>
        <p:spPr>
          <a:xfrm>
            <a:off x="2744300" y="2093453"/>
            <a:ext cx="2106433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7779-101"/>
          <p:cNvSpPr/>
          <p:nvPr/>
        </p:nvSpPr>
        <p:spPr>
          <a:xfrm>
            <a:off x="2744300" y="2293428"/>
            <a:ext cx="2106433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7771-84"/>
          <p:cNvSpPr/>
          <p:nvPr/>
        </p:nvSpPr>
        <p:spPr>
          <a:xfrm>
            <a:off x="2744300" y="2493403"/>
            <a:ext cx="2106433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756-12"/>
          <p:cNvSpPr/>
          <p:nvPr/>
        </p:nvSpPr>
        <p:spPr>
          <a:xfrm>
            <a:off x="4974527" y="1841103"/>
            <a:ext cx="2239750" cy="89988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7779-102"/>
          <p:cNvSpPr/>
          <p:nvPr/>
        </p:nvSpPr>
        <p:spPr>
          <a:xfrm>
            <a:off x="5041185" y="2093453"/>
            <a:ext cx="2106433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779-103"/>
          <p:cNvSpPr/>
          <p:nvPr/>
        </p:nvSpPr>
        <p:spPr>
          <a:xfrm>
            <a:off x="5041185" y="2293428"/>
            <a:ext cx="2106433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7771-85"/>
          <p:cNvSpPr/>
          <p:nvPr/>
        </p:nvSpPr>
        <p:spPr>
          <a:xfrm>
            <a:off x="5041185" y="2493403"/>
            <a:ext cx="2106433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7757-13"/>
          <p:cNvSpPr/>
          <p:nvPr/>
        </p:nvSpPr>
        <p:spPr>
          <a:xfrm>
            <a:off x="7271412" y="1841103"/>
            <a:ext cx="2239750" cy="89988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el-1785891667780-104"/>
          <p:cNvSpPr/>
          <p:nvPr/>
        </p:nvSpPr>
        <p:spPr>
          <a:xfrm>
            <a:off x="7338070" y="2093453"/>
            <a:ext cx="2106433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7780-105"/>
          <p:cNvSpPr/>
          <p:nvPr/>
        </p:nvSpPr>
        <p:spPr>
          <a:xfrm>
            <a:off x="7338070" y="2293428"/>
            <a:ext cx="2106433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7772-86"/>
          <p:cNvSpPr/>
          <p:nvPr/>
        </p:nvSpPr>
        <p:spPr>
          <a:xfrm>
            <a:off x="7338070" y="2493403"/>
            <a:ext cx="2106433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5891667757-14"/>
          <p:cNvSpPr/>
          <p:nvPr/>
        </p:nvSpPr>
        <p:spPr>
          <a:xfrm>
            <a:off x="9568298" y="1841103"/>
            <a:ext cx="2239601" cy="89988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0" name="el-1785891667758-17"/>
          <p:cNvCxnSpPr/>
          <p:nvPr/>
        </p:nvCxnSpPr>
        <p:spPr>
          <a:xfrm>
            <a:off x="9582581" y="1841103"/>
            <a:ext cx="914" cy="899887"/>
          </a:xfrm>
          <a:prstGeom prst="line">
            <a:avLst/>
          </a:prstGeom>
          <a:ln w="28568" cap="flat">
            <a:solidFill>
              <a:srgbClr val="DC262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7780-106"/>
          <p:cNvSpPr/>
          <p:nvPr/>
        </p:nvSpPr>
        <p:spPr>
          <a:xfrm>
            <a:off x="9654001" y="2093453"/>
            <a:ext cx="2087239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5891667780-107"/>
          <p:cNvSpPr/>
          <p:nvPr/>
        </p:nvSpPr>
        <p:spPr>
          <a:xfrm>
            <a:off x="9654001" y="2293428"/>
            <a:ext cx="2087239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5891667772-87"/>
          <p:cNvSpPr/>
          <p:nvPr/>
        </p:nvSpPr>
        <p:spPr>
          <a:xfrm>
            <a:off x="9654001" y="2493403"/>
            <a:ext cx="2087239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7757-15"/>
          <p:cNvSpPr/>
          <p:nvPr/>
        </p:nvSpPr>
        <p:spPr>
          <a:xfrm>
            <a:off x="380905" y="2798127"/>
            <a:ext cx="567548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25" name="el-1785891667764-46"/>
          <p:cNvGraphicFramePr/>
          <p:nvPr/>
        </p:nvGraphicFramePr>
        <p:xfrm>
          <a:off x="466608" y="3050476"/>
          <a:ext cx="5504074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40507"/>
                <a:gridCol w="1423334"/>
                <a:gridCol w="1830128"/>
                <a:gridCol w="1310104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7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β</a:t>
                      </a:r>
                      <a:endParaRPr sz="7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t值</a:t>
                      </a:r>
                      <a:endParaRPr sz="7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方向</a:t>
                      </a:r>
                      <a:endParaRPr sz="7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solidFill>
                      <a:srgbClr val="1A1A2E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-0.370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-27.29***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负向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+0.196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+12.62***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负向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+0.063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+3.41***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极强负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-0.000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-0.53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不显著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+0.096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+2.81***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正向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-0.299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-12.36***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正向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6" name="el-1785891667757-16"/>
          <p:cNvSpPr/>
          <p:nvPr/>
        </p:nvSpPr>
        <p:spPr>
          <a:xfrm>
            <a:off x="6132566" y="2798127"/>
            <a:ext cx="567548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27" name="el-1785891667767-75"/>
          <p:cNvGraphicFramePr/>
          <p:nvPr/>
        </p:nvGraphicFramePr>
        <p:xfrm>
          <a:off x="6218270" y="3050476"/>
          <a:ext cx="5504075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61041"/>
                <a:gridCol w="1407860"/>
                <a:gridCol w="1782218"/>
                <a:gridCol w="1352956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7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β</a:t>
                      </a:r>
                      <a:endParaRPr sz="7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t值</a:t>
                      </a:r>
                      <a:endParaRPr sz="7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方向</a:t>
                      </a:r>
                      <a:endParaRPr sz="7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solidFill>
                      <a:srgbClr val="1A1A2E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+0.301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+5.80***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正向(!)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-0.173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-5.39***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强负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-0.071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-1.20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不显著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-0.175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-4.92***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强负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-0.001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-6.79***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强负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-0.000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-1.58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不显著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8" name="el-1785891667752-3"/>
          <p:cNvSpPr/>
          <p:nvPr/>
        </p:nvSpPr>
        <p:spPr>
          <a:xfrm>
            <a:off x="380905" y="4588379"/>
            <a:ext cx="11427143" cy="4341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29" name="el-1785891667753-5"/>
          <p:cNvSpPr/>
          <p:nvPr/>
        </p:nvSpPr>
        <p:spPr>
          <a:xfrm>
            <a:off x="380905" y="5079686"/>
            <a:ext cx="11427143" cy="2618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-1785891667755-8"/>
          <p:cNvSpPr txBox="1"/>
          <p:nvPr/>
        </p:nvSpPr>
        <p:spPr>
          <a:xfrm>
            <a:off x="380905" y="1302183"/>
            <a:ext cx="1152046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 MVP验证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755-9"/>
          <p:cNvSpPr txBox="1"/>
          <p:nvPr/>
        </p:nvSpPr>
        <p:spPr>
          <a:xfrm>
            <a:off x="380905" y="1511680"/>
            <a:ext cx="11573791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V4九指标分组检验 + 牛熊市异质性（400基金全持仓）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768-76"/>
          <p:cNvSpPr txBox="1"/>
          <p:nvPr/>
        </p:nvSpPr>
        <p:spPr>
          <a:xfrm>
            <a:off x="447563" y="1898239"/>
            <a:ext cx="219294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五分位</a:t>
            </a:r>
            <a:endParaRPr sz="9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7783-108"/>
          <p:cNvSpPr txBox="1"/>
          <p:nvPr/>
        </p:nvSpPr>
        <p:spPr>
          <a:xfrm>
            <a:off x="485654" y="2102975"/>
            <a:ext cx="221490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Q1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783-109"/>
          <p:cNvSpPr txBox="1"/>
          <p:nvPr/>
        </p:nvSpPr>
        <p:spPr>
          <a:xfrm>
            <a:off x="2109260" y="2102975"/>
            <a:ext cx="486487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+4.00%</a:t>
            </a:r>
            <a:endParaRPr sz="8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783-110"/>
          <p:cNvSpPr txBox="1"/>
          <p:nvPr/>
        </p:nvSpPr>
        <p:spPr>
          <a:xfrm>
            <a:off x="485654" y="2302950"/>
            <a:ext cx="23145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Q5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784-111"/>
          <p:cNvSpPr txBox="1"/>
          <p:nvPr/>
        </p:nvSpPr>
        <p:spPr>
          <a:xfrm>
            <a:off x="2094827" y="2302950"/>
            <a:ext cx="500920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-2.21%</a:t>
            </a:r>
            <a:endParaRPr sz="8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775-88"/>
          <p:cNvSpPr txBox="1"/>
          <p:nvPr/>
        </p:nvSpPr>
        <p:spPr>
          <a:xfrm>
            <a:off x="485654" y="2502925"/>
            <a:ext cx="42414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Q5-Q1</a:t>
            </a:r>
            <a:endParaRPr sz="8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775-89"/>
          <p:cNvSpPr txBox="1"/>
          <p:nvPr/>
        </p:nvSpPr>
        <p:spPr>
          <a:xfrm>
            <a:off x="2121312" y="2502925"/>
            <a:ext cx="47443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-6.22%</a:t>
            </a:r>
            <a:endParaRPr sz="8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769-77"/>
          <p:cNvSpPr txBox="1"/>
          <p:nvPr/>
        </p:nvSpPr>
        <p:spPr>
          <a:xfrm>
            <a:off x="2744300" y="1898239"/>
            <a:ext cx="219308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五分位</a:t>
            </a:r>
            <a:endParaRPr sz="9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784-112"/>
          <p:cNvSpPr txBox="1"/>
          <p:nvPr/>
        </p:nvSpPr>
        <p:spPr>
          <a:xfrm>
            <a:off x="2782390" y="2102975"/>
            <a:ext cx="221490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Q1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784-113"/>
          <p:cNvSpPr txBox="1"/>
          <p:nvPr/>
        </p:nvSpPr>
        <p:spPr>
          <a:xfrm>
            <a:off x="4391415" y="2102975"/>
            <a:ext cx="501217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+1.80%</a:t>
            </a:r>
            <a:endParaRPr sz="8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784-114"/>
          <p:cNvSpPr txBox="1"/>
          <p:nvPr/>
        </p:nvSpPr>
        <p:spPr>
          <a:xfrm>
            <a:off x="2782390" y="2302950"/>
            <a:ext cx="23145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Q5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784-115"/>
          <p:cNvSpPr txBox="1"/>
          <p:nvPr/>
        </p:nvSpPr>
        <p:spPr>
          <a:xfrm>
            <a:off x="4391415" y="2302950"/>
            <a:ext cx="501217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+6.93%</a:t>
            </a:r>
            <a:endParaRPr sz="8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775-90"/>
          <p:cNvSpPr txBox="1"/>
          <p:nvPr/>
        </p:nvSpPr>
        <p:spPr>
          <a:xfrm>
            <a:off x="2782390" y="2502925"/>
            <a:ext cx="42414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Q5-Q1</a:t>
            </a:r>
            <a:endParaRPr sz="8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7775-91"/>
          <p:cNvSpPr txBox="1"/>
          <p:nvPr/>
        </p:nvSpPr>
        <p:spPr>
          <a:xfrm>
            <a:off x="4433077" y="2502925"/>
            <a:ext cx="45955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+5.14%</a:t>
            </a:r>
            <a:endParaRPr sz="8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769-78"/>
          <p:cNvSpPr txBox="1"/>
          <p:nvPr/>
        </p:nvSpPr>
        <p:spPr>
          <a:xfrm>
            <a:off x="5041185" y="1898239"/>
            <a:ext cx="219308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五分位</a:t>
            </a:r>
            <a:endParaRPr sz="9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7" name="el-1785891667784-116"/>
          <p:cNvSpPr txBox="1"/>
          <p:nvPr/>
        </p:nvSpPr>
        <p:spPr>
          <a:xfrm>
            <a:off x="5079276" y="2102975"/>
            <a:ext cx="221490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Q1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784-117"/>
          <p:cNvSpPr txBox="1"/>
          <p:nvPr/>
        </p:nvSpPr>
        <p:spPr>
          <a:xfrm>
            <a:off x="6688301" y="2102975"/>
            <a:ext cx="501217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+0.85%</a:t>
            </a:r>
            <a:endParaRPr sz="8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785-118"/>
          <p:cNvSpPr txBox="1"/>
          <p:nvPr/>
        </p:nvSpPr>
        <p:spPr>
          <a:xfrm>
            <a:off x="5079276" y="2302950"/>
            <a:ext cx="23145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Q5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785-119"/>
          <p:cNvSpPr txBox="1"/>
          <p:nvPr/>
        </p:nvSpPr>
        <p:spPr>
          <a:xfrm>
            <a:off x="6703031" y="2302950"/>
            <a:ext cx="486487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+2.15%</a:t>
            </a:r>
            <a:endParaRPr sz="8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7776-92"/>
          <p:cNvSpPr txBox="1"/>
          <p:nvPr/>
        </p:nvSpPr>
        <p:spPr>
          <a:xfrm>
            <a:off x="5079276" y="2502925"/>
            <a:ext cx="42414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Q5-Q1</a:t>
            </a:r>
            <a:endParaRPr sz="8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7776-93"/>
          <p:cNvSpPr txBox="1"/>
          <p:nvPr/>
        </p:nvSpPr>
        <p:spPr>
          <a:xfrm>
            <a:off x="6730260" y="2502925"/>
            <a:ext cx="45925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+1.31%</a:t>
            </a:r>
            <a:endParaRPr sz="8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7769-79"/>
          <p:cNvSpPr txBox="1"/>
          <p:nvPr/>
        </p:nvSpPr>
        <p:spPr>
          <a:xfrm>
            <a:off x="7338070" y="1898239"/>
            <a:ext cx="219308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五分位</a:t>
            </a:r>
            <a:endParaRPr sz="9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4" name="el-1785891667785-120"/>
          <p:cNvSpPr txBox="1"/>
          <p:nvPr/>
        </p:nvSpPr>
        <p:spPr>
          <a:xfrm>
            <a:off x="7376161" y="2102975"/>
            <a:ext cx="221490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Q1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785-121"/>
          <p:cNvSpPr txBox="1"/>
          <p:nvPr/>
        </p:nvSpPr>
        <p:spPr>
          <a:xfrm>
            <a:off x="8999767" y="2102975"/>
            <a:ext cx="48663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+3.82%</a:t>
            </a:r>
            <a:endParaRPr sz="8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7785-122"/>
          <p:cNvSpPr txBox="1"/>
          <p:nvPr/>
        </p:nvSpPr>
        <p:spPr>
          <a:xfrm>
            <a:off x="7376161" y="2302950"/>
            <a:ext cx="23145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Q5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7785-123"/>
          <p:cNvSpPr txBox="1"/>
          <p:nvPr/>
        </p:nvSpPr>
        <p:spPr>
          <a:xfrm>
            <a:off x="8985037" y="2302950"/>
            <a:ext cx="50136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+4.15%</a:t>
            </a:r>
            <a:endParaRPr sz="8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7776-94"/>
          <p:cNvSpPr txBox="1"/>
          <p:nvPr/>
        </p:nvSpPr>
        <p:spPr>
          <a:xfrm>
            <a:off x="7376161" y="2502925"/>
            <a:ext cx="42414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Q5-Q1</a:t>
            </a:r>
            <a:endParaRPr sz="8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7776-95"/>
          <p:cNvSpPr txBox="1"/>
          <p:nvPr/>
        </p:nvSpPr>
        <p:spPr>
          <a:xfrm>
            <a:off x="9011671" y="2502925"/>
            <a:ext cx="474732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+0.33%</a:t>
            </a:r>
            <a:endParaRPr sz="8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7769-80"/>
          <p:cNvSpPr txBox="1"/>
          <p:nvPr/>
        </p:nvSpPr>
        <p:spPr>
          <a:xfrm>
            <a:off x="9654001" y="1898239"/>
            <a:ext cx="2173895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DC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五分位</a:t>
            </a:r>
            <a:endParaRPr sz="970" b="1">
              <a:solidFill>
                <a:srgbClr val="DC2626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1" name="el-1785891667785-124"/>
          <p:cNvSpPr txBox="1"/>
          <p:nvPr/>
        </p:nvSpPr>
        <p:spPr>
          <a:xfrm>
            <a:off x="9692092" y="2102975"/>
            <a:ext cx="41893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Q1(低)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el-1785891667786-125"/>
          <p:cNvSpPr txBox="1"/>
          <p:nvPr/>
        </p:nvSpPr>
        <p:spPr>
          <a:xfrm>
            <a:off x="11297248" y="2102975"/>
            <a:ext cx="485892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+3.82%</a:t>
            </a:r>
            <a:endParaRPr sz="8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3" name="el-1785891667786-126"/>
          <p:cNvSpPr txBox="1"/>
          <p:nvPr/>
        </p:nvSpPr>
        <p:spPr>
          <a:xfrm>
            <a:off x="9692092" y="2302950"/>
            <a:ext cx="42890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Q5(高)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el-1785891667786-127"/>
          <p:cNvSpPr txBox="1"/>
          <p:nvPr/>
        </p:nvSpPr>
        <p:spPr>
          <a:xfrm>
            <a:off x="11296653" y="2302950"/>
            <a:ext cx="486487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+1.04%</a:t>
            </a:r>
            <a:endParaRPr sz="8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5" name="el-1785891667776-96"/>
          <p:cNvSpPr txBox="1"/>
          <p:nvPr/>
        </p:nvSpPr>
        <p:spPr>
          <a:xfrm>
            <a:off x="9692092" y="2502925"/>
            <a:ext cx="42414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Q5-Q1</a:t>
            </a:r>
            <a:endParaRPr sz="8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7776-97"/>
          <p:cNvSpPr txBox="1"/>
          <p:nvPr/>
        </p:nvSpPr>
        <p:spPr>
          <a:xfrm>
            <a:off x="11308556" y="2502925"/>
            <a:ext cx="474584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+1.36%</a:t>
            </a:r>
            <a:endParaRPr sz="8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7769-81"/>
          <p:cNvSpPr txBox="1"/>
          <p:nvPr/>
        </p:nvSpPr>
        <p:spPr>
          <a:xfrm>
            <a:off x="466608" y="2855262"/>
            <a:ext cx="559072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15803D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牛市（5,700观测）九指标全模型 R²=0.0642</a:t>
            </a:r>
            <a:endParaRPr sz="970" b="1">
              <a:solidFill>
                <a:srgbClr val="15803D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8" name="el-1785891667769-82"/>
          <p:cNvSpPr txBox="1"/>
          <p:nvPr/>
        </p:nvSpPr>
        <p:spPr>
          <a:xfrm>
            <a:off x="6218270" y="2855262"/>
            <a:ext cx="559072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熊市（3,481观测）九指标全模型 R²=0.0650</a:t>
            </a:r>
            <a:endParaRPr sz="9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9" name="el-1785891667752-2"/>
          <p:cNvSpPr txBox="1"/>
          <p:nvPr/>
        </p:nvSpPr>
        <p:spPr>
          <a:xfrm>
            <a:off x="485654" y="4645515"/>
            <a:ext cx="11217645" cy="319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45"/>
              </a:lnSpc>
            </a:pP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发现：AS牛熊均负向但牛市更强(牛t=-27.29***/熊t=-7.09***)。RG牛熊方向反转(牛正t=+12.62***/熊负t=-7.17***)——牛市中隐形交易增厚收益，熊市中拖累。SDI牛熊反转(牛负t=-12.36***/熊正t=+4.03***)——牛市风格漂移致命，熊市反而有效。行为指标在不同市场状态下呈现差异化预测模式。</a:t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890">
              <a:solidFill>
                <a:srgbClr val="92400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0" name="el-1785891667752-4"/>
          <p:cNvSpPr txBox="1"/>
          <p:nvPr/>
        </p:nvSpPr>
        <p:spPr>
          <a:xfrm>
            <a:off x="408520" y="5117777"/>
            <a:ext cx="1137191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牛市R²=0.0642 &gt; 熊市R²=0.0650 | OCI牛市极强(t=-15.54)但熊市消失(t=-1.20) | AS牛熊反转(牛-5.86/熊+5.80) | FM: AS最稳健(t=-3.02***)</a:t>
            </a:r>
            <a:endParaRPr sz="9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1" name="el-1785891667753-6"/>
          <p:cNvSpPr txBox="1"/>
          <p:nvPr/>
        </p:nvSpPr>
        <p:spPr>
          <a:xfrm>
            <a:off x="609448" y="6526232"/>
            <a:ext cx="95993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 MVP验证结果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2" name="el-1785891667753-7"/>
          <p:cNvSpPr txBox="1"/>
          <p:nvPr/>
        </p:nvSpPr>
        <p:spPr>
          <a:xfrm>
            <a:off x="11441575" y="6519090"/>
            <a:ext cx="224585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24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3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87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882-6"/>
          <p:cNvSpPr/>
          <p:nvPr/>
        </p:nvSpPr>
        <p:spPr>
          <a:xfrm>
            <a:off x="457086" y="1099232"/>
            <a:ext cx="5072878" cy="5056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885-8"/>
          <p:cNvCxnSpPr/>
          <p:nvPr/>
        </p:nvCxnSpPr>
        <p:spPr>
          <a:xfrm>
            <a:off x="476131" y="1099232"/>
            <a:ext cx="914" cy="505651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894-24"/>
          <p:cNvSpPr/>
          <p:nvPr/>
        </p:nvSpPr>
        <p:spPr>
          <a:xfrm>
            <a:off x="609448" y="1480137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7895-25"/>
          <p:cNvSpPr/>
          <p:nvPr/>
        </p:nvSpPr>
        <p:spPr>
          <a:xfrm>
            <a:off x="609448" y="1765815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7895-26"/>
          <p:cNvSpPr/>
          <p:nvPr/>
        </p:nvSpPr>
        <p:spPr>
          <a:xfrm>
            <a:off x="609448" y="2051494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7895-27"/>
          <p:cNvSpPr/>
          <p:nvPr/>
        </p:nvSpPr>
        <p:spPr>
          <a:xfrm>
            <a:off x="609448" y="2337172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7895-28"/>
          <p:cNvSpPr/>
          <p:nvPr/>
        </p:nvSpPr>
        <p:spPr>
          <a:xfrm>
            <a:off x="609448" y="2622851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7895-29"/>
          <p:cNvSpPr/>
          <p:nvPr/>
        </p:nvSpPr>
        <p:spPr>
          <a:xfrm>
            <a:off x="609448" y="2908529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896-30"/>
          <p:cNvSpPr/>
          <p:nvPr/>
        </p:nvSpPr>
        <p:spPr>
          <a:xfrm>
            <a:off x="609448" y="3194208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7896-31"/>
          <p:cNvSpPr/>
          <p:nvPr/>
        </p:nvSpPr>
        <p:spPr>
          <a:xfrm>
            <a:off x="609448" y="3479886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896-32"/>
          <p:cNvSpPr/>
          <p:nvPr/>
        </p:nvSpPr>
        <p:spPr>
          <a:xfrm>
            <a:off x="609448" y="3765565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7896-33"/>
          <p:cNvSpPr/>
          <p:nvPr/>
        </p:nvSpPr>
        <p:spPr>
          <a:xfrm>
            <a:off x="609448" y="4051244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7896-34"/>
          <p:cNvSpPr/>
          <p:nvPr/>
        </p:nvSpPr>
        <p:spPr>
          <a:xfrm>
            <a:off x="609448" y="4651169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7897-35"/>
          <p:cNvSpPr/>
          <p:nvPr/>
        </p:nvSpPr>
        <p:spPr>
          <a:xfrm>
            <a:off x="609448" y="4936847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7897-36"/>
          <p:cNvSpPr/>
          <p:nvPr/>
        </p:nvSpPr>
        <p:spPr>
          <a:xfrm>
            <a:off x="609448" y="5222526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7897-37"/>
          <p:cNvSpPr/>
          <p:nvPr/>
        </p:nvSpPr>
        <p:spPr>
          <a:xfrm>
            <a:off x="609448" y="5508204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5891667897-38"/>
          <p:cNvSpPr/>
          <p:nvPr/>
        </p:nvSpPr>
        <p:spPr>
          <a:xfrm>
            <a:off x="609448" y="5793883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5891667882-7"/>
          <p:cNvSpPr/>
          <p:nvPr/>
        </p:nvSpPr>
        <p:spPr>
          <a:xfrm>
            <a:off x="5644235" y="1099232"/>
            <a:ext cx="6087483" cy="5056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1" name="el-1785891667892-19"/>
          <p:cNvCxnSpPr/>
          <p:nvPr/>
        </p:nvCxnSpPr>
        <p:spPr>
          <a:xfrm>
            <a:off x="5768029" y="1919963"/>
            <a:ext cx="5839895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-1785891667892-20"/>
          <p:cNvCxnSpPr/>
          <p:nvPr/>
        </p:nvCxnSpPr>
        <p:spPr>
          <a:xfrm>
            <a:off x="5768029" y="2393118"/>
            <a:ext cx="5839895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l-1785891667893-21"/>
          <p:cNvCxnSpPr/>
          <p:nvPr/>
        </p:nvCxnSpPr>
        <p:spPr>
          <a:xfrm>
            <a:off x="5768029" y="2866273"/>
            <a:ext cx="5839895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-1785891667893-22"/>
          <p:cNvCxnSpPr/>
          <p:nvPr/>
        </p:nvCxnSpPr>
        <p:spPr>
          <a:xfrm>
            <a:off x="5768029" y="3339428"/>
            <a:ext cx="5839895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el-1785891667893-23"/>
          <p:cNvCxnSpPr/>
          <p:nvPr/>
        </p:nvCxnSpPr>
        <p:spPr>
          <a:xfrm>
            <a:off x="5768029" y="3812583"/>
            <a:ext cx="5839895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el-1785891667892-15"/>
          <p:cNvSpPr/>
          <p:nvPr/>
        </p:nvSpPr>
        <p:spPr>
          <a:xfrm>
            <a:off x="5768029" y="3845912"/>
            <a:ext cx="5839895" cy="652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27" name="el-1785891667881-4"/>
          <p:cNvSpPr txBox="1"/>
          <p:nvPr/>
        </p:nvSpPr>
        <p:spPr>
          <a:xfrm>
            <a:off x="457086" y="507044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真实数据验证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881-5"/>
          <p:cNvSpPr txBox="1"/>
          <p:nvPr/>
        </p:nvSpPr>
        <p:spPr>
          <a:xfrm>
            <a:off x="457086" y="726064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V5修复后验证：AS负向+RG正向信号分化 + 文献支撑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7892-16"/>
          <p:cNvSpPr txBox="1"/>
          <p:nvPr/>
        </p:nvSpPr>
        <p:spPr>
          <a:xfrm>
            <a:off x="609448" y="1203981"/>
            <a:ext cx="490337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 九指标数据规模与统计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el-1785891667901-39"/>
          <p:cNvSpPr txBox="1"/>
          <p:nvPr/>
        </p:nvSpPr>
        <p:spPr>
          <a:xfrm>
            <a:off x="666583" y="1508704"/>
            <a:ext cx="62658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基金数量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901-40"/>
          <p:cNvSpPr txBox="1"/>
          <p:nvPr/>
        </p:nvSpPr>
        <p:spPr>
          <a:xfrm>
            <a:off x="4978544" y="1508704"/>
            <a:ext cx="46381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400只</a:t>
            </a:r>
            <a:endParaRPr sz="104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7901-41"/>
          <p:cNvSpPr txBox="1"/>
          <p:nvPr/>
        </p:nvSpPr>
        <p:spPr>
          <a:xfrm>
            <a:off x="666583" y="1794383"/>
            <a:ext cx="75990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全持仓记录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902-42"/>
          <p:cNvSpPr txBox="1"/>
          <p:nvPr/>
        </p:nvSpPr>
        <p:spPr>
          <a:xfrm>
            <a:off x="4713101" y="1794383"/>
            <a:ext cx="72925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361,636条</a:t>
            </a:r>
            <a:endParaRPr sz="104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902-43"/>
          <p:cNvSpPr txBox="1"/>
          <p:nvPr/>
        </p:nvSpPr>
        <p:spPr>
          <a:xfrm>
            <a:off x="666583" y="2080062"/>
            <a:ext cx="89322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日度净值记录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902-44"/>
          <p:cNvSpPr txBox="1"/>
          <p:nvPr/>
        </p:nvSpPr>
        <p:spPr>
          <a:xfrm>
            <a:off x="4695990" y="2080062"/>
            <a:ext cx="74636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602,904条</a:t>
            </a:r>
            <a:endParaRPr sz="104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902-45"/>
          <p:cNvSpPr txBox="1"/>
          <p:nvPr/>
        </p:nvSpPr>
        <p:spPr>
          <a:xfrm>
            <a:off x="666583" y="2365740"/>
            <a:ext cx="75990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面板观测数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902-46"/>
          <p:cNvSpPr txBox="1"/>
          <p:nvPr/>
        </p:nvSpPr>
        <p:spPr>
          <a:xfrm>
            <a:off x="4870968" y="2365740"/>
            <a:ext cx="571387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7,846条</a:t>
            </a:r>
            <a:endParaRPr sz="104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902-47"/>
          <p:cNvSpPr txBox="1"/>
          <p:nvPr/>
        </p:nvSpPr>
        <p:spPr>
          <a:xfrm>
            <a:off x="666583" y="2651419"/>
            <a:ext cx="895007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AS均值(修正)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902-48"/>
          <p:cNvSpPr txBox="1"/>
          <p:nvPr/>
        </p:nvSpPr>
        <p:spPr>
          <a:xfrm>
            <a:off x="4320739" y="2651419"/>
            <a:ext cx="1121616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0.673 (σ=0.218)</a:t>
            </a:r>
            <a:endParaRPr sz="104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7903-49"/>
          <p:cNvSpPr txBox="1"/>
          <p:nvPr/>
        </p:nvSpPr>
        <p:spPr>
          <a:xfrm>
            <a:off x="666583" y="2937097"/>
            <a:ext cx="55710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ICI均值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903-50"/>
          <p:cNvSpPr txBox="1"/>
          <p:nvPr/>
        </p:nvSpPr>
        <p:spPr>
          <a:xfrm>
            <a:off x="4586331" y="2937097"/>
            <a:ext cx="85602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0.08 (σ=0.13)</a:t>
            </a:r>
            <a:endParaRPr sz="104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903-51"/>
          <p:cNvSpPr txBox="1"/>
          <p:nvPr/>
        </p:nvSpPr>
        <p:spPr>
          <a:xfrm>
            <a:off x="666583" y="3222776"/>
            <a:ext cx="62658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时间跨度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903-52"/>
          <p:cNvSpPr txBox="1"/>
          <p:nvPr/>
        </p:nvSpPr>
        <p:spPr>
          <a:xfrm>
            <a:off x="4201260" y="3222776"/>
            <a:ext cx="124109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2006Q4 ~ 2026Q2</a:t>
            </a:r>
            <a:endParaRPr sz="104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903-53"/>
          <p:cNvSpPr txBox="1"/>
          <p:nvPr/>
        </p:nvSpPr>
        <p:spPr>
          <a:xfrm>
            <a:off x="666583" y="3508454"/>
            <a:ext cx="62658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行业分类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7903-54"/>
          <p:cNvSpPr txBox="1"/>
          <p:nvPr/>
        </p:nvSpPr>
        <p:spPr>
          <a:xfrm>
            <a:off x="4301248" y="3508454"/>
            <a:ext cx="1141107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31类(关键词匹配)</a:t>
            </a:r>
            <a:endParaRPr sz="104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903-55"/>
          <p:cNvSpPr txBox="1"/>
          <p:nvPr/>
        </p:nvSpPr>
        <p:spPr>
          <a:xfrm>
            <a:off x="666583" y="3794133"/>
            <a:ext cx="113084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全模型R²(九指标)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904-56"/>
          <p:cNvSpPr txBox="1"/>
          <p:nvPr/>
        </p:nvSpPr>
        <p:spPr>
          <a:xfrm>
            <a:off x="4908761" y="3794133"/>
            <a:ext cx="53359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0.0684</a:t>
            </a:r>
            <a:endParaRPr sz="104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904-57"/>
          <p:cNvSpPr txBox="1"/>
          <p:nvPr/>
        </p:nvSpPr>
        <p:spPr>
          <a:xfrm>
            <a:off x="666583" y="4079811"/>
            <a:ext cx="62658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904-58"/>
          <p:cNvSpPr txBox="1"/>
          <p:nvPr/>
        </p:nvSpPr>
        <p:spPr>
          <a:xfrm>
            <a:off x="3901893" y="4079811"/>
            <a:ext cx="154046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东方财富API+AKShare</a:t>
            </a:r>
            <a:endParaRPr sz="104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892-17"/>
          <p:cNvSpPr txBox="1"/>
          <p:nvPr/>
        </p:nvSpPr>
        <p:spPr>
          <a:xfrm>
            <a:off x="609448" y="4375013"/>
            <a:ext cx="490337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V4九指标全模型回归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7904-59"/>
          <p:cNvSpPr txBox="1"/>
          <p:nvPr/>
        </p:nvSpPr>
        <p:spPr>
          <a:xfrm>
            <a:off x="666583" y="4679736"/>
            <a:ext cx="34314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7904-60"/>
          <p:cNvSpPr txBox="1"/>
          <p:nvPr/>
        </p:nvSpPr>
        <p:spPr>
          <a:xfrm>
            <a:off x="3990721" y="4679736"/>
            <a:ext cx="145163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DC262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β=-0.135, t=-14.20***</a:t>
            </a:r>
            <a:endParaRPr sz="1040" b="1">
              <a:solidFill>
                <a:srgbClr val="DC262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7904-61"/>
          <p:cNvSpPr txBox="1"/>
          <p:nvPr/>
        </p:nvSpPr>
        <p:spPr>
          <a:xfrm>
            <a:off x="666583" y="4965415"/>
            <a:ext cx="264729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904-62"/>
          <p:cNvSpPr txBox="1"/>
          <p:nvPr/>
        </p:nvSpPr>
        <p:spPr>
          <a:xfrm>
            <a:off x="4053065" y="4965415"/>
            <a:ext cx="13892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DC262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β=-0.053, t=-3.31***</a:t>
            </a:r>
            <a:endParaRPr sz="1040" b="1">
              <a:solidFill>
                <a:srgbClr val="DC262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905-63"/>
          <p:cNvSpPr txBox="1"/>
          <p:nvPr/>
        </p:nvSpPr>
        <p:spPr>
          <a:xfrm>
            <a:off x="666583" y="5251094"/>
            <a:ext cx="284816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7905-64"/>
          <p:cNvSpPr txBox="1"/>
          <p:nvPr/>
        </p:nvSpPr>
        <p:spPr>
          <a:xfrm>
            <a:off x="4036698" y="5251094"/>
            <a:ext cx="140565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DC262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β=-0.047, t=-4.45***</a:t>
            </a:r>
            <a:endParaRPr sz="1040" b="1">
              <a:solidFill>
                <a:srgbClr val="DC262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7905-65"/>
          <p:cNvSpPr txBox="1"/>
          <p:nvPr/>
        </p:nvSpPr>
        <p:spPr>
          <a:xfrm>
            <a:off x="666583" y="5536772"/>
            <a:ext cx="29047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7905-66"/>
          <p:cNvSpPr txBox="1"/>
          <p:nvPr/>
        </p:nvSpPr>
        <p:spPr>
          <a:xfrm>
            <a:off x="4215991" y="5536772"/>
            <a:ext cx="122636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DC262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β=-0.016, t=-1.81*</a:t>
            </a:r>
            <a:endParaRPr sz="1040" b="1">
              <a:solidFill>
                <a:srgbClr val="DC262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7905-67"/>
          <p:cNvSpPr txBox="1"/>
          <p:nvPr/>
        </p:nvSpPr>
        <p:spPr>
          <a:xfrm>
            <a:off x="666583" y="5822451"/>
            <a:ext cx="62882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ΔAS/SDI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7905-68"/>
          <p:cNvSpPr txBox="1"/>
          <p:nvPr/>
        </p:nvSpPr>
        <p:spPr>
          <a:xfrm>
            <a:off x="4052469" y="5822451"/>
            <a:ext cx="1389886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不显著(t=0.75/-0.25)</a:t>
            </a:r>
            <a:endParaRPr sz="104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7892-18"/>
          <p:cNvSpPr txBox="1"/>
          <p:nvPr/>
        </p:nvSpPr>
        <p:spPr>
          <a:xfrm>
            <a:off x="5768029" y="1203981"/>
            <a:ext cx="594654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负向预测的文献支撑与机制分析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2" name="el-1785891667888-9"/>
          <p:cNvSpPr txBox="1"/>
          <p:nvPr/>
        </p:nvSpPr>
        <p:spPr>
          <a:xfrm>
            <a:off x="5768029" y="1518227"/>
            <a:ext cx="5839895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97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AS负向（A股）：郑中华、李建军(2014)发现A股AS与基金净值呈负向。V5修正后AS牛熊均负向(牛t=-27.29***/熊t=-7.09***)，但FM截面中AS正向(t=+2.76**)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3" name="el-1785891667889-10"/>
          <p:cNvSpPr txBox="1"/>
          <p:nvPr/>
        </p:nvSpPr>
        <p:spPr>
          <a:xfrm>
            <a:off x="5768029" y="1991382"/>
            <a:ext cx="5839895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97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AS负向（国际）：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Jin et al.(2016)发现最高AS分位基金后续业绩显著为负，过度自信导致过度交易——</a:t>
            </a: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Semantic Scholar</a:t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el-1785891667890-11"/>
          <p:cNvSpPr txBox="1"/>
          <p:nvPr/>
        </p:nvSpPr>
        <p:spPr>
          <a:xfrm>
            <a:off x="5768029" y="2464537"/>
            <a:ext cx="5839895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97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RG正向（修复后）：V5修正RG计算后(持仓×个股收益)，RG正向预测业绩(t=+9.20***)，与Kacperczyk(2008)一致。牛市正向(t=+12.62***)，熊市负向(t=-7.17***)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5" name="el-1785891667890-12"/>
          <p:cNvSpPr txBox="1"/>
          <p:nvPr/>
        </p:nvSpPr>
        <p:spPr>
          <a:xfrm>
            <a:off x="5768029" y="2937692"/>
            <a:ext cx="5839895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97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ICI边际负向：V5修正量纲后ICI均值0.08(旧值712)，单变量边际负向(t=-1.78*)。样本有限(420观测)，需扩展验证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7891-13"/>
          <p:cNvSpPr txBox="1"/>
          <p:nvPr/>
        </p:nvSpPr>
        <p:spPr>
          <a:xfrm>
            <a:off x="5768029" y="3410848"/>
            <a:ext cx="5839895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97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OCI(=|RG|)正向预测：V5用|RG|作为ARG代理(申宇2013)，OCI正向预测(t=+4.40***)。牛市正向(t=+3.41***)，熊市不显著(t=+0.96)。交易活跃度在牛市中增厚收益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7891-14"/>
          <p:cNvSpPr txBox="1"/>
          <p:nvPr/>
        </p:nvSpPr>
        <p:spPr>
          <a:xfrm>
            <a:off x="5872778" y="3912570"/>
            <a:ext cx="5630397" cy="51957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6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双重排序角落组合(AS×ICI)：AS五分位差-6.22%/季(高AS组最差) | RG五分位差+5.14%/季(高RG组最好) | SDI五分位差-0.33% | 低AS+高RG(保守交易型)为最优组合</a:t>
            </a:r>
            <a:r>
              <a:rPr sz="97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970">
              <a:solidFill>
                <a:srgbClr val="92400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el-1785891667880-2"/>
          <p:cNvSpPr txBox="1"/>
          <p:nvPr/>
        </p:nvSpPr>
        <p:spPr>
          <a:xfrm>
            <a:off x="609448" y="6526232"/>
            <a:ext cx="921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真实数据验证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9" name="el-1785891667880-3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0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91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931-50"/>
          <p:cNvSpPr/>
          <p:nvPr/>
        </p:nvSpPr>
        <p:spPr>
          <a:xfrm>
            <a:off x="457086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932-53"/>
          <p:cNvCxnSpPr/>
          <p:nvPr/>
        </p:nvCxnSpPr>
        <p:spPr>
          <a:xfrm>
            <a:off x="457086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7937-75"/>
          <p:cNvCxnSpPr/>
          <p:nvPr/>
        </p:nvCxnSpPr>
        <p:spPr>
          <a:xfrm>
            <a:off x="580880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7937-76"/>
          <p:cNvCxnSpPr/>
          <p:nvPr/>
        </p:nvCxnSpPr>
        <p:spPr>
          <a:xfrm>
            <a:off x="580880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7937-77"/>
          <p:cNvCxnSpPr/>
          <p:nvPr/>
        </p:nvCxnSpPr>
        <p:spPr>
          <a:xfrm>
            <a:off x="580880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7937-78"/>
          <p:cNvCxnSpPr/>
          <p:nvPr/>
        </p:nvCxnSpPr>
        <p:spPr>
          <a:xfrm>
            <a:off x="580880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7931-51"/>
          <p:cNvSpPr/>
          <p:nvPr/>
        </p:nvSpPr>
        <p:spPr>
          <a:xfrm>
            <a:off x="4247088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7932-54"/>
          <p:cNvCxnSpPr/>
          <p:nvPr/>
        </p:nvCxnSpPr>
        <p:spPr>
          <a:xfrm>
            <a:off x="4247088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7938-79"/>
          <p:cNvCxnSpPr/>
          <p:nvPr/>
        </p:nvCxnSpPr>
        <p:spPr>
          <a:xfrm>
            <a:off x="4370882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-1785891667938-80"/>
          <p:cNvCxnSpPr/>
          <p:nvPr/>
        </p:nvCxnSpPr>
        <p:spPr>
          <a:xfrm>
            <a:off x="4370882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85891667938-81"/>
          <p:cNvCxnSpPr/>
          <p:nvPr/>
        </p:nvCxnSpPr>
        <p:spPr>
          <a:xfrm>
            <a:off x="4370882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7938-82"/>
          <p:cNvCxnSpPr/>
          <p:nvPr/>
        </p:nvCxnSpPr>
        <p:spPr>
          <a:xfrm>
            <a:off x="4370882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-1785891667938-83"/>
          <p:cNvCxnSpPr/>
          <p:nvPr/>
        </p:nvCxnSpPr>
        <p:spPr>
          <a:xfrm>
            <a:off x="4370882" y="3356092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7931-52"/>
          <p:cNvSpPr/>
          <p:nvPr/>
        </p:nvSpPr>
        <p:spPr>
          <a:xfrm>
            <a:off x="8037090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7" name="el-1785891667932-55"/>
          <p:cNvCxnSpPr/>
          <p:nvPr/>
        </p:nvCxnSpPr>
        <p:spPr>
          <a:xfrm>
            <a:off x="8037090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-1785891667939-84"/>
          <p:cNvCxnSpPr/>
          <p:nvPr/>
        </p:nvCxnSpPr>
        <p:spPr>
          <a:xfrm>
            <a:off x="8160884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-1785891667939-85"/>
          <p:cNvCxnSpPr/>
          <p:nvPr/>
        </p:nvCxnSpPr>
        <p:spPr>
          <a:xfrm>
            <a:off x="8160884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7939-86"/>
          <p:cNvCxnSpPr/>
          <p:nvPr/>
        </p:nvCxnSpPr>
        <p:spPr>
          <a:xfrm>
            <a:off x="8160884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-1785891667939-87"/>
          <p:cNvCxnSpPr/>
          <p:nvPr/>
        </p:nvCxnSpPr>
        <p:spPr>
          <a:xfrm>
            <a:off x="8160884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el-1785891667926-37"/>
          <p:cNvGraphicFramePr/>
          <p:nvPr/>
        </p:nvGraphicFramePr>
        <p:xfrm>
          <a:off x="457086" y="3560829"/>
          <a:ext cx="11274781" cy="202355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53747"/>
                <a:gridCol w="812696"/>
                <a:gridCol w="1457109"/>
                <a:gridCol w="1369323"/>
                <a:gridCol w="42819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数据项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记录数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基金覆盖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说明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基金筛选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原200+新200, 偏股混合型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602,904条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2006-2026日度净值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全持仓(半年报+年报)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361,636条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 (100%)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平均96只/期, HTML解析东方财富API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行业分类(关键词匹配)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4,267只股票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31个申万一级行业, 覆盖率55.5%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九指标(AS/RG/ICI/SDI/OCI等)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V5全模型R²=0.0684, AS最强(t=-26.81)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六种方法稳健性检验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OLS/FM/FE/双重排序/牛熊市/滞后阶数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3" name="el-1785891667926-38"/>
          <p:cNvSpPr/>
          <p:nvPr/>
        </p:nvSpPr>
        <p:spPr>
          <a:xfrm>
            <a:off x="3867969" y="38750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7926-38__text"/>
          <p:cNvSpPr txBox="1"/>
          <p:nvPr/>
        </p:nvSpPr>
        <p:spPr>
          <a:xfrm>
            <a:off x="3867969" y="38750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927-39"/>
          <p:cNvSpPr/>
          <p:nvPr/>
        </p:nvSpPr>
        <p:spPr>
          <a:xfrm>
            <a:off x="3867969" y="416551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5891667927-39__text"/>
          <p:cNvSpPr txBox="1"/>
          <p:nvPr/>
        </p:nvSpPr>
        <p:spPr>
          <a:xfrm>
            <a:off x="3867969" y="416551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927-40"/>
          <p:cNvSpPr/>
          <p:nvPr/>
        </p:nvSpPr>
        <p:spPr>
          <a:xfrm>
            <a:off x="3867969" y="445595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-1785891667927-40__text"/>
          <p:cNvSpPr txBox="1"/>
          <p:nvPr/>
        </p:nvSpPr>
        <p:spPr>
          <a:xfrm>
            <a:off x="3867969" y="445595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927-41"/>
          <p:cNvSpPr/>
          <p:nvPr/>
        </p:nvSpPr>
        <p:spPr>
          <a:xfrm>
            <a:off x="3867969" y="474639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-1785891667927-41__text"/>
          <p:cNvSpPr txBox="1"/>
          <p:nvPr/>
        </p:nvSpPr>
        <p:spPr>
          <a:xfrm>
            <a:off x="3867969" y="474639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927-42"/>
          <p:cNvSpPr/>
          <p:nvPr/>
        </p:nvSpPr>
        <p:spPr>
          <a:xfrm>
            <a:off x="3867969" y="503683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el-1785891667927-42__text"/>
          <p:cNvSpPr txBox="1"/>
          <p:nvPr/>
        </p:nvSpPr>
        <p:spPr>
          <a:xfrm>
            <a:off x="3867969" y="503683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927-43"/>
          <p:cNvSpPr/>
          <p:nvPr/>
        </p:nvSpPr>
        <p:spPr>
          <a:xfrm>
            <a:off x="3867969" y="53272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el-1785891667927-43__text"/>
          <p:cNvSpPr txBox="1"/>
          <p:nvPr/>
        </p:nvSpPr>
        <p:spPr>
          <a:xfrm>
            <a:off x="3867969" y="53272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928-45"/>
          <p:cNvSpPr/>
          <p:nvPr/>
        </p:nvSpPr>
        <p:spPr>
          <a:xfrm>
            <a:off x="457086" y="5674850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el-1785891667930-48"/>
          <p:cNvSpPr txBox="1"/>
          <p:nvPr/>
        </p:nvSpPr>
        <p:spPr>
          <a:xfrm>
            <a:off x="457086" y="692735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数据管线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930-49"/>
          <p:cNvSpPr txBox="1"/>
          <p:nvPr/>
        </p:nvSpPr>
        <p:spPr>
          <a:xfrm>
            <a:off x="457086" y="911755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400基金完整数据管线（全持仓+九指标+V4验证）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8" name="el-1785891667934-56"/>
          <p:cNvSpPr txBox="1"/>
          <p:nvPr/>
        </p:nvSpPr>
        <p:spPr>
          <a:xfrm>
            <a:off x="580880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7934-57"/>
          <p:cNvSpPr txBox="1"/>
          <p:nvPr/>
        </p:nvSpPr>
        <p:spPr>
          <a:xfrm>
            <a:off x="580880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数据获取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934-58"/>
          <p:cNvSpPr txBox="1"/>
          <p:nvPr/>
        </p:nvSpPr>
        <p:spPr>
          <a:xfrm>
            <a:off x="580880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AKShare: 净值/前十大持仓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934-59"/>
          <p:cNvSpPr txBox="1"/>
          <p:nvPr/>
        </p:nvSpPr>
        <p:spPr>
          <a:xfrm>
            <a:off x="580880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东方财富API: 全持仓(HTML解析)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934-60"/>
          <p:cNvSpPr txBox="1"/>
          <p:nvPr/>
        </p:nvSpPr>
        <p:spPr>
          <a:xfrm>
            <a:off x="580880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关键词匹配: 31类行业分类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934-61"/>
          <p:cNvSpPr txBox="1"/>
          <p:nvPr/>
        </p:nvSpPr>
        <p:spPr>
          <a:xfrm>
            <a:off x="580880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筛选: 偏股混合, 400只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935-62"/>
          <p:cNvSpPr txBox="1"/>
          <p:nvPr/>
        </p:nvSpPr>
        <p:spPr>
          <a:xfrm>
            <a:off x="4370882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935-63"/>
          <p:cNvSpPr txBox="1"/>
          <p:nvPr/>
        </p:nvSpPr>
        <p:spPr>
          <a:xfrm>
            <a:off x="4370882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指标计算（九指标）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7935-64"/>
          <p:cNvSpPr txBox="1"/>
          <p:nvPr/>
        </p:nvSpPr>
        <p:spPr>
          <a:xfrm>
            <a:off x="4370882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AS: 修正公式(均值0.673)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935-65"/>
          <p:cNvSpPr txBox="1"/>
          <p:nvPr/>
        </p:nvSpPr>
        <p:spPr>
          <a:xfrm>
            <a:off x="4370882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RG: 持仓×个股收益(均值0.93%)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935-66"/>
          <p:cNvSpPr txBox="1"/>
          <p:nvPr/>
        </p:nvSpPr>
        <p:spPr>
          <a:xfrm>
            <a:off x="4370882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ICI: 行业集中度(均值0.08)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935-67"/>
          <p:cNvSpPr txBox="1"/>
          <p:nvPr/>
        </p:nvSpPr>
        <p:spPr>
          <a:xfrm>
            <a:off x="4370882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SDI: 风格漂移(均值0.15)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935-68"/>
          <p:cNvSpPr txBox="1"/>
          <p:nvPr/>
        </p:nvSpPr>
        <p:spPr>
          <a:xfrm>
            <a:off x="4370882" y="3132311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OCI: |RG|代理(均值0.028)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7936-69"/>
          <p:cNvSpPr txBox="1"/>
          <p:nvPr/>
        </p:nvSpPr>
        <p:spPr>
          <a:xfrm>
            <a:off x="8160884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7936-70"/>
          <p:cNvSpPr txBox="1"/>
          <p:nvPr/>
        </p:nvSpPr>
        <p:spPr>
          <a:xfrm>
            <a:off x="8160884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实证分析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3" name="el-1785891667936-71"/>
          <p:cNvSpPr txBox="1"/>
          <p:nvPr/>
        </p:nvSpPr>
        <p:spPr>
          <a:xfrm>
            <a:off x="8160884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OLS聚类标准误 + Fama-MacBeth截面回归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936-72"/>
          <p:cNvSpPr txBox="1"/>
          <p:nvPr/>
        </p:nvSpPr>
        <p:spPr>
          <a:xfrm>
            <a:off x="8160884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基金固定效应 + 双重排序角落组合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936-73"/>
          <p:cNvSpPr txBox="1"/>
          <p:nvPr/>
        </p:nvSpPr>
        <p:spPr>
          <a:xfrm>
            <a:off x="8160884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牛熊市异质性 + 滞后阶数分析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7936-74"/>
          <p:cNvSpPr txBox="1"/>
          <p:nvPr/>
        </p:nvSpPr>
        <p:spPr>
          <a:xfrm>
            <a:off x="8160884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六种方法交叉验证(见p.26-27)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7928-44"/>
          <p:cNvSpPr txBox="1"/>
          <p:nvPr/>
        </p:nvSpPr>
        <p:spPr>
          <a:xfrm>
            <a:off x="497081" y="5722463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数据管线完整：400基金×20年 | 36万全持仓+60万净值 | 九指标全部计算完成 | V5全模型AS最强(t=-26.81***)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7928-46"/>
          <p:cNvSpPr txBox="1"/>
          <p:nvPr/>
        </p:nvSpPr>
        <p:spPr>
          <a:xfrm>
            <a:off x="609448" y="6526232"/>
            <a:ext cx="921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真实数据管线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7928-47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09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096-10"/>
          <p:cNvSpPr/>
          <p:nvPr/>
        </p:nvSpPr>
        <p:spPr>
          <a:xfrm>
            <a:off x="418995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4" name="el-1785891668100-40"/>
          <p:cNvGraphicFramePr/>
          <p:nvPr/>
        </p:nvGraphicFramePr>
        <p:xfrm>
          <a:off x="542789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93800"/>
                <a:gridCol w="1462912"/>
                <a:gridCol w="1427351"/>
                <a:gridCol w="1686694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FE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结论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OLS正向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负向稳健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正向显著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el-1785891668096-11"/>
          <p:cNvSpPr/>
          <p:nvPr/>
        </p:nvSpPr>
        <p:spPr>
          <a:xfrm>
            <a:off x="6142089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6" name="el-1785891668103-83"/>
          <p:cNvGraphicFramePr/>
          <p:nvPr/>
        </p:nvGraphicFramePr>
        <p:xfrm>
          <a:off x="6265883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4631"/>
                <a:gridCol w="1058945"/>
                <a:gridCol w="1079776"/>
                <a:gridCol w="1059243"/>
                <a:gridCol w="1032758"/>
                <a:gridCol w="5654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持续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-26.07***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-6.05***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-13.12***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-9.47***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+8.86***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-3.16***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+3.48***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+4.03***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+3.66***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+1.47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-2.31**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-1.31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+2.53**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-3.65***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+1.92*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-10.76***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+1.64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-13.36***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el-1785891668092-3"/>
          <p:cNvSpPr/>
          <p:nvPr/>
        </p:nvSpPr>
        <p:spPr>
          <a:xfrm>
            <a:off x="418995" y="4225031"/>
            <a:ext cx="11350962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8093-5"/>
          <p:cNvSpPr/>
          <p:nvPr/>
        </p:nvSpPr>
        <p:spPr>
          <a:xfrm>
            <a:off x="418995" y="4914380"/>
            <a:ext cx="11350962" cy="2618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8095-8"/>
          <p:cNvSpPr txBox="1"/>
          <p:nvPr/>
        </p:nvSpPr>
        <p:spPr>
          <a:xfrm>
            <a:off x="418995" y="1467341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095-9"/>
          <p:cNvSpPr txBox="1"/>
          <p:nvPr/>
        </p:nvSpPr>
        <p:spPr>
          <a:xfrm>
            <a:off x="418995" y="1676838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六种方法交叉验证：OLS / Fama-MacBeth / 固定效应 / 双重排序 / 牛熊市 / 滞后阶数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8104-84"/>
          <p:cNvSpPr txBox="1"/>
          <p:nvPr/>
        </p:nvSpPr>
        <p:spPr>
          <a:xfrm>
            <a:off x="542789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基金固定效应回归 (within R²=0.0650)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8104-85"/>
          <p:cNvSpPr txBox="1"/>
          <p:nvPr/>
        </p:nvSpPr>
        <p:spPr>
          <a:xfrm>
            <a:off x="6265883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滞后阶数分析（预测力持续性）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8092-2"/>
          <p:cNvSpPr txBox="1"/>
          <p:nvPr/>
        </p:nvSpPr>
        <p:spPr>
          <a:xfrm>
            <a:off x="523744" y="4291690"/>
            <a:ext cx="11141464" cy="4798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45"/>
              </a:lnSpc>
            </a:pP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六种方法交叉验证结论： (1) AS是最强OLS预测因子(t=-26.81***)但FM中正向(t=+2.76**)——OLS负向/FM正向的矛盾揭示AS时序与截面效应方向相反。RG在OLS和FE中均正向显著(OLS t=+9.20***/FE t=+7.77**)号。 (2) RG是OLS和FE中均正向显著的预测因子，持续4Q。SDI在OLS和FE中均负向显著(t=-7.69***/-7.25***)，风格漂移持续损害业绩。 (3) RG呈方向交替(1Q正→2Q负→3Q正→4Q正)，持续4Q。AS也持续4Q负向(-26.07/-6.05/-13.12/-9.47)，是最持久的预测因子。 (4) SDI在OLS和FE中均负向显著(-7.69***/-7.25***)——风格漂移在截面和within均损害业绩。</a:t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890">
              <a:solidFill>
                <a:srgbClr val="92400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8093-4"/>
          <p:cNvSpPr txBox="1"/>
          <p:nvPr/>
        </p:nvSpPr>
        <p:spPr>
          <a:xfrm>
            <a:off x="446611" y="4952470"/>
            <a:ext cx="1129573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六种方法交叉验证：AS最强OLS(负向) + RG最稳健(OLS/FE均正向) | RG呈均值回归(1Q正→2Q负→3Q正) | SDI在OLS/FE均负向</a:t>
            </a:r>
            <a:endParaRPr sz="9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093-6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093-7"/>
          <p:cNvSpPr txBox="1"/>
          <p:nvPr/>
        </p:nvSpPr>
        <p:spPr>
          <a:xfrm>
            <a:off x="11442319" y="6519090"/>
            <a:ext cx="22384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21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217-58"/>
          <p:cNvGraphicFramePr/>
          <p:nvPr/>
        </p:nvGraphicFramePr>
        <p:xfrm>
          <a:off x="418995" y="1971593"/>
          <a:ext cx="11350962" cy="23473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57036"/>
                <a:gridCol w="1470649"/>
                <a:gridCol w="2389433"/>
                <a:gridCol w="1434344"/>
                <a:gridCol w="1757370"/>
                <a:gridCol w="1435981"/>
                <a:gridCol w="1234816"/>
                <a:gridCol w="761810"/>
              </a:tblGrid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OLS聚类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Fama-MacBeth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固定效应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牛熊市分组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双重排序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滞后4Q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综合评价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最稳健(正向)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牛正/熊无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条件显著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仅牛显著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被AS吸收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牛负/熊正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OLS+FE负向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el-1785891668219-60"/>
          <p:cNvSpPr/>
          <p:nvPr/>
        </p:nvSpPr>
        <p:spPr>
          <a:xfrm>
            <a:off x="418995" y="4347486"/>
            <a:ext cx="11350962" cy="5112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0F2F1"/>
          </a:solidFill>
          <a:ln w="9523" algn="in">
            <a:solidFill>
              <a:srgbClr val="80CBC4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el-1785891668220-62"/>
          <p:cNvSpPr/>
          <p:nvPr/>
        </p:nvSpPr>
        <p:spPr>
          <a:xfrm>
            <a:off x="418995" y="4934913"/>
            <a:ext cx="11350962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8222-65"/>
          <p:cNvSpPr txBox="1"/>
          <p:nvPr/>
        </p:nvSpPr>
        <p:spPr>
          <a:xfrm>
            <a:off x="418995" y="1413627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el-1785891668222-66"/>
          <p:cNvSpPr txBox="1"/>
          <p:nvPr/>
        </p:nvSpPr>
        <p:spPr>
          <a:xfrm>
            <a:off x="418995" y="1623125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六指标 × 六方法：哪种指标在哪种检验中最稳健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el-1785891668219-59"/>
          <p:cNvSpPr txBox="1"/>
          <p:nvPr/>
        </p:nvSpPr>
        <p:spPr>
          <a:xfrm>
            <a:off x="542789" y="4423667"/>
            <a:ext cx="11103373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97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综合评价： AS在OLS中最强(t=-26.81***)但FM正向(t=+2.76**)； RG在OLS/FE中均正向显著(OLS t=+9.20***/FE t=+7.77***)； 两者互补——AS捕获时序负向效应，RG捕获截面正向效应。 RG的1Q正→2Q负交替模式暗示交易效应具有均值回归特征：短期惩罚后中期反弹。 SDI在OLS和FE中均负向显著，风格漂移持续损害业绩。</a:t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970">
              <a:solidFill>
                <a:srgbClr val="004D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220-61"/>
          <p:cNvSpPr txBox="1"/>
          <p:nvPr/>
        </p:nvSpPr>
        <p:spPr>
          <a:xfrm>
            <a:off x="458990" y="4982526"/>
            <a:ext cx="1127097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AS=OLS最强(t=-26.81***) | RG=OLS+FE均正向(最稳健) | SDI=OLS+FE均负向 | RG均值回归(1Q正→2Q负→3Q正)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220-63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8221-64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30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311-65"/>
          <p:cNvGraphicFramePr/>
          <p:nvPr/>
        </p:nvGraphicFramePr>
        <p:xfrm>
          <a:off x="533267" y="1416752"/>
          <a:ext cx="11122419" cy="39804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7488"/>
                <a:gridCol w="571357"/>
                <a:gridCol w="761809"/>
                <a:gridCol w="761809"/>
                <a:gridCol w="1500259"/>
                <a:gridCol w="1513055"/>
                <a:gridCol w="4966641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市场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样本量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数据来源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核心指标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核心结果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</a:tr>
              <a:tr h="56183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 QJE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453名经理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Morningstar光盘+手动收集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经理年龄/年限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年轻经理更保守从众，离职概率对业绩敏感度更高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2,647只基金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AS最高组扣费后跑赢基准1.13%/年，高低差2.55%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1,771只基金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CRSP+CDA/Spectrum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ICI高于中位数基金年化异常收益1.58%（扣费前）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2,543只基金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RG预测未来1-3月业绩，最高组年化跑赢3.41%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申宇等 (2013) 管理世界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328只基金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RESSET锐思数据库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ARG（修正版）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ARG最高组年超额收益较最低组高6%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 金融学季刊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L4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1,579只基金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Wind数据库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业绩-风格漂移U型关系，对称轴0.63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Berk &amp; Green (2004)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L5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理论模型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理论推导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PS（本文构建）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理性预期下经理能力不可观测，不可预测性可能蕴含Alpha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本文框架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L1-L5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400只基金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AKShare+东方财富(免费)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AS+ICI+RG+SDI+OCI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五层9指标递进，400基金修复后验证：AS负向/RG正向/SDI负向，全模型R²=0.0684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8312-67"/>
          <p:cNvSpPr/>
          <p:nvPr/>
        </p:nvSpPr>
        <p:spPr>
          <a:xfrm>
            <a:off x="533267" y="5449581"/>
            <a:ext cx="11122419" cy="4570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8314-70"/>
          <p:cNvSpPr txBox="1"/>
          <p:nvPr/>
        </p:nvSpPr>
        <p:spPr>
          <a:xfrm>
            <a:off x="533267" y="75597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8318-71"/>
          <p:cNvSpPr txBox="1"/>
          <p:nvPr/>
        </p:nvSpPr>
        <p:spPr>
          <a:xfrm>
            <a:off x="533267" y="994037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核心文献：他们怎么做、数据哪来、结果如何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el-1785891668312-66"/>
          <p:cNvSpPr txBox="1"/>
          <p:nvPr/>
        </p:nvSpPr>
        <p:spPr>
          <a:xfrm>
            <a:off x="666583" y="5478149"/>
            <a:ext cx="1085578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56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核心差异：单篇文献只覆盖1个层级1个指标 | 本文整合5层9指标为递进框架 | V5修复后发现AS负向/RG正向/SDI负向。AS与美股相反，RG与Kacperczyk(2008)一致。修复后R²提升195%(0.0232→0.0684) | 所有文献已查证确认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8312-68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313-69"/>
          <p:cNvSpPr txBox="1"/>
          <p:nvPr/>
        </p:nvSpPr>
        <p:spPr>
          <a:xfrm>
            <a:off x="11440831" y="6519090"/>
            <a:ext cx="22532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8328-1"/>
          <p:cNvSpPr/>
          <p:nvPr/>
        </p:nvSpPr>
        <p:spPr>
          <a:xfrm>
            <a:off x="0" y="857"/>
            <a:ext cx="12188952" cy="68562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5F6F8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5891668329-2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5891668335-9"/>
          <p:cNvSpPr/>
          <p:nvPr/>
        </p:nvSpPr>
        <p:spPr>
          <a:xfrm>
            <a:off x="533267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5" name="el-1785891668336-13"/>
          <p:cNvCxnSpPr/>
          <p:nvPr/>
        </p:nvCxnSpPr>
        <p:spPr>
          <a:xfrm>
            <a:off x="552312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335-10"/>
          <p:cNvSpPr/>
          <p:nvPr/>
        </p:nvSpPr>
        <p:spPr>
          <a:xfrm>
            <a:off x="6161134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336-14"/>
          <p:cNvCxnSpPr/>
          <p:nvPr/>
        </p:nvCxnSpPr>
        <p:spPr>
          <a:xfrm>
            <a:off x="6180180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8335-11"/>
          <p:cNvSpPr/>
          <p:nvPr/>
        </p:nvSpPr>
        <p:spPr>
          <a:xfrm>
            <a:off x="533267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8336-15"/>
          <p:cNvCxnSpPr/>
          <p:nvPr/>
        </p:nvCxnSpPr>
        <p:spPr>
          <a:xfrm>
            <a:off x="552312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8344-30"/>
          <p:cNvSpPr/>
          <p:nvPr/>
        </p:nvSpPr>
        <p:spPr>
          <a:xfrm>
            <a:off x="6161134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8344-31"/>
          <p:cNvCxnSpPr/>
          <p:nvPr/>
        </p:nvCxnSpPr>
        <p:spPr>
          <a:xfrm>
            <a:off x="6180180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335-12"/>
          <p:cNvSpPr/>
          <p:nvPr/>
        </p:nvSpPr>
        <p:spPr>
          <a:xfrm>
            <a:off x="533267" y="4690152"/>
            <a:ext cx="11122419" cy="12950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19045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8333-6"/>
          <p:cNvSpPr/>
          <p:nvPr/>
        </p:nvSpPr>
        <p:spPr>
          <a:xfrm>
            <a:off x="533267" y="5985228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8332-3"/>
          <p:cNvSpPr txBox="1"/>
          <p:nvPr/>
        </p:nvSpPr>
        <p:spPr>
          <a:xfrm>
            <a:off x="533267" y="35364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333-4"/>
          <p:cNvSpPr txBox="1"/>
          <p:nvPr/>
        </p:nvSpPr>
        <p:spPr>
          <a:xfrm>
            <a:off x="533267" y="591706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我们的超越：五层递进框架 vs 单篇文献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8339-16"/>
          <p:cNvSpPr txBox="1"/>
          <p:nvPr/>
        </p:nvSpPr>
        <p:spPr>
          <a:xfrm>
            <a:off x="723719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超越一：框架整合（vs 各文献单层研究）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8340-17"/>
          <p:cNvSpPr txBox="1"/>
          <p:nvPr/>
        </p:nvSpPr>
        <p:spPr>
          <a:xfrm>
            <a:off x="723719" y="1423894"/>
            <a:ext cx="5111117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Cremers只研究AS（L2），Kacperczyk只研究RG（L3），Berk &amp; Green只做理论推导（L5），各篇相互独立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340-18"/>
          <p:cNvSpPr txBox="1"/>
          <p:nvPr/>
        </p:nvSpPr>
        <p:spPr>
          <a:xfrm>
            <a:off x="723719" y="1823844"/>
            <a:ext cx="511706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将5篇核心文献的指标整合为L1→L2→L3→L4→L5递进框架，每层输出为下层输入，构建完整因果链条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8340-19"/>
          <p:cNvSpPr txBox="1"/>
          <p:nvPr/>
        </p:nvSpPr>
        <p:spPr>
          <a:xfrm>
            <a:off x="723719" y="2223794"/>
            <a:ext cx="5032555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不仅能预测业绩，还能回答"为什么"——经理经验如何影响持仓，持仓如何影响交易，交易如何影响风险应对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341-20"/>
          <p:cNvSpPr txBox="1"/>
          <p:nvPr/>
        </p:nvSpPr>
        <p:spPr>
          <a:xfrm>
            <a:off x="6351587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超越二：数据民主化（vs 付费数据库）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8341-21"/>
          <p:cNvSpPr txBox="1"/>
          <p:nvPr/>
        </p:nvSpPr>
        <p:spPr>
          <a:xfrm>
            <a:off x="6351587" y="1423894"/>
            <a:ext cx="5012022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Cremers用CRSP+CDA（年费数万美元），寇宗来用Wind（年费数十万人民币），Berk &amp; Green为理论模型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341-22"/>
          <p:cNvSpPr txBox="1"/>
          <p:nvPr/>
        </p:nvSpPr>
        <p:spPr>
          <a:xfrm>
            <a:off x="6351587" y="1823844"/>
            <a:ext cx="509727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全流程使用AKShare免费API+东方财富公开接口，200基金×12季度完整数据管线已验证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341-23"/>
          <p:cNvSpPr txBox="1"/>
          <p:nvPr/>
        </p:nvSpPr>
        <p:spPr>
          <a:xfrm>
            <a:off x="6351587" y="2223794"/>
            <a:ext cx="5066033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研究可复现性极大提升，任何研究者均可免费复制；数据获取成本从数十万降至零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342-24"/>
          <p:cNvSpPr txBox="1"/>
          <p:nvPr/>
        </p:nvSpPr>
        <p:spPr>
          <a:xfrm>
            <a:off x="723719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超越三：中国市场本土化发现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346-32"/>
          <p:cNvSpPr txBox="1"/>
          <p:nvPr/>
        </p:nvSpPr>
        <p:spPr>
          <a:xfrm>
            <a:off x="723719" y="3290327"/>
            <a:ext cx="483897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AS负向+RG正向：V5修复后发现AS负向(t=-26.81***)与美股相反，但RG正向(t=+9.20***)与Kacperczyk(2008)一致。行为信号分化而非全面负向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347-33"/>
          <p:cNvSpPr txBox="1"/>
          <p:nvPr/>
        </p:nvSpPr>
        <p:spPr>
          <a:xfrm>
            <a:off x="723719" y="3690277"/>
            <a:ext cx="5021991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文献支撑：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郑中华(2014)发现A股AS与净值负相关，朱宏志(2012)发现牛市RG为负，Jin et al.(2016)发现最高AS分位业绩为负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347-34"/>
          <p:cNvSpPr txBox="1"/>
          <p:nvPr/>
        </p:nvSpPr>
        <p:spPr>
          <a:xfrm>
            <a:off x="723719" y="4090227"/>
            <a:ext cx="495342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市场结构解释：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A股散户占比超60%，行业轮动年化3-4次，主动管理信息优势受限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347-35"/>
          <p:cNvSpPr txBox="1"/>
          <p:nvPr/>
        </p:nvSpPr>
        <p:spPr>
          <a:xfrm>
            <a:off x="6351587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超越四：全持仓vs前十大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347-36"/>
          <p:cNvSpPr txBox="1"/>
          <p:nvPr/>
        </p:nvSpPr>
        <p:spPr>
          <a:xfrm>
            <a:off x="6351587" y="3290327"/>
            <a:ext cx="5032734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美国基金每季度强制披露全持仓（SEC N-PORT），Cremers等直接使用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348-37"/>
          <p:cNvSpPr txBox="1"/>
          <p:nvPr/>
        </p:nvSpPr>
        <p:spPr>
          <a:xfrm>
            <a:off x="6351587" y="3490302"/>
            <a:ext cx="4146237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我们的挑战：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中国基金仅季报披露前十大，半年报/年报才披露全持仓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348-38"/>
          <p:cNvSpPr txBox="1"/>
          <p:nvPr/>
        </p:nvSpPr>
        <p:spPr>
          <a:xfrm>
            <a:off x="6351587" y="3690277"/>
            <a:ext cx="511825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我们的方案：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通过东方财富API获取半年报全持仓（month=06/12），200基金185,144条记录100%覆盖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348-39"/>
          <p:cNvSpPr txBox="1"/>
          <p:nvPr/>
        </p:nvSpPr>
        <p:spPr>
          <a:xfrm>
            <a:off x="6351587" y="4090227"/>
            <a:ext cx="511334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发现：V5修正AS均值0.673，RG用持仓×个股收益精确计算(均值0.93%)，ICI量纲修复(712→0.08)，SDI重算(33.4→0.15)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342-25"/>
          <p:cNvSpPr txBox="1"/>
          <p:nvPr/>
        </p:nvSpPr>
        <p:spPr>
          <a:xfrm>
            <a:off x="704674" y="4804423"/>
            <a:ext cx="108862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核心论点：我们不是简单复制文献，而是整合+创新+本土化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8342-26"/>
          <p:cNvSpPr txBox="1"/>
          <p:nvPr/>
        </p:nvSpPr>
        <p:spPr>
          <a:xfrm>
            <a:off x="704674" y="5071057"/>
            <a:ext cx="683250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框架创新：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首次将5篇顶级期刊文献的独立指标整合为因果递进框架（Cuthbertson 2016综述指出的研究空白）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342-27"/>
          <p:cNvSpPr txBox="1"/>
          <p:nvPr/>
        </p:nvSpPr>
        <p:spPr>
          <a:xfrm>
            <a:off x="704674" y="5271032"/>
            <a:ext cx="52644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方法创新：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免费API替代付费数据库，全持仓替代前十大近似，200基金真实数据验证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343-28"/>
          <p:cNvSpPr txBox="1"/>
          <p:nvPr/>
        </p:nvSpPr>
        <p:spPr>
          <a:xfrm>
            <a:off x="704674" y="5471007"/>
            <a:ext cx="651751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发现创新：AS最强负向(t=-26.81***)，RG正向(t=+9.20***)，R²提升195%。AS在FM截面正向(t=+2.76**)——OLS/FM方向矛盾是原创发现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343-29"/>
          <p:cNvSpPr txBox="1"/>
          <p:nvPr/>
        </p:nvSpPr>
        <p:spPr>
          <a:xfrm>
            <a:off x="704674" y="5670982"/>
            <a:ext cx="451657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可复现性：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所有数据源公开免费，计算代码开源，任何研究者可完整复制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333-5"/>
          <p:cNvSpPr txBox="1"/>
          <p:nvPr/>
        </p:nvSpPr>
        <p:spPr>
          <a:xfrm>
            <a:off x="578975" y="6023318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四重超越：框架整合（5篇→1体系）| 数据民主化（付费→免费）| AS负向+RG正向发现+OLS/FM矛盾 | 全模型R²=0.0684(提升195%)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333-7"/>
          <p:cNvSpPr txBox="1"/>
          <p:nvPr/>
        </p:nvSpPr>
        <p:spPr>
          <a:xfrm>
            <a:off x="609448" y="6526232"/>
            <a:ext cx="701341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8333-8"/>
          <p:cNvSpPr txBox="1"/>
          <p:nvPr/>
        </p:nvSpPr>
        <p:spPr>
          <a:xfrm>
            <a:off x="11432648" y="6519090"/>
            <a:ext cx="23351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</a:t>
            </a:r>
            <a:endParaRPr sz="97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5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517-6"/>
          <p:cNvSpPr/>
          <p:nvPr/>
        </p:nvSpPr>
        <p:spPr>
          <a:xfrm>
            <a:off x="53326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519-12"/>
          <p:cNvCxnSpPr/>
          <p:nvPr/>
        </p:nvCxnSpPr>
        <p:spPr>
          <a:xfrm>
            <a:off x="53326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8528-42"/>
          <p:cNvCxnSpPr/>
          <p:nvPr/>
        </p:nvCxnSpPr>
        <p:spPr>
          <a:xfrm>
            <a:off x="676106" y="328511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518-7"/>
          <p:cNvSpPr/>
          <p:nvPr/>
        </p:nvSpPr>
        <p:spPr>
          <a:xfrm>
            <a:off x="4272382" y="1585332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519-13"/>
          <p:cNvCxnSpPr/>
          <p:nvPr/>
        </p:nvCxnSpPr>
        <p:spPr>
          <a:xfrm>
            <a:off x="4272382" y="1599616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8529-43"/>
          <p:cNvCxnSpPr/>
          <p:nvPr/>
        </p:nvCxnSpPr>
        <p:spPr>
          <a:xfrm>
            <a:off x="4415222" y="3085144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8518-8"/>
          <p:cNvSpPr/>
          <p:nvPr/>
        </p:nvSpPr>
        <p:spPr>
          <a:xfrm>
            <a:off x="801164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8519-14"/>
          <p:cNvCxnSpPr/>
          <p:nvPr/>
        </p:nvCxnSpPr>
        <p:spPr>
          <a:xfrm>
            <a:off x="801164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8530-44"/>
          <p:cNvCxnSpPr/>
          <p:nvPr/>
        </p:nvCxnSpPr>
        <p:spPr>
          <a:xfrm>
            <a:off x="8154486" y="288516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518-9"/>
          <p:cNvSpPr/>
          <p:nvPr/>
        </p:nvSpPr>
        <p:spPr>
          <a:xfrm>
            <a:off x="53326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8519-15"/>
          <p:cNvCxnSpPr/>
          <p:nvPr/>
        </p:nvCxnSpPr>
        <p:spPr>
          <a:xfrm>
            <a:off x="53326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8530-45"/>
          <p:cNvCxnSpPr/>
          <p:nvPr/>
        </p:nvCxnSpPr>
        <p:spPr>
          <a:xfrm>
            <a:off x="67610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8518-10"/>
          <p:cNvSpPr/>
          <p:nvPr/>
        </p:nvSpPr>
        <p:spPr>
          <a:xfrm>
            <a:off x="4272382" y="3685069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8520-16"/>
          <p:cNvCxnSpPr/>
          <p:nvPr/>
        </p:nvCxnSpPr>
        <p:spPr>
          <a:xfrm>
            <a:off x="4272382" y="3699353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-1785891668531-46"/>
          <p:cNvCxnSpPr/>
          <p:nvPr/>
        </p:nvCxnSpPr>
        <p:spPr>
          <a:xfrm>
            <a:off x="4415222" y="4984907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8519-11"/>
          <p:cNvSpPr/>
          <p:nvPr/>
        </p:nvSpPr>
        <p:spPr>
          <a:xfrm>
            <a:off x="801164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9" name="el-1785891668520-17"/>
          <p:cNvCxnSpPr/>
          <p:nvPr/>
        </p:nvCxnSpPr>
        <p:spPr>
          <a:xfrm>
            <a:off x="801164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8531-47"/>
          <p:cNvCxnSpPr/>
          <p:nvPr/>
        </p:nvCxnSpPr>
        <p:spPr>
          <a:xfrm>
            <a:off x="815448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8516-4"/>
          <p:cNvSpPr txBox="1"/>
          <p:nvPr/>
        </p:nvSpPr>
        <p:spPr>
          <a:xfrm>
            <a:off x="533267" y="934967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学术原创性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517-5"/>
          <p:cNvSpPr txBox="1"/>
          <p:nvPr/>
        </p:nvSpPr>
        <p:spPr>
          <a:xfrm>
            <a:off x="533267" y="1168271"/>
            <a:ext cx="11295730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六项原创：基于400基金全持仓验证 + 文献查重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8524-24"/>
          <p:cNvSpPr txBox="1"/>
          <p:nvPr/>
        </p:nvSpPr>
        <p:spPr>
          <a:xfrm>
            <a:off x="676106" y="1690081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8525-25"/>
          <p:cNvSpPr txBox="1"/>
          <p:nvPr/>
        </p:nvSpPr>
        <p:spPr>
          <a:xfrm>
            <a:off x="67610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AS负向+RG正向信号分化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522-18"/>
          <p:cNvSpPr txBox="1"/>
          <p:nvPr/>
        </p:nvSpPr>
        <p:spPr>
          <a:xfrm>
            <a:off x="676106" y="2232870"/>
            <a:ext cx="3358211" cy="999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V5修复后发现行为信号分化：AS负向(t=-26.81***) &gt; RG正向(t=+9.20***) &gt; SDI负向(t=-7.69***) &gt; OCI正向(t=+4.40***)。AS与美股相反，RG与Kacperczyk(2008)一致。全模型R²=0.0684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525-26"/>
          <p:cNvSpPr txBox="1"/>
          <p:nvPr/>
        </p:nvSpPr>
        <p:spPr>
          <a:xfrm>
            <a:off x="676106" y="331844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查重：多篇文献支持负向，非单一指标反转而是系统性差异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525-27"/>
          <p:cNvSpPr txBox="1"/>
          <p:nvPr/>
        </p:nvSpPr>
        <p:spPr>
          <a:xfrm>
            <a:off x="4415222" y="1690081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8525-28"/>
          <p:cNvSpPr txBox="1"/>
          <p:nvPr/>
        </p:nvSpPr>
        <p:spPr>
          <a:xfrm>
            <a:off x="4415222" y="1975759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牛熊市异质性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523-19"/>
          <p:cNvSpPr txBox="1"/>
          <p:nvPr/>
        </p:nvSpPr>
        <p:spPr>
          <a:xfrm>
            <a:off x="4415222" y="2232870"/>
            <a:ext cx="3358360" cy="799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V5牛熊市：RG牛熊反转(牛正t=+12.62***/熊负t=-7.17***)，SDI牛熊反转(牛负t=-12.36***/熊正t=+4.03***)。AS牛熊均负但牛市更强。RG/SDI的牛熊反转是原创发现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525-29"/>
          <p:cNvSpPr txBox="1"/>
          <p:nvPr/>
        </p:nvSpPr>
        <p:spPr>
          <a:xfrm>
            <a:off x="4415222" y="3118473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526-30"/>
          <p:cNvSpPr txBox="1"/>
          <p:nvPr/>
        </p:nvSpPr>
        <p:spPr>
          <a:xfrm>
            <a:off x="8154486" y="1690081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8526-31"/>
          <p:cNvSpPr txBox="1"/>
          <p:nvPr/>
        </p:nvSpPr>
        <p:spPr>
          <a:xfrm>
            <a:off x="815448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AS变化率新指标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8523-20"/>
          <p:cNvSpPr txBox="1"/>
          <p:nvPr/>
        </p:nvSpPr>
        <p:spPr>
          <a:xfrm>
            <a:off x="8154486" y="2232870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ΔAS正向预测下期收益（V5: t=+2.16, p=0.031）。FE中t=+2.01**。Jin et al.(2016)研究反向因果（业绩→AS变化），无人研究AS变化→未来业绩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526-32"/>
          <p:cNvSpPr txBox="1"/>
          <p:nvPr/>
        </p:nvSpPr>
        <p:spPr>
          <a:xfrm>
            <a:off x="8154486" y="291849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526-33"/>
          <p:cNvSpPr txBox="1"/>
          <p:nvPr/>
        </p:nvSpPr>
        <p:spPr>
          <a:xfrm>
            <a:off x="67610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el-1785891668526-34"/>
          <p:cNvSpPr txBox="1"/>
          <p:nvPr/>
        </p:nvSpPr>
        <p:spPr>
          <a:xfrm>
            <a:off x="67610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全持仓数据方法学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el-1785891668523-21"/>
          <p:cNvSpPr txBox="1"/>
          <p:nvPr/>
        </p:nvSpPr>
        <p:spPr>
          <a:xfrm>
            <a:off x="67610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V5修正AS均值0.673(旧公式0.948)。RG用持仓×个股收益精确计算(旧法用市场均值)。ICI量纲修复(712→0.08)。SDI重算(33.4→0.15)。全面方法学修正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527-35"/>
          <p:cNvSpPr txBox="1"/>
          <p:nvPr/>
        </p:nvSpPr>
        <p:spPr>
          <a:xfrm>
            <a:off x="67610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527-36"/>
          <p:cNvSpPr txBox="1"/>
          <p:nvPr/>
        </p:nvSpPr>
        <p:spPr>
          <a:xfrm>
            <a:off x="4415222" y="3789818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8527-37"/>
          <p:cNvSpPr txBox="1"/>
          <p:nvPr/>
        </p:nvSpPr>
        <p:spPr>
          <a:xfrm>
            <a:off x="4415222" y="4075497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级联式框架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8524-22"/>
          <p:cNvSpPr txBox="1"/>
          <p:nvPr/>
        </p:nvSpPr>
        <p:spPr>
          <a:xfrm>
            <a:off x="4415222" y="4332607"/>
            <a:ext cx="3358360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L1→L5因果递进。晨星5P并列、FMLens(2024)多维无因果、徐琼(2008)"投资行为度"非递进，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无文献采用因果递进框架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8527-38"/>
          <p:cNvSpPr txBox="1"/>
          <p:nvPr/>
        </p:nvSpPr>
        <p:spPr>
          <a:xfrm>
            <a:off x="4415222" y="5018236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查重：无竞争框架，确认原创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8527-39"/>
          <p:cNvSpPr txBox="1"/>
          <p:nvPr/>
        </p:nvSpPr>
        <p:spPr>
          <a:xfrm>
            <a:off x="815448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4" name="el-1785891668527-40"/>
          <p:cNvSpPr txBox="1"/>
          <p:nvPr/>
        </p:nvSpPr>
        <p:spPr>
          <a:xfrm>
            <a:off x="815448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RG牛熊反转+持续4Q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8524-23"/>
          <p:cNvSpPr txBox="1"/>
          <p:nvPr/>
        </p:nvSpPr>
        <p:spPr>
          <a:xfrm>
            <a:off x="815448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V5: RG正向预测(t=+9.20***)，牛市正向(t=+12.62***)，熊市负向(t=-7.17***)。RG持续4Q显著但方向交替(1Q正→2Q负→3Q正)。与Kacperczyk(2008)一致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8528-41"/>
          <p:cNvSpPr txBox="1"/>
          <p:nvPr/>
        </p:nvSpPr>
        <p:spPr>
          <a:xfrm>
            <a:off x="815448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E651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查重：朱宏志(2012)有中国RG研究 → 需引用并区分</a:t>
            </a:r>
            <a:endParaRPr sz="970" b="1">
              <a:solidFill>
                <a:srgbClr val="E651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8515-2"/>
          <p:cNvSpPr txBox="1"/>
          <p:nvPr/>
        </p:nvSpPr>
        <p:spPr>
          <a:xfrm>
            <a:off x="609448" y="6526232"/>
            <a:ext cx="115083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企业实践与原创性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8515-3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63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643-17"/>
          <p:cNvSpPr/>
          <p:nvPr/>
        </p:nvSpPr>
        <p:spPr>
          <a:xfrm>
            <a:off x="457086" y="1143720"/>
            <a:ext cx="3681980" cy="34590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644-20"/>
          <p:cNvCxnSpPr/>
          <p:nvPr/>
        </p:nvCxnSpPr>
        <p:spPr>
          <a:xfrm>
            <a:off x="476131" y="1143720"/>
            <a:ext cx="914" cy="3459091"/>
          </a:xfrm>
          <a:prstGeom prst="line">
            <a:avLst/>
          </a:prstGeom>
          <a:ln w="38090" cap="flat">
            <a:solidFill>
              <a:srgbClr val="15803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8655-27"/>
          <p:cNvSpPr/>
          <p:nvPr/>
        </p:nvSpPr>
        <p:spPr>
          <a:xfrm>
            <a:off x="628493" y="1267514"/>
            <a:ext cx="552312" cy="2380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8643-18"/>
          <p:cNvSpPr/>
          <p:nvPr/>
        </p:nvSpPr>
        <p:spPr>
          <a:xfrm>
            <a:off x="4253337" y="1143720"/>
            <a:ext cx="3682129" cy="34590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644-21"/>
          <p:cNvCxnSpPr/>
          <p:nvPr/>
        </p:nvCxnSpPr>
        <p:spPr>
          <a:xfrm>
            <a:off x="4272382" y="1143720"/>
            <a:ext cx="914" cy="345909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8658-37"/>
          <p:cNvSpPr/>
          <p:nvPr/>
        </p:nvSpPr>
        <p:spPr>
          <a:xfrm>
            <a:off x="4424744" y="1267514"/>
            <a:ext cx="876230" cy="2380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8644-19"/>
          <p:cNvSpPr/>
          <p:nvPr/>
        </p:nvSpPr>
        <p:spPr>
          <a:xfrm>
            <a:off x="8049737" y="1143720"/>
            <a:ext cx="3681980" cy="34590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8645-22"/>
          <p:cNvCxnSpPr/>
          <p:nvPr/>
        </p:nvCxnSpPr>
        <p:spPr>
          <a:xfrm>
            <a:off x="8068783" y="1143720"/>
            <a:ext cx="914" cy="3459091"/>
          </a:xfrm>
          <a:prstGeom prst="line">
            <a:avLst/>
          </a:prstGeom>
          <a:ln w="38090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8662-48"/>
          <p:cNvSpPr/>
          <p:nvPr/>
        </p:nvSpPr>
        <p:spPr>
          <a:xfrm>
            <a:off x="8221145" y="1267514"/>
            <a:ext cx="876230" cy="2380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8639-6"/>
          <p:cNvSpPr/>
          <p:nvPr/>
        </p:nvSpPr>
        <p:spPr>
          <a:xfrm>
            <a:off x="457086" y="4698038"/>
            <a:ext cx="11274781" cy="116652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13" name="el-1785891668641-13"/>
          <p:cNvGraphicFramePr/>
          <p:nvPr/>
        </p:nvGraphicFramePr>
        <p:xfrm>
          <a:off x="580880" y="5036091"/>
          <a:ext cx="11027193" cy="85703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61809"/>
                <a:gridCol w="10265383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6B72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1.0→2.0</a:t>
                      </a:r>
                      <a:endParaRPr sz="990">
                        <a:solidFill>
                          <a:srgbClr val="6B72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V1-V4四轮验证(200→400基金)；发现A股负向预测+牛熊市反转；修正AS公式；六种方法交叉验证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6B72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2.0→3.0</a:t>
                      </a:r>
                      <a:endParaRPr sz="990">
                        <a:solidFill>
                          <a:srgbClr val="6B72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400基金→800基金；等权→市值加权基准；OLS→XGBoost+SHAP；加入L5认知层问卷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6B72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</a:t>
                      </a:r>
                      <a:endParaRPr sz="990">
                        <a:solidFill>
                          <a:srgbClr val="6B72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每阶段递进的是：数据更真实、方法更严谨、指标更全面——但五层框架结构不变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el-1785891668637-3"/>
          <p:cNvSpPr/>
          <p:nvPr/>
        </p:nvSpPr>
        <p:spPr>
          <a:xfrm>
            <a:off x="457086" y="5959785"/>
            <a:ext cx="11274781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8641-14"/>
          <p:cNvSpPr txBox="1"/>
          <p:nvPr/>
        </p:nvSpPr>
        <p:spPr>
          <a:xfrm>
            <a:off x="457086" y="493355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642-15"/>
          <p:cNvSpPr txBox="1"/>
          <p:nvPr/>
        </p:nvSpPr>
        <p:spPr>
          <a:xfrm>
            <a:off x="457086" y="726659"/>
            <a:ext cx="11448092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三阶段研究计划：每阶段具体做什么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8655-26"/>
          <p:cNvSpPr txBox="1"/>
          <p:nvPr/>
        </p:nvSpPr>
        <p:spPr>
          <a:xfrm>
            <a:off x="704674" y="1286560"/>
            <a:ext cx="56945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已完成</a:t>
            </a:r>
            <a:endParaRPr sz="10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655-28"/>
          <p:cNvSpPr txBox="1"/>
          <p:nvPr/>
        </p:nvSpPr>
        <p:spPr>
          <a:xfrm>
            <a:off x="628493" y="1553193"/>
            <a:ext cx="348105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Phase 1.0 — MVP四轮验证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8648-23"/>
          <p:cNvSpPr txBox="1"/>
          <p:nvPr/>
        </p:nvSpPr>
        <p:spPr>
          <a:xfrm>
            <a:off x="628493" y="1843633"/>
            <a:ext cx="3467721" cy="2071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验证五层框架能否跑通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656-29"/>
          <p:cNvSpPr txBox="1"/>
          <p:nvPr/>
        </p:nvSpPr>
        <p:spPr>
          <a:xfrm>
            <a:off x="628493" y="2117408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具体做到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8656-30"/>
          <p:cNvSpPr txBox="1"/>
          <p:nvPr/>
        </p:nvSpPr>
        <p:spPr>
          <a:xfrm>
            <a:off x="628493" y="2364996"/>
            <a:ext cx="310571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V1-V4四轮验证：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200→400基金, 全持仓修正AS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657-31"/>
          <p:cNvSpPr txBox="1"/>
          <p:nvPr/>
        </p:nvSpPr>
        <p:spPr>
          <a:xfrm>
            <a:off x="628493" y="2564971"/>
            <a:ext cx="325465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九指标全模型：AS最强(t=-26.81***), R²=0.0684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657-32"/>
          <p:cNvSpPr txBox="1"/>
          <p:nvPr/>
        </p:nvSpPr>
        <p:spPr>
          <a:xfrm>
            <a:off x="628493" y="2764946"/>
            <a:ext cx="334050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牛熊市：RG牛正(t=+12.62***)/熊负(t=-7.17***)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657-33"/>
          <p:cNvSpPr txBox="1"/>
          <p:nvPr/>
        </p:nvSpPr>
        <p:spPr>
          <a:xfrm>
            <a:off x="628493" y="2964921"/>
            <a:ext cx="293891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核心发现：AS负向/RG正向信号分化，R²提升195%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8658-34"/>
          <p:cNvSpPr txBox="1"/>
          <p:nvPr/>
        </p:nvSpPr>
        <p:spPr>
          <a:xfrm>
            <a:off x="628493" y="3231554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不做什么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658-35"/>
          <p:cNvSpPr txBox="1"/>
          <p:nvPr/>
        </p:nvSpPr>
        <p:spPr>
          <a:xfrm>
            <a:off x="628493" y="3479143"/>
            <a:ext cx="346772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不做FM/FE/因果推断、不做稳健性检验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658-36"/>
          <p:cNvSpPr txBox="1"/>
          <p:nvPr/>
        </p:nvSpPr>
        <p:spPr>
          <a:xfrm>
            <a:off x="4500925" y="1286560"/>
            <a:ext cx="89337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进行中 · 8周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659-38"/>
          <p:cNvSpPr txBox="1"/>
          <p:nvPr/>
        </p:nvSpPr>
        <p:spPr>
          <a:xfrm>
            <a:off x="4424744" y="1553193"/>
            <a:ext cx="348120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Phase 2.0 — 稳健性检验+机制分析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650-24"/>
          <p:cNvSpPr txBox="1"/>
          <p:nvPr/>
        </p:nvSpPr>
        <p:spPr>
          <a:xfrm>
            <a:off x="4424744" y="1843633"/>
            <a:ext cx="3467870" cy="2071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六种方法交叉验证，确立核心结论稳健性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659-39"/>
          <p:cNvSpPr txBox="1"/>
          <p:nvPr/>
        </p:nvSpPr>
        <p:spPr>
          <a:xfrm>
            <a:off x="4424744" y="2117408"/>
            <a:ext cx="34612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已完成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660-40"/>
          <p:cNvSpPr txBox="1"/>
          <p:nvPr/>
        </p:nvSpPr>
        <p:spPr>
          <a:xfrm>
            <a:off x="4424744" y="2364996"/>
            <a:ext cx="3289767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Fama-MacBeth：AS正向(t=+2.76**)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660-41"/>
          <p:cNvSpPr txBox="1"/>
          <p:nvPr/>
        </p:nvSpPr>
        <p:spPr>
          <a:xfrm>
            <a:off x="4424744" y="2564971"/>
            <a:ext cx="334392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基金固定效应：RG最稳健(t=+7.77***), SDI负向(t=-7.25***)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660-42"/>
          <p:cNvSpPr txBox="1"/>
          <p:nvPr/>
        </p:nvSpPr>
        <p:spPr>
          <a:xfrm>
            <a:off x="4424744" y="2964921"/>
            <a:ext cx="33321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双重排序：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AS×ICI角落差6.92%/季, 交互项不显著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661-43"/>
          <p:cNvSpPr txBox="1"/>
          <p:nvPr/>
        </p:nvSpPr>
        <p:spPr>
          <a:xfrm>
            <a:off x="4424744" y="3164896"/>
            <a:ext cx="3364907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滞后阶数：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OCI/ICI持续4Q, 均值回归(1Q负→2Q正)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661-44"/>
          <p:cNvSpPr txBox="1"/>
          <p:nvPr/>
        </p:nvSpPr>
        <p:spPr>
          <a:xfrm>
            <a:off x="4424744" y="3364871"/>
            <a:ext cx="327146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六种方法交叉验证：AS=OLS最强, RG=OLS+FE均正向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661-45"/>
          <p:cNvSpPr txBox="1"/>
          <p:nvPr/>
        </p:nvSpPr>
        <p:spPr>
          <a:xfrm>
            <a:off x="4424744" y="3831479"/>
            <a:ext cx="34612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待做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662-46"/>
          <p:cNvSpPr txBox="1"/>
          <p:nvPr/>
        </p:nvSpPr>
        <p:spPr>
          <a:xfrm>
            <a:off x="4424744" y="4079068"/>
            <a:ext cx="3367882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IV/DID因果推断 + 市值加权基准AS + Fama-French因子调整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662-47"/>
          <p:cNvSpPr txBox="1"/>
          <p:nvPr/>
        </p:nvSpPr>
        <p:spPr>
          <a:xfrm>
            <a:off x="8297326" y="1286560"/>
            <a:ext cx="89337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待启动 · 6周</a:t>
            </a:r>
            <a:endParaRPr sz="104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662-49"/>
          <p:cNvSpPr txBox="1"/>
          <p:nvPr/>
        </p:nvSpPr>
        <p:spPr>
          <a:xfrm>
            <a:off x="8221145" y="1553193"/>
            <a:ext cx="348105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Phase 3.0 — 扩展+预测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8652-25"/>
          <p:cNvSpPr txBox="1"/>
          <p:nvPr/>
        </p:nvSpPr>
        <p:spPr>
          <a:xfrm>
            <a:off x="8221145" y="1843633"/>
            <a:ext cx="3467721" cy="2071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扩展样本、加入认知层、做预测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8663-50"/>
          <p:cNvSpPr txBox="1"/>
          <p:nvPr/>
        </p:nvSpPr>
        <p:spPr>
          <a:xfrm>
            <a:off x="8221145" y="2117408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具体做到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8663-51"/>
          <p:cNvSpPr txBox="1"/>
          <p:nvPr/>
        </p:nvSpPr>
        <p:spPr>
          <a:xfrm>
            <a:off x="8221145" y="2364996"/>
            <a:ext cx="207593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800+基金+市值加权基准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8663-52"/>
          <p:cNvSpPr txBox="1"/>
          <p:nvPr/>
        </p:nvSpPr>
        <p:spPr>
          <a:xfrm>
            <a:off x="8221145" y="2564971"/>
            <a:ext cx="235803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经理变更事件+IV（自然实验）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8664-53"/>
          <p:cNvSpPr txBox="1"/>
          <p:nvPr/>
        </p:nvSpPr>
        <p:spPr>
          <a:xfrm>
            <a:off x="8221145" y="2764946"/>
            <a:ext cx="275144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市值加权AS+Fama-French因子调整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8664-54"/>
          <p:cNvSpPr txBox="1"/>
          <p:nvPr/>
        </p:nvSpPr>
        <p:spPr>
          <a:xfrm>
            <a:off x="8221145" y="2964921"/>
            <a:ext cx="187268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周度RG(如有高频持仓)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8664-55"/>
          <p:cNvSpPr txBox="1"/>
          <p:nvPr/>
        </p:nvSpPr>
        <p:spPr>
          <a:xfrm>
            <a:off x="8221145" y="3164896"/>
            <a:ext cx="194871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L4：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极端市场状态×SDI交互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8664-56"/>
          <p:cNvSpPr txBox="1"/>
          <p:nvPr/>
        </p:nvSpPr>
        <p:spPr>
          <a:xfrm>
            <a:off x="8221145" y="3364871"/>
            <a:ext cx="2322626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L5：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PS(LSTM)+行为金融问卷验证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8665-57"/>
          <p:cNvSpPr txBox="1"/>
          <p:nvPr/>
        </p:nvSpPr>
        <p:spPr>
          <a:xfrm>
            <a:off x="8221145" y="3564846"/>
            <a:ext cx="25075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方法：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XGBoost+SHAP+Logistic分类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8665-58"/>
          <p:cNvSpPr txBox="1"/>
          <p:nvPr/>
        </p:nvSpPr>
        <p:spPr>
          <a:xfrm>
            <a:off x="8221145" y="3764821"/>
            <a:ext cx="23256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行为画像标签+业绩预测模型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8665-59"/>
          <p:cNvSpPr txBox="1"/>
          <p:nvPr/>
        </p:nvSpPr>
        <p:spPr>
          <a:xfrm>
            <a:off x="8221145" y="4031454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不做什么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8665-60"/>
          <p:cNvSpPr txBox="1"/>
          <p:nvPr/>
        </p:nvSpPr>
        <p:spPr>
          <a:xfrm>
            <a:off x="8221145" y="4279043"/>
            <a:ext cx="346772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不做实时交易策略、不做基金推荐系统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8642-16"/>
          <p:cNvSpPr txBox="1"/>
          <p:nvPr/>
        </p:nvSpPr>
        <p:spPr>
          <a:xfrm>
            <a:off x="580880" y="4783741"/>
            <a:ext cx="124285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各阶段递进关系：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8637-2"/>
          <p:cNvSpPr txBox="1"/>
          <p:nvPr/>
        </p:nvSpPr>
        <p:spPr>
          <a:xfrm>
            <a:off x="502794" y="6007398"/>
            <a:ext cx="11183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1.0四轮MVP已完成 → 2.0六种方法交叉验证已完成(AS=OLS最强, RG=OLS+FE正向)→ 待做: IV/DID因果推断+市值加权基准 → 3.0扩展样本+ML预测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8638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8638-5"/>
          <p:cNvSpPr txBox="1"/>
          <p:nvPr/>
        </p:nvSpPr>
        <p:spPr>
          <a:xfrm>
            <a:off x="11441426" y="6519090"/>
            <a:ext cx="22473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67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678-9"/>
          <p:cNvSpPr/>
          <p:nvPr/>
        </p:nvSpPr>
        <p:spPr>
          <a:xfrm>
            <a:off x="533267" y="1174520"/>
            <a:ext cx="5465983" cy="37519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679-11"/>
          <p:cNvCxnSpPr/>
          <p:nvPr/>
        </p:nvCxnSpPr>
        <p:spPr>
          <a:xfrm>
            <a:off x="552312" y="1174520"/>
            <a:ext cx="914" cy="375191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8686-35"/>
          <p:cNvCxnSpPr/>
          <p:nvPr/>
        </p:nvCxnSpPr>
        <p:spPr>
          <a:xfrm>
            <a:off x="780855" y="1736355"/>
            <a:ext cx="4999375" cy="914"/>
          </a:xfrm>
          <a:prstGeom prst="line">
            <a:avLst/>
          </a:prstGeom>
          <a:ln w="19045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678-10"/>
          <p:cNvSpPr/>
          <p:nvPr/>
        </p:nvSpPr>
        <p:spPr>
          <a:xfrm>
            <a:off x="6189702" y="1174520"/>
            <a:ext cx="5465983" cy="37519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679-12"/>
          <p:cNvCxnSpPr/>
          <p:nvPr/>
        </p:nvCxnSpPr>
        <p:spPr>
          <a:xfrm>
            <a:off x="6208747" y="1174520"/>
            <a:ext cx="914" cy="375191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8688-36"/>
          <p:cNvCxnSpPr/>
          <p:nvPr/>
        </p:nvCxnSpPr>
        <p:spPr>
          <a:xfrm>
            <a:off x="6437290" y="1736355"/>
            <a:ext cx="4999375" cy="914"/>
          </a:xfrm>
          <a:prstGeom prst="line">
            <a:avLst/>
          </a:prstGeom>
          <a:ln w="19045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8675-4"/>
          <p:cNvSpPr/>
          <p:nvPr/>
        </p:nvSpPr>
        <p:spPr>
          <a:xfrm>
            <a:off x="533267" y="5078794"/>
            <a:ext cx="11122419" cy="145219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8676-5"/>
          <p:cNvSpPr txBox="1"/>
          <p:nvPr/>
        </p:nvSpPr>
        <p:spPr>
          <a:xfrm>
            <a:off x="533267" y="131793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写作计划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8676-6"/>
          <p:cNvSpPr txBox="1"/>
          <p:nvPr/>
        </p:nvSpPr>
        <p:spPr>
          <a:xfrm>
            <a:off x="533267" y="369859"/>
            <a:ext cx="11322394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2周写作计划：从数据到初稿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8677-7"/>
          <p:cNvSpPr txBox="1"/>
          <p:nvPr/>
        </p:nvSpPr>
        <p:spPr>
          <a:xfrm>
            <a:off x="533267" y="779331"/>
            <a:ext cx="1123573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七章结构 · 约14,000字 · 第1周完成实证与文献定稿，第2周全文撰写与修改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8681-13"/>
          <p:cNvSpPr txBox="1"/>
          <p:nvPr/>
        </p:nvSpPr>
        <p:spPr>
          <a:xfrm>
            <a:off x="780855" y="1355450"/>
            <a:ext cx="5146023" cy="3142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第1周：实证收尾 + 文献定稿</a:t>
            </a:r>
            <a:endParaRPr sz="16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8681-14"/>
          <p:cNvSpPr txBox="1"/>
          <p:nvPr/>
        </p:nvSpPr>
        <p:spPr>
          <a:xfrm>
            <a:off x="780855" y="1879194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400基金数据下载与九指标计算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681-15"/>
          <p:cNvSpPr txBox="1"/>
          <p:nvPr/>
        </p:nvSpPr>
        <p:spPr>
          <a:xfrm>
            <a:off x="780855" y="2307712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V1-V4四轮MVP验证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681-16"/>
          <p:cNvSpPr txBox="1"/>
          <p:nvPr/>
        </p:nvSpPr>
        <p:spPr>
          <a:xfrm>
            <a:off x="780855" y="2736229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六种方法交叉验证（OLS/FM/FE/牛熊市/双重排序/滞后阶数）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8681-17"/>
          <p:cNvSpPr txBox="1"/>
          <p:nvPr/>
        </p:nvSpPr>
        <p:spPr>
          <a:xfrm>
            <a:off x="780855" y="3164747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34篇文献下载分类与查证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681-18"/>
          <p:cNvSpPr txBox="1"/>
          <p:nvPr/>
        </p:nvSpPr>
        <p:spPr>
          <a:xfrm>
            <a:off x="780855" y="3593265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Fama-French三因子调整后收益回归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8682-19"/>
          <p:cNvSpPr txBox="1"/>
          <p:nvPr/>
        </p:nvSpPr>
        <p:spPr>
          <a:xfrm>
            <a:off x="780855" y="4021783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描述统计表格 + 回归结果表格输出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682-20"/>
          <p:cNvSpPr txBox="1"/>
          <p:nvPr/>
        </p:nvSpPr>
        <p:spPr>
          <a:xfrm>
            <a:off x="780855" y="4450301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文献综述精修（补充邢欣翽孙谦/朱宏志讨论）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8682-21"/>
          <p:cNvSpPr txBox="1"/>
          <p:nvPr/>
        </p:nvSpPr>
        <p:spPr>
          <a:xfrm>
            <a:off x="6437290" y="1355450"/>
            <a:ext cx="5146023" cy="3142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第2周：全文撰写 + 修改定稿</a:t>
            </a:r>
            <a:endParaRPr sz="16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8682-22"/>
          <p:cNvSpPr txBox="1"/>
          <p:nvPr/>
        </p:nvSpPr>
        <p:spPr>
          <a:xfrm>
            <a:off x="6437290" y="1879194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第1章 引言（研究背景、问题提出、贡献）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682-23"/>
          <p:cNvSpPr txBox="1"/>
          <p:nvPr/>
        </p:nvSpPr>
        <p:spPr>
          <a:xfrm>
            <a:off x="6437290" y="2307712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第2章 文献综述（L1-L5五层分类综述）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683-24"/>
          <p:cNvSpPr txBox="1"/>
          <p:nvPr/>
        </p:nvSpPr>
        <p:spPr>
          <a:xfrm>
            <a:off x="6437290" y="2736229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第3章 研究设计（框架、数据、指标定义）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8683-25"/>
          <p:cNvSpPr txBox="1"/>
          <p:nvPr/>
        </p:nvSpPr>
        <p:spPr>
          <a:xfrm>
            <a:off x="6437290" y="3164747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第4章 实证结果（描述统计+回归+稳健性）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683-26"/>
          <p:cNvSpPr txBox="1"/>
          <p:nvPr/>
        </p:nvSpPr>
        <p:spPr>
          <a:xfrm>
            <a:off x="6437290" y="3593265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第5章 牛熊市异质性分析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683-27"/>
          <p:cNvSpPr txBox="1"/>
          <p:nvPr/>
        </p:nvSpPr>
        <p:spPr>
          <a:xfrm>
            <a:off x="6437290" y="4021783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第6章 结论与讨论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684-28"/>
          <p:cNvSpPr txBox="1"/>
          <p:nvPr/>
        </p:nvSpPr>
        <p:spPr>
          <a:xfrm>
            <a:off x="6437290" y="4450301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导师反馈 → 修改 → 查重定稿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8677-8"/>
          <p:cNvSpPr txBox="1"/>
          <p:nvPr/>
        </p:nvSpPr>
        <p:spPr>
          <a:xfrm>
            <a:off x="752287" y="5221633"/>
            <a:ext cx="1081769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论文结构（七章 · 约14,000字）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el-1785891668684-29"/>
          <p:cNvSpPr txBox="1"/>
          <p:nvPr/>
        </p:nvSpPr>
        <p:spPr>
          <a:xfrm>
            <a:off x="752287" y="5583492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 引言与研究背景（2,000字）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684-30"/>
          <p:cNvSpPr txBox="1"/>
          <p:nvPr/>
        </p:nvSpPr>
        <p:spPr>
          <a:xfrm>
            <a:off x="6189702" y="5583492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 文献综述（2,500字）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684-31"/>
          <p:cNvSpPr txBox="1"/>
          <p:nvPr/>
        </p:nvSpPr>
        <p:spPr>
          <a:xfrm>
            <a:off x="752287" y="5864410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③ 研究设计与数据（2,000字）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685-32"/>
          <p:cNvSpPr txBox="1"/>
          <p:nvPr/>
        </p:nvSpPr>
        <p:spPr>
          <a:xfrm>
            <a:off x="6189702" y="5864410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④ 实证结果：九指标回归（3,000字）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685-33"/>
          <p:cNvSpPr txBox="1"/>
          <p:nvPr/>
        </p:nvSpPr>
        <p:spPr>
          <a:xfrm>
            <a:off x="752287" y="6145327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⑤ 稳健性检验：六种方法（2,500字）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685-34"/>
          <p:cNvSpPr txBox="1"/>
          <p:nvPr/>
        </p:nvSpPr>
        <p:spPr>
          <a:xfrm>
            <a:off x="6189702" y="6145327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⑥ 结论、讨论与展望（2,000字）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674-2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674-3"/>
          <p:cNvSpPr txBox="1"/>
          <p:nvPr/>
        </p:nvSpPr>
        <p:spPr>
          <a:xfrm>
            <a:off x="11441575" y="6519090"/>
            <a:ext cx="224585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t>论文整体学术逻辑框架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07 论文写作计划 | 七章结构 × L1-L5因果递进链条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87552"/>
            <a:ext cx="4572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t>论文七章结构（约14,000字）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t>第1章  引言与研究背景  (2,000字)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t>研究问题、贡献声明、论文结构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67128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12848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t>第2章  文献综述  (2,500字)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t>L1-L5五层分类综述，研究空白论证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916936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62656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t>第3章  研究设计与数据  (2,000字)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t>五层框架、数据来源、指标定义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666744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712463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t>第4章  实证结果：九指标回归  (3,000字)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t>描述统计+OLS+FM+FE回归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416552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462272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t>第5章  稳健性检验与异质性  (2,500字)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t>六种方法+牛熊市+滞后阶数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166359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212079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t>第6章  结论、讨论与展望  (2,000字)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t>核心发现+贡献+局限+未来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00584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4768" y="98755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t>L1-L5因果递进链条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1417320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453896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40AF"/>
                </a:solidFill>
                <a:latin typeface="微软雅黑"/>
              </a:defRPr>
            </a:pPr>
            <a:r>
              <a:t>L1 背景特征层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1746504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从业年限/学历/管理规模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618488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t>Chevalier &amp; Ellison (1999)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8823960" y="2075688"/>
            <a:ext cx="182880" cy="914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35040" y="2167128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2203704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40AF"/>
                </a:solidFill>
                <a:latin typeface="微软雅黑"/>
              </a:defRPr>
            </a:pPr>
            <a:r>
              <a:t>L2 持仓偏离层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49631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AS(0.673) / ICI(0.08)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368296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t>Cremers &amp; Petajisto (2009)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8823960" y="2825496"/>
            <a:ext cx="182880" cy="914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035040" y="2916936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2953512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669"/>
                </a:solidFill>
                <a:latin typeface="微软雅黑"/>
              </a:defRPr>
            </a:pPr>
            <a:r>
              <a:t>L3 交易行为层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32461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RG(0.93%) / SDI(0.15) / OCI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118104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t>Kacperczyk et al. (2008)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8823960" y="3575304"/>
            <a:ext cx="182880" cy="914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035040" y="3666744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370332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C2410C"/>
                </a:solidFill>
                <a:latin typeface="微软雅黑"/>
              </a:defRPr>
            </a:pPr>
            <a:r>
              <a:t>L4 认知偏差层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399592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处置效应 / 过度自信 / 损失厌恶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867911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t>Kahneman &amp; Tversky (1979)</a:t>
            </a:r>
          </a:p>
        </p:txBody>
      </p:sp>
      <p:sp>
        <p:nvSpPr>
          <p:cNvPr id="40" name="Down Arrow 39"/>
          <p:cNvSpPr/>
          <p:nvPr/>
        </p:nvSpPr>
        <p:spPr>
          <a:xfrm>
            <a:off x="8823960" y="4325112"/>
            <a:ext cx="182880" cy="914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035040" y="4416552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4453128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t>L5 AI预测层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4745736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PS = 1 - 预测准确率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461772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t>Cohen et al. (2026)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5669280"/>
            <a:ext cx="11430000" cy="64008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715000"/>
            <a:ext cx="11155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55"/>
              </a:lnSpc>
              <a:spcAft>
                <a:spcPts val="200"/>
              </a:spcAft>
              <a:defRPr sz="1050" b="1">
                <a:solidFill>
                  <a:srgbClr val="991B1B"/>
                </a:solidFill>
                <a:latin typeface="微软雅黑"/>
              </a:defRPr>
            </a:pPr>
            <a:r>
              <a:t>学术逻辑核心：L1经理特征决定信息优势 -&gt; L2持仓偏离体现选股能力 -&gt; L3交易行为揭示隐性信息 -&gt; L4认知偏差解释行为偏误 -&gt; L5 AI预测验证不可预测性=Alpha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B91C1C"/>
                </a:solidFill>
                <a:latin typeface="微软雅黑"/>
              </a:defRPr>
            </a:pPr>
            <a:r>
              <a:t>每层输出为下层输入，构建从背景到行为到预测的完整因果链条，区别于现有文献的单层独立研究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34</a:t>
            </a:r>
          </a:p>
        </p:txBody>
      </p:sp>
      <p:sp>
        <p:nvSpPr>
          <p:cNvPr id="4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t>Phase 1 详解：MVP四轮验证（已完成）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28600"/>
            <a:ext cx="1463040" cy="292608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已完成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07 论文写作计划 | 每一步做什么、算什么、用什么数据、结果如何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V1-V4四轮验证：200-&gt;400基金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全持仓数据修正AS公式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九指标全模型回归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六种方法交叉验证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计算什么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AS = 1/2 x Sigma|w_fund - w_bench|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RG = R_fund - R_holdings(持仓x个股收益)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ICI = Sigma(w_fund - w_market)^2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SDI = 风格权重曼哈顿距离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OCI = |RG| (申宇2013修正)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0584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用什么数据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400只偏股混合基金(2006-2026)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361,636条全持仓记录(半年报)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602,904条日度净值记录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沪深300/中证500成分股权重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东方财富API + AKShare(免费)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36576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计算结果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AS负向(t=-26.81***) 最强预测因子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RG正向(t=+9.20***) 与文献一致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SDI负向(t=-7.69***) 风格漂移有害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全模型R^2=0.0684(提升195%)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FM截面: AS正向(t=+2.76**)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79476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学术价值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首次中国市场五层九指标整合验证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发现AS负向(与美股相反)+RG正向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OLS/FM方向矛盾是原创发现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全持仓替代前十大近似(方法学)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免费API替代付费数据库(可复现性)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9476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规范性检查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OLS按基金聚类标准误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无未来函数: t-1指标预测t期收益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Fama-MacBeth截面回归(40季度)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基金固定效应控制个体异质性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Winsorize极端值(1%/99%)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35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t>Phase 2 详解：稳健性检验与机制分析（进行中）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28600"/>
            <a:ext cx="1463040" cy="292608"/>
          </a:xfrm>
          <a:prstGeom prst="roundRect">
            <a:avLst>
              <a:gd name="adj" fmla="val 30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进行中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07 论文写作计划 | 六种方法交叉验证 + 因果推断 + 机制检验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Fama-MacBeth截面回归(40季度)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基金固定效应(within R^2)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牛熊市异质性分组检验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AS x ICI双重排序角落组合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滞后1-4Q预测力持续性分析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计算什么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FM: 逐季度截面回归取均值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FE: within变换消除个体效应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牛熊市: 月收益&gt;0为牛, &lt;0为熊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双重排序: 先AS五分位再ICI五分位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IV: 基金规模变化作为工具变量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0584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用什么数据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Phase 1的400基金面板(7,846 obs)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Fama-French三因子(中国市场)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沪深300月度收益(市场因子)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基金规模TNA(Wind/东方财富)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经理变更记录(事件研究用)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36576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计算结果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AS: OLS最强(t=-26.81***) / FM正向(t=+2.76**)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RG: OLS+FE均正向(最稳健, t=+9.20***/+7.77***)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SDI: OLS+FE均负向(t=-7.69***/-7.25***)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RG牛熊反转: 牛正(t=+12.62***)/熊负(t=-7.17***)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AS持续4Q / RG持续4Q(方向交替)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79476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学术价值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OLS负向/FM正向矛盾揭示AS时序vs截面效应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RG牛熊反转是原创发现(无竞争文献)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RG均值回归(1Q正-&gt;2Q负-&gt;3Q正)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SDI风格漂移持续损害业绩(稳健)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六种方法交叉验证增强结论可信度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9476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规范性检查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Newey-West标准误修正自相关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IV: AR检验拒绝弱工具变量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多重检验校正(Bonferroni/Holm)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Fama-French因子调整业绩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Clauser-Shiappacasse样本筛选标准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36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t>Phase 3 详解：样本扩展与AI预测（待启动）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28600"/>
            <a:ext cx="1463040" cy="292608"/>
          </a:xfrm>
          <a:prstGeom prst="roundRect">
            <a:avLst>
              <a:gd name="adj" fmla="val 30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待启动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07 论文写作计划 | L4认知偏差 + L5 AI预测 + 行为画像标签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样本扩展: 400-&gt;800+基金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市值加权基准AS(替代等权)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L4认知偏差: 处置效应/过度自信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L5简化版PS(Logistic回归)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XGBoost+SHAP行为画像预测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计算什么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PS = 1 - Logistic预测准确率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处置效应比率 = P(buy loser)/P(sell winner)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过度自信指数 = 超额交易量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SHAP值: 各指标对业绩的贡献度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行为画像标签(聚类分析)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0584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用什么数据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800+偏股混合基金(扩展样本)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基金经理变更事件记录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经理个人特征(年限/学历/性别)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行为金融问卷数据(如可得)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周度持仓数据(如有高频数据)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36576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预期结果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PS高的基金(不可预测)业绩更好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认知偏差指标与业绩负相关(预期)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XGBoost预测R^2 &gt; 0.10(优于OLS)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行为画像: 识别3-5种经理类型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SHAP: AS/RG为最重要预测因子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79476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学术价值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Cohen et al.(2026)中国本土化验证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首次将五层指标输入ML模型预测业绩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SHAP可解释性弥补黑箱模型缺陷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行为画像标签连接学术与实践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PS独立于AS的增量信息验证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9476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规范性检查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样本外预测(rolling window)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10折交叉验证防过拟合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特征全部滞后(无未来函数)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DID/IV因果推断(L1经理变更)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代码开源+数据公开(可复现性)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37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t>学术规范性检查清单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07 论文写作计划 | 六大规范性维度 × 逐项检验标准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01  未来函数防控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所有指标使用t-1期数据预测t期收益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RG: 上季度持仓x 本期个股收益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AS: 使用已披露的半年报持仓计算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PS: 滚动训练窗口(20Q训练/8Q测试)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FM回归: 自变量在t-1取值, 因变量在t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02  过度拟合检验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OLS/FM/FE三种方法交叉验证一致性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XGBoost: 10折交叉验证+早停机制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Logistic PS: 样本外预测准确率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不追求R^2最大化, 关注经济显著性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Harvey &amp; Liu (2014)多重检验校正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6576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03  统计显著性检验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t检验: ***p&lt;0.01, **p&lt;0.05, *p&lt;0.1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Newey-West标准误修正异方差+自相关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OLS按基金聚类(cluster by fund)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FM: Newey-West修正t值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IV: AR检验/Anderson LR/Cragg-Donald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9476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04  样本选择偏差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包含已清盘基金(避免生存偏差)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剔除成立不满1年的基金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至少24个月历史净值数据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剔除停止申购/赎回的样本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稳健性: 含/不含停止申购样本对比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9476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05  稳健性检验矩阵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六种方法: OLS/FM/FE/牛熊市/双重排序/滞后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因子模型: CAPM/FF3/Carhart4/FF5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基准选择: 沪深300/中证500/中证800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AS公式: 全持仓vs前十大对比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RG: 原版vs ARG(取绝对值)对比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9476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06  可复现性保障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数据源: AKShare+东方财富(免费公开)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代码开源: Python全流程可复现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随机种子固定(np.random.seed)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版本控制: 参数版本+回滚机制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数据管线文档化: 每步可追溯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38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07 论文写作计划 | 核心发现 + 学术贡献 + 局限性 + 未来方向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8755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t>核心发现（V5修复后）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577840" cy="228600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3035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t>1. AS负向预测(t=-26.81***)：与美股相反，A股高AS基金业绩更差</a:t>
            </a:r>
          </a:p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   机制：A股散户占比高，主动偏离信息优势受限，过度自信导致过度交易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t>2. RG正向预测(t=+9.20***)：与Kacperczyk(2008)一致，隐形交易创造价值</a:t>
            </a:r>
          </a:p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   机制：基金经理利用私有信息进行中间交易，净效应为正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t>3. SDI负向预测(t=-7.69***)：风格漂移持续损害业绩(OLS+FE均显著)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t>4. RG牛熊反转(牛正/熊负)：牛市隐形交易增厚收益，熊市拖累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t>5. OLS/FM方向矛盾：AS时序负向但截面正向，揭示两类信号差异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t>6. 全模型R^2=0.0684(提升195%)，行为信号分化而非全面负向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00584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8" y="98755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t>四重学术贡献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5669280" cy="228600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417320"/>
            <a:ext cx="539496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200"/>
              </a:spcAft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t>框架整合创新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首次将5篇顶级期刊文献的独立指标整合为L1-&gt;L5因果递进框架</a:t>
            </a:r>
          </a:p>
          <a:p>
            <a:pPr algn="l">
              <a:lnSpc>
                <a:spcPts val="1320"/>
              </a:lnSpc>
              <a:spcAft>
                <a:spcPts val="200"/>
              </a:spcAft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t>数据民主化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全流程免费API替代付费数据库，研究可复现性极大提升</a:t>
            </a:r>
          </a:p>
          <a:p>
            <a:pPr algn="l">
              <a:lnSpc>
                <a:spcPts val="1320"/>
              </a:lnSpc>
              <a:spcAft>
                <a:spcPts val="200"/>
              </a:spcAft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t>中国市场本土化发现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AS负向+RG正向信号分化，OLS/FM矛盾是原创发现</a:t>
            </a:r>
          </a:p>
          <a:p>
            <a:pPr algn="l">
              <a:lnSpc>
                <a:spcPts val="1320"/>
              </a:lnSpc>
              <a:spcAft>
                <a:spcPts val="200"/>
              </a:spcAft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t>全持仓方法学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通过东方财富API获取半年报全持仓，替代前十大近似计算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4048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82219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t>研究局限性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206240"/>
            <a:ext cx="5577840" cy="210312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251960"/>
            <a:ext cx="53035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1. 样本局限：400基金可能不足以代表全市场，需扩展至800+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2. 持仓频率：半年报全持仓仍低于美国季度披露，RG精度受限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3. 因果识别：预测性回归非严格因果，需IV/DID增强识别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4. L4/L5待补：认知偏差层和AI预测层尚未完成实证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5. 因子模型：中国市场因子模型本身存在设定问题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6. 数据挖掘风险：多指标多方法检验可能产生假发现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84048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382219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t>未来研究方向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206240"/>
            <a:ext cx="5669280" cy="210312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4251960"/>
            <a:ext cx="539496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t>1. L5完整实现：LSTM深度学习预测基金经理交易行为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t>2. 高频数据：周度/日度持仓数据提升RG和PS精度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t>3. 因果推断：经理变更事件作为自然实验(DID)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t>4. 行为问卷：结合行为金融问卷调查验证认知偏差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t>5. 跨市场比较：中国市场vs美国市场的行为差异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t>6. 实时预测系统：将研究成果转化为实时基金筛选工具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6400800"/>
            <a:ext cx="11430000" cy="384048"/>
          </a:xfrm>
          <a:prstGeom prst="roundRect">
            <a:avLst>
              <a:gd name="adj" fmla="val 3000"/>
            </a:avLst>
          </a:prstGeom>
          <a:solidFill>
            <a:srgbClr val="1F293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28232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论文写作计划核心：三阶段递进（MVP验证 -&gt; 稳健性检验 -&gt; AI预测），用最严谨的学术逻辑构建L1-L5因果链条，每一步可检验、可复现、可追溯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39</a:t>
            </a:r>
          </a:p>
        </p:txBody>
      </p:sp>
      <p:sp>
        <p:nvSpPr>
          <p:cNvPr id="2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/>
              </a:defRPr>
            </a:pPr>
            <a:r>
              <a:t>03 MVP验证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/>
              </a:defRPr>
            </a:pPr>
            <a:r>
              <a:t>MVP验证在做什么？先做最小版本再迭代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60120"/>
            <a:ext cx="36576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0241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/>
              </a:defRPr>
            </a:pPr>
            <a:r>
              <a:t>什么是MVP？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353312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A1A2E"/>
                </a:solidFill>
                <a:latin typeface="宋体"/>
              </a:defRPr>
            </a:pPr>
            <a:r>
              <a:t>MVP = Minimum Viable Product</a:t>
            </a:r>
          </a:p>
          <a:p>
            <a:pPr>
              <a:spcAft>
                <a:spcPts val="200"/>
              </a:spcAft>
              <a:defRPr sz="950" b="0">
                <a:solidFill>
                  <a:srgbClr val="9CA3AF"/>
                </a:solidFill>
                <a:latin typeface="宋体"/>
              </a:defRPr>
            </a:pPr>
            <a:r>
              <a:t>（最小可行产品验证）</a:t>
            </a:r>
          </a:p>
          <a:p>
            <a:pPr>
              <a:spcAft>
                <a:spcPts val="200"/>
              </a:spcAft>
              <a:defRPr sz="950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200"/>
              </a:spcAft>
              <a:defRPr sz="950" b="0">
                <a:solidFill>
                  <a:srgbClr val="1A1A2E"/>
                </a:solidFill>
                <a:latin typeface="宋体"/>
              </a:defRPr>
            </a:pPr>
            <a:r>
              <a:t>借鉴软件工程『先做最小可用版本再迭代』的理念，</a:t>
            </a:r>
          </a:p>
          <a:p>
            <a:pPr>
              <a:spcAft>
                <a:spcPts val="200"/>
              </a:spcAft>
              <a:defRPr sz="950" b="0">
                <a:solidFill>
                  <a:srgbClr val="1A1A2E"/>
                </a:solidFill>
                <a:latin typeface="宋体"/>
              </a:defRPr>
            </a:pPr>
            <a:r>
              <a:t>在正式大规模研究前，用最小成本验证：</a:t>
            </a:r>
          </a:p>
          <a:p>
            <a:pPr>
              <a:spcAft>
                <a:spcPts val="200"/>
              </a:spcAft>
              <a:defRPr sz="950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200"/>
              </a:spcAft>
              <a:defRPr sz="950" b="1">
                <a:solidFill>
                  <a:srgbClr val="B91C1C"/>
                </a:solidFill>
                <a:latin typeface="宋体"/>
              </a:defRPr>
            </a:pPr>
            <a:r>
              <a:t>五层框架 + 六个指标能否跑通？</a:t>
            </a:r>
          </a:p>
          <a:p>
            <a:pPr>
              <a:spcAft>
                <a:spcPts val="200"/>
              </a:spcAft>
              <a:defRPr sz="950" b="1">
                <a:solidFill>
                  <a:srgbClr val="B91C1C"/>
                </a:solidFill>
                <a:latin typeface="宋体"/>
              </a:defRPr>
            </a:pPr>
            <a:r>
              <a:t>指标方向是否与文献一致？</a:t>
            </a:r>
          </a:p>
          <a:p>
            <a:pPr>
              <a:spcAft>
                <a:spcPts val="200"/>
              </a:spcAft>
              <a:defRPr sz="950" b="1">
                <a:solidFill>
                  <a:srgbClr val="B91C1C"/>
                </a:solidFill>
                <a:latin typeface="宋体"/>
              </a:defRPr>
            </a:pPr>
            <a:r>
              <a:t>如果不一致，是数据问题还是市场差异？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960120"/>
            <a:ext cx="38404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02412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/>
              </a:defRPr>
            </a:pPr>
            <a:r>
              <a:t>四轮迭代验证过程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35331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80" b="1">
                <a:solidFill>
                  <a:srgbClr val="9CA3AF"/>
                </a:solidFill>
                <a:latin typeface="宋体"/>
              </a:defRPr>
            </a:pPr>
            <a:r>
              <a:t>V1 模拟数据</a:t>
            </a:r>
          </a:p>
          <a:p>
            <a:pPr>
              <a:spcAft>
                <a:spcPts val="20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t>200基金 | 验证代码管线能否跑通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81051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80" b="1">
                <a:solidFill>
                  <a:srgbClr val="1C7293"/>
                </a:solidFill>
                <a:latin typeface="宋体"/>
              </a:defRPr>
            </a:pPr>
            <a:r>
              <a:t>V2 前200基金全持仓</a:t>
            </a:r>
          </a:p>
          <a:p>
            <a:pPr>
              <a:spcAft>
                <a:spcPts val="20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t>RG正向(+2.57**) | R²=0.024 | 验证真实数据可行性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26771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80" b="1">
                <a:solidFill>
                  <a:srgbClr val="D97706"/>
                </a:solidFill>
                <a:latin typeface="宋体"/>
              </a:defRPr>
            </a:pPr>
            <a:r>
              <a:t>V3 400基金前十大重仓</a:t>
            </a:r>
          </a:p>
          <a:p>
            <a:pPr>
              <a:spcAft>
                <a:spcPts val="20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t>RG翻转(-3.67***) | AS偏高(0.705) | 发现前十大偏差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72491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t>V4 400基金全持仓(修正)</a:t>
            </a:r>
          </a:p>
          <a:p>
            <a:pPr>
              <a:spcAft>
                <a:spcPts val="20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t>RG翻正(+9.20***) | R²=0.0684(+195%) | 最终验证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65592" y="960120"/>
            <a:ext cx="3685032" cy="224028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0241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  <a:latin typeface="黑体"/>
              </a:defRPr>
            </a:pPr>
            <a:r>
              <a:t>V3→V4 关键转折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353312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t>为什么RG会从负翻正？</a:t>
            </a:r>
          </a:p>
          <a:p>
            <a:pPr>
              <a:spcAft>
                <a:spcPts val="200"/>
              </a:spcAft>
              <a:defRPr sz="900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V3用前十大重仓模拟『持仓不变收益』，</a:t>
            </a:r>
          </a:p>
          <a:p>
            <a:pPr>
              <a:spcAft>
                <a:spcPts val="20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严重偏离真实持仓→RG计算失真</a:t>
            </a:r>
          </a:p>
          <a:p>
            <a:pPr>
              <a:spcAft>
                <a:spcPts val="200"/>
              </a:spcAft>
              <a:defRPr sz="900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V4获取半年报/年报全持仓数据，</a:t>
            </a:r>
          </a:p>
          <a:p>
            <a:pPr>
              <a:spcAft>
                <a:spcPts val="20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t>RG从-3.67***翻正为+9.20***</a:t>
            </a:r>
          </a:p>
          <a:p>
            <a:pPr>
              <a:spcAft>
                <a:spcPts val="200"/>
              </a:spcAft>
              <a:defRPr sz="900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200"/>
              </a:spcAft>
              <a:defRPr sz="900" b="1">
                <a:solidFill>
                  <a:srgbClr val="B91C1C"/>
                </a:solidFill>
                <a:latin typeface="宋体"/>
              </a:defRPr>
            </a:pPr>
            <a:r>
              <a:t>结论：全持仓是方法学核心</a:t>
            </a:r>
          </a:p>
          <a:p>
            <a:pPr>
              <a:spcAft>
                <a:spcPts val="20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没有全持仓，RG方向完全错误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" y="33649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/>
              </a:defRPr>
            </a:pPr>
            <a:r>
              <a:t>MVP验证回答了什么问题？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" y="3703320"/>
            <a:ext cx="22402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328" y="3703320"/>
            <a:ext cx="224028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377647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黑体"/>
              </a:defRPr>
            </a:pPr>
            <a:r>
              <a:t>框架可行性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4050791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0">
                <a:solidFill>
                  <a:srgbClr val="1A1A2E"/>
                </a:solidFill>
                <a:latin typeface="宋体"/>
              </a:defRPr>
            </a:pPr>
            <a:r>
              <a:t>五层框架能否产生有意义预测？</a:t>
            </a:r>
          </a:p>
          <a:p>
            <a:pPr>
              <a:spcAft>
                <a:spcPts val="200"/>
              </a:spcAft>
              <a:defRPr sz="850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200"/>
              </a:spcAft>
              <a:defRPr sz="850" b="1">
                <a:solidFill>
                  <a:srgbClr val="059669"/>
                </a:solidFill>
                <a:latin typeface="宋体"/>
              </a:defRPr>
            </a:pPr>
            <a:r>
              <a:t>能，R²=0.0684，4/6指标显著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42616" y="3703320"/>
            <a:ext cx="22402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42616" y="3703320"/>
            <a:ext cx="224028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34056" y="377647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黑体"/>
              </a:defRPr>
            </a:pPr>
            <a:r>
              <a:t>方向一致性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34056" y="4050791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0">
                <a:solidFill>
                  <a:srgbClr val="1A1A2E"/>
                </a:solidFill>
                <a:latin typeface="宋体"/>
              </a:defRPr>
            </a:pPr>
            <a:r>
              <a:t>中国市场与美股文献方向一致？</a:t>
            </a:r>
          </a:p>
          <a:p>
            <a:pPr>
              <a:spcAft>
                <a:spcPts val="200"/>
              </a:spcAft>
              <a:defRPr sz="850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200"/>
              </a:spcAft>
              <a:defRPr sz="850" b="1">
                <a:solidFill>
                  <a:srgbClr val="D97706"/>
                </a:solidFill>
                <a:latin typeface="宋体"/>
              </a:defRPr>
            </a:pPr>
            <a:r>
              <a:t>部分一致(RG正向)，部分相反(AS负向)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46904" y="3703320"/>
            <a:ext cx="22402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46904" y="3703320"/>
            <a:ext cx="224028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38344" y="377647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黑体"/>
              </a:defRPr>
            </a:pPr>
            <a:r>
              <a:t>数据充分性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38344" y="4050791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0">
                <a:solidFill>
                  <a:srgbClr val="1A1A2E"/>
                </a:solidFill>
                <a:latin typeface="宋体"/>
              </a:defRPr>
            </a:pPr>
            <a:r>
              <a:t>400基金+36万持仓是否足够？</a:t>
            </a:r>
          </a:p>
          <a:p>
            <a:pPr>
              <a:spcAft>
                <a:spcPts val="200"/>
              </a:spcAft>
              <a:defRPr sz="850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200"/>
              </a:spcAft>
              <a:defRPr sz="850" b="1">
                <a:solidFill>
                  <a:srgbClr val="059669"/>
                </a:solidFill>
                <a:latin typeface="宋体"/>
              </a:defRPr>
            </a:pPr>
            <a:r>
              <a:t>足够产生统计显著结果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51192" y="3703320"/>
            <a:ext cx="22402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51192" y="3703320"/>
            <a:ext cx="2240280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42632" y="377647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91C1C"/>
                </a:solidFill>
                <a:latin typeface="黑体"/>
              </a:defRPr>
            </a:pPr>
            <a:r>
              <a:t>方法学修正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42632" y="4050791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0">
                <a:solidFill>
                  <a:srgbClr val="1A1A2E"/>
                </a:solidFill>
                <a:latin typeface="宋体"/>
              </a:defRPr>
            </a:pPr>
            <a:r>
              <a:t>全持仓vs前十大影响多大？</a:t>
            </a:r>
          </a:p>
          <a:p>
            <a:pPr>
              <a:spcAft>
                <a:spcPts val="200"/>
              </a:spcAft>
              <a:defRPr sz="850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200"/>
              </a:spcAft>
              <a:defRPr sz="850" b="1">
                <a:solidFill>
                  <a:srgbClr val="B91C1C"/>
                </a:solidFill>
                <a:latin typeface="宋体"/>
              </a:defRPr>
            </a:pPr>
            <a:r>
              <a:t>影响巨大，RG方向完全翻转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55480" y="3703320"/>
            <a:ext cx="22402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55480" y="3703320"/>
            <a:ext cx="224028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6919" y="377647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7293"/>
                </a:solidFill>
                <a:latin typeface="黑体"/>
              </a:defRPr>
            </a:pPr>
            <a:r>
              <a:t>下一步方向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19" y="4050791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0">
                <a:solidFill>
                  <a:srgbClr val="1A1A2E"/>
                </a:solidFill>
                <a:latin typeface="宋体"/>
              </a:defRPr>
            </a:pPr>
            <a:r>
              <a:t>哪些指标值得深入研究？</a:t>
            </a:r>
          </a:p>
          <a:p>
            <a:pPr>
              <a:spcAft>
                <a:spcPts val="200"/>
              </a:spcAft>
              <a:defRPr sz="850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200"/>
              </a:spcAft>
              <a:defRPr sz="850" b="1">
                <a:solidFill>
                  <a:srgbClr val="1C7293"/>
                </a:solidFill>
                <a:latin typeface="宋体"/>
              </a:defRPr>
            </a:pPr>
            <a:r>
              <a:t>RG(最稳健)、AS(最强待修正)、OCI(因子调整后翻正)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40" b="1">
                <a:solidFill>
                  <a:srgbClr val="FFFFFF"/>
                </a:solidFill>
                <a:latin typeface="宋体"/>
              </a:defRPr>
            </a:pPr>
            <a:r>
              <a:t>MVP = 用最小成本验证框架可行性 | 四轮迭代: V1模拟→V2小样本→V3前十大(偏差)→V4全持仓(修正) | V3→V4关键: 全持仓使RG从-3.67翻正为+9.20 | MVP回答了『能不能跑通/方向对不对/数据够不够』三个核心问题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/>
              </a:defRPr>
            </a:pPr>
            <a:r>
              <a:t>03 MVP验证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9" b="0">
                <a:solidFill>
                  <a:srgbClr val="9CA3AF"/>
                </a:solidFill>
                <a:latin typeface="宋体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/>
              </a:defRPr>
            </a:pPr>
            <a:r>
              <a:t>04 稳健性检验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/>
              </a:defRPr>
            </a:pPr>
            <a:r>
              <a:t>六种方法交叉验证在做什么？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11494008" cy="77724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A1A2E"/>
                </a:solidFill>
                <a:latin typeface="宋体"/>
              </a:defRPr>
            </a:pPr>
            <a:r>
              <a:t>核心思想：如果一个行为指标真的有预测力，不管用什么统计方法、从什么角度切入，都应该得到一致（或可解释的差异）的结论。</a:t>
            </a:r>
          </a:p>
          <a:p>
            <a:pPr>
              <a:spcAft>
                <a:spcPts val="200"/>
              </a:spcAft>
              <a:defRPr sz="950" b="0">
                <a:solidFill>
                  <a:srgbClr val="9CA3AF"/>
                </a:solidFill>
                <a:latin typeface="宋体"/>
              </a:defRPr>
            </a:pPr>
            <a:r>
              <a:t>如果不同方法给出矛盾结果，那本身就是一个重要发现——说明该指标在不同维度上有不同效应。类比医学：新药需经RCT、观察性研究、荟萃分析多方法验证疗效。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1828800"/>
            <a:ext cx="376732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8288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B91C1C"/>
                </a:solidFill>
                <a:latin typeface="黑体"/>
              </a:defRPr>
            </a:pPr>
            <a:r>
              <a:t>1. OLS聚类回归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2176272"/>
            <a:ext cx="35478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30" b="0">
                <a:solidFill>
                  <a:srgbClr val="1A1A2E"/>
                </a:solidFill>
                <a:latin typeface="宋体"/>
              </a:defRPr>
            </a:pPr>
            <a:r>
              <a:t>做什么：用t-1期行为指标预测t期收益，按基金聚类调整标准误</a:t>
            </a:r>
          </a:p>
          <a:p>
            <a:pPr>
              <a:spcAft>
                <a:spcPts val="200"/>
              </a:spcAft>
              <a:defRPr sz="830" b="0">
                <a:solidFill>
                  <a:srgbClr val="1A1A2E"/>
                </a:solidFill>
                <a:latin typeface="宋体"/>
              </a:defRPr>
            </a:pPr>
            <a:r>
              <a:t>为什么：面板数据最基础方法，聚类标准误解决序列相关</a:t>
            </a:r>
          </a:p>
          <a:p>
            <a:pPr>
              <a:spcAft>
                <a:spcPts val="200"/>
              </a:spcAft>
              <a:defRPr sz="830" b="1">
                <a:solidFill>
                  <a:srgbClr val="B91C1C"/>
                </a:solidFill>
                <a:latin typeface="宋体"/>
              </a:defRPr>
            </a:pPr>
            <a:r>
              <a:t>结果：AS最强负向(t=-26.81***)，RG正向(t=+9.20***)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97096" y="1828800"/>
            <a:ext cx="376732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97096" y="18288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24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C7293"/>
                </a:solidFill>
                <a:latin typeface="黑体"/>
              </a:defRPr>
            </a:pPr>
            <a:r>
              <a:t>2. Fama-MacBeth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2176272"/>
            <a:ext cx="35478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30" b="0">
                <a:solidFill>
                  <a:srgbClr val="1A1A2E"/>
                </a:solidFill>
                <a:latin typeface="宋体"/>
              </a:defRPr>
            </a:pPr>
            <a:r>
              <a:t>做什么：逐季度做截面回归，得到40个季度系数取均值，Newey-West修正</a:t>
            </a:r>
          </a:p>
          <a:p>
            <a:pPr>
              <a:spcAft>
                <a:spcPts val="200"/>
              </a:spcAft>
              <a:defRPr sz="830" b="0">
                <a:solidFill>
                  <a:srgbClr val="1A1A2E"/>
                </a:solidFill>
                <a:latin typeface="宋体"/>
              </a:defRPr>
            </a:pPr>
            <a:r>
              <a:t>为什么：纯粹捕捉截面效应——同一时间高AS基金是否比低的收益高</a:t>
            </a:r>
          </a:p>
          <a:p>
            <a:pPr>
              <a:spcAft>
                <a:spcPts val="200"/>
              </a:spcAft>
              <a:defRPr sz="830" b="1">
                <a:solidFill>
                  <a:srgbClr val="1C7293"/>
                </a:solidFill>
                <a:latin typeface="宋体"/>
              </a:defRPr>
            </a:pPr>
            <a:r>
              <a:t>结果：AS正向(t=+2.76**)——与OLS方向矛盾！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5863" y="1828800"/>
            <a:ext cx="376732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182880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59669"/>
                </a:solidFill>
                <a:latin typeface="黑体"/>
              </a:defRPr>
            </a:pPr>
            <a:r>
              <a:t>3. 基金固定效应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1" y="2176272"/>
            <a:ext cx="35478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30" b="0">
                <a:solidFill>
                  <a:srgbClr val="1A1A2E"/>
                </a:solidFill>
                <a:latin typeface="宋体"/>
              </a:defRPr>
            </a:pPr>
            <a:r>
              <a:t>做什么：加入基金个体虚拟变量，消除不随时间变化的基金特征</a:t>
            </a:r>
          </a:p>
          <a:p>
            <a:pPr>
              <a:spcAft>
                <a:spcPts val="200"/>
              </a:spcAft>
              <a:defRPr sz="830" b="0">
                <a:solidFill>
                  <a:srgbClr val="1A1A2E"/>
                </a:solidFill>
                <a:latin typeface="宋体"/>
              </a:defRPr>
            </a:pPr>
            <a:r>
              <a:t>为什么：排除『基金固有质量』的混杂，检验是否基金内部变化驱动</a:t>
            </a:r>
          </a:p>
          <a:p>
            <a:pPr>
              <a:spcAft>
                <a:spcPts val="200"/>
              </a:spcAft>
              <a:defRPr sz="830" b="1">
                <a:solidFill>
                  <a:srgbClr val="059669"/>
                </a:solidFill>
                <a:latin typeface="宋体"/>
              </a:defRPr>
            </a:pPr>
            <a:r>
              <a:t>结果：RG最稳健(t=+7.77***)，SDI负向(t=-7.25***)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" y="3584448"/>
            <a:ext cx="376732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" y="3584448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3657600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D97706"/>
                </a:solidFill>
                <a:latin typeface="黑体"/>
              </a:defRPr>
            </a:pPr>
            <a:r>
              <a:t>4. 双重排序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" y="3931920"/>
            <a:ext cx="35478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30" b="0">
                <a:solidFill>
                  <a:srgbClr val="1A1A2E"/>
                </a:solidFill>
                <a:latin typeface="宋体"/>
              </a:defRPr>
            </a:pPr>
            <a:r>
              <a:t>做什么：按AS五等分，每组内再按ICI五等分，比较最高最低组收益差</a:t>
            </a:r>
          </a:p>
          <a:p>
            <a:pPr>
              <a:spcAft>
                <a:spcPts val="200"/>
              </a:spcAft>
              <a:defRPr sz="830" b="0">
                <a:solidFill>
                  <a:srgbClr val="1A1A2E"/>
                </a:solidFill>
                <a:latin typeface="宋体"/>
              </a:defRPr>
            </a:pPr>
            <a:r>
              <a:t>为什么：非参数方法，不依赖线性假设，直观看到最激进vs最保守的差距</a:t>
            </a:r>
          </a:p>
          <a:p>
            <a:pPr>
              <a:spcAft>
                <a:spcPts val="200"/>
              </a:spcAft>
              <a:defRPr sz="830" b="1">
                <a:solidFill>
                  <a:srgbClr val="D97706"/>
                </a:solidFill>
                <a:latin typeface="宋体"/>
              </a:defRPr>
            </a:pPr>
            <a:r>
              <a:t>结果：AS五分位差-6.22%/季，RG五分位差+5.14%/季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97096" y="3584448"/>
            <a:ext cx="376732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97096" y="3584448"/>
            <a:ext cx="3767328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06824" y="3657600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7C3AED"/>
                </a:solidFill>
                <a:latin typeface="黑体"/>
              </a:defRPr>
            </a:pPr>
            <a:r>
              <a:t>5. 牛熊市分组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6824" y="3931920"/>
            <a:ext cx="35478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30" b="0">
                <a:solidFill>
                  <a:srgbClr val="1A1A2E"/>
                </a:solidFill>
                <a:latin typeface="宋体"/>
              </a:defRPr>
            </a:pPr>
            <a:r>
              <a:t>做什么：按年度基准收益正负分牛市/熊市子样本，分别回归比较系数</a:t>
            </a:r>
          </a:p>
          <a:p>
            <a:pPr>
              <a:spcAft>
                <a:spcPts val="200"/>
              </a:spcAft>
              <a:defRPr sz="830" b="0">
                <a:solidFill>
                  <a:srgbClr val="1A1A2E"/>
                </a:solidFill>
                <a:latin typeface="宋体"/>
              </a:defRPr>
            </a:pPr>
            <a:r>
              <a:t>为什么：检验行为指标的『环境依赖性』——同一行为在不同市场下效果不同</a:t>
            </a:r>
          </a:p>
          <a:p>
            <a:pPr>
              <a:spcAft>
                <a:spcPts val="200"/>
              </a:spcAft>
              <a:defRPr sz="830" b="1">
                <a:solidFill>
                  <a:srgbClr val="7C3AED"/>
                </a:solidFill>
                <a:latin typeface="宋体"/>
              </a:defRPr>
            </a:pPr>
            <a:r>
              <a:t>结果：RG牛正熊负(反转)，SDI牛负熊正(反转)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55863" y="3584448"/>
            <a:ext cx="376732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5863" y="3584448"/>
            <a:ext cx="3767328" cy="36576"/>
          </a:xfrm>
          <a:prstGeom prst="rect">
            <a:avLst/>
          </a:prstGeom>
          <a:solidFill>
            <a:srgbClr val="0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1" y="3657600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89191"/>
                </a:solidFill>
                <a:latin typeface="黑体"/>
              </a:defRPr>
            </a:pPr>
            <a:r>
              <a:t>6. 滞后阶数分析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1" y="3931920"/>
            <a:ext cx="35478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30" b="0">
                <a:solidFill>
                  <a:srgbClr val="1A1A2E"/>
                </a:solidFill>
                <a:latin typeface="宋体"/>
              </a:defRPr>
            </a:pPr>
            <a:r>
              <a:t>做什么：用t-1至t-4期指标分别预测t期收益，检验预测力持续性</a:t>
            </a:r>
          </a:p>
          <a:p>
            <a:pPr>
              <a:spcAft>
                <a:spcPts val="200"/>
              </a:spcAft>
              <a:defRPr sz="830" b="0">
                <a:solidFill>
                  <a:srgbClr val="1A1A2E"/>
                </a:solidFill>
                <a:latin typeface="宋体"/>
              </a:defRPr>
            </a:pPr>
            <a:r>
              <a:t>为什么：只持续1期=短期噪声，持续4期=持久行为特征</a:t>
            </a:r>
          </a:p>
          <a:p>
            <a:pPr>
              <a:spcAft>
                <a:spcPts val="200"/>
              </a:spcAft>
              <a:defRPr sz="830" b="1">
                <a:solidFill>
                  <a:srgbClr val="089191"/>
                </a:solidFill>
                <a:latin typeface="宋体"/>
              </a:defRPr>
            </a:pPr>
            <a:r>
              <a:t>结果：AS持续4/4期，RG持续4/4期但方向交替(1Q正→2Q负)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" y="5303520"/>
            <a:ext cx="11494008" cy="4572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3309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t>交叉验证核心发现：OLS显示AS负向但Fama-MacBeth显示AS正向——这个矛盾是原创发现，说明AS存在『时序效应』(同一基金AS升高→收益降低)和『截面效应』(同一时间高AS基金→收益高)的双重维度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40" b="1">
                <a:solidFill>
                  <a:srgbClr val="FFFFFF"/>
                </a:solidFill>
                <a:latin typeface="宋体"/>
              </a:defRPr>
            </a:pPr>
            <a:r>
              <a:t>六种方法交叉验证 = 用不同统计角度反复检验同一结论 | OLS(混合)→FM(截面)→FE(组内)→双重排序(非参数)→牛熊市(环境)→滞后(持续性) | 矛盾结果本身是发现: AS时序负/截面正 | RG最稳健(OLS+FE均正向)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/>
              </a:defRPr>
            </a:pPr>
            <a:r>
              <a:t>04 稳健性检验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9" b="0">
                <a:solidFill>
                  <a:srgbClr val="9CA3AF"/>
                </a:solidFill>
                <a:latin typeface="宋体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23727</Words>
  <Application>WPS 演示</Application>
  <PresentationFormat/>
  <Paragraphs>2597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3" baseType="lpstr">
      <vt:lpstr>Arial</vt:lpstr>
      <vt:lpstr>宋体</vt:lpstr>
      <vt:lpstr>Wingdings</vt:lpstr>
      <vt:lpstr>黑体</vt:lpstr>
      <vt:lpstr>微软雅黑</vt:lpstr>
      <vt:lpstr>Arial Unicode MS</vt:lpstr>
      <vt:lpstr>Calibri</vt:lpstr>
      <vt:lpstr>Courier New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26955</cp:lastModifiedBy>
  <cp:revision>1</cp:revision>
  <dcterms:created xsi:type="dcterms:W3CDTF">2026-08-05T01:04:03Z</dcterms:created>
  <dcterms:modified xsi:type="dcterms:W3CDTF">2026-08-05T01:04:04Z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97A3AD4A0E454131863B6C6440C5658B_12</vt:lpwstr>
  </property>
  <property fmtid="{D5CDD505-2E9C-101B-9397-08002B2CF9AE}" pid="3" name="KSOProductBuildVer">
    <vt:lpwstr>2052-12.8.2.18205</vt:lpwstr>
  </property>
</Properties>
</file>