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7" r:id="rId3"/>
    <p:sldId id="357" r:id="rId4"/>
    <p:sldId id="354" r:id="rId5"/>
    <p:sldId id="269" r:id="rId6"/>
    <p:sldId id="351" r:id="rId7"/>
    <p:sldId id="271" r:id="rId8"/>
    <p:sldId id="352" r:id="rId9"/>
    <p:sldId id="272" r:id="rId10"/>
    <p:sldId id="358" r:id="rId12"/>
    <p:sldId id="275" r:id="rId13"/>
    <p:sldId id="353" r:id="rId14"/>
    <p:sldId id="361" r:id="rId15"/>
    <p:sldId id="277" r:id="rId16"/>
    <p:sldId id="362" r:id="rId20"/>
    <p:sldId id="363" r:id="rId21"/>
    <p:sldId id="364" r:id="rId22"/>
    <p:sldId id="365" r:id="rId23"/>
    <p:sldId id="366" r:id="rId24"/>
    <p:sldId id="367" r:id="rId25"/>
    <p:sldId id="368" r:id="rId26"/>
    <p:sldId id="369" r:id="rId27"/>
  </p:sldIdLst>
  <p:sldSz cx="1219136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479425" y="45085"/>
            <a:ext cx="11229340" cy="727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基金经理行为画像：五层递进框架下的中国基金市场实证研究</a:t>
            </a:r>
            <a:endParaRPr sz="32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-1785891665041-5"/>
          <p:cNvSpPr txBox="1"/>
          <p:nvPr/>
        </p:nvSpPr>
        <p:spPr>
          <a:xfrm>
            <a:off x="46857" y="4491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7" name="Rounded Rectangle 4"/>
          <p:cNvSpPr/>
          <p:nvPr/>
        </p:nvSpPr>
        <p:spPr>
          <a:xfrm>
            <a:off x="457200" y="405765"/>
            <a:ext cx="1124712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88" name="TextBox 5"/>
          <p:cNvSpPr txBox="1"/>
          <p:nvPr/>
        </p:nvSpPr>
        <p:spPr>
          <a:xfrm>
            <a:off x="640080" y="45148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800"/>
              <a:t>L1 背景特征</a:t>
            </a:r>
            <a:endParaRPr sz="1800"/>
          </a:p>
        </p:txBody>
      </p:sp>
      <p:sp>
        <p:nvSpPr>
          <p:cNvPr id="89" name="TextBox 6"/>
          <p:cNvSpPr txBox="1"/>
          <p:nvPr/>
        </p:nvSpPr>
        <p:spPr>
          <a:xfrm>
            <a:off x="2743200" y="45148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"经理是谁，面对什么压力"</a:t>
            </a:r>
            <a:endParaRPr sz="1600"/>
          </a:p>
        </p:txBody>
      </p:sp>
      <p:sp>
        <p:nvSpPr>
          <p:cNvPr id="90" name="TextBox 7"/>
          <p:cNvSpPr txBox="1"/>
          <p:nvPr/>
        </p:nvSpPr>
        <p:spPr>
          <a:xfrm>
            <a:off x="6716395" y="571500"/>
            <a:ext cx="494728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CR</a:t>
            </a:r>
            <a:r>
              <a:rPr lang="en-US" sz="1600"/>
              <a:t>(</a:t>
            </a:r>
            <a:r>
              <a:rPr lang="zh-CN" altLang="en-US" sz="1600"/>
              <a:t>累计收益率</a:t>
            </a:r>
            <a:r>
              <a:rPr lang="en-US" sz="1600"/>
              <a:t>)</a:t>
            </a:r>
            <a:r>
              <a:rPr sz="1600"/>
              <a:t>、RAR</a:t>
            </a:r>
            <a:r>
              <a:rPr lang="en-US" sz="1600"/>
              <a:t>(风险调整比率=下半年波动率/上半年波动率)</a:t>
            </a:r>
            <a:r>
              <a:rPr sz="1600"/>
              <a:t>、Loser Dummy</a:t>
            </a:r>
            <a:r>
              <a:rPr lang="en-US" sz="1600"/>
              <a:t>(输家虚拟变量)</a:t>
            </a:r>
            <a:endParaRPr lang="en-US" sz="1600"/>
          </a:p>
        </p:txBody>
      </p:sp>
      <p:sp>
        <p:nvSpPr>
          <p:cNvPr id="91" name="TextBox 8"/>
          <p:cNvSpPr txBox="1"/>
          <p:nvPr/>
        </p:nvSpPr>
        <p:spPr>
          <a:xfrm>
            <a:off x="640080" y="725805"/>
            <a:ext cx="619061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独立结论：排名落后的经理下半年加大风险 → 锦标赛效应存在</a:t>
            </a:r>
            <a:endParaRPr sz="1600"/>
          </a:p>
        </p:txBody>
      </p:sp>
      <p:sp>
        <p:nvSpPr>
          <p:cNvPr id="92" name="Rounded Rectangle 9"/>
          <p:cNvSpPr/>
          <p:nvPr/>
        </p:nvSpPr>
        <p:spPr>
          <a:xfrm>
            <a:off x="457200" y="1411605"/>
            <a:ext cx="11247120" cy="914400"/>
          </a:xfrm>
          <a:prstGeom prst="round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93" name="TextBox 10"/>
          <p:cNvSpPr txBox="1"/>
          <p:nvPr/>
        </p:nvSpPr>
        <p:spPr>
          <a:xfrm>
            <a:off x="640080" y="145732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800"/>
              <a:t>L2 持仓偏离</a:t>
            </a:r>
            <a:endParaRPr sz="1800"/>
          </a:p>
        </p:txBody>
      </p:sp>
      <p:sp>
        <p:nvSpPr>
          <p:cNvPr id="94" name="TextBox 11"/>
          <p:cNvSpPr txBox="1"/>
          <p:nvPr/>
        </p:nvSpPr>
        <p:spPr>
          <a:xfrm>
            <a:off x="2743200" y="145732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"持仓跟基准差多远"</a:t>
            </a:r>
            <a:endParaRPr sz="1600"/>
          </a:p>
        </p:txBody>
      </p:sp>
      <p:sp>
        <p:nvSpPr>
          <p:cNvPr id="95" name="TextBox 12"/>
          <p:cNvSpPr txBox="1"/>
          <p:nvPr/>
        </p:nvSpPr>
        <p:spPr>
          <a:xfrm>
            <a:off x="6788785" y="1560830"/>
            <a:ext cx="47758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AS</a:t>
            </a:r>
            <a:r>
              <a:rPr lang="en-US" sz="1600"/>
              <a:t>(主动份额，基金持仓与基准的偏离程度)</a:t>
            </a:r>
            <a:endParaRPr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ICI</a:t>
            </a:r>
            <a:r>
              <a:rPr lang="en-US" sz="1600"/>
              <a:t>(行业集中度)</a:t>
            </a:r>
            <a:endParaRPr lang="en-US" sz="1600"/>
          </a:p>
        </p:txBody>
      </p:sp>
      <p:sp>
        <p:nvSpPr>
          <p:cNvPr id="96" name="TextBox 13"/>
          <p:cNvSpPr txBox="1"/>
          <p:nvPr/>
        </p:nvSpPr>
        <p:spPr>
          <a:xfrm>
            <a:off x="640080" y="1731645"/>
            <a:ext cx="57594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独立结论：持仓偏离基准越大 → 未来业绩越差</a:t>
            </a:r>
            <a:endParaRPr sz="1600"/>
          </a:p>
        </p:txBody>
      </p:sp>
      <p:sp>
        <p:nvSpPr>
          <p:cNvPr id="97" name="Rounded Rectangle 14"/>
          <p:cNvSpPr/>
          <p:nvPr/>
        </p:nvSpPr>
        <p:spPr>
          <a:xfrm>
            <a:off x="457200" y="2417445"/>
            <a:ext cx="11247120" cy="914400"/>
          </a:xfrm>
          <a:prstGeom prst="round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98" name="TextBox 15"/>
          <p:cNvSpPr txBox="1"/>
          <p:nvPr/>
        </p:nvSpPr>
        <p:spPr>
          <a:xfrm>
            <a:off x="640080" y="246316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rPr sz="1800"/>
              <a:t>L3 交易行为</a:t>
            </a:r>
            <a:endParaRPr sz="1800"/>
          </a:p>
        </p:txBody>
      </p:sp>
      <p:sp>
        <p:nvSpPr>
          <p:cNvPr id="99" name="TextBox 16"/>
          <p:cNvSpPr txBox="1"/>
          <p:nvPr/>
        </p:nvSpPr>
        <p:spPr>
          <a:xfrm>
            <a:off x="2743200" y="246316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"私下在做什么隐形操作"</a:t>
            </a:r>
            <a:endParaRPr sz="1600"/>
          </a:p>
        </p:txBody>
      </p:sp>
      <p:sp>
        <p:nvSpPr>
          <p:cNvPr id="100" name="TextBox 17"/>
          <p:cNvSpPr txBox="1"/>
          <p:nvPr/>
        </p:nvSpPr>
        <p:spPr>
          <a:xfrm>
            <a:off x="5981065" y="2569210"/>
            <a:ext cx="568515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RG</a:t>
            </a:r>
            <a:r>
              <a:rPr lang="en-US" sz="1600"/>
              <a:t>(收益缺口，实际收益减持仓不变理论收益，捕捉隐形交易)</a:t>
            </a:r>
            <a:endParaRPr lang="en-US"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ARG</a:t>
            </a:r>
            <a:r>
              <a:rPr lang="en-US" sz="1600"/>
              <a:t>(绝对收益缺口，对RG取绝对值再求和)</a:t>
            </a:r>
            <a:endParaRPr lang="en-US" sz="1600"/>
          </a:p>
        </p:txBody>
      </p:sp>
      <p:sp>
        <p:nvSpPr>
          <p:cNvPr id="101" name="TextBox 18"/>
          <p:cNvSpPr txBox="1"/>
          <p:nvPr/>
        </p:nvSpPr>
        <p:spPr>
          <a:xfrm>
            <a:off x="640080" y="2737485"/>
            <a:ext cx="57848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独立结论：隐形交易越频繁 → 隐形成本越高，侵蚀收益</a:t>
            </a:r>
            <a:endParaRPr sz="1600"/>
          </a:p>
        </p:txBody>
      </p:sp>
      <p:sp>
        <p:nvSpPr>
          <p:cNvPr id="102" name="Rounded Rectangle 19"/>
          <p:cNvSpPr/>
          <p:nvPr/>
        </p:nvSpPr>
        <p:spPr>
          <a:xfrm>
            <a:off x="457200" y="3423285"/>
            <a:ext cx="11247120" cy="914400"/>
          </a:xfrm>
          <a:prstGeom prst="round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103" name="TextBox 20"/>
          <p:cNvSpPr txBox="1"/>
          <p:nvPr/>
        </p:nvSpPr>
        <p:spPr>
          <a:xfrm>
            <a:off x="640080" y="346900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800"/>
              <a:t>L4 风险应对</a:t>
            </a:r>
            <a:endParaRPr sz="1800"/>
          </a:p>
        </p:txBody>
      </p:sp>
      <p:sp>
        <p:nvSpPr>
          <p:cNvPr id="104" name="TextBox 21"/>
          <p:cNvSpPr txBox="1"/>
          <p:nvPr/>
        </p:nvSpPr>
        <p:spPr>
          <a:xfrm>
            <a:off x="2743200" y="346900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"风格稳不稳定"</a:t>
            </a:r>
            <a:endParaRPr sz="1600"/>
          </a:p>
        </p:txBody>
      </p:sp>
      <p:sp>
        <p:nvSpPr>
          <p:cNvPr id="105" name="TextBox 22"/>
          <p:cNvSpPr txBox="1"/>
          <p:nvPr/>
        </p:nvSpPr>
        <p:spPr>
          <a:xfrm>
            <a:off x="6023610" y="3735070"/>
            <a:ext cx="544258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SDI</a:t>
            </a:r>
            <a:r>
              <a:rPr lang="en-US" sz="1600"/>
              <a:t>(风格漂移指数，相邻两期风格权重变化的曼哈顿距离)</a:t>
            </a:r>
            <a:endParaRPr lang="en-US" sz="1600"/>
          </a:p>
        </p:txBody>
      </p:sp>
      <p:sp>
        <p:nvSpPr>
          <p:cNvPr id="106" name="TextBox 23"/>
          <p:cNvSpPr txBox="1"/>
          <p:nvPr/>
        </p:nvSpPr>
        <p:spPr>
          <a:xfrm>
            <a:off x="640080" y="3743325"/>
            <a:ext cx="600964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独立结论：风格漂移与业绩呈U型 → 适度漂移最好</a:t>
            </a:r>
            <a:endParaRPr sz="1600"/>
          </a:p>
        </p:txBody>
      </p:sp>
      <p:sp>
        <p:nvSpPr>
          <p:cNvPr id="107" name="Rounded Rectangle 24"/>
          <p:cNvSpPr/>
          <p:nvPr/>
        </p:nvSpPr>
        <p:spPr>
          <a:xfrm>
            <a:off x="457200" y="4429125"/>
            <a:ext cx="11247120" cy="914400"/>
          </a:xfrm>
          <a:prstGeom prst="round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108" name="TextBox 25"/>
          <p:cNvSpPr txBox="1"/>
          <p:nvPr/>
        </p:nvSpPr>
        <p:spPr>
          <a:xfrm>
            <a:off x="640080" y="447484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6A1B9A"/>
                </a:solidFill>
                <a:latin typeface="微软雅黑" panose="020B0503020204020204" charset="-122"/>
              </a:defRPr>
            </a:pPr>
            <a:r>
              <a:rPr sz="1800"/>
              <a:t>L5 认知偏差</a:t>
            </a:r>
            <a:endParaRPr sz="1800"/>
          </a:p>
        </p:txBody>
      </p:sp>
      <p:sp>
        <p:nvSpPr>
          <p:cNvPr id="109" name="TextBox 26"/>
          <p:cNvSpPr txBox="1"/>
          <p:nvPr/>
        </p:nvSpPr>
        <p:spPr>
          <a:xfrm>
            <a:off x="2743200" y="4474845"/>
            <a:ext cx="430149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"是否过度自信，业绩可预测吗"</a:t>
            </a:r>
            <a:endParaRPr sz="1600"/>
          </a:p>
        </p:txBody>
      </p:sp>
      <p:sp>
        <p:nvSpPr>
          <p:cNvPr id="110" name="TextBox 27"/>
          <p:cNvSpPr txBox="1"/>
          <p:nvPr/>
        </p:nvSpPr>
        <p:spPr>
          <a:xfrm>
            <a:off x="7175500" y="4625975"/>
            <a:ext cx="42932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OCI</a:t>
            </a:r>
            <a:r>
              <a:rPr lang="en-US" sz="1600"/>
              <a:t>(</a:t>
            </a:r>
            <a:r>
              <a:rPr sz="1600"/>
              <a:t>过度自信指数，换手率Z-score标准化</a:t>
            </a:r>
            <a:r>
              <a:rPr lang="en-US" sz="1600"/>
              <a:t>)</a:t>
            </a:r>
            <a:endParaRPr lang="en-US"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PS</a:t>
            </a:r>
            <a:r>
              <a:rPr lang="en-US" sz="1600"/>
              <a:t>(不可预测性分数)</a:t>
            </a:r>
            <a:endParaRPr lang="en-US" sz="1600"/>
          </a:p>
        </p:txBody>
      </p:sp>
      <p:sp>
        <p:nvSpPr>
          <p:cNvPr id="111" name="TextBox 28"/>
          <p:cNvSpPr txBox="1"/>
          <p:nvPr/>
        </p:nvSpPr>
        <p:spPr>
          <a:xfrm>
            <a:off x="640080" y="4749165"/>
            <a:ext cx="564070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独立结论：换手率越高（过度自信）→ 业绩越差，且不可逆</a:t>
            </a:r>
            <a:endParaRPr sz="1600"/>
          </a:p>
        </p:txBody>
      </p:sp>
      <p:sp>
        <p:nvSpPr>
          <p:cNvPr id="112" name="文本框 111"/>
          <p:cNvSpPr txBox="1"/>
          <p:nvPr/>
        </p:nvSpPr>
        <p:spPr>
          <a:xfrm>
            <a:off x="52705" y="5570855"/>
            <a:ext cx="918400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i="0">
                <a:solidFill>
                  <a:schemeClr val="tx1"/>
                </a:solidFill>
                <a:latin typeface="JetBrains Mono"/>
                <a:ea typeface="JetBrains Mono"/>
              </a:rPr>
              <a:t>多指标联合回归：业绩 </a:t>
            </a:r>
            <a:r>
              <a:rPr lang="en-US" altLang="zh-CN" sz="1800" i="0">
                <a:solidFill>
                  <a:schemeClr val="tx1"/>
                </a:solidFill>
                <a:latin typeface="JetBrains Mono"/>
                <a:ea typeface="JetBrains Mono"/>
              </a:rPr>
              <a:t>= α + β1·Loser + β2·AS + β3·ARG + β4·SDI + β5·OCI + ε</a:t>
            </a:r>
            <a:endParaRPr lang="en-US" altLang="zh-CN" sz="1800" i="0">
              <a:solidFill>
                <a:schemeClr val="tx1"/>
              </a:solidFill>
              <a:latin typeface="JetBrains Mono"/>
              <a:ea typeface="JetBrains Mono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-20320" y="6237605"/>
            <a:ext cx="9710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行为画像打分Profile Score = w1·L1得分 + w2·L2得分 + w3·L3得分 + w4·L4得分 + w5·L5得分</a:t>
            </a:r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9456420" y="5497830"/>
            <a:ext cx="2356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哪个解释</a:t>
            </a:r>
            <a:r>
              <a:rPr lang="zh-CN" altLang="en-US"/>
              <a:t>效果最强</a:t>
            </a:r>
            <a:endParaRPr lang="zh-CN" altLang="en-US"/>
          </a:p>
        </p:txBody>
      </p:sp>
      <p:sp>
        <p:nvSpPr>
          <p:cNvPr id="115" name="文本框 114"/>
          <p:cNvSpPr txBox="1"/>
          <p:nvPr/>
        </p:nvSpPr>
        <p:spPr>
          <a:xfrm>
            <a:off x="9552305" y="6109335"/>
            <a:ext cx="2475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画像总评分对基金业绩的</a:t>
            </a:r>
            <a:r>
              <a:rPr lang="zh-CN" altLang="en-US"/>
              <a:t>解释</a:t>
            </a:r>
            <a:endParaRPr lang="zh-CN" altLang="en-US"/>
          </a:p>
        </p:txBody>
      </p:sp>
      <p:sp>
        <p:nvSpPr>
          <p:cNvPr id="1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9380" y="188595"/>
            <a:ext cx="502031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L1 背景特征层：BHS锦标赛压力与经理特征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81990"/>
            <a:ext cx="52120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BHS锦标赛理论 (Brown, Harlow &amp; Starks, 1996 JF)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0835" y="1052830"/>
            <a:ext cx="5207635" cy="5179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核心思想：基金经理在年中排名落后时（输家），会在下半年增加风险以"翻盘"；排名领先时（赢家）则保守降险。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BHS方法三步骤：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① 排序期(1-6月)：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计算累积收益率CR，按同类基金排名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② 分组：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以</a:t>
            </a:r>
            <a:r>
              <a:rPr sz="1600" i="1" u="sng">
                <a:solidFill>
                  <a:schemeClr val="tx1"/>
                </a:solidFill>
              </a:rPr>
              <a:t>中位数为界</a:t>
            </a:r>
            <a:r>
              <a:rPr sz="1600">
                <a:solidFill>
                  <a:schemeClr val="tx1"/>
                </a:solidFill>
              </a:rPr>
              <a:t>，分为赢家(上半)和输家(下半)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③ 测试期(7-12月)：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计算风险调整比率RAR=σ(下半年)/σ(上半年)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锦标赛效应检验：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输家RAR &gt; 赢家RAR → 锦标赛效应存在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输家增险翻盘，赢家保守守成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817870" y="167005"/>
            <a:ext cx="6281420" cy="64833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6130" y="260350"/>
            <a:ext cx="373253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/>
              <a:t>BHS案例：经理A(输家) vs 经理B(赢家)</a:t>
            </a:r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6400800" y="771525"/>
            <a:ext cx="2468880" cy="27432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6492240" y="718185"/>
            <a:ext cx="2286000" cy="4178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经理A（新手·输家）</a:t>
            </a:r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6029325" y="1091565"/>
            <a:ext cx="2956560" cy="2593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从业2.5年，管理规模15亿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上半年CR=-2.0%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（排名后30%→输家）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排序期σ_rank = 1.21%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测试期σ_test = 1.91%</a:t>
            </a:r>
            <a:endParaRPr sz="1600"/>
          </a:p>
          <a:p>
            <a:pPr algn="ctr"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RAR = 1.91/1.21 = 1.58 &gt; 1 →增险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行为：下半年重仓半导体追涨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结果：业绩进一步恶化（-5%）</a:t>
            </a:r>
            <a:endParaRPr sz="1600"/>
          </a:p>
        </p:txBody>
      </p:sp>
      <p:sp>
        <p:nvSpPr>
          <p:cNvPr id="20" name="Rectangle 19"/>
          <p:cNvSpPr/>
          <p:nvPr/>
        </p:nvSpPr>
        <p:spPr>
          <a:xfrm>
            <a:off x="9144000" y="771525"/>
            <a:ext cx="2468880" cy="27432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9235440" y="717550"/>
            <a:ext cx="2286000" cy="4184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经理B（老手·赢家）</a:t>
            </a:r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9048115" y="1093470"/>
            <a:ext cx="2858135" cy="275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从业8年，管理规模50亿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上半年CR=+6.1%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（排名前30%→赢家）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排序期σ_rank = 0.89%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测试期σ_test = 0.52%</a:t>
            </a:r>
            <a:endParaRPr sz="1600"/>
          </a:p>
          <a:p>
            <a:pPr algn="ctr"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RAR = 0.52/0.89 = 0.58 &lt; 1 →降险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行为：下半年维持均衡配置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结果：业绩稳定增长（+3%）</a:t>
            </a:r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6224905" y="4471670"/>
            <a:ext cx="57169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800"/>
              <a:t>输家RAR(1.58) &gt; 赢家RAR(0.58) → 锦标赛效应验证</a:t>
            </a:r>
            <a:endParaRPr sz="1800"/>
          </a:p>
        </p:txBody>
      </p:sp>
      <p:sp>
        <p:nvSpPr>
          <p:cNvPr id="25" name="TextBox 24"/>
          <p:cNvSpPr txBox="1"/>
          <p:nvPr/>
        </p:nvSpPr>
        <p:spPr>
          <a:xfrm>
            <a:off x="6338570" y="5083175"/>
            <a:ext cx="539051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2000"/>
              <a:t>从业年限短→职业忧虑强→锦标赛效应更明显</a:t>
            </a:r>
            <a:endParaRPr sz="2000"/>
          </a:p>
        </p:txBody>
      </p:sp>
      <p:cxnSp>
        <p:nvCxnSpPr>
          <p:cNvPr id="32" name="el-17858916659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10" descr="bhs_c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997327"/>
            <a:ext cx="2743200" cy="657461"/>
          </a:xfrm>
          <a:prstGeom prst="rect">
            <a:avLst/>
          </a:prstGeom>
        </p:spPr>
      </p:pic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400-16"/>
          <p:cNvPicPr/>
          <p:nvPr/>
        </p:nvPicPr>
        <p:blipFill>
          <a:blip r:embed="rId1"/>
          <a:srcRect l="20334" t="13907" r="18245" b="17821"/>
          <a:stretch>
            <a:fillRect/>
          </a:stretch>
        </p:blipFill>
        <p:spPr>
          <a:xfrm>
            <a:off x="1343025" y="1701165"/>
            <a:ext cx="4115435" cy="963295"/>
          </a:xfrm>
          <a:prstGeom prst="rect">
            <a:avLst/>
          </a:prstGeom>
          <a:ln>
            <a:noFill/>
          </a:ln>
        </p:spPr>
      </p:pic>
      <p:sp>
        <p:nvSpPr>
          <p:cNvPr id="6" name="el-1785891666383-11"/>
          <p:cNvSpPr/>
          <p:nvPr/>
        </p:nvSpPr>
        <p:spPr>
          <a:xfrm>
            <a:off x="6825615" y="244475"/>
            <a:ext cx="5363210" cy="52787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el-1785891666418-25"/>
          <p:cNvSpPr txBox="1"/>
          <p:nvPr/>
        </p:nvSpPr>
        <p:spPr>
          <a:xfrm>
            <a:off x="628493" y="590773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269875" y="3212465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1045845" y="3071495"/>
            <a:ext cx="5206365" cy="4972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269875" y="3893820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1181735" y="3873500"/>
            <a:ext cx="467804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269875" y="4575175"/>
            <a:ext cx="1123950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r>
              <a:rPr lang="zh-CN" altLang="en-US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，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i</a:t>
            </a:r>
            <a:endParaRPr lang="en-US" altLang="zh-CN" sz="2400" b="1" baseline="-25000">
              <a:solidFill>
                <a:srgbClr val="B91C1C"/>
              </a:solidFill>
              <a:latin typeface="Courier New" panose="02070309020205020404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713230" y="4549775"/>
            <a:ext cx="455485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269875" y="5256530"/>
            <a:ext cx="1267460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bench</a:t>
            </a:r>
            <a:r>
              <a:rPr lang="zh-CN" altLang="en-US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，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i</a:t>
            </a:r>
            <a:endParaRPr lang="en-US" altLang="zh-CN" sz="2400" b="1" baseline="-25000">
              <a:solidFill>
                <a:srgbClr val="B91C1C"/>
              </a:solidFill>
              <a:latin typeface="Courier New" panose="02070309020205020404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697355" y="5226050"/>
            <a:ext cx="455485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269875" y="5937885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1442720" y="5902325"/>
            <a:ext cx="410527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7176135" y="476885"/>
            <a:ext cx="390715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20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7247890" y="2847975"/>
            <a:ext cx="4577080" cy="10864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"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 3%+7%+3%+89.1% = 102.1%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7392035" y="4149090"/>
            <a:ext cx="3902075" cy="6915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8" name="el-1785891666221-17"/>
          <p:cNvSpPr txBox="1"/>
          <p:nvPr/>
        </p:nvSpPr>
        <p:spPr>
          <a:xfrm>
            <a:off x="622935" y="1168400"/>
            <a:ext cx="5784215" cy="485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AS=0 完全复制，AS=1 完全不同。AS&gt;0.6 为主动选股型。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9" name="el-1785891666223-22"/>
          <p:cNvSpPr/>
          <p:nvPr/>
        </p:nvSpPr>
        <p:spPr>
          <a:xfrm>
            <a:off x="6967039" y="902672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cxnSp>
        <p:nvCxnSpPr>
          <p:cNvPr id="110" name="el-1785891666270-33"/>
          <p:cNvCxnSpPr/>
          <p:nvPr/>
        </p:nvCxnSpPr>
        <p:spPr>
          <a:xfrm>
            <a:off x="7081310" y="1526404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el-1785891666268-30"/>
          <p:cNvSpPr txBox="1"/>
          <p:nvPr/>
        </p:nvSpPr>
        <p:spPr>
          <a:xfrm>
            <a:off x="7081310" y="978853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2" name="el-1785891666273-35"/>
          <p:cNvSpPr txBox="1"/>
          <p:nvPr/>
        </p:nvSpPr>
        <p:spPr>
          <a:xfrm>
            <a:off x="7081310" y="126453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3" name="el-1785891666274-36"/>
          <p:cNvSpPr txBox="1"/>
          <p:nvPr/>
        </p:nvSpPr>
        <p:spPr>
          <a:xfrm>
            <a:off x="8612548" y="126453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4" name="el-1785891666274-37"/>
          <p:cNvSpPr txBox="1"/>
          <p:nvPr/>
        </p:nvSpPr>
        <p:spPr>
          <a:xfrm>
            <a:off x="9729819" y="126453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5" name="el-1785891666274-38"/>
          <p:cNvSpPr txBox="1"/>
          <p:nvPr/>
        </p:nvSpPr>
        <p:spPr>
          <a:xfrm>
            <a:off x="10847090" y="126453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6" name="el-1785891666274-39"/>
          <p:cNvSpPr txBox="1"/>
          <p:nvPr/>
        </p:nvSpPr>
        <p:spPr>
          <a:xfrm>
            <a:off x="7081310" y="155021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7" name="el-1785891666274-40"/>
          <p:cNvSpPr txBox="1"/>
          <p:nvPr/>
        </p:nvSpPr>
        <p:spPr>
          <a:xfrm>
            <a:off x="8612548" y="155021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8" name="el-1785891666274-41"/>
          <p:cNvSpPr txBox="1"/>
          <p:nvPr/>
        </p:nvSpPr>
        <p:spPr>
          <a:xfrm>
            <a:off x="9729819" y="155021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9" name="el-1785891666274-42"/>
          <p:cNvSpPr txBox="1"/>
          <p:nvPr/>
        </p:nvSpPr>
        <p:spPr>
          <a:xfrm>
            <a:off x="10847090" y="155021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0" name="el-1785891666275-43"/>
          <p:cNvSpPr txBox="1"/>
          <p:nvPr/>
        </p:nvSpPr>
        <p:spPr>
          <a:xfrm>
            <a:off x="7081310" y="1816843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1" name="el-1785891666275-44"/>
          <p:cNvSpPr txBox="1"/>
          <p:nvPr/>
        </p:nvSpPr>
        <p:spPr>
          <a:xfrm>
            <a:off x="8612548" y="181684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2" name="el-1785891666275-45"/>
          <p:cNvSpPr txBox="1"/>
          <p:nvPr/>
        </p:nvSpPr>
        <p:spPr>
          <a:xfrm>
            <a:off x="9729819" y="181684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3" name="el-1785891666275-46"/>
          <p:cNvSpPr txBox="1"/>
          <p:nvPr/>
        </p:nvSpPr>
        <p:spPr>
          <a:xfrm>
            <a:off x="10847090" y="1816843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4" name="el-1785891666275-47"/>
          <p:cNvSpPr txBox="1"/>
          <p:nvPr/>
        </p:nvSpPr>
        <p:spPr>
          <a:xfrm>
            <a:off x="7081310" y="208347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5" name="el-1785891666275-48"/>
          <p:cNvSpPr txBox="1"/>
          <p:nvPr/>
        </p:nvSpPr>
        <p:spPr>
          <a:xfrm>
            <a:off x="8612548" y="208347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6" name="el-1785891666275-49"/>
          <p:cNvSpPr txBox="1"/>
          <p:nvPr/>
        </p:nvSpPr>
        <p:spPr>
          <a:xfrm>
            <a:off x="9729819" y="208347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7" name="el-1785891666276-50"/>
          <p:cNvSpPr txBox="1"/>
          <p:nvPr/>
        </p:nvSpPr>
        <p:spPr>
          <a:xfrm>
            <a:off x="10847090" y="208347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7058660" y="2421255"/>
            <a:ext cx="4994910" cy="2152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其余297只</a:t>
            </a:r>
            <a:r>
              <a:rPr lang="en-US" altLang="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</a:t>
            </a: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r>
              <a:rPr lang="en-US" altLang="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0.30%</a:t>
            </a:r>
            <a:r>
              <a:rPr lang="en-US" altLang="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6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0.30%</a:t>
            </a:r>
            <a:endParaRPr sz="16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9" name="el-1785891666218-10"/>
          <p:cNvSpPr txBox="1"/>
          <p:nvPr/>
        </p:nvSpPr>
        <p:spPr>
          <a:xfrm>
            <a:off x="119380" y="116840"/>
            <a:ext cx="65309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el-1785891666413-17"/>
          <p:cNvPicPr/>
          <p:nvPr/>
        </p:nvPicPr>
        <p:blipFill>
          <a:blip r:embed="rId1"/>
          <a:srcRect l="18336" t="12271" r="18498" b="14480"/>
          <a:stretch>
            <a:fillRect/>
          </a:stretch>
        </p:blipFill>
        <p:spPr>
          <a:xfrm>
            <a:off x="1199515" y="1917065"/>
            <a:ext cx="4464685" cy="989330"/>
          </a:xfrm>
          <a:prstGeom prst="rect">
            <a:avLst/>
          </a:prstGeom>
          <a:ln>
            <a:noFill/>
          </a:ln>
        </p:spPr>
      </p:pic>
      <p:sp>
        <p:nvSpPr>
          <p:cNvPr id="11" name="el-1785891666384-13"/>
          <p:cNvSpPr/>
          <p:nvPr/>
        </p:nvSpPr>
        <p:spPr>
          <a:xfrm>
            <a:off x="6590030" y="906780"/>
            <a:ext cx="5455285" cy="43808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el-1785891666420-30"/>
          <p:cNvSpPr txBox="1"/>
          <p:nvPr/>
        </p:nvSpPr>
        <p:spPr>
          <a:xfrm>
            <a:off x="628650" y="763905"/>
            <a:ext cx="204406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413385" y="3184525"/>
            <a:ext cx="1117600" cy="485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1775460" y="3282315"/>
            <a:ext cx="4040505" cy="515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0=完全分散，1=单一行业</a:t>
            </a:r>
            <a:endParaRPr sz="18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407035" y="3928745"/>
            <a:ext cx="1391285" cy="618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fund,j</a:t>
            </a:r>
            <a:endParaRPr lang="en-US" altLang=""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2043430" y="4074795"/>
            <a:ext cx="3702685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385445" y="4611370"/>
            <a:ext cx="1145540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altLang=""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market,j</a:t>
            </a:r>
            <a:endParaRPr lang="en-US" altLang=""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1957070" y="4810125"/>
            <a:ext cx="4524375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413385" y="5260340"/>
            <a:ext cx="1117600" cy="618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1637030" y="5443855"/>
            <a:ext cx="4953000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7084060" y="979170"/>
            <a:ext cx="428942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7248525" y="3636645"/>
            <a:ext cx="4284345" cy="8401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222-20"/>
          <p:cNvSpPr txBox="1"/>
          <p:nvPr/>
        </p:nvSpPr>
        <p:spPr>
          <a:xfrm>
            <a:off x="1838960" y="1167765"/>
            <a:ext cx="3752850" cy="612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 AS 互补：个股层 vs 行业层。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24-24"/>
          <p:cNvSpPr/>
          <p:nvPr/>
        </p:nvSpPr>
        <p:spPr>
          <a:xfrm>
            <a:off x="6787197" y="1529795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p>
            <a:endParaRPr sz="2800"/>
          </a:p>
        </p:txBody>
      </p:sp>
      <p:cxnSp>
        <p:nvCxnSpPr>
          <p:cNvPr id="63" name="el-1785891666271-34"/>
          <p:cNvCxnSpPr/>
          <p:nvPr/>
        </p:nvCxnSpPr>
        <p:spPr>
          <a:xfrm>
            <a:off x="6901468" y="2153527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el-1785891666269-32"/>
          <p:cNvSpPr txBox="1"/>
          <p:nvPr/>
        </p:nvSpPr>
        <p:spPr>
          <a:xfrm>
            <a:off x="6901468" y="1605976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76-51"/>
          <p:cNvSpPr txBox="1"/>
          <p:nvPr/>
        </p:nvSpPr>
        <p:spPr>
          <a:xfrm>
            <a:off x="6901468" y="189165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76-52"/>
          <p:cNvSpPr txBox="1"/>
          <p:nvPr/>
        </p:nvSpPr>
        <p:spPr>
          <a:xfrm>
            <a:off x="8432705" y="189165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76-53"/>
          <p:cNvSpPr txBox="1"/>
          <p:nvPr/>
        </p:nvSpPr>
        <p:spPr>
          <a:xfrm>
            <a:off x="9549976" y="189165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el-1785891666276-54"/>
          <p:cNvSpPr txBox="1"/>
          <p:nvPr/>
        </p:nvSpPr>
        <p:spPr>
          <a:xfrm>
            <a:off x="10667247" y="189165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9" name="el-1785891666276-55"/>
          <p:cNvSpPr txBox="1"/>
          <p:nvPr/>
        </p:nvSpPr>
        <p:spPr>
          <a:xfrm>
            <a:off x="6901468" y="2177333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el-1785891666277-56"/>
          <p:cNvSpPr txBox="1"/>
          <p:nvPr/>
        </p:nvSpPr>
        <p:spPr>
          <a:xfrm>
            <a:off x="8432705" y="217733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1" name="el-1785891666277-57"/>
          <p:cNvSpPr txBox="1"/>
          <p:nvPr/>
        </p:nvSpPr>
        <p:spPr>
          <a:xfrm>
            <a:off x="9549976" y="217733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2" name="el-1785891666277-58"/>
          <p:cNvSpPr txBox="1"/>
          <p:nvPr/>
        </p:nvSpPr>
        <p:spPr>
          <a:xfrm>
            <a:off x="10667247" y="2177333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3" name="el-1785891666277-59"/>
          <p:cNvSpPr txBox="1"/>
          <p:nvPr/>
        </p:nvSpPr>
        <p:spPr>
          <a:xfrm>
            <a:off x="6901468" y="244396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4" name="el-1785891666277-60"/>
          <p:cNvSpPr txBox="1"/>
          <p:nvPr/>
        </p:nvSpPr>
        <p:spPr>
          <a:xfrm>
            <a:off x="8432705" y="244396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5" name="el-1785891666277-61"/>
          <p:cNvSpPr txBox="1"/>
          <p:nvPr/>
        </p:nvSpPr>
        <p:spPr>
          <a:xfrm>
            <a:off x="9549976" y="244396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6" name="el-1785891666277-62"/>
          <p:cNvSpPr txBox="1"/>
          <p:nvPr/>
        </p:nvSpPr>
        <p:spPr>
          <a:xfrm>
            <a:off x="10667247" y="244396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7" name="el-1785891666278-63"/>
          <p:cNvSpPr txBox="1"/>
          <p:nvPr/>
        </p:nvSpPr>
        <p:spPr>
          <a:xfrm>
            <a:off x="6901468" y="271060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8" name="el-1785891666278-64"/>
          <p:cNvSpPr txBox="1"/>
          <p:nvPr/>
        </p:nvSpPr>
        <p:spPr>
          <a:xfrm>
            <a:off x="8432705" y="271060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9" name="el-1785891666278-65"/>
          <p:cNvSpPr txBox="1"/>
          <p:nvPr/>
        </p:nvSpPr>
        <p:spPr>
          <a:xfrm>
            <a:off x="9549976" y="271060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0" name="el-1785891666278-66"/>
          <p:cNvSpPr txBox="1"/>
          <p:nvPr/>
        </p:nvSpPr>
        <p:spPr>
          <a:xfrm>
            <a:off x="10667247" y="271060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680835" y="2851150"/>
            <a:ext cx="5180965" cy="523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其余7个行业偏离小，</a:t>
            </a:r>
            <a:r>
              <a:rPr lang="en-US" altLang="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</a:t>
            </a: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合计≈</a:t>
            </a:r>
            <a:r>
              <a:rPr sz="18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0.38%</a:t>
            </a:r>
            <a:endParaRPr sz="18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2" name="el-1785891666218-10"/>
          <p:cNvSpPr txBox="1"/>
          <p:nvPr/>
        </p:nvSpPr>
        <p:spPr>
          <a:xfrm>
            <a:off x="191002" y="11673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535-16"/>
          <p:cNvPicPr/>
          <p:nvPr/>
        </p:nvPicPr>
        <p:blipFill>
          <a:blip r:embed="rId1"/>
          <a:srcRect l="23282" t="19815" r="22807" b="28622"/>
          <a:stretch>
            <a:fillRect/>
          </a:stretch>
        </p:blipFill>
        <p:spPr>
          <a:xfrm>
            <a:off x="1127125" y="1509395"/>
            <a:ext cx="4639310" cy="675005"/>
          </a:xfrm>
          <a:prstGeom prst="rect">
            <a:avLst/>
          </a:prstGeom>
          <a:ln>
            <a:noFill/>
          </a:ln>
        </p:spPr>
      </p:pic>
      <p:sp>
        <p:nvSpPr>
          <p:cNvPr id="7" name="el-1785891666521-11"/>
          <p:cNvSpPr/>
          <p:nvPr/>
        </p:nvSpPr>
        <p:spPr>
          <a:xfrm>
            <a:off x="6809105" y="316865"/>
            <a:ext cx="5290185" cy="621601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6568-44"/>
          <p:cNvSpPr txBox="1"/>
          <p:nvPr/>
        </p:nvSpPr>
        <p:spPr>
          <a:xfrm>
            <a:off x="485140" y="2406650"/>
            <a:ext cx="626745" cy="146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1701800" y="2440940"/>
            <a:ext cx="4551045" cy="2647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485140" y="2977515"/>
            <a:ext cx="78041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696085" y="2997200"/>
            <a:ext cx="478091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485140" y="3547745"/>
            <a:ext cx="78041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704975" y="3536950"/>
            <a:ext cx="497967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485140" y="411797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1704975" y="4108450"/>
            <a:ext cx="350583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485140" y="468820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1706880" y="4664075"/>
            <a:ext cx="345376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485140" y="525843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1706245" y="5219700"/>
            <a:ext cx="3930650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229235" y="6021070"/>
            <a:ext cx="6204585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8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8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8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7424420" y="476250"/>
            <a:ext cx="4445000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24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7031990" y="1235710"/>
            <a:ext cx="4956234" cy="3143885"/>
            <a:chOff x="11269" y="2144"/>
            <a:chExt cx="7143" cy="4951"/>
          </a:xfrm>
        </p:grpSpPr>
        <p:sp>
          <p:nvSpPr>
            <p:cNvPr id="34" name="el-1785891666550-19"/>
            <p:cNvSpPr txBox="1"/>
            <p:nvPr/>
          </p:nvSpPr>
          <p:spPr>
            <a:xfrm>
              <a:off x="11269" y="214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[1]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上季度末持仓：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"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  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茅台8%、宁德7%、招行5%、现金80%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5" name="el-1785891666551-20"/>
            <p:cNvSpPr txBox="1"/>
            <p:nvPr/>
          </p:nvSpPr>
          <p:spPr>
            <a:xfrm>
              <a:off x="11269" y="2965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[2]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本季个股收益：茅台+5%, 宁德+12%, 招行-2%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6" name="el-1785891666551-21"/>
            <p:cNvSpPr txBox="1"/>
            <p:nvPr/>
          </p:nvSpPr>
          <p:spPr>
            <a:xfrm>
              <a:off x="11269" y="446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　R</a:t>
              </a:r>
              <a:r>
                <a:rPr sz="1600" baseline="300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hold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= 0.08×5% + 0.07×12% + 0.05×(-2%) 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"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= 0.4%+0.84%-0.1%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1.14%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7" name="el-1785891666552-22"/>
            <p:cNvSpPr txBox="1"/>
            <p:nvPr/>
          </p:nvSpPr>
          <p:spPr>
            <a:xfrm>
              <a:off x="11269" y="5963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[3]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基金实际净值增长率 R</a:t>
              </a:r>
              <a:r>
                <a:rPr sz="1600" baseline="300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fund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2.50%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8" name="el-1785891666553-23"/>
            <p:cNvSpPr txBox="1"/>
            <p:nvPr/>
          </p:nvSpPr>
          <p:spPr>
            <a:xfrm>
              <a:off x="11269" y="678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[4]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RG = 2.50% - 1.14%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1.36%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9" name="el-1785891666558-32"/>
          <p:cNvSpPr txBox="1"/>
          <p:nvPr/>
        </p:nvSpPr>
        <p:spPr>
          <a:xfrm>
            <a:off x="7175500" y="4991100"/>
            <a:ext cx="494284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经理主动操作（加仓/减仓/择时）贡献了正收益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2" name="el-1785891666453-10"/>
          <p:cNvSpPr txBox="1"/>
          <p:nvPr/>
        </p:nvSpPr>
        <p:spPr>
          <a:xfrm>
            <a:off x="106045" y="165100"/>
            <a:ext cx="62642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el-1785891666456-17"/>
          <p:cNvSpPr txBox="1"/>
          <p:nvPr/>
        </p:nvSpPr>
        <p:spPr>
          <a:xfrm>
            <a:off x="1055370" y="727710"/>
            <a:ext cx="5104130" cy="5657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el-1785891666548-17"/>
          <p:cNvPicPr/>
          <p:nvPr/>
        </p:nvPicPr>
        <p:blipFill>
          <a:blip r:embed="rId1"/>
          <a:srcRect l="27730" t="16443" r="28665" b="14425"/>
          <a:stretch>
            <a:fillRect/>
          </a:stretch>
        </p:blipFill>
        <p:spPr>
          <a:xfrm>
            <a:off x="2063115" y="2313940"/>
            <a:ext cx="2370455" cy="718185"/>
          </a:xfrm>
          <a:prstGeom prst="rect">
            <a:avLst/>
          </a:prstGeom>
          <a:ln>
            <a:noFill/>
          </a:ln>
        </p:spPr>
      </p:pic>
      <p:sp>
        <p:nvSpPr>
          <p:cNvPr id="12" name="el-1785891666522-13"/>
          <p:cNvSpPr/>
          <p:nvPr/>
        </p:nvSpPr>
        <p:spPr>
          <a:xfrm>
            <a:off x="6532245" y="619125"/>
            <a:ext cx="5603875" cy="54038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el-1785891666558-34"/>
          <p:cNvSpPr txBox="1"/>
          <p:nvPr/>
        </p:nvSpPr>
        <p:spPr>
          <a:xfrm>
            <a:off x="478633" y="76450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年化收益缺口 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556895" y="3375025"/>
            <a:ext cx="794385" cy="173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1776730" y="3357880"/>
            <a:ext cx="4361180" cy="173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年化收益缺口，将季度RG年化便于跨期比较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556895" y="404114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1776730" y="3952240"/>
            <a:ext cx="4615180" cy="3390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556895" y="456311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1776730" y="4474210"/>
            <a:ext cx="4533900" cy="3340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年化系数，季度×4，月度×12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556895" y="508508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1776730" y="4996180"/>
            <a:ext cx="4458970" cy="443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725285" y="1087755"/>
            <a:ext cx="388429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725285" y="1397000"/>
            <a:ext cx="4906010" cy="321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2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Q1 RG = +1.36%, Q2 RG = -0.50%</a:t>
            </a:r>
            <a:endParaRPr sz="20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725285" y="1955165"/>
            <a:ext cx="4906010" cy="3206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2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Q3 RG = +0.80%, Q4 RG = +0.30%</a:t>
            </a:r>
            <a:endParaRPr sz="20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725285" y="2736215"/>
            <a:ext cx="5100955" cy="1243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</a:t>
            </a: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|+1.36%| + |-0.50%| + |+0.80%| + |+0.30%|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= 1.36 + 0.50 + 0.80 + 0.30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= </a:t>
            </a:r>
            <a:r>
              <a:rPr sz="20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2.96%/年 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647180" y="4441190"/>
            <a:ext cx="5509895" cy="6762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&gt; 0 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隐形交易总强度约3%/年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（非方向性，衡量交易活跃度）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1" name="el-1785891666453-10"/>
          <p:cNvSpPr txBox="1"/>
          <p:nvPr/>
        </p:nvSpPr>
        <p:spPr>
          <a:xfrm>
            <a:off x="106045" y="165100"/>
            <a:ext cx="62642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el-1785891666456-20"/>
          <p:cNvSpPr txBox="1"/>
          <p:nvPr/>
        </p:nvSpPr>
        <p:spPr>
          <a:xfrm>
            <a:off x="911225" y="1398270"/>
            <a:ext cx="5104130" cy="6153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正负相抵会低估交易强度。取绝对值后加总，更准确反映隐形交易的总规模。</a:t>
            </a:r>
            <a:endParaRPr sz="1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400" y="1114425"/>
            <a:ext cx="5993765" cy="48393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6859-18"/>
          <p:cNvSpPr/>
          <p:nvPr/>
        </p:nvSpPr>
        <p:spPr>
          <a:xfrm>
            <a:off x="742950" y="3729355"/>
            <a:ext cx="5603875" cy="20516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8" name="el-1785891666855-12"/>
          <p:cNvSpPr/>
          <p:nvPr/>
        </p:nvSpPr>
        <p:spPr>
          <a:xfrm>
            <a:off x="6875780" y="1113790"/>
            <a:ext cx="4994910" cy="477012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7056820" y="203535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0" name="el-1785891666859-20"/>
          <p:cNvSpPr/>
          <p:nvPr/>
        </p:nvSpPr>
        <p:spPr>
          <a:xfrm>
            <a:off x="7056820" y="3064431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1" name="el-1785891666860-21"/>
          <p:cNvSpPr/>
          <p:nvPr/>
        </p:nvSpPr>
        <p:spPr>
          <a:xfrm>
            <a:off x="7056820" y="409351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2" name="el-1785891666860-22"/>
          <p:cNvSpPr/>
          <p:nvPr/>
        </p:nvSpPr>
        <p:spPr>
          <a:xfrm>
            <a:off x="7056820" y="5122588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8" name="el-1785891666854-10"/>
          <p:cNvSpPr txBox="1"/>
          <p:nvPr/>
        </p:nvSpPr>
        <p:spPr>
          <a:xfrm>
            <a:off x="174625" y="151130"/>
            <a:ext cx="545401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671009" y="68320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20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260332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982980" y="2352040"/>
            <a:ext cx="1814195" cy="4184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929640" y="3860800"/>
            <a:ext cx="163385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4032885" y="3828415"/>
            <a:ext cx="230568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929640" y="4367530"/>
            <a:ext cx="163385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3935095" y="4358640"/>
            <a:ext cx="240347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956945" y="4873625"/>
            <a:ext cx="157543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3940810" y="4888230"/>
            <a:ext cx="239839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1045210" y="5379720"/>
            <a:ext cx="77406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3576955" y="5417820"/>
            <a:ext cx="2029460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7056820" y="1185493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7103147" y="1675289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7171092" y="221561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7099337" y="2710082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7171092" y="331644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7099337" y="373916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7171092" y="4202014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7056149" y="4768239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7199659" y="5302847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9" name="Picture 48" descr="sdi_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0" y="2239010"/>
            <a:ext cx="2550160" cy="636270"/>
          </a:xfrm>
          <a:prstGeom prst="rect">
            <a:avLst/>
          </a:prstGeom>
        </p:spPr>
      </p:pic>
      <p:pic>
        <p:nvPicPr>
          <p:cNvPr id="52" name="Picture 51" descr="u_shape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70" y="2982595"/>
            <a:ext cx="5600700" cy="639445"/>
          </a:xfrm>
          <a:prstGeom prst="rect">
            <a:avLst/>
          </a:prstGeom>
        </p:spPr>
      </p:pic>
      <p:sp>
        <p:nvSpPr>
          <p:cNvPr id="5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6906895" y="116205"/>
            <a:ext cx="5130800" cy="58318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7013-25"/>
          <p:cNvSpPr txBox="1"/>
          <p:nvPr/>
        </p:nvSpPr>
        <p:spPr>
          <a:xfrm>
            <a:off x="601980" y="621030"/>
            <a:ext cx="2541270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341630" y="1804035"/>
            <a:ext cx="561975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1741805" y="1732280"/>
            <a:ext cx="4452620" cy="529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2]。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0=风格完全不变，2=完全切换</a:t>
            </a:r>
            <a:endParaRPr sz="16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341630" y="2411095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1741805" y="2482215"/>
            <a:ext cx="395795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341630" y="301752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1741805" y="3088005"/>
            <a:ext cx="2844800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341630" y="3623945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1741805" y="3693795"/>
            <a:ext cx="5017770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341630" y="423037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1741805" y="4299585"/>
            <a:ext cx="400875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341630" y="4836795"/>
            <a:ext cx="612140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1772285" y="4905375"/>
            <a:ext cx="406717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341630" y="544322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1741805" y="5511165"/>
            <a:ext cx="376491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7607935" y="218440"/>
            <a:ext cx="3495675" cy="299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6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7104380" y="68135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7104380" y="115697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7104380" y="163258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7104380" y="210820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7104380" y="258381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7104380" y="305943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7104380" y="353504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7247890" y="4010660"/>
            <a:ext cx="4718050" cy="2825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80% = 0.80 → </a:t>
            </a:r>
            <a:r>
              <a:rPr lang="zh-CN" altLang=""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略</a:t>
            </a: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高风格漂移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0" name="Picture 59" descr="sdi_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820" y="981075"/>
            <a:ext cx="2743200" cy="684666"/>
          </a:xfrm>
          <a:prstGeom prst="rect">
            <a:avLst/>
          </a:prstGeom>
        </p:spPr>
      </p:pic>
      <p:sp>
        <p:nvSpPr>
          <p:cNvPr id="5" name="el-1785891666852-3"/>
          <p:cNvSpPr/>
          <p:nvPr/>
        </p:nvSpPr>
        <p:spPr>
          <a:xfrm>
            <a:off x="533267" y="607019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p/>
        </p:txBody>
      </p:sp>
      <p:cxnSp>
        <p:nvCxnSpPr>
          <p:cNvPr id="29" name="el-1785891666852-4"/>
          <p:cNvCxnSpPr/>
          <p:nvPr/>
        </p:nvCxnSpPr>
        <p:spPr>
          <a:xfrm>
            <a:off x="552312" y="607019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-1785891666851-2"/>
          <p:cNvSpPr txBox="1"/>
          <p:nvPr/>
        </p:nvSpPr>
        <p:spPr>
          <a:xfrm>
            <a:off x="723719" y="616542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4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4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SDI；2.0 阶段用四类风格指数（大/小盘×成长/价值）精确计算并验证 U 型关系；3.0 阶段加入市场状态交互项（牛熊市分组已发现 ICI 效应放大100倍）</a:t>
            </a:r>
            <a:endParaRPr sz="14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854-10"/>
          <p:cNvSpPr txBox="1"/>
          <p:nvPr/>
        </p:nvSpPr>
        <p:spPr>
          <a:xfrm>
            <a:off x="174625" y="151130"/>
            <a:ext cx="545401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rcRect t="23764"/>
          <a:stretch>
            <a:fillRect/>
          </a:stretch>
        </p:blipFill>
        <p:spPr>
          <a:xfrm>
            <a:off x="6959600" y="4532630"/>
            <a:ext cx="5019040" cy="1392555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510655" y="528955"/>
            <a:ext cx="5580380" cy="439801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7115-9"/>
          <p:cNvSpPr txBox="1"/>
          <p:nvPr/>
        </p:nvSpPr>
        <p:spPr>
          <a:xfrm>
            <a:off x="118745" y="100330"/>
            <a:ext cx="4921885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262733" y="47214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198120" y="2310130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417320" y="2381885"/>
            <a:ext cx="4429125" cy="2368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过度自信指数，取值 [0, +∞)。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越大越过度自信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198120" y="3047365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2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20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461135" y="3119120"/>
            <a:ext cx="438531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的实际换手率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（= 买入额+卖出额 / 平均资产）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198120" y="3784600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409700" y="3856355"/>
            <a:ext cx="447040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（横截面均值）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198120" y="4521835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443355" y="4593590"/>
            <a:ext cx="428879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用于标准化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653226" y="68741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653226" y="11404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基金A本季换手率 TO</a:t>
            </a:r>
            <a:r>
              <a:rPr sz="1800" baseline="-25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653226" y="1770064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653226" y="2399349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653226" y="3028634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8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180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653226" y="373265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653226" y="423360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14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0" name="Picture 59" descr="oci_formula.png"/>
          <p:cNvPicPr>
            <a:picLocks noChangeAspect="1"/>
          </p:cNvPicPr>
          <p:nvPr/>
        </p:nvPicPr>
        <p:blipFill>
          <a:blip r:embed="rId1"/>
          <a:srcRect l="24441" t="18637" r="19746" b="13957"/>
          <a:stretch>
            <a:fillRect/>
          </a:stretch>
        </p:blipFill>
        <p:spPr>
          <a:xfrm>
            <a:off x="1343025" y="925195"/>
            <a:ext cx="3277870" cy="91313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rcRect t="72984" r="21664"/>
          <a:stretch>
            <a:fillRect/>
          </a:stretch>
        </p:blipFill>
        <p:spPr>
          <a:xfrm>
            <a:off x="5303520" y="5229225"/>
            <a:ext cx="4633595" cy="1469390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2"/>
          <a:srcRect l="872" t="34570" r="-872" b="29268"/>
          <a:stretch>
            <a:fillRect/>
          </a:stretch>
        </p:blipFill>
        <p:spPr>
          <a:xfrm>
            <a:off x="262890" y="5114925"/>
            <a:ext cx="5302250" cy="1763395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200" y="480060"/>
            <a:ext cx="5580380" cy="53536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116-13"/>
          <p:cNvSpPr/>
          <p:nvPr/>
        </p:nvSpPr>
        <p:spPr>
          <a:xfrm>
            <a:off x="6151880" y="480060"/>
            <a:ext cx="5902960" cy="534416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7115-9"/>
          <p:cNvSpPr txBox="1"/>
          <p:nvPr/>
        </p:nvSpPr>
        <p:spPr>
          <a:xfrm>
            <a:off x="98311" y="10407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650" y="541020"/>
            <a:ext cx="219011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1042670" y="897255"/>
            <a:ext cx="4146550" cy="315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8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2935" y="1326515"/>
            <a:ext cx="5368290" cy="515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输出：行为标签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317530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833245" y="3175000"/>
            <a:ext cx="3741420" cy="2025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478790" y="3848100"/>
            <a:ext cx="1198880" cy="1416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2030730" y="3817620"/>
            <a:ext cx="2550160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9113"/>
            <a:ext cx="562787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840230" y="4458970"/>
            <a:ext cx="3700145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5101098"/>
            <a:ext cx="562787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883410" y="5100320"/>
            <a:ext cx="3438525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8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936740" y="549275"/>
            <a:ext cx="4288790" cy="219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23000" y="922655"/>
            <a:ext cx="5755640" cy="167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23000" y="1443990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RPI=0.51(高压), L2: AS=0.68(低), ICI=0.15(高)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23000" y="1965325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23000" y="2486660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23000" y="3007995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6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160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510020" y="3713480"/>
            <a:ext cx="487997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5" name="Picture 64" descr="ps_formula_v2.png"/>
          <p:cNvPicPr>
            <a:picLocks noChangeAspect="1"/>
          </p:cNvPicPr>
          <p:nvPr/>
        </p:nvPicPr>
        <p:blipFill>
          <a:blip r:embed="rId1"/>
          <a:srcRect l="19041" t="4841" r="15873"/>
          <a:stretch>
            <a:fillRect/>
          </a:stretch>
        </p:blipFill>
        <p:spPr>
          <a:xfrm>
            <a:off x="775970" y="2003425"/>
            <a:ext cx="4798695" cy="831850"/>
          </a:xfrm>
          <a:prstGeom prst="rect">
            <a:avLst/>
          </a:prstGeom>
        </p:spPr>
      </p:pic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30" b="1382"/>
          <a:stretch>
            <a:fillRect/>
          </a:stretch>
        </p:blipFill>
        <p:spPr>
          <a:xfrm>
            <a:off x="551180" y="0"/>
            <a:ext cx="11349355" cy="6842125"/>
          </a:xfrm>
          <a:prstGeom prst="rect">
            <a:avLst/>
          </a:prstGeom>
        </p:spPr>
      </p:pic>
      <p:sp>
        <p:nvSpPr>
          <p:cNvPr id="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405" y="929005"/>
            <a:ext cx="5753735" cy="20713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400" y="4643120"/>
            <a:ext cx="11122660" cy="2146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67145" y="1400175"/>
            <a:ext cx="5357495" cy="4806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320" y="1885950"/>
            <a:ext cx="3839210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308860"/>
            <a:ext cx="3548753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731135"/>
            <a:ext cx="4119068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231765" y="3239135"/>
            <a:ext cx="197358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375" y="4975860"/>
            <a:ext cx="10556240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375" y="5410200"/>
            <a:ext cx="10811510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375" y="5843905"/>
            <a:ext cx="9297670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375" y="6277610"/>
            <a:ext cx="11423015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论文写作计划：七章框架与进度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Phase 2: 论文撰写阶段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000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章节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标题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字数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第一章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绪论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1,500字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✅ 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研究背景、问题提出、意义、结构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第二章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文献综述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3,000字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✅ 初稿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28篇核心文献，理论基础+行为研究+研究空白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第三章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研究框架与假设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✅ 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L1-L5五层框架，H1-H5假设，变量定义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第四章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数据与研究设计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2,000字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🔲 待写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数据来源、样本、指标、模型设定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第五章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实证结果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3,000字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🔲 待写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描述统计、回归、检验、稳健性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第六章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行业经验整合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1,500字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🔲 待写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券商实践对比、案例验证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第七章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结论与展望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🔲 待写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结论、贡献、启示、局限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/>
              </a:defRPr>
            </a:pPr>
            <a:r>
              <a:t>合计：14,000字  |  前三章已完成6,500字  |  MVP实证结果已就绪，待写入第4-5章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写作时间线与里程碑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10周完成全文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核心任务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交付物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第1-2周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文献定稿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精读8篇核心文献、综述修改、框架定稿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综述终稿+框架文档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第3-4周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数据收集(P0)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Wind数据下载、AS和ARG计算、描述统计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AS+ARG数据集 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第5-6周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核心实证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Fama-MacBeth回归、H2/H3检验、子样本分析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核心回归结果表 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第7周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稳健性+扩展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IV/DID检验、SDI计算、NLP文本分析启动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稳健性检验结果 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第8-9周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L5模型+撰写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Logistic构建PS、H5检验、全文初稿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论文初稿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第10周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修改定稿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导师反馈、格式规范、查重、投稿准备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终稿+投稿材料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/>
              </a:defRPr>
            </a:pPr>
            <a:r>
              <a:t>关键里程碑：第6周末核心实证完成 ✅  |  第8周末全文初稿  |  第10周末终稿提交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MVP实证结果（一）：描述性统计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样本：9,519观测 × 386只基金 × 79个季度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55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最小值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中位数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 (主动管理)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0.941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ICI (行业集中度)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0.070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0.042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0.012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0.061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0.225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SDI (风格漂移)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0.828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ARG (绝对隐形交易)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0.228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0.145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0.015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0.197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0.803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OCI (过度自信)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0.451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FF3调整收益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0.023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0.241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-0.729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1.469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基金规模(对数)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19.787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13.816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23.429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换手率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1.043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0.737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0.228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0.890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5.842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B7F"/>
                </a:solidFill>
                <a:latin typeface="微软雅黑"/>
              </a:defRPr>
            </a:pPr>
            <a:r>
              <a:t>数据来源：mvp_panel_final.csv  |  缩尾处理：1%/99%  |  聚类标准误：按基金聚类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MVP实证结果（二）：OLS回归（聚类稳健标准误）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三个模型递进：行为指标 → +控制变量 → +年份FE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86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Model 1 系数(t)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Model 2 系数(t)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Model 3 系数(t)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-0.2830 (-5.48***)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-0.1781 (-3.81***)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-0.1716 (-3.90***)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-0.0034 (-0.08)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0.0388 (0.92)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0.1136 (2.49**)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0.0020 (0.17)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0.0075 (0.64)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0.0189 (1.51)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0.1759 (8.94***)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0.1521 (7.95***)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0.0615 (2.74***)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-1.0725 (-25.18***)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-1.1117 (-26.02***)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-1.3187 (-24.56***)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log_aum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-0.0101 (-11.64***)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-0.0113 (-13.35***)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TO_calc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-0.0076 (-4.19***)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0.002 (0.94)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0.0775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0.1066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0.1792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B7F"/>
                </a:solidFill>
                <a:latin typeface="微软雅黑"/>
              </a:defRPr>
            </a:pPr>
            <a:r>
              <a:t>*** p&lt;0.01, ** p&lt;0.05, * p&lt;0.1  |  核心模型(Model 2) R²=0.1066  |  N=9,519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MVP实证结果（三）：固定效应回归与VIF检验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基金FE R²=0.1072  |  最大VIF=1.71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基金FE系数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显著性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VIF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-0.2919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-4.499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1.07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-0.3414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-3.330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1.09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4.700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1.05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0.1914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8.616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1.71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-1.1044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-24.584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1.62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log_aum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-0.0210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-6.818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1.11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TO_calc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-5.688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1.09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8659"/>
                </a:solidFill>
                <a:latin typeface="微软雅黑"/>
              </a:defRPr>
            </a:pPr>
            <a:r>
              <a:t>VIF结论：最大VIF=1.71（ARG），远低于阈值10，无多重共线性问题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A8C"/>
                </a:solidFill>
                <a:latin typeface="微软雅黑"/>
              </a:defRPr>
            </a:pPr>
            <a:r>
              <a:t>基金FE结论：控制基金个体异质性后，五个行为指标全部显著（ICI/SDI在OLS中不显著，FE中显著）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MVP实证结果（四）：安慰剂检验（500次随机打乱）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验证真实效应是否显著区别于随机结果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真实系数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安慰剂均值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安慰剂标准差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分位数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-0.1781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✅ 显著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0.0388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-0.0009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0.0610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❌ 不显著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❌ 不显著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0.1521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0.0018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0.0228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✅ 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-1.1117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✅ 显著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8659"/>
                </a:solidFill>
                <a:latin typeface="微软雅黑"/>
              </a:defRPr>
            </a:pPr>
            <a:r>
              <a:t>结论：AS（0.2%分位）、ARG（100%分位）、OCI（0%分位）真实系数位于安慰剂分布极端尾部，排除虚假回归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8910"/>
                </a:solidFill>
                <a:latin typeface="微软雅黑"/>
              </a:defRPr>
            </a:pPr>
            <a:r>
              <a:t>ICI和SDI未通过安慰剂检验，其效应可能不够稳健，需在论文中如实报告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MVP实证结果（五）：子样本检验（牛/熊市）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牛市R²=0.1541 vs 熊市R²=0.0397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牛市系数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牛市t值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熊市系数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熊市t值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-0.2340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-4.242***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1.661*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0.0188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0.317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-0.0268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-0.633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均不显著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4.051***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-4.332***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0.1510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5.759***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0.0676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2.538**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均显著正向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-1.1757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-23.450***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0.2086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2.491**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A8C"/>
                </a:solidFill>
                <a:latin typeface="微软雅黑"/>
              </a:defRPr>
            </a:pPr>
            <a:r>
              <a:t>核心发现：行为指标在牛市中预测力更强（R²=0.154 vs 0.040）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A1A2E"/>
                </a:solidFill>
                <a:latin typeface="微软雅黑"/>
              </a:defRPr>
            </a:pPr>
            <a:r>
              <a:t>AS/SDI/OCI在牛熊市符号翻转——牛市中高AS损害业绩、风格漂移有益；熊市中效应反转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D8659"/>
                </a:solidFill>
                <a:latin typeface="微软雅黑"/>
              </a:defRPr>
            </a:pPr>
            <a:r>
              <a:t>ARG在牛熊市均显著正向——隐形交易信息含量稳定，不随市场环境变化</a:t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MVP实证分析：关键发现汇总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五层行为指标对基金业绩的预测能力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发现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证据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理论支持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OCI是最强业绩预测指标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t=-26.02***，所有模型均显著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Odean(1998) 过度自信损害业绩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ARG显著正向预测业绩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OLS t=7.95***, FE t=8.62***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Kacperczyk(2008)+申宇(2013)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AS显著负向（中国市场特性）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OLS t=-3.80***, FE t=-4.50***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与Cremers(2009)美股正向相反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行为指标牛市预测力更强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牛市R²=0.154 vs 熊市R²=0.040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Lo(2004) 适应性市场假说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安慰剂检验3/5通过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AS/ARG/OCI通过，ICI/SDI未通过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排除虚假回归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VIF通过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最大VIF=1.71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无多重共线性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/>
              </a:defRPr>
            </a:pPr>
            <a:r>
              <a:t>假设检验结果：H2(AS预测业绩)部分支持 | H3(ARG预测业绩)支持 | H4(认知偏差损害业绩)强支持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B7F"/>
                </a:solidFill>
                <a:latin typeface="微软雅黑"/>
              </a:defRPr>
            </a:pPr>
            <a:r>
              <a:t>下一步：撰写Ch4实证分析 → 构建PS综合分类(Ch5) → 因果识别(IV/DID) → 完善稳健性检验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5513</Words>
  <Application>WPS 演示</Application>
  <PresentationFormat/>
  <Paragraphs>554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黑体</vt:lpstr>
      <vt:lpstr>Arial</vt:lpstr>
      <vt:lpstr>微软雅黑</vt:lpstr>
      <vt:lpstr>Arial Unicode MS</vt:lpstr>
      <vt:lpstr>Calibri</vt:lpstr>
      <vt:lpstr>Courier New</vt:lpstr>
      <vt:lpstr>Consolas</vt:lpstr>
      <vt:lpstr>JetBrains Mono</vt:lpstr>
      <vt:lpstr>FFont-Family</vt:lpstr>
      <vt:lpstr>Segoe UI Variable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9</cp:revision>
  <dcterms:created xsi:type="dcterms:W3CDTF">2026-08-05T01:04:00Z</dcterms:created>
  <dcterms:modified xsi:type="dcterms:W3CDTF">2026-08-06T08:53:15Z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