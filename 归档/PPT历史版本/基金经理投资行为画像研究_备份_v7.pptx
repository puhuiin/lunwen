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288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9"/>
    <p:sldId id="310" r:id="rId50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090318400000" cy="500985401653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090318400000" cy="481982507107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180636800000" cy="6726630145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BHS案例：经理A(输家) vs 经理B(赢家)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经理A（新手·输家）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从业2.5年，管理规模15亿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上半年CR=-2.0%（排名后30%→输家）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1.21%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1.91%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RAR = 1.91/1.21 = 1.58 &gt; 1 →增险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行为：下半年重仓半导体追涨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结果：业绩进一步恶化（-5%）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经理B（老手·赢家）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从业8年，管理规模50亿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上半年CR=+6.1%（排名前30%→赢家）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0.89%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0.52%</a:t>
            </a: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RAR = 0.52/0.89 = 0.58 &lt; 1 →降险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行为：下半年维持均衡配置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结果：业绩稳定增长（+3%）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输家RAR(1.58) &gt; 赢家RAR(0.58)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从业年限短→职业忧虑强→锦标赛效应更明显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2926445760000" cy="51061811572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508382080000" cy="601182481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344509440000" cy="6948012909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344509440000" cy="625833758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090318400000" cy="481982507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180636800000" cy="6726630145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BHS示例计算（2024年某基金）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上半年(1-6月)月度收益: [-1%, +0.5%, -2%, +1.5%, -0.5%, -0.5%]</a:t>
            </a:r>
            <a:br/>
            <a:r>
              <a:t>    CR = (0.99)(1.005)(0.98)(1.015)(0.995)(0.995) - 1 = -2.0%</a:t>
            </a:r>
            <a:br/>
            <a:r>
              <a:t>[2] 同类基金200只，CR排名后30%(=输家)</a:t>
            </a:r>
            <a:br/>
            <a:r>
              <a:t>[3] 排序期σ_rank = std(月度收益) = 1.21%</a:t>
            </a:r>
            <a:br/>
            <a:r>
              <a:t>[4] 测试期(7-12月)月度收益: [+1%, -2.5%, +1.5%, -1%, +2%, -2%]</a:t>
            </a:r>
            <a:br/>
            <a:r>
              <a:t>    σ_test = std(月度收益) = 1.91%</a:t>
            </a:r>
            <a:br/>
            <a:r>
              <a:t>[5] RAR = 1.91% / 1.21% = 1.58 &gt; 1 → 输家增险</a:t>
            </a:r>
            <a:br/>
            <a:r>
              <a:t>[6] 输家Dummy=1, 回归β=0.15, p&lt;0.05 → 锦标赛效应显著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 | V4(400基金)实测：输家平均RAR=1.15, 赢家平均RAR=0.92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数据来源：AKShare ak.fund_manager_em()（免费API）+ AKShare fund_open_fund_info_em（净值数据）| 全市场5万+条任职记录，400基金100%覆盖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5544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1937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440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3762573120000" cy="93908849771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3762573120000" cy="1019937176331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2926445760000" cy="730402164893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2926445760000" cy="793284470479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sp>
        <p:nvSpPr>
          <p:cNvPr id="4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求和期数（如4个季度的滚动窗口n=4）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sp>
        <p:nvSpPr>
          <p:cNvPr id="4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88920"/>
            <a:ext cx="2743200" cy="684666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前景理论核心：损失厌恶（损失敏感度约为收益2.25倍）、参考点依赖、敏感性递减。OCI为本文构建指标，用换手率Z-score标准化衡量过度自信（受Barber &amp; Odean(2001)换手率代理启发）。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1772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理论公式（本文构建，受Barber &amp; Odean 2001换手率代理启发）| 实际实现: OCI=|RG|（申宇2013 ARG代理，缺换手率数据时）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OCI = |RG| (申宇2013 ARG代理)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L1 数据获取方案：BHS锦标赛 + 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Brown, Harlow &amp; Starks (1996) JF · Chevalier &amp; Ellison (1999) QJE · 免费API全流程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BHS锦标赛数据（核心指标）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计算步骤：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上半年(1-6月)累积收益 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2. 按同类基金中位数划分输家/赢家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3. 下半年(7-12月)收益率标准差 σ₂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4. 上半年收益率标准差 σ₁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5. RAR = σ₂ / σ₁（风险调整比率）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月度净值数据，免费获取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覆盖情况：602,904条日度净值，400基金100%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经理从业年限（Experience）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所需数据：基金经理任职起止日期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Exp = (当前日期 - 首次任职日期) / 365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AKShare fund_manager_em（免费）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全市场5万+条任职记录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含姓名/基金代码/任职日期/离任日期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② CSMAR基金经理数据库（学校账号）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含学历/CFA/性别等详细信息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覆盖情况：400基金 100%覆盖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经理学历与其他特征（补充）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所需数据：学历/CFA/性别/管理规模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① CSMAR基金经理库（推荐）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学历/MBA/CFA/管理基金数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需学校IP访问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② Wind基金经理库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更全面但需付费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③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当前管理规模（免费）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替代方案：如无CSMAR，仅用Experience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+ BHS即可完成L1核心分析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BHS锦标赛方法详解与文献支撑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1155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 "Of Tournaments and Temptations" 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理论逻辑：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基金行业类似年度锦标赛 → 中期排名靠后的"输家"倾向在下半年增加风险(赌一把翻盘) → 排名靠前的"赢家"倾向降低风险(锁定收益)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这种自利性风险调整行为偏离投资者利益最大化，是职业忧虑理论的行为体现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实证方法：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排序期(1-6月)：计算累积收益CR，按同类基金中位数分输家/赢家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测试期(7-12月)：计算RAR = σ(下半年)/σ(上半年)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回归方程：RAR_i = α + β×Loser_Dummy_i + γ×Controls_i + ε_i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β &gt; 0 且显著 → 锦标赛效应存在（输家增险）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控制变量：基金规模/TNA/年龄/费用率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中国市场文献验证：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罗荣华等(2015)中国管理科学：2006-2011年中国开放式基金验证，赢家提升主动性水平  |  龚红等(2010)世界经济：封闭式基金1998-2008年，输家增险  |  史晨昱(2004)：国内基金锦标赛效应存在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数据优势：BHS仅需净值收益率数据，无需持仓数据，AKShare完全免费获取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L2 数据获取方案：Active Share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Cremers &amp; Petajisto (2009) RFS · Kacperczyk et al. (2005) JF · 全持仓+行业配置数据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Active Share (AS) 数据获取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所需数据：基金全持仓 + 基准成分股权重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方案A（已验证）：东方财富全持仓API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fund_portfolio_hold_em(基金代码, 日期)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半年报(6月)/年报(12月)全持仓明细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400基金185,144条记录，100%覆盖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V4修正AS均值0.673（旧公式0.948高估）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方案B：CSMAR基金持仓文件（学校账号）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基金研究 → 基金持仓 → CSV下载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历史数据更完整（2003年至今）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基准成分股权重：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中证指数公司官网（免费）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csindex.com.cn → 下载中心 → 成份股权重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② 近似：用市值加权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w_i = 个股市值 / 总市值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行业集中度数据获取（关键修复）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当前问题：ICI量纲错误（均值712，应为0~1之间）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原因：行业权重用了百分比(35)而非比例(0.35)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修复方案：权重÷100归一化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ICI = Σ(w_fund_j/100 - w_market_j/100)² → 均值从712降至0.08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方案A（已验证）：AKShare行业配置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fund_portfolio_industry_allocation_em(基金代码)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半年报/年报行业配置权重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400基金984条行业配置记录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方案B（推荐补充）：张学勇等(2018)卡尔曼滤波法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无需实际持仓，仅用基金收益率+股票收益率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估计行业敞口β，IC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可填补半年报间的空白期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方案C：邢欣羿&amp;孙谦(2015)修正ICI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ICR = Σ(w_fund/w_index)² 解决量纲问题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数据来源：国泰君安数据库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ICI数据解决方案：两种路径对比与推荐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路径一：直接获取法（已验证可行）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AKShare fund_portfolio_industry_allocation_em → 获取基金行业配置权重 → ÷100归一化 → 计算ICI = Σ(w_fund - w_market)²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市场行业权重：用申万一级行业分类，全市场股票按流通市值加权计算（可从AKShare/Wind获取）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优点：数据免费、直接获取  |  缺点：仅半年报频率，无法覆盖季度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路径二：收益反推法（张学勇2018，高级方法）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用卡尔曼滤波(Kalman Filter)从基金收益率反推行业敞口β → 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数据：仅需基金月度收益 + 各行业指数收益（CSMAR/RESSET可获取）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优点：月度频率、无需持仓数据  |  缺点：实现复杂，需状态空间模型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推荐策略：半年报期用路径A(精确)，间隔期用路径B(估算)，两条路径交叉验证</a:t>
            </a:r>
          </a:p>
        </p:txBody>
      </p:sp>
      <p:sp>
        <p:nvSpPr>
          <p:cNvPr id="1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L3 数据获取方案：Return Gap + ARG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Kacperczyk et al. (2008) RFS · 申宇等 (2013) 管理世界 · 净值+持仓+个股收益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Return Gap (RG) 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基金月度净值增长率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上季度末持仓权重 w_i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个股月度收益率 r_i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数据来源（全部免费）：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净值：fund_open_fund_info_em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602,904条日度净值记录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持仓：fund_portfolio_hold_em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半年报全持仓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③ 个股收益：stock_zh_a_hist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前复权月度收益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计算：RG = R_fund - Σ(w_i × r_i)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V4实测：RG均值0.93%，t=9.20***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ARG 绝对收益缺口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</a:t>
            </a:r>
            <a:br/>
            <a:r>
              <a:t>取季度RG的绝对值后4期求和</a:t>
            </a:r>
            <a:br/>
            <a:r>
              <a:t>ARG = |RG_t|+|RG_{t-1}|</a:t>
            </a:r>
            <a:br/>
            <a:r>
              <a:t>      +|RG_{t-2}|+|RG_{t-3}|</a:t>
            </a:r>
            <a:br/>
            <a:br/>
            <a:r>
              <a:t>数据来源：同RG</a:t>
            </a:r>
            <a:br/>
            <a:r>
              <a:t>无需额外数据</a:t>
            </a:r>
            <a:br/>
            <a:br/>
            <a:r>
              <a:t>V4实测：ARG覆盖95个季度观测</a:t>
            </a:r>
            <a:br/>
            <a:br/>
            <a:r>
              <a:t>文献参考：</a:t>
            </a:r>
            <a:br/>
            <a:r>
              <a:t>申宇等(2013)管理世界</a:t>
            </a:r>
            <a:br/>
            <a:r>
              <a:t>→ 中国版ARG修正</a:t>
            </a:r>
            <a:br/>
            <a:r>
              <a:t>朱宏志(2012)</a:t>
            </a:r>
            <a:br/>
            <a:r>
              <a:t>→ 中国RG有效性研究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数据处理注意事项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持仓频率限制：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中国基金仅季报披露前十大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半年报/年报才披露全持仓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RG在半年报期更精确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未来函数防控：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RG计算必须用t-1期持仓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预测t期收益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代码层面：持仓日期 &lt; 收益日期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港股持仓处理：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部分基金持有港股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港股收益需单独计算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stock_hk_hist 接口可获取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V4已处理：剔除港股或单独计算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RG计算流程与验证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完整计算流程：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Step1: 下载基金日度净值 → 计算月度收益率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Step2: 提取上季度末全持仓权重 {w_1, w_2, ..., w_N}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Step3: 下载个股月度收益率 {r_1, r_2, ..., r_N} (stock_zh_a_hist, 前复权)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Step4: 计算持仓模拟收益 R_hold = Σ(w_i × r_i)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Step5: RG = R_fund - R_hold （正值=经理增厚收益，负值=拖累）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已验证结果（5基金×57月=285观测）：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RG均值范围：0.11%~1.19%/月  |  季度ARG范围：0.04~0.54  |  V4扩展至400基金：RG均值0.93%，t=9.20***（正向预测）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文献对比：Kacperczyk(2008)美股RG均值~0.05%/月，我们A股RG更高(0.93%)，反映中国市场信息不对称更强、隐形交易价值更大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L4 数据获取方案：SDI 风格漂移指数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寇宗来等 (2020) 金融研究 · 行业配置/风格指数数据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 风格漂移指数数据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所需数据：基金风格权重（相邻两期对比）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方法A：行业配置法（已验证）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AKShare fund_portfolio_industry_allocation_em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获取相邻两期行业配置权重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SDI = Σ|w_t - w_{t-1}|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V4用31个申万一级行业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方法B：风格指数法（寇宗来2020原版）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四类风格：大盘成长/价值/小盘成长/价值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用基金收益率对风格指数回归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估计风格暴露权重 → 计算曼哈顿距离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数据：Wind风格指数 或 自行构建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V4实测：SDI均值0.15（行业法），t=-7.69***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V4实测：SDI均值33.4（量纲需修复）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风格指数数据获取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四类风格指数构建方法：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方案A：Wind风格指数（付费）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大盘成长(885001)/大盘价值(885002)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小盘成长(885003)/小盘价值(885004)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日度收益数据完整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方案B：自行构建（免费）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用申万风格指数或CSI风格指数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或用个股数据自行分组构建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1. 按市值分大盘/小盘（中位数）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2. 按B/P比分成长/价值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3. 等权或市值加权构建指数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方案C：用行业配置替代（已验证）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SDI用行业权重变化计算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虽然不是严格风格漂移，但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捕捉了配置变化的核心信息</a:t>
            </a: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→ 推荐：先用方案C完成，再补方案B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SDI计算与U型验证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SDI公式（寇宗来2020）：SDI = Σ_k |w_k_t - w_k_{t-1}|，其中k为风格类别（无1/2系数，纯曼哈顿距离）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U型效应验证：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回归方程：SDI = α + β₁×Performance + β₂×Performance²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V2(200基金)发现：β₁=-0.293***, β₂=+0.232***，U型对称轴SDI=0.63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解释：业绩极好→追高风格切换(高SDI)；业绩极差→模仿明星基金(高SDI)；居中→维持稳定(低SDI)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V4量纲修复：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当前SDI均值33.4（行业维度），需÷100归一化至0~1区间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修复后预期均值~0.15，与V2风格维度可比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文献对比：寇宗来等(2020)金融研究，1,579只中国基金，用四类风格指数计算SDI，发现U型效应</a:t>
            </a:r>
          </a:p>
        </p:txBody>
      </p:sp>
      <p:sp>
        <p:nvSpPr>
          <p:cNvPr id="1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L5 数据获取方案：OCI + PS 不可预测性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Kahneman &amp; Tversky (1979) · Cohen et al. (2026) NBER · 换手率+行为指标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OCI 过度自信指数数据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计算方法：OCI = |RG|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取Return Gap的绝对值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衡量隐形交易总规模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换手率越高，|RG|越大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同RG计算，无需额外数据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净值+持仓+个股收益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替代计算：换手率偏离度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OCI = |基金换手率 - 同类中位数|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换手率数据：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含当前换手率（免费）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基金季报持仓变动计算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V4实测：OCI均值0.028，t=4.40***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PS 不可预测性分数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PS = 1 - 预测准确率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模型选择：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Logistic回归（1.0阶段）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输入：L1-L4全部指标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预测：下季度加仓/减仓方向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② XGBoost（2.0阶段推荐）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+ SHAP可解释性分析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预测R² &gt; 0.10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③ LSTM深度学习（3.0阶段）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Cohen et al.(2026)方法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无需额外数据，利用前序层输出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LA 损失厌恶（待补充）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理论：前景理论损失厌恶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损失敏感度≈收益的2.25倍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代理变量方案：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处置效应比率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= P(卖出亏损股)/P(卖出盈利股)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需要持仓变动数据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用OCI代理（当前方案）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LA ≈ OCI（过度交易≈损失厌恶）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简化但合理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③ 问卷数据（理想但难获取）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行为金融问卷/风险偏好测试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3.0阶段如有条件补充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阶段安排：1.0仅用OCI → 2.0加LA → 3.0加问卷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L5数据整合与预测模型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PS预测模型构建流程：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Step1: 收集L1-L4全部指标（Experience/BHS/AS/ICI/RG/ARG/SDI/OCI）作为特征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Step2: 定义标签——下季度持仓变动方向（加仓=1, 减仓=0），从持仓变化数据获取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Step3: 滚动训练窗口（20Q训练, 8Q测试），确保无未来函数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Step4: Logistic/XGBoost训练 → 计算预测准确率 →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数据全部来自前序层，零额外数据成本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Cohen et al.(2026)NBER: AI预测71%行为，不可预测性=Alpha来源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公式变动总结与MVP执行计划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3035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本次公式变动总结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变动1: BHS锦标赛替换RPI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旧: RPI=exp(α+β×排名) 自构建公式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新: BHS三步法 CR→分组→RAR (Brown,Harlow,Starks 1996 JF)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影响: L1层理论基础更扎实，引用顶刊JF原文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变动2: SDI删除1/2系数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旧: SDI = 1/2 × Σ|w_t - w_{t-1}|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新: SDI = Σ|w_t - w_{t-1}|（寇宗来2020原文，纯曼哈顿距离）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影响: SDI取值范围[0,2]，均值翻倍，需重新标准化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变动3: ARG改为绝对值求和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旧: ARG = mean(RG_t) × 4（年化平均，正负相抵）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新: ARG = Σ|RG_t|（申宇2013修正，取绝对值后求和）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影响: ARG值增大，经济含义从"年化净效果"变为"隐形交易总强度"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变动4: OCI标注为本文构建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旧: 引用Barber &amp; Odean(2001)作为OCI公式来源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新: 标注"本文构建，受B&amp;O(2001)换手率代理启发"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影响: 学术诚信提升，避免引用不当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变动5: RG费用项说明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补充: Kacperczyk(2008)原文含EXP费用项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说明: 中国基金净值已为费后口径，故省略EXP项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MVP四阶段执行计划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Phase 0: 数据修复（2-3天）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修复AS/ICI/SDI三维数据维度错误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补充FF因子数据（AKShare，57.6%缺失）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用新公式（SDI无1/2, ARG=Σ|RG|）重算全部指标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重新跑全部回归，对比新旧结果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微软雅黑"/>
              </a:defRPr>
            </a:pPr>
            <a:r>
              <a:t>Phase 1: 统计验证（1-2天）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VIF多重共线性检验（AS/ICI/SDI相关性高）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安慰剂检验（随机分组验证因果）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描述性统计表（九指标均值/标准差/分位数）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相关性矩阵热力图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1188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Phase 2: 论文撰写（2-3周）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第4章：数据处理与指标计算（含新公式推导）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第5章：实证结果（回归+稳健性检验）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第6章：行为画像与PS预测模型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第7章：结论与政策建议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逻辑：做什么→用什么数据→怎么算→结果→含义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89204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Phase 3: PPT与答辩（1-2天）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更新PPT数据页和结果页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准备答辩PPT（15分钟+5分钟Q&amp;A）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代码与数据归档，确保可复现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核心原则：每步公式变动需重新验证回归结果 | 新公式均对照原文核实 | 全部数据源免费可复现 | 预计总周期4-5周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