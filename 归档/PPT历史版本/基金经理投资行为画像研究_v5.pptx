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357" r:id="rId4"/>
    <p:sldId id="354" r:id="rId5"/>
    <p:sldId id="377" r:id="rId6"/>
    <p:sldId id="378" r:id="rId7"/>
    <p:sldId id="269" r:id="rId8"/>
    <p:sldId id="379" r:id="rId9"/>
    <p:sldId id="380" r:id="rId10"/>
    <p:sldId id="351" r:id="rId11"/>
    <p:sldId id="271" r:id="rId12"/>
    <p:sldId id="352" r:id="rId13"/>
    <p:sldId id="381" r:id="rId14"/>
    <p:sldId id="382" r:id="rId15"/>
    <p:sldId id="272" r:id="rId16"/>
    <p:sldId id="358" r:id="rId18"/>
    <p:sldId id="383" r:id="rId19"/>
    <p:sldId id="384" r:id="rId20"/>
    <p:sldId id="275" r:id="rId21"/>
    <p:sldId id="353" r:id="rId22"/>
    <p:sldId id="385" r:id="rId23"/>
    <p:sldId id="386" r:id="rId24"/>
    <p:sldId id="361" r:id="rId25"/>
    <p:sldId id="27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87" r:id="rId35"/>
    <p:sldId id="388" r:id="rId36"/>
    <p:sldId id="38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0" r:id="rId45"/>
    <p:sldId id="391" r:id="rId46"/>
    <p:sldId id="392" r:id="rId47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371600"/>
          <a:ext cx="1124712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803275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核心任务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方法与预期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1.0阶段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用BHS虚拟变量(排名下降&gt;中位数=1)识别锦标赛行为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基础Logistic回归，验证锦标赛压力存在性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2.0阶段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引入CR(累计收益)和RAR(排名变化幅度)丰富指标，加入经理特征交互项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多元Logistic，检验教育/CFA对锦标赛行为的调节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3.0阶段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用连续排名变量替代0/1虚拟变量，动态面板GMM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检验锦标赛效应持续性，解决内生性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quarter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0.5612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0.2103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387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0233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1380" y="5537200"/>
            <a:ext cx="10891520" cy="553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0.8412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0.8296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0.9482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-0.3553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3.9328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季度面板基础OLS回归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0.0789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0.2890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en-US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线性OLS回归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0.4567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计算OCI(标准化超额换手)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97280"/>
          <a:ext cx="10850880" cy="43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/>
                <a:gridCol w="1808480"/>
                <a:gridCol w="1808480"/>
                <a:gridCol w="1808480"/>
                <a:gridCol w="1808480"/>
                <a:gridCol w="1808480"/>
              </a:tblGrid>
              <a:tr h="4857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变量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均值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标准差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最小值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中位数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最大值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AS (主动管理)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0.695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0.941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ICI (行业集中度)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0.061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SDI (风格漂移)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0.335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0.153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0.321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0.828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ARG (绝对隐形交易)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0.145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0.197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0.803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OCI (过度自信)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0.056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0.000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0.451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FF3调整收益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0.023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0.241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-0.729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0.006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1.469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基金规模(对数)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19.787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1.941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13.816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20.079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23.429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换手率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1.043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0.737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0.890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5.842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0810"/>
            <a:ext cx="82296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rPr sz="1800"/>
              <a:t>三个模型递进：行为指标 → +控制变量 → +年份FE</a:t>
            </a:r>
            <a:endParaRPr sz="1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97280"/>
          <a:ext cx="11633200" cy="439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  <a:gridCol w="2908300"/>
              </a:tblGrid>
              <a:tr h="4883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变量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1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2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3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-0.2830 (-5.48***)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-0.1781 (-3.81***)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-0.1716 (-3.90***)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ICI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-0.0034 (-0.08)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0.0388 (0.92)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0.1136 (2.49**)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SDI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0.0020 (0.17)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0.0075 (0.64)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0.0189 (1.51)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ARG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0.1759 (8.94***)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0.1521 (7.95***)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0.0615 (2.74***)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OCI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-1.0725 (-25.18***)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-1.1117 (-26.02***)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-1.3187 (-24.56***)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log_aum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-0.0101 (-11.64***)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-0.0113 (-13.35***)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TO_calc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-0.0076 (-4.19***)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 (0.94)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R²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0.0775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0.1066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0.1792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P25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P75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-0.7618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-0.5130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-0.0992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0.1018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1.2687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4.0286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0.3030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19.8665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1.8185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14.5087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18.8127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20.1015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21.1397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-0.6283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0.2463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8.0871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5.4078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3.5715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6.6366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12.0999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21.0369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1.0532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1.0408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5.8138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4.1786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21.5623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(4.29)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(2.39)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(11.01)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Adj 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0.1402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0.4088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分位排名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双尾p值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0.7480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+0.12%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-10.70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负向显著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安慰剂p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SE比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稳健性评分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方法论答疑与框架修正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4个核心问题解答 | 框架逻辑厘清 | 从「递进」到「分层并行+综合整合」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80" cy="483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5979160"/>
                <a:gridCol w="2764155"/>
              </a:tblGrid>
              <a:tr h="626745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问题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核心解答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修正方向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Q1: 锦标赛是效应还是层级？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L1中还有从业年限/学历等怎么解释？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锦标赛(BHS)是行为响应而非背景层。原稿L1=背景特征(从业年限/学历)，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v14误将BHS提升为L1。正确做法：背景特征作为控制变量和调节变量，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BHS归入「竞争压力响应」维度。结论解释：控制背景异质性后，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行为指标对业绩的预测力是净效应。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恢复L1=背景特征层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BHS归入行为维度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交互项检验背景×行为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Q2: 综合回归合理吗？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L1-L5是并列还是递进？PS怎么回事？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当前OLS将所有指标同时放入=并列模型。但框架声称「递进」=矛盾。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PS(Logistic)不是独立层级，而是L1-L4指标的综合预测工具。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PS=σ(β0+β1*BHS+β2*AS+β3*ARG+β4*SDI+β5*OCI)，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本质是对已有指标的加权组合，非新信息。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改「分层并行+综合整合」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两阶段：独立回归→PS整合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加SEM路径分析检验递进链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Q3: 全用别人方法=大杂烩？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创新点在哪？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整合创新在学术上成立但需理论贡献。当前创新：①五层框架整合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②真实权重AS改进 ③FF4 vs FF3因子吸收发现 ④中国市场验证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⑤PSM因果推断。但缺乏：理论模型解释为何这5个维度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是充分必要的；缺少新指标或新方法。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加理论模型推导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提出「行为效率系数」新指标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样本外预测验证PS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Q4: PS的Logistic原理？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与综合OLS的区别？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 Logit: P(超额收益&gt;中位数)=σ(Xβ)，输出概率0-1，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用于分类和排序。OLS: Y=Xβ+ε，输出边际效应系数。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区别：①PS做分类预测(谁跑赢)，OLS做因果推断(影响多大)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②PS可构建多空组合，OLS不能 ③PS是二阶段工具，OLS是一阶段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明确两阶段定位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Ch4用OLS做推断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Ch5用PS做预测验证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3504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核心修正：将框架从「五层递进」改为「五维并行+两阶段整合」。Stage 1(Ch4)：各行为指标独立回归，控制背景特征，检验净效应。Stage 2(Ch5)：用Logistic构建PS综合分数，做样本外预测验证。背景特征(从业年限/学历/CFA)作为控制变量而非独立层级。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学术规范性审查与优化建议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6大审查维度 | 当前评级 | 具体优化措施 | 优先级排序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2743200"/>
                <a:gridCol w="3840480"/>
                <a:gridCol w="73152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审查维度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当前状态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存在问题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优化措施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优先级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理论框架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原稿「递进」与v14「并列」矛盾；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L1定义不一致(背景vs锦标赛)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统一为「五维并行+两阶段整合」；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背景特征=控制变量非层级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创新性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贡献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整合创新成立但缺乏理论模型；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无新指标/新方法提出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推导理论模型解释5维充分性；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提出「行为效率系数」BEI指标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严谨性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已有PSM+Bootstrap+安慰剂；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但缺乏IV/DID/RDD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加IV估计(经理变更)；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加DID(极端市场事件冲击)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统计检验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74个检验Bonferroni校正；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VIF/安慰剂/子样本齐全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补充Hausman检验(RE vs FE)；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加样本外R²预测验证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幸存者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偏差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仅含存活基金(400只)；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已获取27449只基金列表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识别清盘基金并补充历史数据；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做Heckman两步法修正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PS定义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合理性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PS=Logit概率(&gt;中位数)；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定义较随意，缺乏理论支撑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改PS=1-样本外预测R²；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或用交叉验证AUC作为PS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三大核心优化（按重要性排序）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0644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0644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框架修正：将「五层递进」改为「五维并行+两阶段整合」，解决L1定义矛盾。背景特征(从业年限/学历/CFA)作为控制变量和调节变量，而非独立层级。②理论创新：推导理论模型解释为何5个行为维度是充分必要的，提出「行为效率系数」(BEI)新指标。③因果强化：增加IV估计(经理变更作为外生冲击)和DID分析(极端市场事件)，增强因果识别可信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2周详细论文写作规划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2026-08-08 ~ 2026-08-21 | 每日任务 | 里程碑交付物 | 框架修正同步进行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65836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8/8(五)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框架修正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修正Ch3理论框架：统一为「五维并行+两阶段整合」架构；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重写L1-L5定义表，背景特征改为控制变量；更新H1-H5假设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Ch3修订稿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8/9(六)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撰写Ch4.1数据描述(含v14描述性统计表)；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撰写Ch4.2.1 FF3模型回归(M1-M2) + Ch4.2.2 FF4模型(M3-M6)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Ch4.1-4.2初稿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8/10(日)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撰写Ch4.3稳健性检验(安慰剂+子样本+FM+多重检验)；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整理8模型对比表+VIF表+稳健性排序表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Ch4.3初稿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Ch5构建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构建Ch5 PS综合分类：修正PS定义(加样本外验证)；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Logistic回归+五分组分析+行为画像(8类)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8/12(二)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补充SEM路径分析(检验递进链)；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补充IV估计(经理变更)+Heckman偏差修正(如有清盘数据)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8/13(三)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Ch4.4核心发现讨论；整合v14/v15全部计量结果；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检查表格与ipynb输出一致性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Ch4完整稿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8/14(四)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Ch6-7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撰写Ch6行业经验整合(券商实践对比)；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撰写Ch7结论与展望(贡献/启示/局限)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Ch6+Ch7初稿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8/15(五)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缓冲日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处理本周遗留问题；导师初步反馈；修改框架表述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第1周总结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8/16-17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根据导师反馈修改Ch1-Ch3；完善文献综述(补充理论模型文献)；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统一全文术语和符号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Ch1-3修订稿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8/18(一)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推导理论模型(5维充分性论证)；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计算「行为效率系数」BEI指标并验证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理论创新章节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8/19(二)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因果强化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补充IV估计结果；DID分析(如数据允许)；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更新稳健性检验章节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8/20(三)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全文统稿(15000字)；格式规范化；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参考文献核对；图表编号统一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完整论文稿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8/21(四)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最终审查：学术规范性自检清单；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表格-ipynb一致性终验；PPT同步更新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终稿+自检报告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355080"/>
            <a:ext cx="54864" cy="4572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关键里程碑：8/13 Ch4完整稿 | 8/14 Ch6+Ch7初稿 | 8/18 理论创新完成 | 8/21 终稿交付。每日预估写作量：1500-2000字。框架修正(8/8)和理论创新(8/18)是两个最关键节点。ipynb与PPT表格一致性验证贯穿全程。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252"/>
  <p:tag name="TABLE_ENDDRAG_RECT" val="36*108*885*252"/>
</p:tagLst>
</file>

<file path=ppt/tags/tag2.xml><?xml version="1.0" encoding="utf-8"?>
<p:tagLst xmlns:p="http://schemas.openxmlformats.org/presentationml/2006/main">
  <p:tag name="TABLE_ENDDRAG_ORIGIN_RECT" val="854*344"/>
  <p:tag name="TABLE_ENDDRAG_RECT" val="36*86*854*344"/>
</p:tagLst>
</file>

<file path=ppt/tags/tag3.xml><?xml version="1.0" encoding="utf-8"?>
<p:tagLst xmlns:p="http://schemas.openxmlformats.org/presentationml/2006/main">
  <p:tag name="TABLE_ENDDRAG_ORIGIN_RECT" val="915*345"/>
  <p:tag name="TABLE_ENDDRAG_RECT" val="21*86*915*34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25650</Words>
  <Application>WPS 演示</Application>
  <PresentationFormat/>
  <Paragraphs>5100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Arial</vt:lpstr>
      <vt:lpstr>黑体</vt:lpstr>
      <vt:lpstr>JetBrains Mono</vt:lpstr>
      <vt:lpstr>FFont-Family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10</cp:revision>
  <dcterms:created xsi:type="dcterms:W3CDTF">2026-08-05T01:04:00Z</dcterms:created>
  <dcterms:modified xsi:type="dcterms:W3CDTF">2026-08-07T02:45:25Z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