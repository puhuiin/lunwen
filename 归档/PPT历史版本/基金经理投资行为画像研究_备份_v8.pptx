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97" r:id="rId25"/>
    <p:sldId id="298" r:id="rId26"/>
    <p:sldId id="281" r:id="rId27"/>
    <p:sldId id="296" r:id="rId28"/>
    <p:sldId id="282" r:id="rId29"/>
    <p:sldId id="283" r:id="rId30"/>
    <p:sldId id="284" r:id="rId31"/>
    <p:sldId id="285" r:id="rId32"/>
    <p:sldId id="286" r:id="rId33"/>
    <p:sldId id="299" r:id="rId34"/>
    <p:sldId id="287" r:id="rId35"/>
    <p:sldId id="300" r:id="rId37"/>
    <p:sldId id="301" r:id="rId38"/>
    <p:sldId id="305" r:id="rId42"/>
    <p:sldId id="306" r:id="rId43"/>
    <p:sldId id="308" r:id="rId45"/>
    <p:sldId id="309" r:id="rId49"/>
  </p:sldIdLst>
  <p:sldSz cx="12191365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ableStyles" Target="tableStyles.xml"/><Relationship Id="rId49" Type="http://schemas.openxmlformats.org/officeDocument/2006/relationships/slide" Target="slides/slide44.xml"/><Relationship Id="rId50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4654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el-1785891664668-7"/>
          <p:cNvCxnSpPr/>
          <p:nvPr/>
        </p:nvCxnSpPr>
        <p:spPr>
          <a:xfrm>
            <a:off x="533267" y="2327947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el-1785891664669-8"/>
          <p:cNvCxnSpPr/>
          <p:nvPr/>
        </p:nvCxnSpPr>
        <p:spPr>
          <a:xfrm>
            <a:off x="533267" y="3155374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85891664669-9"/>
          <p:cNvCxnSpPr/>
          <p:nvPr/>
        </p:nvCxnSpPr>
        <p:spPr>
          <a:xfrm>
            <a:off x="533267" y="3982800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el-1785891664669-10"/>
          <p:cNvCxnSpPr/>
          <p:nvPr/>
        </p:nvCxnSpPr>
        <p:spPr>
          <a:xfrm>
            <a:off x="533267" y="4810226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el-1785891664669-11"/>
          <p:cNvCxnSpPr/>
          <p:nvPr/>
        </p:nvCxnSpPr>
        <p:spPr>
          <a:xfrm>
            <a:off x="533267" y="5637652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5891664669-12"/>
          <p:cNvCxnSpPr/>
          <p:nvPr/>
        </p:nvCxnSpPr>
        <p:spPr>
          <a:xfrm>
            <a:off x="533267" y="6465079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4666-4"/>
          <p:cNvSpPr txBox="1"/>
          <p:nvPr/>
        </p:nvSpPr>
        <p:spPr>
          <a:xfrm>
            <a:off x="533267" y="212140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CONTENTS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4666-5"/>
          <p:cNvSpPr txBox="1"/>
          <p:nvPr/>
        </p:nvSpPr>
        <p:spPr>
          <a:xfrm>
            <a:off x="533267" y="564477"/>
            <a:ext cx="11362389" cy="44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目录</a:t>
            </a:r>
            <a:endParaRPr sz="26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el-1785891664666-6"/>
          <p:cNvSpPr txBox="1"/>
          <p:nvPr/>
        </p:nvSpPr>
        <p:spPr>
          <a:xfrm>
            <a:off x="533267" y="1238649"/>
            <a:ext cx="1122907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六大模块 · 33页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el-1785891664671-13"/>
          <p:cNvSpPr txBox="1"/>
          <p:nvPr/>
        </p:nvSpPr>
        <p:spPr>
          <a:xfrm>
            <a:off x="533267" y="1676689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01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4676-19"/>
          <p:cNvSpPr txBox="1"/>
          <p:nvPr/>
        </p:nvSpPr>
        <p:spPr>
          <a:xfrm>
            <a:off x="1142714" y="1762393"/>
            <a:ext cx="5154742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研究概述与文献工作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el-1785891664676-20"/>
          <p:cNvSpPr txBox="1"/>
          <p:nvPr/>
        </p:nvSpPr>
        <p:spPr>
          <a:xfrm>
            <a:off x="1142714" y="2033788"/>
            <a:ext cx="513474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大白话介绍、文献下载分类、阅读后工作、与文献关系区别、五层递进框架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4671-14"/>
          <p:cNvSpPr txBox="1"/>
          <p:nvPr/>
        </p:nvSpPr>
        <p:spPr>
          <a:xfrm>
            <a:off x="533267" y="2504116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02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4676-21"/>
          <p:cNvSpPr txBox="1"/>
          <p:nvPr/>
        </p:nvSpPr>
        <p:spPr>
          <a:xfrm>
            <a:off x="1142714" y="2589819"/>
            <a:ext cx="3143387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企业实践对比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4676-22"/>
          <p:cNvSpPr txBox="1"/>
          <p:nvPr/>
        </p:nvSpPr>
        <p:spPr>
          <a:xfrm>
            <a:off x="1142714" y="2861214"/>
            <a:ext cx="3123389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晨星5P、华泰100因子、招商CAPM逐一展开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4672-15"/>
          <p:cNvSpPr txBox="1"/>
          <p:nvPr/>
        </p:nvSpPr>
        <p:spPr>
          <a:xfrm>
            <a:off x="533267" y="3331542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03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4677-23"/>
          <p:cNvSpPr txBox="1"/>
          <p:nvPr/>
        </p:nvSpPr>
        <p:spPr>
          <a:xfrm>
            <a:off x="1142714" y="3417246"/>
            <a:ext cx="4326870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五层理论精讲（含数据计算）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4677-24"/>
          <p:cNvSpPr txBox="1"/>
          <p:nvPr/>
        </p:nvSpPr>
        <p:spPr>
          <a:xfrm>
            <a:off x="1142714" y="3688640"/>
            <a:ext cx="430687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L1-L5理论、公式、数据来源、文献对比、1.0/2.0/3.0阶段安排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4672-16"/>
          <p:cNvSpPr txBox="1"/>
          <p:nvPr/>
        </p:nvSpPr>
        <p:spPr>
          <a:xfrm>
            <a:off x="533267" y="4158968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04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4677-25"/>
          <p:cNvSpPr txBox="1"/>
          <p:nvPr/>
        </p:nvSpPr>
        <p:spPr>
          <a:xfrm>
            <a:off x="1142714" y="4244672"/>
            <a:ext cx="2859791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MVP验证与真实数据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4677-26"/>
          <p:cNvSpPr txBox="1"/>
          <p:nvPr/>
        </p:nvSpPr>
        <p:spPr>
          <a:xfrm>
            <a:off x="1142714" y="4516066"/>
            <a:ext cx="2839794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V4九指标验证、400基金全持仓数据管线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4672-17"/>
          <p:cNvSpPr txBox="1"/>
          <p:nvPr/>
        </p:nvSpPr>
        <p:spPr>
          <a:xfrm>
            <a:off x="533267" y="4986395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05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el-1785891664677-27"/>
          <p:cNvSpPr txBox="1"/>
          <p:nvPr/>
        </p:nvSpPr>
        <p:spPr>
          <a:xfrm>
            <a:off x="1142714" y="5072098"/>
            <a:ext cx="2412228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文献对比与超越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4677-28"/>
          <p:cNvSpPr txBox="1"/>
          <p:nvPr/>
        </p:nvSpPr>
        <p:spPr>
          <a:xfrm>
            <a:off x="1142714" y="5343493"/>
            <a:ext cx="239223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核心文献数据来源对比，四重超越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4672-18"/>
          <p:cNvSpPr txBox="1"/>
          <p:nvPr/>
        </p:nvSpPr>
        <p:spPr>
          <a:xfrm>
            <a:off x="533267" y="5813821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06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4677-29"/>
          <p:cNvSpPr txBox="1"/>
          <p:nvPr/>
        </p:nvSpPr>
        <p:spPr>
          <a:xfrm>
            <a:off x="1142714" y="5899524"/>
            <a:ext cx="2040102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研究计划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4678-30"/>
          <p:cNvSpPr txBox="1"/>
          <p:nvPr/>
        </p:nvSpPr>
        <p:spPr>
          <a:xfrm>
            <a:off x="1142714" y="6170919"/>
            <a:ext cx="202010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三阶段路线图、2周写作计划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4661-2"/>
          <p:cNvSpPr txBox="1"/>
          <p:nvPr/>
        </p:nvSpPr>
        <p:spPr>
          <a:xfrm>
            <a:off x="609448" y="6526232"/>
            <a:ext cx="1451396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基金经理投资行为画像研究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4662-3"/>
          <p:cNvSpPr txBox="1"/>
          <p:nvPr/>
        </p:nvSpPr>
        <p:spPr>
          <a:xfrm>
            <a:off x="11521178" y="6519090"/>
            <a:ext cx="144982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3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4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891664696-5"/>
          <p:cNvSpPr txBox="1"/>
          <p:nvPr/>
        </p:nvSpPr>
        <p:spPr>
          <a:xfrm>
            <a:off x="533267" y="579059"/>
            <a:ext cx="1122907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研究背景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el-1785891664696-6"/>
          <p:cNvSpPr txBox="1"/>
          <p:nvPr/>
        </p:nvSpPr>
        <p:spPr>
          <a:xfrm>
            <a:off x="533267" y="807602"/>
            <a:ext cx="11322394" cy="4285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2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这项研究到底在干什么</a:t>
            </a:r>
            <a:endParaRPr sz="22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l-1785891664695-3"/>
          <p:cNvSpPr txBox="1"/>
          <p:nvPr/>
        </p:nvSpPr>
        <p:spPr>
          <a:xfrm>
            <a:off x="799900" y="1578934"/>
            <a:ext cx="10589152" cy="113110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950"/>
              </a:lnSpc>
            </a:pP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你买基金的时候，只能看到基金的历史涨跌，但</a:t>
            </a:r>
            <a:r>
              <a:rPr sz="16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不知道基金经理到底是怎么操作的</a:t>
            </a: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——他选了什么股票、偏离基准多远、换手有多频繁、追涨杀跌了没有。我们的研究就是：</a:t>
            </a:r>
            <a:r>
              <a:rPr sz="16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用全持仓数据把这些行为全算出来，然后看哪些行为能预测基金未来的业绩</a:t>
            </a: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6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l-1785891664699-7"/>
          <p:cNvSpPr txBox="1"/>
          <p:nvPr/>
        </p:nvSpPr>
        <p:spPr>
          <a:xfrm>
            <a:off x="704674" y="3205218"/>
            <a:ext cx="3449628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l-1785891664699-8"/>
          <p:cNvSpPr txBox="1"/>
          <p:nvPr/>
        </p:nvSpPr>
        <p:spPr>
          <a:xfrm>
            <a:off x="704674" y="3681349"/>
            <a:ext cx="339630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拆解行为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l-1785891664699-9"/>
          <p:cNvSpPr txBox="1"/>
          <p:nvPr/>
        </p:nvSpPr>
        <p:spPr>
          <a:xfrm>
            <a:off x="704674" y="4043209"/>
            <a:ext cx="3262985" cy="77133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把基金经理的投资行为拆成五个层次：背景特征→持仓偏离→交易行为→风险应对→认知偏差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5891664699-10"/>
          <p:cNvSpPr txBox="1"/>
          <p:nvPr/>
        </p:nvSpPr>
        <p:spPr>
          <a:xfrm>
            <a:off x="4462835" y="3205218"/>
            <a:ext cx="3449777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5891664699-11"/>
          <p:cNvSpPr txBox="1"/>
          <p:nvPr/>
        </p:nvSpPr>
        <p:spPr>
          <a:xfrm>
            <a:off x="4462835" y="3681349"/>
            <a:ext cx="339645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算出指标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5891664700-12"/>
          <p:cNvSpPr txBox="1"/>
          <p:nvPr/>
        </p:nvSpPr>
        <p:spPr>
          <a:xfrm>
            <a:off x="4462835" y="4043209"/>
            <a:ext cx="3263134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用400只基金的真实全持仓数据，算出9个量化指标，每个指标对应一个具体行为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5891664700-13"/>
          <p:cNvSpPr txBox="1"/>
          <p:nvPr/>
        </p:nvSpPr>
        <p:spPr>
          <a:xfrm>
            <a:off x="8221145" y="3205218"/>
            <a:ext cx="3449628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5891664700-14"/>
          <p:cNvSpPr txBox="1"/>
          <p:nvPr/>
        </p:nvSpPr>
        <p:spPr>
          <a:xfrm>
            <a:off x="8221145" y="3681349"/>
            <a:ext cx="339630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验证预测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5891664700-15"/>
          <p:cNvSpPr txBox="1"/>
          <p:nvPr/>
        </p:nvSpPr>
        <p:spPr>
          <a:xfrm>
            <a:off x="8221145" y="4043209"/>
            <a:ext cx="3262985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用六种统计方法检验这些指标能不能预测基金下季度的业绩，找到最关键的行为信号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5891664696-4"/>
          <p:cNvSpPr txBox="1"/>
          <p:nvPr/>
        </p:nvSpPr>
        <p:spPr>
          <a:xfrm>
            <a:off x="799900" y="5271627"/>
            <a:ext cx="10589152" cy="57879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270"/>
              </a:lnSpc>
            </a:pPr>
            <a:r>
              <a:rPr sz="142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核心发现：</a:t>
            </a:r>
            <a:r>
              <a:rPr sz="14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过度交易（OCI）是A股基金业绩最大的拖累</a:t>
            </a:r>
            <a:r>
              <a:rPr sz="142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，在牛市中尤其致命（t=-15.54***）；</a:t>
            </a:r>
            <a:r>
              <a:rPr sz="14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持仓偏离（AS）是最稳健的截面预测因子</a:t>
            </a:r>
            <a:r>
              <a:rPr sz="142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。两者互补——一个管时序，一个管截面。</a:t>
            </a:r>
            <a:endParaRPr sz="142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85891664690-1"/>
          <p:cNvSpPr txBox="1"/>
          <p:nvPr/>
        </p:nvSpPr>
        <p:spPr>
          <a:xfrm>
            <a:off x="0" y="6400057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研究概述与框架创新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5891664691-2"/>
          <p:cNvSpPr txBox="1"/>
          <p:nvPr/>
        </p:nvSpPr>
        <p:spPr>
          <a:xfrm>
            <a:off x="0" y="6628600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8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9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2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891664713-3"/>
          <p:cNvSpPr txBox="1"/>
          <p:nvPr/>
        </p:nvSpPr>
        <p:spPr>
          <a:xfrm>
            <a:off x="533267" y="1719244"/>
            <a:ext cx="429660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研究背景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el-1785891664713-4"/>
          <p:cNvSpPr txBox="1"/>
          <p:nvPr/>
        </p:nvSpPr>
        <p:spPr>
          <a:xfrm>
            <a:off x="533267" y="2100148"/>
            <a:ext cx="4389927" cy="4285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2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文献工作概述</a:t>
            </a:r>
            <a:endParaRPr sz="22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l-1785891664713-5"/>
          <p:cNvSpPr txBox="1"/>
          <p:nvPr/>
        </p:nvSpPr>
        <p:spPr>
          <a:xfrm>
            <a:off x="533267" y="2681028"/>
            <a:ext cx="4189952" cy="5484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145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系统检索、下载、阅读了行为金融与基金评价领域的核心文献，按五层框架分类整理。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l-1785891664727-25"/>
          <p:cNvSpPr txBox="1"/>
          <p:nvPr/>
        </p:nvSpPr>
        <p:spPr>
          <a:xfrm>
            <a:off x="533267" y="3458014"/>
            <a:ext cx="1028859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34</a:t>
            </a:r>
            <a:endParaRPr sz="26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l-1785891664727-26"/>
          <p:cNvSpPr txBox="1"/>
          <p:nvPr/>
        </p:nvSpPr>
        <p:spPr>
          <a:xfrm>
            <a:off x="533267" y="3972236"/>
            <a:ext cx="902209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已下载PDF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l-1785891664727-27"/>
          <p:cNvSpPr txBox="1"/>
          <p:nvPr/>
        </p:nvSpPr>
        <p:spPr>
          <a:xfrm>
            <a:off x="1550699" y="3458014"/>
            <a:ext cx="1049393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95</a:t>
            </a:r>
            <a:endParaRPr sz="26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5891664727-28"/>
          <p:cNvSpPr txBox="1"/>
          <p:nvPr/>
        </p:nvSpPr>
        <p:spPr>
          <a:xfrm>
            <a:off x="1550699" y="3972236"/>
            <a:ext cx="92274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已分类索引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5891664727-29"/>
          <p:cNvSpPr txBox="1"/>
          <p:nvPr/>
        </p:nvSpPr>
        <p:spPr>
          <a:xfrm>
            <a:off x="2588664" y="3458014"/>
            <a:ext cx="887508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26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5891664728-30"/>
          <p:cNvSpPr txBox="1"/>
          <p:nvPr/>
        </p:nvSpPr>
        <p:spPr>
          <a:xfrm>
            <a:off x="2588664" y="3972236"/>
            <a:ext cx="76085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分类层次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5891664713-6"/>
          <p:cNvSpPr txBox="1"/>
          <p:nvPr/>
        </p:nvSpPr>
        <p:spPr>
          <a:xfrm>
            <a:off x="533267" y="4367424"/>
            <a:ext cx="4235661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来源：NBER、SSRN、JSTOR、知网、万方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785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时间跨度：1967-2026年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5891664720-13"/>
          <p:cNvSpPr txBox="1"/>
          <p:nvPr/>
        </p:nvSpPr>
        <p:spPr>
          <a:xfrm>
            <a:off x="5104124" y="716839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L1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5891664717-7"/>
          <p:cNvSpPr txBox="1"/>
          <p:nvPr/>
        </p:nvSpPr>
        <p:spPr>
          <a:xfrm>
            <a:off x="5884978" y="493504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背景特征层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Chevalier &amp; Ellison(1999)职业忧虑 · Jensen(1967)Alpha · 吴栩(2017)中国经理特征 · 于静(2013)个性与盈利 · Barber &amp; Odean(2001)性别与过度自信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5891664721-14"/>
          <p:cNvSpPr txBox="1"/>
          <p:nvPr/>
        </p:nvSpPr>
        <p:spPr>
          <a:xfrm>
            <a:off x="10867213" y="673987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85891664721-15"/>
          <p:cNvSpPr txBox="1"/>
          <p:nvPr/>
        </p:nvSpPr>
        <p:spPr>
          <a:xfrm>
            <a:off x="5104124" y="1687402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L2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5891664718-8"/>
          <p:cNvSpPr txBox="1"/>
          <p:nvPr/>
        </p:nvSpPr>
        <p:spPr>
          <a:xfrm>
            <a:off x="5884978" y="1464067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持仓偏离层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Cremers &amp; Petajisto(2009)Active Share · Kacperczyk et al.(2005)ICI · Petajisto(2013)AS与业绩 · 寇宗来等(2020)风格漂移U型 · 邢欣翽孙谦(2015)中国ICI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el-1785891664721-16"/>
          <p:cNvSpPr txBox="1"/>
          <p:nvPr/>
        </p:nvSpPr>
        <p:spPr>
          <a:xfrm>
            <a:off x="10867213" y="1644551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el-1785891664721-17"/>
          <p:cNvSpPr txBox="1"/>
          <p:nvPr/>
        </p:nvSpPr>
        <p:spPr>
          <a:xfrm>
            <a:off x="5104124" y="2657965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L3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el-1785891664719-9"/>
          <p:cNvSpPr txBox="1"/>
          <p:nvPr/>
        </p:nvSpPr>
        <p:spPr>
          <a:xfrm>
            <a:off x="5884978" y="2434630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交易行为层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Kacperczyk et al.(2008)Return Gap · 申宇(2013)中国隐形交易 · Odean(1998)处置效应 · Grinblatt et al.(1995)动量与羊群 · 孔东民个体沟通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el-1785891664722-18"/>
          <p:cNvSpPr txBox="1"/>
          <p:nvPr/>
        </p:nvSpPr>
        <p:spPr>
          <a:xfrm>
            <a:off x="10867213" y="2615114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el-1785891664722-19"/>
          <p:cNvSpPr txBox="1"/>
          <p:nvPr/>
        </p:nvSpPr>
        <p:spPr>
          <a:xfrm>
            <a:off x="5104124" y="3628529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L4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el-1785891664719-10"/>
          <p:cNvSpPr txBox="1"/>
          <p:nvPr/>
        </p:nvSpPr>
        <p:spPr>
          <a:xfrm>
            <a:off x="5884978" y="3405193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风险应对层 · 寇宗来等(2020)SDI风格漂移 · U型关系 · 市场风格切换与解雇风险 · Menkhoff(2006)经验与行为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el-1785891664722-20"/>
          <p:cNvSpPr txBox="1"/>
          <p:nvPr/>
        </p:nvSpPr>
        <p:spPr>
          <a:xfrm>
            <a:off x="10867213" y="3585677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el-1785891664722-21"/>
          <p:cNvSpPr txBox="1"/>
          <p:nvPr/>
        </p:nvSpPr>
        <p:spPr>
          <a:xfrm>
            <a:off x="5104124" y="4599092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L5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el-1785891664720-11"/>
          <p:cNvSpPr txBox="1"/>
          <p:nvPr/>
        </p:nvSpPr>
        <p:spPr>
          <a:xfrm>
            <a:off x="5884978" y="4375757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认知行为层 · Kahneman &amp; Tversky(1979)前景理论 · Barber &amp; Odean(2001)过度自信 · OCI=|RG|代理 · LA损失厌恶(待补)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el-1785891664722-22"/>
          <p:cNvSpPr txBox="1"/>
          <p:nvPr/>
        </p:nvSpPr>
        <p:spPr>
          <a:xfrm>
            <a:off x="10867213" y="4556240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el-1785891664723-23"/>
          <p:cNvSpPr txBox="1"/>
          <p:nvPr/>
        </p:nvSpPr>
        <p:spPr>
          <a:xfrm>
            <a:off x="5104124" y="5569655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综述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el-1785891664720-12"/>
          <p:cNvSpPr txBox="1"/>
          <p:nvPr/>
        </p:nvSpPr>
        <p:spPr>
          <a:xfrm>
            <a:off x="5884978" y="5463567"/>
            <a:ext cx="5027943" cy="4692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综述与其他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Cuthbertson et al. 行为与管理效应综述 · 覆盖基金评价、行为偏差、业绩持续性等主题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el-1785891664723-24"/>
          <p:cNvSpPr txBox="1"/>
          <p:nvPr/>
        </p:nvSpPr>
        <p:spPr>
          <a:xfrm>
            <a:off x="10867213" y="5526803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el-1785891664710-1"/>
          <p:cNvSpPr txBox="1"/>
          <p:nvPr/>
        </p:nvSpPr>
        <p:spPr>
          <a:xfrm>
            <a:off x="0" y="6400057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研究概述与框架创新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el-1785891664710-2"/>
          <p:cNvSpPr txBox="1"/>
          <p:nvPr/>
        </p:nvSpPr>
        <p:spPr>
          <a:xfrm>
            <a:off x="0" y="6628600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3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4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el-1785891665230-27"/>
          <p:cNvGraphicFramePr/>
          <p:nvPr/>
        </p:nvGraphicFramePr>
        <p:xfrm>
          <a:off x="6208747" y="1362592"/>
          <a:ext cx="5446938" cy="453871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89298"/>
                <a:gridCol w="2178745"/>
                <a:gridCol w="2178894"/>
              </a:tblGrid>
              <a:tr h="380905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维度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文献中的做法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我们的超越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架构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各文献单层独立研究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首次五层统一框架，同批400基金同时检验九指标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数据精度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未讨论前十大近似偏误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量化偏误(0.975→0.833)，提出修正公式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ICI方向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美股正向、A股正向(邢欣翽2015)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2020-2024年A股发现负向(t=-3.69***)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RG模式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美股逐渐衰减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发现A股1Q动量+2Q反转，非单调衰减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牛熊市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无文献研究ICI/OCI调节效应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OCI牛市极强(t=-15.54***)但熊市消失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AS变化率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Jin(2016)研究反向因果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首次研究ΔAS→未来业绩，t=-4.82***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方法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通常只用1-2种方法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六种方法交叉验证，结论更稳健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</a:tbl>
          </a:graphicData>
        </a:graphic>
      </p:graphicFrame>
      <p:sp>
        <p:nvSpPr>
          <p:cNvPr id="3" name="el-1785891665232-28"/>
          <p:cNvSpPr txBox="1"/>
          <p:nvPr/>
        </p:nvSpPr>
        <p:spPr>
          <a:xfrm>
            <a:off x="533267" y="534124"/>
            <a:ext cx="555359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研究背景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l-1785891665232-29"/>
          <p:cNvSpPr txBox="1"/>
          <p:nvPr/>
        </p:nvSpPr>
        <p:spPr>
          <a:xfrm>
            <a:off x="533267" y="876938"/>
            <a:ext cx="5620250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阅读后做了什么</a:t>
            </a:r>
            <a:endParaRPr sz="19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l-1785891665234-32"/>
          <p:cNvSpPr txBox="1"/>
          <p:nvPr/>
        </p:nvSpPr>
        <p:spPr>
          <a:xfrm>
            <a:off x="704674" y="1495908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提取核心指标与方法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l-1785891665235-33"/>
          <p:cNvSpPr txBox="1"/>
          <p:nvPr/>
        </p:nvSpPr>
        <p:spPr>
          <a:xfrm>
            <a:off x="704674" y="1819677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逐篇提取预测指标（AS/ICI/RG等）、数据来源（全持仓/前十大）、样本范围、统计方法，建立文献-指标对照表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l-1785891665235-34"/>
          <p:cNvSpPr txBox="1"/>
          <p:nvPr/>
        </p:nvSpPr>
        <p:spPr>
          <a:xfrm>
            <a:off x="704674" y="2686236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构建五层递进框架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5891665235-35"/>
          <p:cNvSpPr txBox="1"/>
          <p:nvPr/>
        </p:nvSpPr>
        <p:spPr>
          <a:xfrm>
            <a:off x="704674" y="3010005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将分散的文献按"背景→持仓→交易→风险→认知"组织为因果递进链条，每层对应一个文献群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5891665235-36"/>
          <p:cNvSpPr txBox="1"/>
          <p:nvPr/>
        </p:nvSpPr>
        <p:spPr>
          <a:xfrm>
            <a:off x="704674" y="3876563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用V4数据验证每层指标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5891665235-37"/>
          <p:cNvSpPr txBox="1"/>
          <p:nvPr/>
        </p:nvSpPr>
        <p:spPr>
          <a:xfrm>
            <a:off x="704674" y="4200332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400基金全持仓数据，九个指标完整面板，六种方法交叉验证，逐一对比文献结论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5891665235-38"/>
          <p:cNvSpPr txBox="1"/>
          <p:nvPr/>
        </p:nvSpPr>
        <p:spPr>
          <a:xfrm>
            <a:off x="704674" y="5066890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识别A股与美股的方向性差异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5891665235-39"/>
          <p:cNvSpPr txBox="1"/>
          <p:nvPr/>
        </p:nvSpPr>
        <p:spPr>
          <a:xfrm>
            <a:off x="704674" y="5390659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发现ICI在A股负向预测（vs美股正向）、RG动量-反转交替（vs美股衰减）、AS牛熊反转——这些差异是核心原创贡献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5891665232-30"/>
          <p:cNvSpPr txBox="1"/>
          <p:nvPr/>
        </p:nvSpPr>
        <p:spPr>
          <a:xfrm>
            <a:off x="6208747" y="534124"/>
            <a:ext cx="555359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研究背景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5891665232-31"/>
          <p:cNvSpPr txBox="1"/>
          <p:nvPr/>
        </p:nvSpPr>
        <p:spPr>
          <a:xfrm>
            <a:off x="6208747" y="876938"/>
            <a:ext cx="5620250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与文献的关系和区别</a:t>
            </a:r>
            <a:endParaRPr sz="19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85891665216-1"/>
          <p:cNvSpPr txBox="1"/>
          <p:nvPr/>
        </p:nvSpPr>
        <p:spPr>
          <a:xfrm>
            <a:off x="0" y="6400057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研究概述与框架创新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5891665217-2"/>
          <p:cNvSpPr txBox="1"/>
          <p:nvPr/>
        </p:nvSpPr>
        <p:spPr>
          <a:xfrm>
            <a:off x="0" y="6628600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8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9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2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014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022-6"/>
          <p:cNvSpPr/>
          <p:nvPr/>
        </p:nvSpPr>
        <p:spPr>
          <a:xfrm>
            <a:off x="4928253" y="1162617"/>
            <a:ext cx="6727433" cy="135697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023-9"/>
          <p:cNvCxnSpPr/>
          <p:nvPr/>
        </p:nvCxnSpPr>
        <p:spPr>
          <a:xfrm>
            <a:off x="4947298" y="1162617"/>
            <a:ext cx="914" cy="1356973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022-7"/>
          <p:cNvSpPr/>
          <p:nvPr/>
        </p:nvSpPr>
        <p:spPr>
          <a:xfrm>
            <a:off x="4928253" y="2633861"/>
            <a:ext cx="6727433" cy="135697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5024-10"/>
          <p:cNvCxnSpPr/>
          <p:nvPr/>
        </p:nvCxnSpPr>
        <p:spPr>
          <a:xfrm>
            <a:off x="4947298" y="2633861"/>
            <a:ext cx="914" cy="1356973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5023-8"/>
          <p:cNvSpPr/>
          <p:nvPr/>
        </p:nvSpPr>
        <p:spPr>
          <a:xfrm>
            <a:off x="4928253" y="4105106"/>
            <a:ext cx="6727433" cy="135697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8" name="el-1785891665024-11"/>
          <p:cNvCxnSpPr/>
          <p:nvPr/>
        </p:nvCxnSpPr>
        <p:spPr>
          <a:xfrm>
            <a:off x="4947298" y="4105106"/>
            <a:ext cx="914" cy="1356973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5017-4"/>
          <p:cNvSpPr txBox="1"/>
          <p:nvPr/>
        </p:nvSpPr>
        <p:spPr>
          <a:xfrm>
            <a:off x="533267" y="2317234"/>
            <a:ext cx="42978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研究背景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5018-5"/>
          <p:cNvSpPr txBox="1"/>
          <p:nvPr/>
        </p:nvSpPr>
        <p:spPr>
          <a:xfrm>
            <a:off x="533267" y="2650526"/>
            <a:ext cx="4290237" cy="74276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910"/>
              </a:lnSpc>
            </a:pPr>
            <a:r>
              <a:rPr sz="22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现有基金评价方法</a:t>
            </a:r>
            <a:endParaRPr sz="22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ts val="2910"/>
              </a:lnSpc>
            </a:pPr>
            <a:r>
              <a:rPr sz="22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的三个不足（本文归纳）</a:t>
            </a:r>
            <a:endParaRPr sz="22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el-1785891665029-21"/>
          <p:cNvSpPr txBox="1"/>
          <p:nvPr/>
        </p:nvSpPr>
        <p:spPr>
          <a:xfrm>
            <a:off x="533267" y="3564697"/>
            <a:ext cx="1330161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30万亿</a:t>
            </a:r>
            <a:endParaRPr sz="26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5029-22"/>
          <p:cNvSpPr txBox="1"/>
          <p:nvPr/>
        </p:nvSpPr>
        <p:spPr>
          <a:xfrm>
            <a:off x="533267" y="4078919"/>
            <a:ext cx="119684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公募基金规模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5029-23"/>
          <p:cNvSpPr txBox="1"/>
          <p:nvPr/>
        </p:nvSpPr>
        <p:spPr>
          <a:xfrm>
            <a:off x="1852001" y="3564697"/>
            <a:ext cx="2058790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8479</a:t>
            </a:r>
            <a:endParaRPr sz="26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5029-24"/>
          <p:cNvSpPr txBox="1"/>
          <p:nvPr/>
        </p:nvSpPr>
        <p:spPr>
          <a:xfrm>
            <a:off x="1852001" y="4078919"/>
            <a:ext cx="192547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混合型基金(AKShare获取)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5025-12"/>
          <p:cNvSpPr txBox="1"/>
          <p:nvPr/>
        </p:nvSpPr>
        <p:spPr>
          <a:xfrm>
            <a:off x="5137750" y="1305456"/>
            <a:ext cx="6463656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缺陷一：维度并列，缺乏递进逻辑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5025-13"/>
          <p:cNvSpPr txBox="1"/>
          <p:nvPr/>
        </p:nvSpPr>
        <p:spPr>
          <a:xfrm>
            <a:off x="5137750" y="1633986"/>
            <a:ext cx="6337005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晨星5P评价体系（Performance/Price/Portfolio/People/Parent）五个维度并列展开，无法揭示从背景特征到行为表现再到业绩结果的因果链条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5026-14"/>
          <p:cNvSpPr txBox="1"/>
          <p:nvPr/>
        </p:nvSpPr>
        <p:spPr>
          <a:xfrm>
            <a:off x="5137750" y="2148208"/>
            <a:ext cx="644365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例：晨星给某基金"People"3星、"Portfolio"5星，但无法说明经理背景如何影响持仓选择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026-15"/>
          <p:cNvSpPr txBox="1"/>
          <p:nvPr/>
        </p:nvSpPr>
        <p:spPr>
          <a:xfrm>
            <a:off x="5137750" y="2776701"/>
            <a:ext cx="6463656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缺陷二：因子过多，可解释性差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5026-16"/>
          <p:cNvSpPr txBox="1"/>
          <p:nvPr/>
        </p:nvSpPr>
        <p:spPr>
          <a:xfrm>
            <a:off x="5137750" y="3105231"/>
            <a:ext cx="644365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华泰证券100因子聚类方法维度过多，因子间高度共线性，投资者难以提取核心行为信号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5026-17"/>
          <p:cNvSpPr txBox="1"/>
          <p:nvPr/>
        </p:nvSpPr>
        <p:spPr>
          <a:xfrm>
            <a:off x="5137750" y="3390910"/>
            <a:ext cx="644365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例：100个因子中"换手率""持仓集中度""行业偏离"高度相关，实际信息量远低于100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026-18"/>
          <p:cNvSpPr txBox="1"/>
          <p:nvPr/>
        </p:nvSpPr>
        <p:spPr>
          <a:xfrm>
            <a:off x="5137750" y="4247945"/>
            <a:ext cx="6463656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缺陷三：缺乏行为维度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5026-19"/>
          <p:cNvSpPr txBox="1"/>
          <p:nvPr/>
        </p:nvSpPr>
        <p:spPr>
          <a:xfrm>
            <a:off x="5137750" y="4576476"/>
            <a:ext cx="6337005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招商证券沿用的CAPM+Jensen Alpha方法完全缺乏行为维度，无法回答"经理为什么赚钱"这一根本问题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5026-20"/>
          <p:cNvSpPr txBox="1"/>
          <p:nvPr/>
        </p:nvSpPr>
        <p:spPr>
          <a:xfrm>
            <a:off x="5137750" y="5090697"/>
            <a:ext cx="644365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例：两个Jensen Alpha相同的基金，一个靠选股、一个靠择时，传统方法无法区分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015-2"/>
          <p:cNvSpPr txBox="1"/>
          <p:nvPr/>
        </p:nvSpPr>
        <p:spPr>
          <a:xfrm>
            <a:off x="609448" y="6526232"/>
            <a:ext cx="1255289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研究概述与框架创新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016-3"/>
          <p:cNvSpPr txBox="1"/>
          <p:nvPr/>
        </p:nvSpPr>
        <p:spPr>
          <a:xfrm>
            <a:off x="11510317" y="6519090"/>
            <a:ext cx="155844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27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28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2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037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042-7"/>
          <p:cNvSpPr/>
          <p:nvPr/>
        </p:nvSpPr>
        <p:spPr>
          <a:xfrm>
            <a:off x="533267" y="2316342"/>
            <a:ext cx="2117741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044-12"/>
          <p:cNvCxnSpPr/>
          <p:nvPr/>
        </p:nvCxnSpPr>
        <p:spPr>
          <a:xfrm>
            <a:off x="533267" y="2335387"/>
            <a:ext cx="2117741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056-38"/>
          <p:cNvSpPr/>
          <p:nvPr/>
        </p:nvSpPr>
        <p:spPr>
          <a:xfrm>
            <a:off x="676106" y="3644747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891665057-40"/>
          <p:cNvSpPr/>
          <p:nvPr/>
        </p:nvSpPr>
        <p:spPr>
          <a:xfrm>
            <a:off x="676106" y="3968516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5891665042-8"/>
          <p:cNvSpPr/>
          <p:nvPr/>
        </p:nvSpPr>
        <p:spPr>
          <a:xfrm>
            <a:off x="2784324" y="2316342"/>
            <a:ext cx="2117890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8" name="el-1785891665044-13"/>
          <p:cNvCxnSpPr/>
          <p:nvPr/>
        </p:nvCxnSpPr>
        <p:spPr>
          <a:xfrm>
            <a:off x="2784324" y="2335387"/>
            <a:ext cx="2117890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5057-42"/>
          <p:cNvSpPr/>
          <p:nvPr/>
        </p:nvSpPr>
        <p:spPr>
          <a:xfrm>
            <a:off x="2927164" y="3644747"/>
            <a:ext cx="1832211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5891665057-44"/>
          <p:cNvSpPr/>
          <p:nvPr/>
        </p:nvSpPr>
        <p:spPr>
          <a:xfrm>
            <a:off x="2927164" y="3968516"/>
            <a:ext cx="1832211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5043-9"/>
          <p:cNvSpPr/>
          <p:nvPr/>
        </p:nvSpPr>
        <p:spPr>
          <a:xfrm>
            <a:off x="5035531" y="2316342"/>
            <a:ext cx="2117741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2" name="el-1785891665044-14"/>
          <p:cNvCxnSpPr/>
          <p:nvPr/>
        </p:nvCxnSpPr>
        <p:spPr>
          <a:xfrm>
            <a:off x="5035531" y="2335387"/>
            <a:ext cx="2117741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l-1785891665058-46"/>
          <p:cNvSpPr/>
          <p:nvPr/>
        </p:nvSpPr>
        <p:spPr>
          <a:xfrm>
            <a:off x="5178370" y="3644747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5058-48"/>
          <p:cNvSpPr/>
          <p:nvPr/>
        </p:nvSpPr>
        <p:spPr>
          <a:xfrm>
            <a:off x="5178370" y="3968516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891665043-10"/>
          <p:cNvSpPr/>
          <p:nvPr/>
        </p:nvSpPr>
        <p:spPr>
          <a:xfrm>
            <a:off x="7286589" y="2316342"/>
            <a:ext cx="2117890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6" name="el-1785891665045-15"/>
          <p:cNvCxnSpPr/>
          <p:nvPr/>
        </p:nvCxnSpPr>
        <p:spPr>
          <a:xfrm>
            <a:off x="7286589" y="2335387"/>
            <a:ext cx="2117890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l-1785891665059-50"/>
          <p:cNvSpPr/>
          <p:nvPr/>
        </p:nvSpPr>
        <p:spPr>
          <a:xfrm>
            <a:off x="7429428" y="3644747"/>
            <a:ext cx="1832211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el-1785891665059-52"/>
          <p:cNvSpPr/>
          <p:nvPr/>
        </p:nvSpPr>
        <p:spPr>
          <a:xfrm>
            <a:off x="7429428" y="3968516"/>
            <a:ext cx="1832211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el-1785891665044-11"/>
          <p:cNvSpPr/>
          <p:nvPr/>
        </p:nvSpPr>
        <p:spPr>
          <a:xfrm>
            <a:off x="9537795" y="2316342"/>
            <a:ext cx="2117741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20" name="el-1785891665045-16"/>
          <p:cNvCxnSpPr/>
          <p:nvPr/>
        </p:nvCxnSpPr>
        <p:spPr>
          <a:xfrm>
            <a:off x="9537795" y="2335387"/>
            <a:ext cx="2117741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-1785891665059-54"/>
          <p:cNvSpPr/>
          <p:nvPr/>
        </p:nvSpPr>
        <p:spPr>
          <a:xfrm>
            <a:off x="9680635" y="3644747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el-1785891665060-56"/>
          <p:cNvSpPr/>
          <p:nvPr/>
        </p:nvSpPr>
        <p:spPr>
          <a:xfrm>
            <a:off x="9680635" y="3968516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el-1785891665041-4"/>
          <p:cNvSpPr txBox="1"/>
          <p:nvPr/>
        </p:nvSpPr>
        <p:spPr>
          <a:xfrm>
            <a:off x="533267" y="1298463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研究概述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041-5"/>
          <p:cNvSpPr txBox="1"/>
          <p:nvPr/>
        </p:nvSpPr>
        <p:spPr>
          <a:xfrm>
            <a:off x="533267" y="1536528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五层递进框架：从"经理是谁"到"经理怎么想"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el-1785891665041-6"/>
          <p:cNvSpPr txBox="1"/>
          <p:nvPr/>
        </p:nvSpPr>
        <p:spPr>
          <a:xfrm>
            <a:off x="533267" y="1940198"/>
            <a:ext cx="11235738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输入 → 过程 → 输出 → 认知 → 预测的完整行为画像系统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5047-17"/>
          <p:cNvSpPr txBox="1"/>
          <p:nvPr/>
        </p:nvSpPr>
        <p:spPr>
          <a:xfrm>
            <a:off x="676106" y="2506794"/>
            <a:ext cx="2018706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L1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5047-18"/>
          <p:cNvSpPr txBox="1"/>
          <p:nvPr/>
        </p:nvSpPr>
        <p:spPr>
          <a:xfrm>
            <a:off x="676106" y="2982925"/>
            <a:ext cx="19453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背景特征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5048-19"/>
          <p:cNvSpPr txBox="1"/>
          <p:nvPr/>
        </p:nvSpPr>
        <p:spPr>
          <a:xfrm>
            <a:off x="676106" y="3301933"/>
            <a:ext cx="193871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"经理是谁？"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056-37"/>
          <p:cNvSpPr txBox="1"/>
          <p:nvPr/>
        </p:nvSpPr>
        <p:spPr>
          <a:xfrm>
            <a:off x="752287" y="3673315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Experience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056-39"/>
          <p:cNvSpPr txBox="1"/>
          <p:nvPr/>
        </p:nvSpPr>
        <p:spPr>
          <a:xfrm>
            <a:off x="752287" y="3997084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BHS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048-20"/>
          <p:cNvSpPr txBox="1"/>
          <p:nvPr/>
        </p:nvSpPr>
        <p:spPr>
          <a:xfrm>
            <a:off x="676106" y="4368466"/>
            <a:ext cx="1832063" cy="6396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Chevalier &amp; Ellison (1999) QJE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职业忧虑理论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048-21"/>
          <p:cNvSpPr txBox="1"/>
          <p:nvPr/>
        </p:nvSpPr>
        <p:spPr>
          <a:xfrm>
            <a:off x="2927164" y="2506794"/>
            <a:ext cx="2018855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L2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" name="el-1785891665048-22"/>
          <p:cNvSpPr txBox="1"/>
          <p:nvPr/>
        </p:nvSpPr>
        <p:spPr>
          <a:xfrm>
            <a:off x="2927164" y="2982925"/>
            <a:ext cx="1945531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持仓偏离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5048-23"/>
          <p:cNvSpPr txBox="1"/>
          <p:nvPr/>
        </p:nvSpPr>
        <p:spPr>
          <a:xfrm>
            <a:off x="2927164" y="3301933"/>
            <a:ext cx="193886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"持有什么？"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5057-41"/>
          <p:cNvSpPr txBox="1"/>
          <p:nvPr/>
        </p:nvSpPr>
        <p:spPr>
          <a:xfrm>
            <a:off x="3003345" y="3673315"/>
            <a:ext cx="18626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5057-43"/>
          <p:cNvSpPr txBox="1"/>
          <p:nvPr/>
        </p:nvSpPr>
        <p:spPr>
          <a:xfrm>
            <a:off x="3003345" y="3997084"/>
            <a:ext cx="18626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5049-24"/>
          <p:cNvSpPr txBox="1"/>
          <p:nvPr/>
        </p:nvSpPr>
        <p:spPr>
          <a:xfrm>
            <a:off x="2927164" y="4368466"/>
            <a:ext cx="1832211" cy="8528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 &amp; Petajisto (2009) RFS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 et al. (2005) JF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5049-25"/>
          <p:cNvSpPr txBox="1"/>
          <p:nvPr/>
        </p:nvSpPr>
        <p:spPr>
          <a:xfrm>
            <a:off x="5178370" y="2506794"/>
            <a:ext cx="2018706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L3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9" name="el-1785891665049-26"/>
          <p:cNvSpPr txBox="1"/>
          <p:nvPr/>
        </p:nvSpPr>
        <p:spPr>
          <a:xfrm>
            <a:off x="5178370" y="2982925"/>
            <a:ext cx="19453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交易行为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5049-27"/>
          <p:cNvSpPr txBox="1"/>
          <p:nvPr/>
        </p:nvSpPr>
        <p:spPr>
          <a:xfrm>
            <a:off x="5178370" y="3301933"/>
            <a:ext cx="193871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"做了什么？"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5058-45"/>
          <p:cNvSpPr txBox="1"/>
          <p:nvPr/>
        </p:nvSpPr>
        <p:spPr>
          <a:xfrm>
            <a:off x="5254551" y="3673315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Return Gap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5058-47"/>
          <p:cNvSpPr txBox="1"/>
          <p:nvPr/>
        </p:nvSpPr>
        <p:spPr>
          <a:xfrm>
            <a:off x="5254551" y="3997084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ARG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5049-28"/>
          <p:cNvSpPr txBox="1"/>
          <p:nvPr/>
        </p:nvSpPr>
        <p:spPr>
          <a:xfrm>
            <a:off x="5178370" y="4368466"/>
            <a:ext cx="1832063" cy="6396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 et al. (2008) RFS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申宇等 (2013) 管理世界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5049-29"/>
          <p:cNvSpPr txBox="1"/>
          <p:nvPr/>
        </p:nvSpPr>
        <p:spPr>
          <a:xfrm>
            <a:off x="7429428" y="2506794"/>
            <a:ext cx="2018855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L4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5050-30"/>
          <p:cNvSpPr txBox="1"/>
          <p:nvPr/>
        </p:nvSpPr>
        <p:spPr>
          <a:xfrm>
            <a:off x="7429428" y="2982925"/>
            <a:ext cx="1945531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风险应对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6" name="el-1785891665050-31"/>
          <p:cNvSpPr txBox="1"/>
          <p:nvPr/>
        </p:nvSpPr>
        <p:spPr>
          <a:xfrm>
            <a:off x="7429428" y="3301933"/>
            <a:ext cx="193886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"怎么应对？"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5058-49"/>
          <p:cNvSpPr txBox="1"/>
          <p:nvPr/>
        </p:nvSpPr>
        <p:spPr>
          <a:xfrm>
            <a:off x="7505609" y="3673315"/>
            <a:ext cx="18626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5059-51"/>
          <p:cNvSpPr txBox="1"/>
          <p:nvPr/>
        </p:nvSpPr>
        <p:spPr>
          <a:xfrm>
            <a:off x="7505609" y="3997084"/>
            <a:ext cx="18626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波动率管理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5050-32"/>
          <p:cNvSpPr txBox="1"/>
          <p:nvPr/>
        </p:nvSpPr>
        <p:spPr>
          <a:xfrm>
            <a:off x="7429428" y="4368466"/>
            <a:ext cx="1832211" cy="6396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寇宗来等 (2020) 金融研究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风格漂移U型关系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5050-33"/>
          <p:cNvSpPr txBox="1"/>
          <p:nvPr/>
        </p:nvSpPr>
        <p:spPr>
          <a:xfrm>
            <a:off x="9680635" y="2506794"/>
            <a:ext cx="2018706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1" name="el-1785891665050-34"/>
          <p:cNvSpPr txBox="1"/>
          <p:nvPr/>
        </p:nvSpPr>
        <p:spPr>
          <a:xfrm>
            <a:off x="9680635" y="2982925"/>
            <a:ext cx="19453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认知行为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2" name="el-1785891665050-35"/>
          <p:cNvSpPr txBox="1"/>
          <p:nvPr/>
        </p:nvSpPr>
        <p:spPr>
          <a:xfrm>
            <a:off x="9680635" y="3301933"/>
            <a:ext cx="193871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"怎么想的？"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5059-53"/>
          <p:cNvSpPr txBox="1"/>
          <p:nvPr/>
        </p:nvSpPr>
        <p:spPr>
          <a:xfrm>
            <a:off x="9756816" y="3673315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5059-55"/>
          <p:cNvSpPr txBox="1"/>
          <p:nvPr/>
        </p:nvSpPr>
        <p:spPr>
          <a:xfrm>
            <a:off x="9756816" y="3997084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LA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5051-36"/>
          <p:cNvSpPr txBox="1"/>
          <p:nvPr/>
        </p:nvSpPr>
        <p:spPr>
          <a:xfrm>
            <a:off x="9680635" y="4368466"/>
            <a:ext cx="1832063" cy="6396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Kahneman &amp; Tversky (1979)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过度自信与前景理论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5039-2"/>
          <p:cNvSpPr txBox="1"/>
          <p:nvPr/>
        </p:nvSpPr>
        <p:spPr>
          <a:xfrm>
            <a:off x="609448" y="6526232"/>
            <a:ext cx="1255289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研究概述与框架创新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5039-3"/>
          <p:cNvSpPr txBox="1"/>
          <p:nvPr/>
        </p:nvSpPr>
        <p:spPr>
          <a:xfrm>
            <a:off x="11510317" y="6519090"/>
            <a:ext cx="155844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59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0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33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347-10"/>
          <p:cNvSpPr/>
          <p:nvPr/>
        </p:nvSpPr>
        <p:spPr>
          <a:xfrm>
            <a:off x="533267" y="1556913"/>
            <a:ext cx="5465983" cy="28573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el-1785891665353-20"/>
          <p:cNvSpPr/>
          <p:nvPr/>
        </p:nvSpPr>
        <p:spPr>
          <a:xfrm>
            <a:off x="733242" y="2409187"/>
            <a:ext cx="5066033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5" name="el-1785891665358-35"/>
          <p:cNvCxnSpPr/>
          <p:nvPr/>
        </p:nvCxnSpPr>
        <p:spPr>
          <a:xfrm>
            <a:off x="747526" y="2409187"/>
            <a:ext cx="914" cy="327489"/>
          </a:xfrm>
          <a:prstGeom prst="line">
            <a:avLst/>
          </a:prstGeom>
          <a:ln w="28568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5354-22"/>
          <p:cNvSpPr/>
          <p:nvPr/>
        </p:nvSpPr>
        <p:spPr>
          <a:xfrm>
            <a:off x="733242" y="2793812"/>
            <a:ext cx="5066033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7" name="el-1785891665359-36"/>
          <p:cNvCxnSpPr/>
          <p:nvPr/>
        </p:nvCxnSpPr>
        <p:spPr>
          <a:xfrm>
            <a:off x="747526" y="2793812"/>
            <a:ext cx="914" cy="327489"/>
          </a:xfrm>
          <a:prstGeom prst="line">
            <a:avLst/>
          </a:prstGeom>
          <a:ln w="28568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5355-24"/>
          <p:cNvSpPr/>
          <p:nvPr/>
        </p:nvSpPr>
        <p:spPr>
          <a:xfrm>
            <a:off x="733242" y="3178436"/>
            <a:ext cx="5066033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9" name="el-1785891665359-37"/>
          <p:cNvCxnSpPr/>
          <p:nvPr/>
        </p:nvCxnSpPr>
        <p:spPr>
          <a:xfrm>
            <a:off x="747526" y="3178436"/>
            <a:ext cx="914" cy="327489"/>
          </a:xfrm>
          <a:prstGeom prst="line">
            <a:avLst/>
          </a:prstGeom>
          <a:ln w="28568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5356-26"/>
          <p:cNvSpPr/>
          <p:nvPr/>
        </p:nvSpPr>
        <p:spPr>
          <a:xfrm>
            <a:off x="733242" y="3563061"/>
            <a:ext cx="5066033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1" name="el-1785891665359-38"/>
          <p:cNvCxnSpPr/>
          <p:nvPr/>
        </p:nvCxnSpPr>
        <p:spPr>
          <a:xfrm>
            <a:off x="747526" y="3563061"/>
            <a:ext cx="914" cy="327489"/>
          </a:xfrm>
          <a:prstGeom prst="line">
            <a:avLst/>
          </a:prstGeom>
          <a:ln w="28568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5347-11"/>
          <p:cNvSpPr/>
          <p:nvPr/>
        </p:nvSpPr>
        <p:spPr>
          <a:xfrm>
            <a:off x="6189702" y="1556913"/>
            <a:ext cx="5465983" cy="28573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3" name="el-1785891665348-12"/>
          <p:cNvCxnSpPr/>
          <p:nvPr/>
        </p:nvCxnSpPr>
        <p:spPr>
          <a:xfrm>
            <a:off x="6208747" y="1556913"/>
            <a:ext cx="914" cy="2857381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5891665356-28"/>
          <p:cNvSpPr/>
          <p:nvPr/>
        </p:nvSpPr>
        <p:spPr>
          <a:xfrm>
            <a:off x="6418245" y="2409187"/>
            <a:ext cx="5037465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5" name="el-1785891665360-39"/>
          <p:cNvCxnSpPr/>
          <p:nvPr/>
        </p:nvCxnSpPr>
        <p:spPr>
          <a:xfrm>
            <a:off x="6432529" y="2409187"/>
            <a:ext cx="914" cy="327489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85891665357-30"/>
          <p:cNvSpPr/>
          <p:nvPr/>
        </p:nvSpPr>
        <p:spPr>
          <a:xfrm>
            <a:off x="6418245" y="2793812"/>
            <a:ext cx="5037465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7" name="el-1785891665360-40"/>
          <p:cNvCxnSpPr/>
          <p:nvPr/>
        </p:nvCxnSpPr>
        <p:spPr>
          <a:xfrm>
            <a:off x="6432529" y="2793812"/>
            <a:ext cx="914" cy="327489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l-1785891665358-32"/>
          <p:cNvSpPr/>
          <p:nvPr/>
        </p:nvSpPr>
        <p:spPr>
          <a:xfrm>
            <a:off x="6418245" y="3178436"/>
            <a:ext cx="5037465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9" name="el-1785891665360-41"/>
          <p:cNvCxnSpPr/>
          <p:nvPr/>
        </p:nvCxnSpPr>
        <p:spPr>
          <a:xfrm>
            <a:off x="6432529" y="3178436"/>
            <a:ext cx="914" cy="327489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el-1785891665358-34"/>
          <p:cNvSpPr/>
          <p:nvPr/>
        </p:nvSpPr>
        <p:spPr>
          <a:xfrm>
            <a:off x="6418245" y="3563061"/>
            <a:ext cx="5037465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1" name="el-1785891665360-42"/>
          <p:cNvCxnSpPr/>
          <p:nvPr/>
        </p:nvCxnSpPr>
        <p:spPr>
          <a:xfrm>
            <a:off x="6432529" y="3563061"/>
            <a:ext cx="914" cy="327489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el-1785891665343-3"/>
          <p:cNvSpPr/>
          <p:nvPr/>
        </p:nvSpPr>
        <p:spPr>
          <a:xfrm>
            <a:off x="533267" y="4547610"/>
            <a:ext cx="11122419" cy="89512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23" name="el-1785891665344-5"/>
          <p:cNvSpPr/>
          <p:nvPr/>
        </p:nvSpPr>
        <p:spPr>
          <a:xfrm>
            <a:off x="533267" y="5576053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el-1785891665346-8"/>
          <p:cNvSpPr txBox="1"/>
          <p:nvPr/>
        </p:nvSpPr>
        <p:spPr>
          <a:xfrm>
            <a:off x="533267" y="824713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框架创新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346-9"/>
          <p:cNvSpPr txBox="1"/>
          <p:nvPr/>
        </p:nvSpPr>
        <p:spPr>
          <a:xfrm>
            <a:off x="533267" y="1077062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本文方法 vs 现有研究：递进验证后再综合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6" name="el-1785891665349-13"/>
          <p:cNvSpPr txBox="1"/>
          <p:nvPr/>
        </p:nvSpPr>
        <p:spPr>
          <a:xfrm>
            <a:off x="733242" y="1718797"/>
            <a:ext cx="5192684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现有研究：单层指标直接回归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5349-14"/>
          <p:cNvSpPr txBox="1"/>
          <p:nvPr/>
        </p:nvSpPr>
        <p:spPr>
          <a:xfrm>
            <a:off x="733242" y="2085418"/>
            <a:ext cx="517268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每篇文献只研究1个指标对业绩的预测力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5353-19"/>
          <p:cNvSpPr txBox="1"/>
          <p:nvPr/>
        </p:nvSpPr>
        <p:spPr>
          <a:xfrm>
            <a:off x="857036" y="2466323"/>
            <a:ext cx="504889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Cremers(2009): AS → 业绩（仅L2）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353-21"/>
          <p:cNvSpPr txBox="1"/>
          <p:nvPr/>
        </p:nvSpPr>
        <p:spPr>
          <a:xfrm>
            <a:off x="857036" y="2850947"/>
            <a:ext cx="504889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Kacperczyk(2008): RG → 业绩（仅L3）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354-23"/>
          <p:cNvSpPr txBox="1"/>
          <p:nvPr/>
        </p:nvSpPr>
        <p:spPr>
          <a:xfrm>
            <a:off x="857036" y="3235572"/>
            <a:ext cx="504889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寇宗来(2020): SDI → 业绩（仅L4）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355-25"/>
          <p:cNvSpPr txBox="1"/>
          <p:nvPr/>
        </p:nvSpPr>
        <p:spPr>
          <a:xfrm>
            <a:off x="857036" y="3620196"/>
            <a:ext cx="504889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各篇独立，不验证层间因果关系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349-15"/>
          <p:cNvSpPr txBox="1"/>
          <p:nvPr/>
        </p:nvSpPr>
        <p:spPr>
          <a:xfrm>
            <a:off x="733242" y="4023866"/>
            <a:ext cx="517268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局限：无法回答"经验如何影响持仓→持仓如何影响交易"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5349-16"/>
          <p:cNvSpPr txBox="1"/>
          <p:nvPr/>
        </p:nvSpPr>
        <p:spPr>
          <a:xfrm>
            <a:off x="6418245" y="1718797"/>
            <a:ext cx="5164116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本文：逐层验证→因果链→综合回归</a:t>
            </a:r>
            <a:endParaRPr sz="14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5350-17"/>
          <p:cNvSpPr txBox="1"/>
          <p:nvPr/>
        </p:nvSpPr>
        <p:spPr>
          <a:xfrm>
            <a:off x="6418245" y="2085418"/>
            <a:ext cx="514411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先验证每层独立预测力，再验证层间因果传导，最后综合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5356-27"/>
          <p:cNvSpPr txBox="1"/>
          <p:nvPr/>
        </p:nvSpPr>
        <p:spPr>
          <a:xfrm>
            <a:off x="6542039" y="2466323"/>
            <a:ext cx="502032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第一步：H1-H5逐层回归（每层独立检验）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5356-29"/>
          <p:cNvSpPr txBox="1"/>
          <p:nvPr/>
        </p:nvSpPr>
        <p:spPr>
          <a:xfrm>
            <a:off x="6542039" y="2850947"/>
            <a:ext cx="502032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第二步：L1→L2→L3→L4→L5因果链验证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5357-31"/>
          <p:cNvSpPr txBox="1"/>
          <p:nvPr/>
        </p:nvSpPr>
        <p:spPr>
          <a:xfrm>
            <a:off x="6542039" y="3235572"/>
            <a:ext cx="502032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第三步：综合回归方程（确认各层增量贡献）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5358-33"/>
          <p:cNvSpPr txBox="1"/>
          <p:nvPr/>
        </p:nvSpPr>
        <p:spPr>
          <a:xfrm>
            <a:off x="6542039" y="3620196"/>
            <a:ext cx="502032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第四步：牛熊市/固定效应等稳健性检验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5350-18"/>
          <p:cNvSpPr txBox="1"/>
          <p:nvPr/>
        </p:nvSpPr>
        <p:spPr>
          <a:xfrm>
            <a:off x="6418245" y="4023866"/>
            <a:ext cx="514411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优势：因果可解释 + 层级可检验 + 增量贡献可量化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5342-2"/>
          <p:cNvSpPr txBox="1"/>
          <p:nvPr/>
        </p:nvSpPr>
        <p:spPr>
          <a:xfrm>
            <a:off x="695151" y="4652359"/>
            <a:ext cx="10798650" cy="68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回应"综合=扁平化"的质疑：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本文最终的综合回归方程确实同时包含所有指标，但这与"扁平化"有本质区别。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扁平化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是将所有特征一次性投入模型，不关心特征间关系；本文在综合之前，已逐层验证了每个指标的独立显著性和层间因果传导。综合回归的作用是确认各层的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增量贡献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（而非替代关系），回答"在控制其他层后，本层是否仍有预测力"。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5343-4"/>
          <p:cNvSpPr txBox="1"/>
          <p:nvPr/>
        </p:nvSpPr>
        <p:spPr>
          <a:xfrm>
            <a:off x="572309" y="5642711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区别不在于"是否综合"，而在于"综合前是否验证了因果链" | 现有研究跳过因果验证直接回归 | 本文先因果后综合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5344-6"/>
          <p:cNvSpPr txBox="1"/>
          <p:nvPr/>
        </p:nvSpPr>
        <p:spPr>
          <a:xfrm>
            <a:off x="609448" y="6526232"/>
            <a:ext cx="1255289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研究概述与框架创新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5344-7"/>
          <p:cNvSpPr txBox="1"/>
          <p:nvPr/>
        </p:nvSpPr>
        <p:spPr>
          <a:xfrm>
            <a:off x="11511507" y="6519090"/>
            <a:ext cx="154653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5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6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37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382-9"/>
          <p:cNvSpPr/>
          <p:nvPr/>
        </p:nvSpPr>
        <p:spPr>
          <a:xfrm>
            <a:off x="457086" y="1353813"/>
            <a:ext cx="5835877" cy="119032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383-13"/>
          <p:cNvCxnSpPr/>
          <p:nvPr/>
        </p:nvCxnSpPr>
        <p:spPr>
          <a:xfrm>
            <a:off x="476131" y="1353813"/>
            <a:ext cx="914" cy="119032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383-10"/>
          <p:cNvSpPr/>
          <p:nvPr/>
        </p:nvSpPr>
        <p:spPr>
          <a:xfrm>
            <a:off x="457086" y="2620321"/>
            <a:ext cx="5835877" cy="117961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5384-14"/>
          <p:cNvCxnSpPr/>
          <p:nvPr/>
        </p:nvCxnSpPr>
        <p:spPr>
          <a:xfrm>
            <a:off x="476131" y="2620321"/>
            <a:ext cx="914" cy="11796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5463-26"/>
          <p:cNvSpPr/>
          <p:nvPr/>
        </p:nvSpPr>
        <p:spPr>
          <a:xfrm>
            <a:off x="628493" y="3020271"/>
            <a:ext cx="1073824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5891665463-27"/>
          <p:cNvSpPr/>
          <p:nvPr/>
        </p:nvSpPr>
        <p:spPr>
          <a:xfrm>
            <a:off x="1740407" y="3020271"/>
            <a:ext cx="1073824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5464-28"/>
          <p:cNvSpPr/>
          <p:nvPr/>
        </p:nvSpPr>
        <p:spPr>
          <a:xfrm>
            <a:off x="2852322" y="3020271"/>
            <a:ext cx="1073824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el-1785891665464-29"/>
          <p:cNvSpPr/>
          <p:nvPr/>
        </p:nvSpPr>
        <p:spPr>
          <a:xfrm>
            <a:off x="3964236" y="3020271"/>
            <a:ext cx="1073824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el-1785891665464-30"/>
          <p:cNvSpPr/>
          <p:nvPr/>
        </p:nvSpPr>
        <p:spPr>
          <a:xfrm>
            <a:off x="5076151" y="3020271"/>
            <a:ext cx="1073973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el-1785891665383-11"/>
          <p:cNvSpPr/>
          <p:nvPr/>
        </p:nvSpPr>
        <p:spPr>
          <a:xfrm>
            <a:off x="457086" y="3876117"/>
            <a:ext cx="5835877" cy="146410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 w="9523" algn="in">
            <a:solidFill>
              <a:srgbClr val="B91C1C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el-1785891665377-3"/>
          <p:cNvSpPr/>
          <p:nvPr/>
        </p:nvSpPr>
        <p:spPr>
          <a:xfrm>
            <a:off x="457086" y="5749692"/>
            <a:ext cx="11274781" cy="323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5379-6"/>
          <p:cNvSpPr txBox="1"/>
          <p:nvPr/>
        </p:nvSpPr>
        <p:spPr>
          <a:xfrm>
            <a:off x="457086" y="703448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5379-7"/>
          <p:cNvSpPr txBox="1"/>
          <p:nvPr/>
        </p:nvSpPr>
        <p:spPr>
          <a:xfrm>
            <a:off x="457086" y="936752"/>
            <a:ext cx="11448092" cy="3218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晨星 Medalist：5P定性评级方法论</a:t>
            </a:r>
            <a:endParaRPr sz="19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5458-17"/>
          <p:cNvSpPr txBox="1"/>
          <p:nvPr/>
        </p:nvSpPr>
        <p:spPr>
          <a:xfrm>
            <a:off x="628493" y="1458562"/>
            <a:ext cx="564161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怎么做：5P前瞻性定性评价</a:t>
            </a:r>
            <a:endParaRPr sz="134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5455-16"/>
          <p:cNvSpPr txBox="1"/>
          <p:nvPr/>
        </p:nvSpPr>
        <p:spPr>
          <a:xfrm>
            <a:off x="628493" y="1753763"/>
            <a:ext cx="5521631" cy="68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晨星分析师从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5个维度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（5P）评估基金"未来5年能否跑赢同类"。区别于纯量化评级，Medalist强调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前瞻性主观判断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。每个P维度由分析师打分1-5，加权后映射到金/银/铜/中性/负面五级评级。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458-18"/>
          <p:cNvSpPr txBox="1"/>
          <p:nvPr/>
        </p:nvSpPr>
        <p:spPr>
          <a:xfrm>
            <a:off x="628493" y="2725070"/>
            <a:ext cx="564161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五大支柱</a:t>
            </a:r>
            <a:endParaRPr sz="134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5466-31"/>
          <p:cNvSpPr txBox="1"/>
          <p:nvPr/>
        </p:nvSpPr>
        <p:spPr>
          <a:xfrm>
            <a:off x="595164" y="3067884"/>
            <a:ext cx="114048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People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el-1785891665467-32"/>
          <p:cNvSpPr txBox="1"/>
          <p:nvPr/>
        </p:nvSpPr>
        <p:spPr>
          <a:xfrm>
            <a:off x="695151" y="3301189"/>
            <a:ext cx="940507" cy="3463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135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经理团队经验与稳定性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467-33"/>
          <p:cNvSpPr txBox="1"/>
          <p:nvPr/>
        </p:nvSpPr>
        <p:spPr>
          <a:xfrm>
            <a:off x="1707078" y="3067884"/>
            <a:ext cx="114048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Process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5467-34"/>
          <p:cNvSpPr txBox="1"/>
          <p:nvPr/>
        </p:nvSpPr>
        <p:spPr>
          <a:xfrm>
            <a:off x="1713744" y="3301189"/>
            <a:ext cx="1127151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投资流程系统化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5467-35"/>
          <p:cNvSpPr txBox="1"/>
          <p:nvPr/>
        </p:nvSpPr>
        <p:spPr>
          <a:xfrm>
            <a:off x="2818993" y="3067884"/>
            <a:ext cx="114048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Parent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4" name="el-1785891665467-36"/>
          <p:cNvSpPr txBox="1"/>
          <p:nvPr/>
        </p:nvSpPr>
        <p:spPr>
          <a:xfrm>
            <a:off x="2825659" y="3301189"/>
            <a:ext cx="1127151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公司治理与合规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468-37"/>
          <p:cNvSpPr txBox="1"/>
          <p:nvPr/>
        </p:nvSpPr>
        <p:spPr>
          <a:xfrm>
            <a:off x="3930907" y="3067884"/>
            <a:ext cx="114048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Perf.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6" name="el-1785891665468-38"/>
          <p:cNvSpPr txBox="1"/>
          <p:nvPr/>
        </p:nvSpPr>
        <p:spPr>
          <a:xfrm>
            <a:off x="4030895" y="3301189"/>
            <a:ext cx="940507" cy="3463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135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长期风险调整后业绩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5468-39"/>
          <p:cNvSpPr txBox="1"/>
          <p:nvPr/>
        </p:nvSpPr>
        <p:spPr>
          <a:xfrm>
            <a:off x="5042822" y="3067884"/>
            <a:ext cx="114063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Price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5468-40"/>
          <p:cNvSpPr txBox="1"/>
          <p:nvPr/>
        </p:nvSpPr>
        <p:spPr>
          <a:xfrm>
            <a:off x="5049488" y="3301189"/>
            <a:ext cx="112730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费率合理性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458-19"/>
          <p:cNvSpPr txBox="1"/>
          <p:nvPr/>
        </p:nvSpPr>
        <p:spPr>
          <a:xfrm>
            <a:off x="580880" y="3961820"/>
            <a:ext cx="56949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效果与缺陷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459-20"/>
          <p:cNvSpPr txBox="1"/>
          <p:nvPr/>
        </p:nvSpPr>
        <p:spPr>
          <a:xfrm>
            <a:off x="580880" y="4218931"/>
            <a:ext cx="30143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金/银评级基金5年期跑赢同类约65-70%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460-21"/>
          <p:cNvSpPr txBox="1"/>
          <p:nvPr/>
        </p:nvSpPr>
        <p:spPr>
          <a:xfrm>
            <a:off x="580880" y="4426048"/>
            <a:ext cx="455315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缺陷一：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5P维度并列打分，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无因果递进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——People好不代表Process好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460-22"/>
          <p:cNvSpPr txBox="1"/>
          <p:nvPr/>
        </p:nvSpPr>
        <p:spPr>
          <a:xfrm>
            <a:off x="580880" y="4633165"/>
            <a:ext cx="281423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缺陷二：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依赖分析师主观判断，可复现性低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5460-23"/>
          <p:cNvSpPr txBox="1"/>
          <p:nvPr/>
        </p:nvSpPr>
        <p:spPr>
          <a:xfrm>
            <a:off x="580880" y="4840282"/>
            <a:ext cx="285217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缺陷三：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完全缺乏行为维度（AS/RG/OCI）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5461-24"/>
          <p:cNvSpPr txBox="1"/>
          <p:nvPr/>
        </p:nvSpPr>
        <p:spPr>
          <a:xfrm>
            <a:off x="580880" y="5047399"/>
            <a:ext cx="359702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缺陷四：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中国仅约800只基金有评级（全市场8000+只）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5382-8"/>
          <p:cNvSpPr txBox="1"/>
          <p:nvPr/>
        </p:nvSpPr>
        <p:spPr>
          <a:xfrm>
            <a:off x="457086" y="5435446"/>
            <a:ext cx="5929199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来源：</a:t>
            </a:r>
            <a:r>
              <a:rPr sz="1040" u="sng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morningstar.cn/AboutUs/Analyst_Rating.htm</a:t>
            </a: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（左图为官网截图）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5376-2"/>
          <p:cNvSpPr txBox="1"/>
          <p:nvPr/>
        </p:nvSpPr>
        <p:spPr>
          <a:xfrm>
            <a:off x="502794" y="5797305"/>
            <a:ext cx="11183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晨星5P：前瞻性强但无因果递进、无行为维度 | 本文：五层递进+量化行为指标+免费可复现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5377-4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5377-5"/>
          <p:cNvSpPr txBox="1"/>
          <p:nvPr/>
        </p:nvSpPr>
        <p:spPr>
          <a:xfrm>
            <a:off x="11510317" y="6519090"/>
            <a:ext cx="155844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5383-12"/>
          <p:cNvSpPr/>
          <p:nvPr/>
        </p:nvSpPr>
        <p:spPr>
          <a:xfrm>
            <a:off x="6426280" y="1353813"/>
            <a:ext cx="5305587" cy="302834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40" name="el-1785891665454-15"/>
          <p:cNvPicPr/>
          <p:nvPr/>
        </p:nvPicPr>
        <p:blipFill>
          <a:blip r:embed="rId1"/>
          <a:stretch>
            <a:fillRect/>
          </a:stretch>
        </p:blipFill>
        <p:spPr>
          <a:xfrm>
            <a:off x="6473893" y="1401426"/>
            <a:ext cx="5210360" cy="2656959"/>
          </a:xfrm>
          <a:prstGeom prst="rect">
            <a:avLst/>
          </a:prstGeom>
          <a:ln>
            <a:noFill/>
          </a:ln>
        </p:spPr>
      </p:pic>
      <p:sp>
        <p:nvSpPr>
          <p:cNvPr id="41" name="el-1785891665461-25"/>
          <p:cNvSpPr txBox="1"/>
          <p:nvPr/>
        </p:nvSpPr>
        <p:spPr>
          <a:xfrm>
            <a:off x="6380571" y="4096476"/>
            <a:ext cx="5397004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晨星中国官网：定性评价与报告（5P方法论说明页）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3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4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48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499-15"/>
          <p:cNvSpPr/>
          <p:nvPr/>
        </p:nvSpPr>
        <p:spPr>
          <a:xfrm>
            <a:off x="533267" y="1785753"/>
            <a:ext cx="5504074" cy="153314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499-17"/>
          <p:cNvCxnSpPr/>
          <p:nvPr/>
        </p:nvCxnSpPr>
        <p:spPr>
          <a:xfrm>
            <a:off x="552312" y="1785753"/>
            <a:ext cx="914" cy="153314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499-16"/>
          <p:cNvSpPr/>
          <p:nvPr/>
        </p:nvSpPr>
        <p:spPr>
          <a:xfrm>
            <a:off x="6151612" y="1785753"/>
            <a:ext cx="5504074" cy="153314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5500-18"/>
          <p:cNvCxnSpPr/>
          <p:nvPr/>
        </p:nvCxnSpPr>
        <p:spPr>
          <a:xfrm>
            <a:off x="6170657" y="1785753"/>
            <a:ext cx="914" cy="1533142"/>
          </a:xfrm>
          <a:prstGeom prst="line">
            <a:avLst/>
          </a:prstGeom>
          <a:ln w="38090" cap="flat">
            <a:solidFill>
              <a:srgbClr val="E74C3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5492-6"/>
          <p:cNvSpPr/>
          <p:nvPr/>
        </p:nvSpPr>
        <p:spPr>
          <a:xfrm>
            <a:off x="533267" y="3452211"/>
            <a:ext cx="11122419" cy="170454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 w="9523" algn="in">
            <a:solidFill>
              <a:srgbClr val="B91C1C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5891665491-3"/>
          <p:cNvSpPr/>
          <p:nvPr/>
        </p:nvSpPr>
        <p:spPr>
          <a:xfrm>
            <a:off x="533267" y="5290077"/>
            <a:ext cx="11122419" cy="323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5891665493-7"/>
          <p:cNvSpPr txBox="1"/>
          <p:nvPr/>
        </p:nvSpPr>
        <p:spPr>
          <a:xfrm>
            <a:off x="533267" y="1067837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5494-8"/>
          <p:cNvSpPr txBox="1"/>
          <p:nvPr/>
        </p:nvSpPr>
        <p:spPr>
          <a:xfrm>
            <a:off x="533267" y="1305902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华泰证券：100+因子聚类基金评价详解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el-1785891665502-20"/>
          <p:cNvSpPr txBox="1"/>
          <p:nvPr/>
        </p:nvSpPr>
        <p:spPr>
          <a:xfrm>
            <a:off x="723719" y="1909547"/>
            <a:ext cx="5271722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怎么做：多因子+PCA+K-means</a:t>
            </a:r>
            <a:endParaRPr sz="134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5501-19"/>
          <p:cNvSpPr txBox="1"/>
          <p:nvPr/>
        </p:nvSpPr>
        <p:spPr>
          <a:xfrm>
            <a:off x="723719" y="2223794"/>
            <a:ext cx="5151737" cy="7284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华泰金融工程团队构建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评价体系（收益/风险/风格/行为四大类）。技术路线：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Z-score标准化→PCA降维（100+→10-15主成分）→K-means聚类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，输出基金风格群组标签和因子得分雷达图。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5502-21"/>
          <p:cNvSpPr txBox="1"/>
          <p:nvPr/>
        </p:nvSpPr>
        <p:spPr>
          <a:xfrm>
            <a:off x="6342064" y="1909547"/>
            <a:ext cx="5271722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来源与可查证</a:t>
            </a:r>
            <a:endParaRPr sz="134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5503-22"/>
          <p:cNvSpPr txBox="1"/>
          <p:nvPr/>
        </p:nvSpPr>
        <p:spPr>
          <a:xfrm>
            <a:off x="6342064" y="2223794"/>
            <a:ext cx="2466001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研报：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《多因子系列之一》2016.9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5503-23"/>
          <p:cNvSpPr txBox="1"/>
          <p:nvPr/>
        </p:nvSpPr>
        <p:spPr>
          <a:xfrm>
            <a:off x="6342064" y="2466620"/>
            <a:ext cx="2660322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平台：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华泰证券研报平台/CRM终端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5503-24"/>
          <p:cNvSpPr txBox="1"/>
          <p:nvPr/>
        </p:nvSpPr>
        <p:spPr>
          <a:xfrm>
            <a:off x="6342064" y="2709447"/>
            <a:ext cx="4969855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应用：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华泰金工团队内部使用，为客户输出基金风格分析和筛选报告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5504-25"/>
          <p:cNvSpPr txBox="1"/>
          <p:nvPr/>
        </p:nvSpPr>
        <p:spPr>
          <a:xfrm>
            <a:off x="6342064" y="2952274"/>
            <a:ext cx="1375513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参考：</a:t>
            </a:r>
            <a:r>
              <a:rPr sz="127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CSDN文库</a:t>
            </a:r>
            <a:endParaRPr sz="127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495-9"/>
          <p:cNvSpPr txBox="1"/>
          <p:nvPr/>
        </p:nvSpPr>
        <p:spPr>
          <a:xfrm>
            <a:off x="695151" y="3556960"/>
            <a:ext cx="10911969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效果与缺陷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5496-10"/>
          <p:cNvSpPr txBox="1"/>
          <p:nvPr/>
        </p:nvSpPr>
        <p:spPr>
          <a:xfrm>
            <a:off x="695151" y="3837877"/>
            <a:ext cx="5131739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因子覆盖全面，聚类后同类基金可比性强，雷达图可视化直观。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5496-11"/>
          <p:cNvSpPr txBox="1"/>
          <p:nvPr/>
        </p:nvSpPr>
        <p:spPr>
          <a:xfrm>
            <a:off x="695151" y="4080704"/>
            <a:ext cx="5458930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缺陷一：共线性高。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100+因子大量线性相关（VIF&gt;10），冗余信息干扰聚类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497-12"/>
          <p:cNvSpPr txBox="1"/>
          <p:nvPr/>
        </p:nvSpPr>
        <p:spPr>
          <a:xfrm>
            <a:off x="695151" y="4323531"/>
            <a:ext cx="5674975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缺陷二：可解释性差。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PCA主成分缺乏经济学含义，"第3主成分高分"难以解释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5497-13"/>
          <p:cNvSpPr txBox="1"/>
          <p:nvPr/>
        </p:nvSpPr>
        <p:spPr>
          <a:xfrm>
            <a:off x="695151" y="4566358"/>
            <a:ext cx="5900393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缺陷三：无因果递进。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所有因子并列输入，不区分"经理→持仓→交易"的因果链条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5497-14"/>
          <p:cNvSpPr txBox="1"/>
          <p:nvPr/>
        </p:nvSpPr>
        <p:spPr>
          <a:xfrm>
            <a:off x="695151" y="4809185"/>
            <a:ext cx="5320406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缺陷四：数据需求大。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100+因子采集清洗成本高，部分因子数据源不公开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490-2"/>
          <p:cNvSpPr txBox="1"/>
          <p:nvPr/>
        </p:nvSpPr>
        <p:spPr>
          <a:xfrm>
            <a:off x="578975" y="5337690"/>
            <a:ext cx="1103100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华泰100因子：覆盖全面但共线性高、可解释性差 | 本文：9个精选指标+因果递进+可解释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491-4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5491-5"/>
          <p:cNvSpPr txBox="1"/>
          <p:nvPr/>
        </p:nvSpPr>
        <p:spPr>
          <a:xfrm>
            <a:off x="11509870" y="6519090"/>
            <a:ext cx="15629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9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28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29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79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809-14"/>
          <p:cNvSpPr/>
          <p:nvPr/>
        </p:nvSpPr>
        <p:spPr>
          <a:xfrm>
            <a:off x="533267" y="1250403"/>
            <a:ext cx="5504074" cy="239493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809-16"/>
          <p:cNvCxnSpPr/>
          <p:nvPr/>
        </p:nvCxnSpPr>
        <p:spPr>
          <a:xfrm>
            <a:off x="552312" y="1250403"/>
            <a:ext cx="914" cy="2394939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813-23"/>
          <p:cNvSpPr/>
          <p:nvPr/>
        </p:nvSpPr>
        <p:spPr>
          <a:xfrm>
            <a:off x="704674" y="2378834"/>
            <a:ext cx="5189827" cy="116175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891665809-15"/>
          <p:cNvSpPr/>
          <p:nvPr/>
        </p:nvSpPr>
        <p:spPr>
          <a:xfrm>
            <a:off x="6151612" y="1250403"/>
            <a:ext cx="5504074" cy="239493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5810-17"/>
          <p:cNvCxnSpPr/>
          <p:nvPr/>
        </p:nvCxnSpPr>
        <p:spPr>
          <a:xfrm>
            <a:off x="6170657" y="1250403"/>
            <a:ext cx="914" cy="2394939"/>
          </a:xfrm>
          <a:prstGeom prst="line">
            <a:avLst/>
          </a:prstGeom>
          <a:ln w="38090" cap="flat">
            <a:solidFill>
              <a:srgbClr val="E74C3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5804-7"/>
          <p:cNvSpPr/>
          <p:nvPr/>
        </p:nvSpPr>
        <p:spPr>
          <a:xfrm>
            <a:off x="533267" y="3778659"/>
            <a:ext cx="11122419" cy="149460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 w="9523" algn="in">
            <a:solidFill>
              <a:srgbClr val="B91C1C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5803-4"/>
          <p:cNvSpPr/>
          <p:nvPr/>
        </p:nvSpPr>
        <p:spPr>
          <a:xfrm>
            <a:off x="533267" y="5844621"/>
            <a:ext cx="11122419" cy="30472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5891665805-8"/>
          <p:cNvSpPr txBox="1"/>
          <p:nvPr/>
        </p:nvSpPr>
        <p:spPr>
          <a:xfrm>
            <a:off x="533267" y="532487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el-1785891665806-9"/>
          <p:cNvSpPr txBox="1"/>
          <p:nvPr/>
        </p:nvSpPr>
        <p:spPr>
          <a:xfrm>
            <a:off x="533267" y="770553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招商证券 CAPM评级 + Active Share官网 + 中信AI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5811-19"/>
          <p:cNvSpPr txBox="1"/>
          <p:nvPr/>
        </p:nvSpPr>
        <p:spPr>
          <a:xfrm>
            <a:off x="704674" y="1355152"/>
            <a:ext cx="5303146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招商证券：CAPM + Jensen Alpha + 星级评级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5811-18"/>
          <p:cNvSpPr txBox="1"/>
          <p:nvPr/>
        </p:nvSpPr>
        <p:spPr>
          <a:xfrm>
            <a:off x="704674" y="1645592"/>
            <a:ext cx="5189827" cy="68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招商证券基金评价中心（2010年获批资格）采用传统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CAPM模型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计算Jensen Alpha，作为基金评价核心。根据Alpha排名给予1-5星评级，同时担任金牛奖评委。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el-1785891665815-24"/>
          <p:cNvSpPr txBox="1"/>
          <p:nvPr/>
        </p:nvSpPr>
        <p:spPr>
          <a:xfrm>
            <a:off x="799900" y="2445492"/>
            <a:ext cx="71625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核心指标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5815-25"/>
          <p:cNvSpPr txBox="1"/>
          <p:nvPr/>
        </p:nvSpPr>
        <p:spPr>
          <a:xfrm>
            <a:off x="2660233" y="2445492"/>
            <a:ext cx="324569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Jensen α = R_fund - [R_f + β×(R_m-R_f)]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5815-26"/>
          <p:cNvSpPr txBox="1"/>
          <p:nvPr/>
        </p:nvSpPr>
        <p:spPr>
          <a:xfrm>
            <a:off x="799900" y="2712125"/>
            <a:ext cx="71625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评价维度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5815-27"/>
          <p:cNvSpPr txBox="1"/>
          <p:nvPr/>
        </p:nvSpPr>
        <p:spPr>
          <a:xfrm>
            <a:off x="4052172" y="2712125"/>
            <a:ext cx="185375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仅1维（风险调整后收益）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816-28"/>
          <p:cNvSpPr txBox="1"/>
          <p:nvPr/>
        </p:nvSpPr>
        <p:spPr>
          <a:xfrm>
            <a:off x="799900" y="2978759"/>
            <a:ext cx="71625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输出形式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5816-29"/>
          <p:cNvSpPr txBox="1"/>
          <p:nvPr/>
        </p:nvSpPr>
        <p:spPr>
          <a:xfrm>
            <a:off x="4042054" y="2978759"/>
            <a:ext cx="186387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星级评分1-5星 + 风险等级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5816-30"/>
          <p:cNvSpPr txBox="1"/>
          <p:nvPr/>
        </p:nvSpPr>
        <p:spPr>
          <a:xfrm>
            <a:off x="799900" y="3245392"/>
            <a:ext cx="56388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可查证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816-31"/>
          <p:cNvSpPr txBox="1"/>
          <p:nvPr/>
        </p:nvSpPr>
        <p:spPr>
          <a:xfrm>
            <a:off x="3909928" y="3245392"/>
            <a:ext cx="199600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招商证券基金评价年报/季报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5812-20"/>
          <p:cNvSpPr txBox="1"/>
          <p:nvPr/>
        </p:nvSpPr>
        <p:spPr>
          <a:xfrm>
            <a:off x="6323019" y="1355152"/>
            <a:ext cx="5303146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Active Share 官网 + 中信证券 AI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3" name="el-1785891665812-21"/>
          <p:cNvSpPr txBox="1"/>
          <p:nvPr/>
        </p:nvSpPr>
        <p:spPr>
          <a:xfrm>
            <a:off x="6323019" y="1645592"/>
            <a:ext cx="5139387" cy="67610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Share官网（activeshare.nd.edu）：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Cremers教授个人维护，免费查询全美6000+基金AS值，用AS×跟踪误差构建四象限分类（主动选股/因子押注/跟踪指数/隐蔽指数）。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812-22"/>
          <p:cNvSpPr txBox="1"/>
          <p:nvPr/>
        </p:nvSpPr>
        <p:spPr>
          <a:xfrm>
            <a:off x="6323019" y="2331221"/>
            <a:ext cx="5126591" cy="4475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中信证券：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使用DeepSeek R1大模型分析2,715份基金季报，自动提取投资风格/风险态度/行业观点等文本特征，构建文本维度经理画像。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807-10"/>
          <p:cNvSpPr txBox="1"/>
          <p:nvPr/>
        </p:nvSpPr>
        <p:spPr>
          <a:xfrm>
            <a:off x="657061" y="3864362"/>
            <a:ext cx="109814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效果与缺陷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5808-11"/>
          <p:cNvSpPr txBox="1"/>
          <p:nvPr/>
        </p:nvSpPr>
        <p:spPr>
          <a:xfrm>
            <a:off x="657061" y="4111950"/>
            <a:ext cx="10675004" cy="4322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招商证券效果：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计算简单透明，星级评分市场认知度高；高星级基金长期业绩突出（Alpha因子有效）。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仅1维度，完全缺乏行为维度（持仓/交易/认知）；CAPM单因子假设过强（Fama-French已证其不足）；基于历史业绩无前瞻性。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5808-12"/>
          <p:cNvSpPr txBox="1"/>
          <p:nvPr/>
        </p:nvSpPr>
        <p:spPr>
          <a:xfrm>
            <a:off x="657061" y="4538385"/>
            <a:ext cx="9785800" cy="219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Share官网效果：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AS指标被广泛引用，"隐蔽指数基金"概念深入人心。缺陷：仅L2层持仓偏离，缺乏交易和认知维度；仅覆盖美国市场。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5808-13"/>
          <p:cNvSpPr txBox="1"/>
          <p:nvPr/>
        </p:nvSpPr>
        <p:spPr>
          <a:xfrm>
            <a:off x="657061" y="4751602"/>
            <a:ext cx="10777819" cy="4322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中信AI效果：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NLP提取效率高（2小时/份→自动化）；标签与持仓一致性75-80%。缺陷：仅文本维度，缺乏系统性行为框架；依赖Prompt质量，结果可复现性存疑。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802-2"/>
          <p:cNvSpPr txBox="1"/>
          <p:nvPr/>
        </p:nvSpPr>
        <p:spPr>
          <a:xfrm>
            <a:off x="533267" y="5444671"/>
            <a:ext cx="1122907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来源：</a:t>
            </a:r>
            <a:r>
              <a:rPr sz="1190" u="sng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activeshare.nd.edu</a:t>
            </a: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| </a:t>
            </a:r>
            <a:r>
              <a:rPr sz="1190" u="sng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morningstar.cn</a:t>
            </a: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| </a:t>
            </a:r>
            <a:r>
              <a:rPr sz="1190" u="sng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招商证券基金风险评价方法</a:t>
            </a: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| 中信证券DeepSeek基金研报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802-3"/>
          <p:cNvSpPr txBox="1"/>
          <p:nvPr/>
        </p:nvSpPr>
        <p:spPr>
          <a:xfrm>
            <a:off x="578975" y="5882711"/>
            <a:ext cx="1103100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招商仅1维(收益) | Active Share仅L2(持仓) | 中信仅L5(文本) | 本文：L1-L5五层9指标递进，覆盖收益+持仓+交易+风险+认知全维度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803-5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803-6"/>
          <p:cNvSpPr txBox="1"/>
          <p:nvPr/>
        </p:nvSpPr>
        <p:spPr>
          <a:xfrm>
            <a:off x="11452139" y="6519090"/>
            <a:ext cx="214021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4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5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5720"/>
            <a:ext cx="12188952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02 五层理论精讲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/>
              </a:defRPr>
            </a:pPr>
            <a:r>
              <a:t>L1 背景特征层：BHS锦标赛压力与经理特征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2881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02 五层理论精讲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28816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84664" y="6400800"/>
            <a:ext cx="2203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AI 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05840"/>
            <a:ext cx="5577840" cy="438912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/>
              </a:defRPr>
            </a:pPr>
            <a:r>
              <a:t>BHS锦标赛理论 (Brown, Harlow &amp; Starks, 1996 JF)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核心思想：基金经理在年中排名落后时（输家），会在下半年增加风险以"翻盘"；排名领先时（赢家）则保守降险。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BHS方法三步骤：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① 排序期(1-6月)：计算累积收益率CR，按同类基金排名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② 分组：以中位数为界，分为赢家(上半)和输家(下半)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③ 测试期(7-12月)：计算风险调整比率RAR=σ(下半年)/σ(上半年)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锦标赛效应检验：</a:t>
            </a:r>
          </a:p>
          <a:p>
            <a:pPr>
              <a:spcAft>
                <a:spcPts val="200"/>
              </a:spcAft>
              <a:defRPr sz="900" b="0">
                <a:solidFill>
                  <a:srgbClr val="C62828"/>
                </a:solidFill>
                <a:latin typeface="微软雅黑"/>
              </a:defRPr>
            </a:pPr>
            <a:r>
              <a:t>输家RAR &gt; 赢家RAR → 锦标赛效应存在</a:t>
            </a:r>
          </a:p>
          <a:p>
            <a:pPr>
              <a:spcAft>
                <a:spcPts val="200"/>
              </a:spcAft>
              <a:defRPr sz="900" b="0">
                <a:solidFill>
                  <a:srgbClr val="C0504D"/>
                </a:solidFill>
                <a:latin typeface="微软雅黑"/>
              </a:defRPr>
            </a:pPr>
            <a:r>
              <a:t>输家增险翻盘，赢家保守守成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033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核心公式：</a:t>
            </a:r>
          </a:p>
        </p:txBody>
      </p:sp>
      <p:pic>
        <p:nvPicPr>
          <p:cNvPr id="12" name="Picture 11" descr="bhs_c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31920"/>
            <a:ext cx="2090318400000" cy="500985401653"/>
          </a:xfrm>
          <a:prstGeom prst="rect">
            <a:avLst/>
          </a:prstGeom>
        </p:spPr>
      </p:pic>
      <p:pic>
        <p:nvPicPr>
          <p:cNvPr id="13" name="Picture 12" descr="bhs_r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0" y="3931920"/>
            <a:ext cx="2090318400000" cy="481982507107"/>
          </a:xfrm>
          <a:prstGeom prst="rect">
            <a:avLst/>
          </a:prstGeom>
        </p:spPr>
      </p:pic>
      <p:pic>
        <p:nvPicPr>
          <p:cNvPr id="14" name="Picture 13" descr="bhs_h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526280"/>
            <a:ext cx="4180636800000" cy="672663014533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217920" y="1005840"/>
            <a:ext cx="5486400" cy="438912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097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/>
              </a:defRPr>
            </a:pPr>
            <a:r>
              <a:t>BHS案例：经理A(输家) vs 经理B(赢家)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417320"/>
            <a:ext cx="2468880" cy="274320"/>
          </a:xfrm>
          <a:prstGeom prst="rect">
            <a:avLst/>
          </a:prstGeom>
          <a:solidFill>
            <a:srgbClr val="FF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44475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62828"/>
                </a:solidFill>
                <a:latin typeface="微软雅黑"/>
              </a:defRPr>
            </a:pPr>
            <a:r>
              <a:t>经理A（新手·输家）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73736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从业2.5年，管理规模15亿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上半年CR=-2.0%（排名后30%→输家）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排序期σ_rank = 1.21%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测试期σ_test = 1.91%</a:t>
            </a:r>
          </a:p>
          <a:p>
            <a:pPr>
              <a:spcAft>
                <a:spcPts val="200"/>
              </a:spcAft>
              <a:defRPr sz="800" b="1">
                <a:solidFill>
                  <a:srgbClr val="C62828"/>
                </a:solidFill>
                <a:latin typeface="微软雅黑"/>
              </a:defRPr>
            </a:pPr>
            <a:r>
              <a:t>RAR = 1.91/1.21 = 1.58 &gt; 1 →增险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行为：下半年重仓半导体追涨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结果：业绩进一步恶化（-5%）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1417320"/>
            <a:ext cx="2468880" cy="274320"/>
          </a:xfrm>
          <a:prstGeom prst="rect">
            <a:avLst/>
          </a:prstGeom>
          <a:solidFill>
            <a:srgbClr val="E0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144475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7D32"/>
                </a:solidFill>
                <a:latin typeface="微软雅黑"/>
              </a:defRPr>
            </a:pPr>
            <a:r>
              <a:t>经理B（老手·赢家）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173736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从业8年，管理规模50亿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上半年CR=+6.1%（排名前30%→赢家）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排序期σ_rank = 0.89%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测试期σ_test = 0.52%</a:t>
            </a:r>
          </a:p>
          <a:p>
            <a:pPr>
              <a:spcAft>
                <a:spcPts val="200"/>
              </a:spcAft>
              <a:defRPr sz="800" b="1">
                <a:solidFill>
                  <a:srgbClr val="2E7D32"/>
                </a:solidFill>
                <a:latin typeface="微软雅黑"/>
              </a:defRPr>
            </a:pPr>
            <a:r>
              <a:t>RAR = 0.52/0.89 = 0.58 &lt; 1 →降险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行为：下半年维持均衡配置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结果：业绩稳定增长（+3%）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4160520"/>
            <a:ext cx="512064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5196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62828"/>
                </a:solidFill>
                <a:latin typeface="微软雅黑"/>
              </a:defRPr>
            </a:pPr>
            <a:r>
              <a:t>输家RAR(1.58) &gt; 赢家RAR(0.58) → 锦标赛效应验证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48056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504D"/>
                </a:solidFill>
                <a:latin typeface="微软雅黑"/>
              </a:defRPr>
            </a:pPr>
            <a:r>
              <a:t>从业年限短→职业忧虑强→锦标赛效应更明显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7548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从业年限Exp计算：</a:t>
            </a:r>
          </a:p>
        </p:txBody>
      </p:sp>
      <p:pic>
        <p:nvPicPr>
          <p:cNvPr id="27" name="Picture 26" descr="exp_formul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4983480"/>
            <a:ext cx="2926445760000" cy="510618115722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457200" y="5623560"/>
            <a:ext cx="11247120" cy="3657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7150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阶段安排：1.0阶段用Experience(从业年限)+Dummy(输家/赢家)做OLS回归 | 2.0加入学历、管理规模、CFA等特征 | 3.0加入行为心理学问卷数据</a:t>
            </a:r>
          </a:p>
          <a:p>
            <a:pPr>
              <a:spcAft>
                <a:spcPts val="200"/>
              </a:spcAft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核心逻辑：职业忧虑(L1)→持仓偏离行为(L2)→业绩差异 | H1假设：输家Dummy β&gt;0, p&lt;0.05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中国文献：艾洪德、刘聪(2008)经理特征→风格 | 赵秀娟(2010)7项特征→业绩 | 高鹤等(2014)性别→风险 | 申宇等(2015)校友网络→超额11.37%/年</a:t>
            </a:r>
          </a:p>
        </p:txBody>
      </p:sp>
      <p:sp>
        <p:nvSpPr>
          <p:cNvPr id="3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5720"/>
            <a:ext cx="12188952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02 五层理论精讲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/>
              </a:defRPr>
            </a:pPr>
            <a:r>
              <a:t>L1 数据计算：BHS锦标赛压力公式详解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2881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02 五层理论精讲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28816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84664" y="6400800"/>
            <a:ext cx="2203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AI 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05840"/>
            <a:ext cx="5577840" cy="457200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/>
              </a:defRPr>
            </a:pPr>
            <a:r>
              <a:t>BHS锦标赛压力 — 公式字母详解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Step 1: 排序期累积收益</a:t>
            </a:r>
          </a:p>
        </p:txBody>
      </p:sp>
      <p:pic>
        <p:nvPicPr>
          <p:cNvPr id="11" name="Picture 10" descr="bhs_c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27632"/>
            <a:ext cx="2508382080000" cy="60118248198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214884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Step 2: 排序期风险</a:t>
            </a:r>
          </a:p>
        </p:txBody>
      </p:sp>
      <p:pic>
        <p:nvPicPr>
          <p:cNvPr id="13" name="Picture 12" descr="bhs_sigma_ra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359152"/>
            <a:ext cx="3344509440000" cy="69480129096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" y="288036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Step 3: 测试期风险</a:t>
            </a:r>
          </a:p>
        </p:txBody>
      </p:sp>
      <p:pic>
        <p:nvPicPr>
          <p:cNvPr id="15" name="Picture 14" descr="bhs_sigma_te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090672"/>
            <a:ext cx="3344509440000" cy="62583375839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0080" y="36118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Step 4: 风险调整比率</a:t>
            </a:r>
          </a:p>
        </p:txBody>
      </p:sp>
      <p:pic>
        <p:nvPicPr>
          <p:cNvPr id="17" name="Picture 16" descr="bhs_r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822191"/>
            <a:ext cx="2090318400000" cy="48198250710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0080" y="434340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Step 5: 锦标赛假说检验</a:t>
            </a:r>
          </a:p>
        </p:txBody>
      </p:sp>
      <p:pic>
        <p:nvPicPr>
          <p:cNvPr id="19" name="Picture 18" descr="bhs_h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553712"/>
            <a:ext cx="4180636800000" cy="67266301453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0080" y="502920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CR: 累积收益率 | m: 排序期月数(=6) | R: 月度收益率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σ_rank: 上半年月度收益标准差 | σ_test: 下半年月度收益标准差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RAR&gt;1: 增险 | RAR&lt;1: 降险 | RAR=1: 风险不变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005840"/>
            <a:ext cx="5486400" cy="228600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097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BHS示例计算（2024年某基金）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41732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[1] 上半年(1-6月)月度收益: [-1%, +0.5%, -2%, +1.5%, -0.5%, -0.5%]</a:t>
            </a:r>
            <a:br/>
            <a:r>
              <a:t>    CR = (0.99)(1.005)(0.98)(1.015)(0.995)(0.995) - 1 = -2.0%</a:t>
            </a:r>
            <a:br/>
            <a:r>
              <a:t>[2] 同类基金200只，CR排名后30%(=输家)</a:t>
            </a:r>
            <a:br/>
            <a:r>
              <a:t>[3] 排序期σ_rank = std(月度收益) = 1.21%</a:t>
            </a:r>
            <a:br/>
            <a:r>
              <a:t>[4] 测试期(7-12月)月度收益: [+1%, -2.5%, +1.5%, -1%, +2%, -2%]</a:t>
            </a:r>
            <a:br/>
            <a:r>
              <a:t>    σ_test = std(月度收益) = 1.91%</a:t>
            </a:r>
            <a:br/>
            <a:r>
              <a:t>[5] RAR = 1.91% / 1.21% = 1.58 &gt; 1 → 输家增险</a:t>
            </a:r>
            <a:br/>
            <a:r>
              <a:t>[6] 输家Dummy=1, 回归β=0.15, p&lt;0.05 → 锦标赛效应显著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429000"/>
            <a:ext cx="5486400" cy="214884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5204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文献对比与方法来源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79476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1F4E79"/>
                </a:solidFill>
                <a:latin typeface="微软雅黑"/>
              </a:defRPr>
            </a:pPr>
            <a:r>
              <a:t>BHS原文 (1996 JF)：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数据：Lipper/CDA，334只美国基金1976-1991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方法：列联表检验，赢家/输家RAR差异显著性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发现：输家下半年显著增险，锦标赛效应存在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1">
                <a:solidFill>
                  <a:srgbClr val="1F4E79"/>
                </a:solidFill>
                <a:latin typeface="微软雅黑"/>
              </a:defRPr>
            </a:pPr>
            <a:r>
              <a:t>Chevalier &amp; Ellison (1999 QJE)：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方法：Probit回归，基金经理职业忧虑与业绩关系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发现：业绩差→更可能被解雇→增险动机更强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1">
                <a:solidFill>
                  <a:srgbClr val="1F4E79"/>
                </a:solidFill>
                <a:latin typeface="微软雅黑"/>
              </a:defRPr>
            </a:pPr>
            <a:r>
              <a:t>本文方法：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采用BHS排名分位法，用RAR回归+面板固定效应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数据：AKShare fund_manager_em()，5万+条任职记录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  改进：API自动化400基金100%覆盖 vs 原文手动334只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669280"/>
            <a:ext cx="11247120" cy="3657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7607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H1回归结果：输家Dummy β=0.15, p&lt;0.05 | 输家增险(RAR↑) → 下期业绩更差 | V4(400基金)实测：输家平均RAR=1.15, 赢家平均RAR=0.92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数据来源：AKShare ak.fund_manager_em()（免费API）+ AKShare fund_open_fund_info_em（净值数据）| 全市场5万+条任职记录，400基金100%覆盖</a:t>
            </a:r>
          </a:p>
        </p:txBody>
      </p:sp>
      <p:sp>
        <p:nvSpPr>
          <p:cNvPr id="2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213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219-11"/>
          <p:cNvSpPr/>
          <p:nvPr/>
        </p:nvSpPr>
        <p:spPr>
          <a:xfrm>
            <a:off x="533267" y="1014421"/>
            <a:ext cx="5494551" cy="436135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219-13"/>
          <p:cNvCxnSpPr/>
          <p:nvPr/>
        </p:nvCxnSpPr>
        <p:spPr>
          <a:xfrm>
            <a:off x="552312" y="1014421"/>
            <a:ext cx="914" cy="4361359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6223-21"/>
          <p:cNvSpPr/>
          <p:nvPr/>
        </p:nvSpPr>
        <p:spPr>
          <a:xfrm>
            <a:off x="723719" y="2323781"/>
            <a:ext cx="5142214" cy="110938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el-1785891666223-22"/>
          <p:cNvSpPr/>
          <p:nvPr/>
        </p:nvSpPr>
        <p:spPr>
          <a:xfrm>
            <a:off x="723719" y="3509347"/>
            <a:ext cx="5142214" cy="17616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8" name="el-1785891666270-33"/>
          <p:cNvCxnSpPr/>
          <p:nvPr/>
        </p:nvCxnSpPr>
        <p:spPr>
          <a:xfrm>
            <a:off x="837990" y="4133079"/>
            <a:ext cx="491367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6219-12"/>
          <p:cNvSpPr/>
          <p:nvPr/>
        </p:nvSpPr>
        <p:spPr>
          <a:xfrm>
            <a:off x="6161134" y="1014421"/>
            <a:ext cx="5494551" cy="436135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6219-14"/>
          <p:cNvCxnSpPr/>
          <p:nvPr/>
        </p:nvCxnSpPr>
        <p:spPr>
          <a:xfrm>
            <a:off x="6180180" y="1014421"/>
            <a:ext cx="914" cy="4361359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-1785891666223-23"/>
          <p:cNvSpPr/>
          <p:nvPr/>
        </p:nvSpPr>
        <p:spPr>
          <a:xfrm>
            <a:off x="6351587" y="2080954"/>
            <a:ext cx="5142214" cy="110938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el-1785891666224-24"/>
          <p:cNvSpPr/>
          <p:nvPr/>
        </p:nvSpPr>
        <p:spPr>
          <a:xfrm>
            <a:off x="6351587" y="3266520"/>
            <a:ext cx="5142214" cy="17616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4" name="el-1785891666271-34"/>
          <p:cNvCxnSpPr/>
          <p:nvPr/>
        </p:nvCxnSpPr>
        <p:spPr>
          <a:xfrm>
            <a:off x="6465858" y="3890252"/>
            <a:ext cx="491367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891666215-3"/>
          <p:cNvSpPr/>
          <p:nvPr/>
        </p:nvSpPr>
        <p:spPr>
          <a:xfrm>
            <a:off x="533267" y="5471007"/>
            <a:ext cx="11122419" cy="4332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6" name="el-1785891666215-4"/>
          <p:cNvCxnSpPr/>
          <p:nvPr/>
        </p:nvCxnSpPr>
        <p:spPr>
          <a:xfrm>
            <a:off x="552312" y="5471007"/>
            <a:ext cx="914" cy="433279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l-1785891666216-6"/>
          <p:cNvSpPr/>
          <p:nvPr/>
        </p:nvSpPr>
        <p:spPr>
          <a:xfrm>
            <a:off x="533267" y="5999512"/>
            <a:ext cx="11122419" cy="323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el-1785891666218-9"/>
          <p:cNvSpPr txBox="1"/>
          <p:nvPr/>
        </p:nvSpPr>
        <p:spPr>
          <a:xfrm>
            <a:off x="533267" y="320311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6218-10"/>
          <p:cNvSpPr txBox="1"/>
          <p:nvPr/>
        </p:nvSpPr>
        <p:spPr>
          <a:xfrm>
            <a:off x="533267" y="572661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L2 持仓偏离层：Active Share 与行业集中度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el-1785891666221-15"/>
          <p:cNvSpPr txBox="1"/>
          <p:nvPr/>
        </p:nvSpPr>
        <p:spPr>
          <a:xfrm>
            <a:off x="723719" y="1119170"/>
            <a:ext cx="527553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Active Share (AS)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" name="el-1785891666221-16"/>
          <p:cNvSpPr txBox="1"/>
          <p:nvPr/>
        </p:nvSpPr>
        <p:spPr>
          <a:xfrm>
            <a:off x="723719" y="1442939"/>
            <a:ext cx="52555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 &amp; Petajisto (2009) RFS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221-17"/>
          <p:cNvSpPr txBox="1"/>
          <p:nvPr/>
        </p:nvSpPr>
        <p:spPr>
          <a:xfrm>
            <a:off x="723719" y="1761947"/>
            <a:ext cx="514221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衡量基金持仓偏离基准的程度。AS=0 完全复制，AS=1 完全不同。AS&gt;0.6 为主动选股型。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268-29"/>
          <p:cNvSpPr txBox="1"/>
          <p:nvPr/>
        </p:nvSpPr>
        <p:spPr>
          <a:xfrm>
            <a:off x="2683444" y="2409485"/>
            <a:ext cx="132275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268-30"/>
          <p:cNvSpPr txBox="1"/>
          <p:nvPr/>
        </p:nvSpPr>
        <p:spPr>
          <a:xfrm>
            <a:off x="837990" y="3585528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计算示例（3只股票简化）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273-35"/>
          <p:cNvSpPr txBox="1"/>
          <p:nvPr/>
        </p:nvSpPr>
        <p:spPr>
          <a:xfrm>
            <a:off x="837990" y="3871207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股票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274-36"/>
          <p:cNvSpPr txBox="1"/>
          <p:nvPr/>
        </p:nvSpPr>
        <p:spPr>
          <a:xfrm>
            <a:off x="2369228" y="3871207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基金权重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274-37"/>
          <p:cNvSpPr txBox="1"/>
          <p:nvPr/>
        </p:nvSpPr>
        <p:spPr>
          <a:xfrm>
            <a:off x="3486499" y="3871207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基准权重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6274-38"/>
          <p:cNvSpPr txBox="1"/>
          <p:nvPr/>
        </p:nvSpPr>
        <p:spPr>
          <a:xfrm>
            <a:off x="4603770" y="3871207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偏离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274-39"/>
          <p:cNvSpPr txBox="1"/>
          <p:nvPr/>
        </p:nvSpPr>
        <p:spPr>
          <a:xfrm>
            <a:off x="837990" y="4156885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贵州茅台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274-40"/>
          <p:cNvSpPr txBox="1"/>
          <p:nvPr/>
        </p:nvSpPr>
        <p:spPr>
          <a:xfrm>
            <a:off x="2369228" y="415688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6274-41"/>
          <p:cNvSpPr txBox="1"/>
          <p:nvPr/>
        </p:nvSpPr>
        <p:spPr>
          <a:xfrm>
            <a:off x="3486499" y="415688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274-42"/>
          <p:cNvSpPr txBox="1"/>
          <p:nvPr/>
        </p:nvSpPr>
        <p:spPr>
          <a:xfrm>
            <a:off x="4603770" y="4156885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275-43"/>
          <p:cNvSpPr txBox="1"/>
          <p:nvPr/>
        </p:nvSpPr>
        <p:spPr>
          <a:xfrm>
            <a:off x="837990" y="4423518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宁德时代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275-44"/>
          <p:cNvSpPr txBox="1"/>
          <p:nvPr/>
        </p:nvSpPr>
        <p:spPr>
          <a:xfrm>
            <a:off x="2369228" y="4423518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275-45"/>
          <p:cNvSpPr txBox="1"/>
          <p:nvPr/>
        </p:nvSpPr>
        <p:spPr>
          <a:xfrm>
            <a:off x="3486499" y="4423518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275-46"/>
          <p:cNvSpPr txBox="1"/>
          <p:nvPr/>
        </p:nvSpPr>
        <p:spPr>
          <a:xfrm>
            <a:off x="4603770" y="4423518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275-47"/>
          <p:cNvSpPr txBox="1"/>
          <p:nvPr/>
        </p:nvSpPr>
        <p:spPr>
          <a:xfrm>
            <a:off x="837990" y="4690152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招商银行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275-48"/>
          <p:cNvSpPr txBox="1"/>
          <p:nvPr/>
        </p:nvSpPr>
        <p:spPr>
          <a:xfrm>
            <a:off x="2369228" y="469015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6275-49"/>
          <p:cNvSpPr txBox="1"/>
          <p:nvPr/>
        </p:nvSpPr>
        <p:spPr>
          <a:xfrm>
            <a:off x="3486499" y="469015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6276-50"/>
          <p:cNvSpPr txBox="1"/>
          <p:nvPr/>
        </p:nvSpPr>
        <p:spPr>
          <a:xfrm>
            <a:off x="4603770" y="4690152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6267-27"/>
          <p:cNvSpPr txBox="1"/>
          <p:nvPr/>
        </p:nvSpPr>
        <p:spPr>
          <a:xfrm>
            <a:off x="837990" y="4966308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1190">
                <a:latin typeface="宋体"/>
              </a:defRPr>
            </a:pPr>
            <a:r>
              <a:t>AS = 1/2 × (3%+7%+3%+89.1%) = 0.511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6221-18"/>
          <p:cNvSpPr txBox="1"/>
          <p:nvPr/>
        </p:nvSpPr>
        <p:spPr>
          <a:xfrm>
            <a:off x="6351587" y="1119170"/>
            <a:ext cx="527553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行业集中度指数 (ICI)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3" name="el-1785891666221-19"/>
          <p:cNvSpPr txBox="1"/>
          <p:nvPr/>
        </p:nvSpPr>
        <p:spPr>
          <a:xfrm>
            <a:off x="6351587" y="1442939"/>
            <a:ext cx="52555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 et al. (2005) JF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6222-20"/>
          <p:cNvSpPr txBox="1"/>
          <p:nvPr/>
        </p:nvSpPr>
        <p:spPr>
          <a:xfrm>
            <a:off x="6351587" y="1761947"/>
            <a:ext cx="52555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衡量行业配置偏离全市场的程度，与 AS 互补：个股层 vs 行业层。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6269-31"/>
          <p:cNvSpPr txBox="1"/>
          <p:nvPr/>
        </p:nvSpPr>
        <p:spPr>
          <a:xfrm>
            <a:off x="8652192" y="2166658"/>
            <a:ext cx="64099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6269-32"/>
          <p:cNvSpPr txBox="1"/>
          <p:nvPr/>
        </p:nvSpPr>
        <p:spPr>
          <a:xfrm>
            <a:off x="6465858" y="3342701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计算示例（3个行业简化）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6276-51"/>
          <p:cNvSpPr txBox="1"/>
          <p:nvPr/>
        </p:nvSpPr>
        <p:spPr>
          <a:xfrm>
            <a:off x="6465858" y="3628380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行业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6276-52"/>
          <p:cNvSpPr txBox="1"/>
          <p:nvPr/>
        </p:nvSpPr>
        <p:spPr>
          <a:xfrm>
            <a:off x="7997095" y="3628380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基金配置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6276-53"/>
          <p:cNvSpPr txBox="1"/>
          <p:nvPr/>
        </p:nvSpPr>
        <p:spPr>
          <a:xfrm>
            <a:off x="9114366" y="3628380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市场配置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6276-54"/>
          <p:cNvSpPr txBox="1"/>
          <p:nvPr/>
        </p:nvSpPr>
        <p:spPr>
          <a:xfrm>
            <a:off x="10231637" y="3628380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偏离²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6276-55"/>
          <p:cNvSpPr txBox="1"/>
          <p:nvPr/>
        </p:nvSpPr>
        <p:spPr>
          <a:xfrm>
            <a:off x="6465858" y="3914058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新能源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6277-56"/>
          <p:cNvSpPr txBox="1"/>
          <p:nvPr/>
        </p:nvSpPr>
        <p:spPr>
          <a:xfrm>
            <a:off x="7997095" y="3914058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35%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277-57"/>
          <p:cNvSpPr txBox="1"/>
          <p:nvPr/>
        </p:nvSpPr>
        <p:spPr>
          <a:xfrm>
            <a:off x="9114366" y="3914058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6277-58"/>
          <p:cNvSpPr txBox="1"/>
          <p:nvPr/>
        </p:nvSpPr>
        <p:spPr>
          <a:xfrm>
            <a:off x="10231637" y="3914058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5.29%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277-59"/>
          <p:cNvSpPr txBox="1"/>
          <p:nvPr/>
        </p:nvSpPr>
        <p:spPr>
          <a:xfrm>
            <a:off x="6465858" y="4180692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消费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6277-60"/>
          <p:cNvSpPr txBox="1"/>
          <p:nvPr/>
        </p:nvSpPr>
        <p:spPr>
          <a:xfrm>
            <a:off x="7997095" y="418069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30%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6277-61"/>
          <p:cNvSpPr txBox="1"/>
          <p:nvPr/>
        </p:nvSpPr>
        <p:spPr>
          <a:xfrm>
            <a:off x="9114366" y="418069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18%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6277-62"/>
          <p:cNvSpPr txBox="1"/>
          <p:nvPr/>
        </p:nvSpPr>
        <p:spPr>
          <a:xfrm>
            <a:off x="10231637" y="4180692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1.44%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6278-63"/>
          <p:cNvSpPr txBox="1"/>
          <p:nvPr/>
        </p:nvSpPr>
        <p:spPr>
          <a:xfrm>
            <a:off x="6465858" y="4447325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金融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el-1785891666278-64"/>
          <p:cNvSpPr txBox="1"/>
          <p:nvPr/>
        </p:nvSpPr>
        <p:spPr>
          <a:xfrm>
            <a:off x="7997095" y="444732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1" name="el-1785891666278-65"/>
          <p:cNvSpPr txBox="1"/>
          <p:nvPr/>
        </p:nvSpPr>
        <p:spPr>
          <a:xfrm>
            <a:off x="9114366" y="444732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22%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2" name="el-1785891666278-66"/>
          <p:cNvSpPr txBox="1"/>
          <p:nvPr/>
        </p:nvSpPr>
        <p:spPr>
          <a:xfrm>
            <a:off x="10231637" y="4447325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2.89%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3" name="el-1785891666268-28"/>
          <p:cNvSpPr txBox="1"/>
          <p:nvPr/>
        </p:nvSpPr>
        <p:spPr>
          <a:xfrm>
            <a:off x="6465858" y="4723481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 = 5.29%+1.44%+2.89%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0.096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4" name="el-1785891666214-2"/>
          <p:cNvSpPr txBox="1"/>
          <p:nvPr/>
        </p:nvSpPr>
        <p:spPr>
          <a:xfrm>
            <a:off x="723719" y="5566233"/>
            <a:ext cx="1104528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V4(400基金)修正AS公式后均值0.833；V2旧公式0.948高估，前十大近似0.705低估；3.0阶段引入市值加权基准提升区分度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5" name="el-1785891666215-5"/>
          <p:cNvSpPr txBox="1"/>
          <p:nvPr/>
        </p:nvSpPr>
        <p:spPr>
          <a:xfrm>
            <a:off x="578975" y="6047125"/>
            <a:ext cx="1103100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AS在美股正向(Cremers 2009) | V4(400基金)AS负向(t=-5.24***)，ICI负向(t=-3.69***) | A股行为指标全面负向预测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6" name="el-1785891666216-7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7" name="el-1785891666216-8"/>
          <p:cNvSpPr txBox="1"/>
          <p:nvPr/>
        </p:nvSpPr>
        <p:spPr>
          <a:xfrm>
            <a:off x="11452139" y="6519090"/>
            <a:ext cx="214021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13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8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9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72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457200" y="5120640"/>
            <a:ext cx="11247120" cy="155448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0080" y="519379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F4E79"/>
                </a:solidFill>
                <a:latin typeface="微软雅黑"/>
              </a:defRPr>
            </a:pPr>
            <a:r>
              <a:t>论文方法对比与本文实现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0080" y="544068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AS方法来源 — Cremers &amp; Petajisto (2009 RFS)：原文用CRSP全持仓数据(1980-2003, 2648只基金)，对比基金持仓与基准指数成分股权重差异。AS=(1/2)×Σ|w_fund-w_index|，1/2系数经济含义：基金和指数权重和均为1，绝对偏差总和被2整除，AS表示"与基准不同的持仓比例"。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AS本文实现 — 我们用东方财富全持仓API(半年报/年报)获取基金前十大重仓+全部持仓，对比沪深300/中证500指数成分股权重。V4修正后AS均值0.673(vs原文均值0.63)，量纲正确。差异：原文用月度持仓，我们用季度/半年度持仓(受国内披露频率限制)。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ICI方法来源 — Kacperczyk et al. (2005 JF)：原文用CRSP 10个行业分类(1984-1999, 1664只基金)，计算基金行业配置权重与全市场行业权重的平方偏差和。ICI=Σ(w_fund-w_market)²，无1/2系数(与Herfindahl指数思想一致)。原文发现ICI高的基金业绩更好。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ICI本文实现 — 我们用申万一级行业分类(31个行业vs原文10个)，基金行业配置数据来自东方财富，市场行业权重用全A股市值加权。V4修复后ICI均值0.096(vs原文0.034)，差异源于行业分类更细。引用邢欣羿&amp;孙谦(2015)、张学勇等(2018)的中国ICI计算方法。</a:t>
            </a:r>
          </a:p>
        </p:txBody>
      </p:sp>
      <p:pic>
        <p:nvPicPr>
          <p:cNvPr id="76" name="Picture 75" descr="as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697480"/>
            <a:ext cx="3762573120000" cy="939088497719"/>
          </a:xfrm>
          <a:prstGeom prst="rect">
            <a:avLst/>
          </a:prstGeom>
        </p:spPr>
      </p:pic>
      <p:pic>
        <p:nvPicPr>
          <p:cNvPr id="77" name="Picture 76" descr="ici_formu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423160"/>
            <a:ext cx="3762573120000" cy="1019937176331"/>
          </a:xfrm>
          <a:prstGeom prst="rect">
            <a:avLst/>
          </a:prstGeom>
        </p:spPr>
      </p:pic>
      <p:sp>
        <p:nvSpPr>
          <p:cNvPr id="7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371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383-10"/>
          <p:cNvSpPr/>
          <p:nvPr/>
        </p:nvSpPr>
        <p:spPr>
          <a:xfrm>
            <a:off x="457086" y="863845"/>
            <a:ext cx="5580255" cy="248361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384-14"/>
          <p:cNvCxnSpPr/>
          <p:nvPr/>
        </p:nvCxnSpPr>
        <p:spPr>
          <a:xfrm>
            <a:off x="476131" y="863845"/>
            <a:ext cx="914" cy="2483618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6383-11"/>
          <p:cNvSpPr/>
          <p:nvPr/>
        </p:nvSpPr>
        <p:spPr>
          <a:xfrm>
            <a:off x="6151612" y="863845"/>
            <a:ext cx="5580255" cy="248361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6422-35"/>
          <p:cNvCxnSpPr/>
          <p:nvPr/>
        </p:nvCxnSpPr>
        <p:spPr>
          <a:xfrm>
            <a:off x="6294451" y="2284798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6383-12"/>
          <p:cNvSpPr/>
          <p:nvPr/>
        </p:nvSpPr>
        <p:spPr>
          <a:xfrm>
            <a:off x="457086" y="3404598"/>
            <a:ext cx="5580255" cy="20610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6385-15"/>
          <p:cNvCxnSpPr/>
          <p:nvPr/>
        </p:nvCxnSpPr>
        <p:spPr>
          <a:xfrm>
            <a:off x="476131" y="3404598"/>
            <a:ext cx="914" cy="2061052"/>
          </a:xfrm>
          <a:prstGeom prst="line">
            <a:avLst/>
          </a:prstGeom>
          <a:ln w="38090" cap="flat">
            <a:solidFill>
              <a:srgbClr val="E651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-1785891666384-13"/>
          <p:cNvSpPr/>
          <p:nvPr/>
        </p:nvSpPr>
        <p:spPr>
          <a:xfrm>
            <a:off x="6151612" y="3404598"/>
            <a:ext cx="5580255" cy="20610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2" name="el-1785891666422-36"/>
          <p:cNvCxnSpPr/>
          <p:nvPr/>
        </p:nvCxnSpPr>
        <p:spPr>
          <a:xfrm>
            <a:off x="6294451" y="4627064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l-1785891666375-3"/>
          <p:cNvSpPr/>
          <p:nvPr/>
        </p:nvSpPr>
        <p:spPr>
          <a:xfrm>
            <a:off x="457086" y="5522786"/>
            <a:ext cx="11274781" cy="46839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el-1785891666376-5"/>
          <p:cNvSpPr/>
          <p:nvPr/>
        </p:nvSpPr>
        <p:spPr>
          <a:xfrm>
            <a:off x="457086" y="6048315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891666381-8"/>
          <p:cNvSpPr txBox="1"/>
          <p:nvPr/>
        </p:nvSpPr>
        <p:spPr>
          <a:xfrm>
            <a:off x="457086" y="285941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6381-9"/>
          <p:cNvSpPr txBox="1"/>
          <p:nvPr/>
        </p:nvSpPr>
        <p:spPr>
          <a:xfrm>
            <a:off x="457086" y="509722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L2 数据计算：AS 与 ICI 公式字母详解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6418-25"/>
          <p:cNvSpPr txBox="1"/>
          <p:nvPr/>
        </p:nvSpPr>
        <p:spPr>
          <a:xfrm>
            <a:off x="628493" y="949548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Active Share (AS)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6431-41"/>
          <p:cNvSpPr txBox="1"/>
          <p:nvPr/>
        </p:nvSpPr>
        <p:spPr>
          <a:xfrm>
            <a:off x="628493" y="1801823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AS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9" name="el-1785891666431-42"/>
          <p:cNvSpPr txBox="1"/>
          <p:nvPr/>
        </p:nvSpPr>
        <p:spPr>
          <a:xfrm>
            <a:off x="952262" y="1801823"/>
            <a:ext cx="302602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主动份额，取值 [0, 1]。0=完全复制基准，1=完全不同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6431-43"/>
          <p:cNvSpPr txBox="1"/>
          <p:nvPr/>
        </p:nvSpPr>
        <p:spPr>
          <a:xfrm>
            <a:off x="628493" y="201310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N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1" name="el-1785891666432-44"/>
          <p:cNvSpPr txBox="1"/>
          <p:nvPr/>
        </p:nvSpPr>
        <p:spPr>
          <a:xfrm>
            <a:off x="952262" y="2013106"/>
            <a:ext cx="2728736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基准指数成分股总数（如沪深300的300只股票）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432-45"/>
          <p:cNvSpPr txBox="1"/>
          <p:nvPr/>
        </p:nvSpPr>
        <p:spPr>
          <a:xfrm>
            <a:off x="628493" y="222438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3" name="el-1785891666432-46"/>
          <p:cNvSpPr txBox="1"/>
          <p:nvPr/>
        </p:nvSpPr>
        <p:spPr>
          <a:xfrm>
            <a:off x="952262" y="2224389"/>
            <a:ext cx="192169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i 只股票的索引，i = 1, 2, ..., N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429-37"/>
          <p:cNvSpPr txBox="1"/>
          <p:nvPr/>
        </p:nvSpPr>
        <p:spPr>
          <a:xfrm>
            <a:off x="628493" y="2435672"/>
            <a:ext cx="43973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5" name="el-1785891666432-47"/>
          <p:cNvSpPr txBox="1"/>
          <p:nvPr/>
        </p:nvSpPr>
        <p:spPr>
          <a:xfrm>
            <a:off x="1038709" y="2435672"/>
            <a:ext cx="237104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基金持仓中第 i 只股票的权重（0~1之间）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430-38"/>
          <p:cNvSpPr txBox="1"/>
          <p:nvPr/>
        </p:nvSpPr>
        <p:spPr>
          <a:xfrm>
            <a:off x="628493" y="2646955"/>
            <a:ext cx="49553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bench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7" name="el-1785891666433-48"/>
          <p:cNvSpPr txBox="1"/>
          <p:nvPr/>
        </p:nvSpPr>
        <p:spPr>
          <a:xfrm>
            <a:off x="1094506" y="2646955"/>
            <a:ext cx="237104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基准指数中第 i 只股票的权重（0~1之间）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6433-49"/>
          <p:cNvSpPr txBox="1"/>
          <p:nvPr/>
        </p:nvSpPr>
        <p:spPr>
          <a:xfrm>
            <a:off x="628493" y="2858238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|·|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9" name="el-1785891666433-50"/>
          <p:cNvSpPr txBox="1"/>
          <p:nvPr/>
        </p:nvSpPr>
        <p:spPr>
          <a:xfrm>
            <a:off x="952262" y="2858238"/>
            <a:ext cx="219130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绝对值符号，确保偏离无论正负都计入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433-51"/>
          <p:cNvSpPr txBox="1"/>
          <p:nvPr/>
        </p:nvSpPr>
        <p:spPr>
          <a:xfrm>
            <a:off x="628493" y="3069521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1/2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1" name="el-1785891666433-52"/>
          <p:cNvSpPr txBox="1"/>
          <p:nvPr/>
        </p:nvSpPr>
        <p:spPr>
          <a:xfrm>
            <a:off x="952262" y="3069521"/>
            <a:ext cx="2136548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系数，因为买卖两侧各算一次需除以2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419-26"/>
          <p:cNvSpPr txBox="1"/>
          <p:nvPr/>
        </p:nvSpPr>
        <p:spPr>
          <a:xfrm>
            <a:off x="6294451" y="949548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 示例计算（3只股票简化）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" name="el-1785891666414-18"/>
          <p:cNvSpPr txBox="1"/>
          <p:nvPr/>
        </p:nvSpPr>
        <p:spPr>
          <a:xfrm>
            <a:off x="6294451" y="125903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贵州茅台：w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=8%, 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bench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=5% → |8%-5%|=3%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415-19"/>
          <p:cNvSpPr txBox="1"/>
          <p:nvPr/>
        </p:nvSpPr>
        <p:spPr>
          <a:xfrm>
            <a:off x="6294451" y="1457520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宁德时代：w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=7%, 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bench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=0% → |7%-0%|=7%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416-20"/>
          <p:cNvSpPr txBox="1"/>
          <p:nvPr/>
        </p:nvSpPr>
        <p:spPr>
          <a:xfrm>
            <a:off x="6294451" y="165600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招商银行：w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=0%, 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bench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=3% → |0%-3%|=3%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416-21"/>
          <p:cNvSpPr txBox="1"/>
          <p:nvPr/>
        </p:nvSpPr>
        <p:spPr>
          <a:xfrm>
            <a:off x="6294451" y="185449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其余297只：基金全配0%，基准各0.30%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419-27"/>
          <p:cNvSpPr txBox="1"/>
          <p:nvPr/>
        </p:nvSpPr>
        <p:spPr>
          <a:xfrm>
            <a:off x="6294451" y="205298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Sum = 3%+7%+3%+297×0.30% = 3%+7%+3%+89.1% = 102.1%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419-28"/>
          <p:cNvSpPr txBox="1"/>
          <p:nvPr/>
        </p:nvSpPr>
        <p:spPr>
          <a:xfrm>
            <a:off x="6294451" y="2327650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 = 1/2 × 102.1% = 0.5105 → 主动管理程度中等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9" name="el-1785891666420-29"/>
          <p:cNvSpPr txBox="1"/>
          <p:nvPr/>
        </p:nvSpPr>
        <p:spPr>
          <a:xfrm>
            <a:off x="6294451" y="261332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V4实测：修正AS均值0.673(旧公式0.948, 前十大0.705)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6420-30"/>
          <p:cNvSpPr txBox="1"/>
          <p:nvPr/>
        </p:nvSpPr>
        <p:spPr>
          <a:xfrm>
            <a:off x="628493" y="3490302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行业集中度 — 公式字母详解</a:t>
            </a:r>
            <a:endParaRPr sz="127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1" name="el-1785891666434-53"/>
          <p:cNvSpPr txBox="1"/>
          <p:nvPr/>
        </p:nvSpPr>
        <p:spPr>
          <a:xfrm>
            <a:off x="628493" y="434257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ICI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2" name="el-1785891666434-54"/>
          <p:cNvSpPr txBox="1"/>
          <p:nvPr/>
        </p:nvSpPr>
        <p:spPr>
          <a:xfrm>
            <a:off x="952262" y="4342576"/>
            <a:ext cx="314981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行业集中度指数，取值 [0, 1]。0=完全分散，1=单一行业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6434-55"/>
          <p:cNvSpPr txBox="1"/>
          <p:nvPr/>
        </p:nvSpPr>
        <p:spPr>
          <a:xfrm>
            <a:off x="628493" y="455385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j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4" name="el-1785891666434-56"/>
          <p:cNvSpPr txBox="1"/>
          <p:nvPr/>
        </p:nvSpPr>
        <p:spPr>
          <a:xfrm>
            <a:off x="952262" y="4553859"/>
            <a:ext cx="229664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1200">
                <a:latin typeface="宋体"/>
              </a:defRPr>
            </a:pPr>
            <a:r>
              <a:t>第 j 个行业的索引（申万一级31个行业）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6431-39"/>
          <p:cNvSpPr txBox="1"/>
          <p:nvPr/>
        </p:nvSpPr>
        <p:spPr>
          <a:xfrm>
            <a:off x="628493" y="4765142"/>
            <a:ext cx="43973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j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6" name="el-1785891666434-57"/>
          <p:cNvSpPr txBox="1"/>
          <p:nvPr/>
        </p:nvSpPr>
        <p:spPr>
          <a:xfrm>
            <a:off x="1038709" y="4765142"/>
            <a:ext cx="1674106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基金在第 j 个行业的配置权重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6431-40"/>
          <p:cNvSpPr txBox="1"/>
          <p:nvPr/>
        </p:nvSpPr>
        <p:spPr>
          <a:xfrm>
            <a:off x="628493" y="497642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w̄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j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8" name="el-1785891666435-58"/>
          <p:cNvSpPr txBox="1"/>
          <p:nvPr/>
        </p:nvSpPr>
        <p:spPr>
          <a:xfrm>
            <a:off x="952262" y="4976426"/>
            <a:ext cx="2045488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全市场在第 j 个行业的平均配置权重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6435-59"/>
          <p:cNvSpPr txBox="1"/>
          <p:nvPr/>
        </p:nvSpPr>
        <p:spPr>
          <a:xfrm>
            <a:off x="628493" y="518770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()²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50" name="el-1785891666435-60"/>
          <p:cNvSpPr txBox="1"/>
          <p:nvPr/>
        </p:nvSpPr>
        <p:spPr>
          <a:xfrm>
            <a:off x="952262" y="5187709"/>
            <a:ext cx="268648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平方运算，使偏离无论正负都为正，且放大偏离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6420-31"/>
          <p:cNvSpPr txBox="1"/>
          <p:nvPr/>
        </p:nvSpPr>
        <p:spPr>
          <a:xfrm>
            <a:off x="6294451" y="3490302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示例计算（3个行业简化）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2" name="el-1785891666417-22"/>
          <p:cNvSpPr txBox="1"/>
          <p:nvPr/>
        </p:nvSpPr>
        <p:spPr>
          <a:xfrm>
            <a:off x="6294451" y="379978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新能源：w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=35%, w̄=12% → (35%-12%)²=5.29%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418-23"/>
          <p:cNvSpPr txBox="1"/>
          <p:nvPr/>
        </p:nvSpPr>
        <p:spPr>
          <a:xfrm>
            <a:off x="6294451" y="3998274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消费：w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=30%, w̄=18% → (30%-18%)²=1.44%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6418-24"/>
          <p:cNvSpPr txBox="1"/>
          <p:nvPr/>
        </p:nvSpPr>
        <p:spPr>
          <a:xfrm>
            <a:off x="6294451" y="419676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金融：w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=5%, w̄=22% → (5%-22%)²=2.89%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421-32"/>
          <p:cNvSpPr txBox="1"/>
          <p:nvPr/>
        </p:nvSpPr>
        <p:spPr>
          <a:xfrm>
            <a:off x="6294451" y="439524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1200">
                <a:latin typeface="宋体"/>
              </a:defRPr>
            </a:pPr>
            <a:r>
              <a:t>　其余28个行业偏离小，合计≈0.38%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6421-33"/>
          <p:cNvSpPr txBox="1"/>
          <p:nvPr/>
        </p:nvSpPr>
        <p:spPr>
          <a:xfrm>
            <a:off x="6294451" y="4669916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= 5.29%+1.44%+2.89%+0.38% = 0.100 → 行业偏离较大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7" name="el-1785891666421-34"/>
          <p:cNvSpPr txBox="1"/>
          <p:nvPr/>
        </p:nvSpPr>
        <p:spPr>
          <a:xfrm>
            <a:off x="6294451" y="495559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V4实测：ICI均值712，t=-3.69***；OCI是最强预测因子t=-13.45***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6375-2"/>
          <p:cNvSpPr txBox="1"/>
          <p:nvPr/>
        </p:nvSpPr>
        <p:spPr>
          <a:xfrm>
            <a:off x="580880" y="5570399"/>
            <a:ext cx="11027193" cy="373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55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东方财富全持仓API（半年报/年报）+ AKShare行业配置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 &amp; Petajisto (2009) RFS 用全持仓；Kacperczyk et al. (2005) JF 提出 ICI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差异：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邢欣翽孙谦(2015)在早期A股发现ICI正向，我们在2020-2024发现负向（注册制后行业轮动加速）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6376-4"/>
          <p:cNvSpPr txBox="1"/>
          <p:nvPr/>
        </p:nvSpPr>
        <p:spPr>
          <a:xfrm>
            <a:off x="509460" y="6076883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V4: AS→业绩(-, t=-5.24***) | ICI→业绩(-, t=-3.69***) | OCI是最强行为信号(t=-13.45***)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el-1785891666376-6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1" name="el-1785891666377-7"/>
          <p:cNvSpPr txBox="1"/>
          <p:nvPr/>
        </p:nvSpPr>
        <p:spPr>
          <a:xfrm>
            <a:off x="11452437" y="6519090"/>
            <a:ext cx="213723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14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2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3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6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pic>
        <p:nvPicPr>
          <p:cNvPr id="67" name="Picture 66" descr="as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325880"/>
            <a:ext cx="2926445760000" cy="730402164893"/>
          </a:xfrm>
          <a:prstGeom prst="rect">
            <a:avLst/>
          </a:prstGeom>
        </p:spPr>
      </p:pic>
      <p:pic>
        <p:nvPicPr>
          <p:cNvPr id="68" name="Picture 67" descr="ici_formu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3794760"/>
            <a:ext cx="2926445760000" cy="793284470479"/>
          </a:xfrm>
          <a:prstGeom prst="rect">
            <a:avLst/>
          </a:prstGeom>
        </p:spPr>
      </p:pic>
      <p:sp>
        <p:nvSpPr>
          <p:cNvPr id="6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448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454-11"/>
          <p:cNvSpPr/>
          <p:nvPr/>
        </p:nvSpPr>
        <p:spPr>
          <a:xfrm>
            <a:off x="533267" y="962195"/>
            <a:ext cx="5494551" cy="42851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454-13"/>
          <p:cNvCxnSpPr/>
          <p:nvPr/>
        </p:nvCxnSpPr>
        <p:spPr>
          <a:xfrm>
            <a:off x="552312" y="962195"/>
            <a:ext cx="914" cy="4285178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6458-21"/>
          <p:cNvSpPr/>
          <p:nvPr/>
        </p:nvSpPr>
        <p:spPr>
          <a:xfrm>
            <a:off x="742764" y="2309646"/>
            <a:ext cx="5104124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el-1785891666458-22"/>
          <p:cNvSpPr/>
          <p:nvPr/>
        </p:nvSpPr>
        <p:spPr>
          <a:xfrm>
            <a:off x="742764" y="3619006"/>
            <a:ext cx="5104124" cy="148552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5891666454-12"/>
          <p:cNvSpPr/>
          <p:nvPr/>
        </p:nvSpPr>
        <p:spPr>
          <a:xfrm>
            <a:off x="6161134" y="962195"/>
            <a:ext cx="5494551" cy="42851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6455-14"/>
          <p:cNvCxnSpPr/>
          <p:nvPr/>
        </p:nvCxnSpPr>
        <p:spPr>
          <a:xfrm>
            <a:off x="6180180" y="962195"/>
            <a:ext cx="914" cy="4285178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6458-23"/>
          <p:cNvSpPr/>
          <p:nvPr/>
        </p:nvSpPr>
        <p:spPr>
          <a:xfrm>
            <a:off x="6370632" y="2309646"/>
            <a:ext cx="5104124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el-1785891666459-24"/>
          <p:cNvSpPr/>
          <p:nvPr/>
        </p:nvSpPr>
        <p:spPr>
          <a:xfrm>
            <a:off x="6370632" y="3619006"/>
            <a:ext cx="5104124" cy="148552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5891666450-3"/>
          <p:cNvSpPr/>
          <p:nvPr/>
        </p:nvSpPr>
        <p:spPr>
          <a:xfrm>
            <a:off x="533267" y="5361645"/>
            <a:ext cx="11122419" cy="6761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4" name="el-1785891666450-4"/>
          <p:cNvCxnSpPr/>
          <p:nvPr/>
        </p:nvCxnSpPr>
        <p:spPr>
          <a:xfrm>
            <a:off x="552312" y="5361645"/>
            <a:ext cx="914" cy="67610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891666451-6"/>
          <p:cNvSpPr/>
          <p:nvPr/>
        </p:nvSpPr>
        <p:spPr>
          <a:xfrm>
            <a:off x="533267" y="6152023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-1785891666453-9"/>
          <p:cNvSpPr txBox="1"/>
          <p:nvPr/>
        </p:nvSpPr>
        <p:spPr>
          <a:xfrm>
            <a:off x="533267" y="249041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6453-10"/>
          <p:cNvSpPr txBox="1"/>
          <p:nvPr/>
        </p:nvSpPr>
        <p:spPr>
          <a:xfrm>
            <a:off x="533267" y="501390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L3 交易行为层：Return Gap 捕捉隐形交易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6456-15"/>
          <p:cNvSpPr txBox="1"/>
          <p:nvPr/>
        </p:nvSpPr>
        <p:spPr>
          <a:xfrm>
            <a:off x="742764" y="1105035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Return Gap (RG)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6456-16"/>
          <p:cNvSpPr txBox="1"/>
          <p:nvPr/>
        </p:nvSpPr>
        <p:spPr>
          <a:xfrm>
            <a:off x="742764" y="1428804"/>
            <a:ext cx="521744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 et al. (2008) RFS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6456-17"/>
          <p:cNvSpPr txBox="1"/>
          <p:nvPr/>
        </p:nvSpPr>
        <p:spPr>
          <a:xfrm>
            <a:off x="742764" y="1747811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基金真实收益与"持仓不变"模拟收益之差，捕捉季报间隐形交易的净效应。正值说明经理主动操作增厚收益，负值说明操作拖累业绩。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6499-31"/>
          <p:cNvSpPr txBox="1"/>
          <p:nvPr/>
        </p:nvSpPr>
        <p:spPr>
          <a:xfrm>
            <a:off x="2719600" y="2395349"/>
            <a:ext cx="1250290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Return Gap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499-32"/>
          <p:cNvSpPr txBox="1"/>
          <p:nvPr/>
        </p:nvSpPr>
        <p:spPr>
          <a:xfrm>
            <a:off x="857036" y="3695187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计算推演（月度）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499-33"/>
          <p:cNvSpPr txBox="1"/>
          <p:nvPr/>
        </p:nvSpPr>
        <p:spPr>
          <a:xfrm>
            <a:off x="857036" y="3980866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上月末持仓：茅台8% + 宁德7% + 招行5% ...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497-27"/>
          <p:cNvSpPr txBox="1"/>
          <p:nvPr/>
        </p:nvSpPr>
        <p:spPr>
          <a:xfrm>
            <a:off x="857036" y="4247499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持仓不变模拟收益 R_hold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+2.1%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497-28"/>
          <p:cNvSpPr txBox="1"/>
          <p:nvPr/>
        </p:nvSpPr>
        <p:spPr>
          <a:xfrm>
            <a:off x="857036" y="4514132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基金实际月收益 R_fund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+2.8%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498-29"/>
          <p:cNvSpPr txBox="1"/>
          <p:nvPr/>
        </p:nvSpPr>
        <p:spPr>
          <a:xfrm>
            <a:off x="857036" y="4780765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 RG = 2.8% - 2.1%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+0.7%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456-18"/>
          <p:cNvSpPr txBox="1"/>
          <p:nvPr/>
        </p:nvSpPr>
        <p:spPr>
          <a:xfrm>
            <a:off x="6370632" y="1105035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ARG（中国修正版）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6456-19"/>
          <p:cNvSpPr txBox="1"/>
          <p:nvPr/>
        </p:nvSpPr>
        <p:spPr>
          <a:xfrm>
            <a:off x="6370632" y="1428804"/>
            <a:ext cx="521744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申宇等 (2013) 管理世界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456-20"/>
          <p:cNvSpPr txBox="1"/>
          <p:nvPr/>
        </p:nvSpPr>
        <p:spPr>
          <a:xfrm>
            <a:off x="6370632" y="1747811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原版 RG 正负相抵会低估交易强度。申宇等取绝对值后加总，更准确反映隐形交易的总规模。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500-34"/>
          <p:cNvSpPr txBox="1"/>
          <p:nvPr/>
        </p:nvSpPr>
        <p:spPr>
          <a:xfrm>
            <a:off x="8602942" y="2395349"/>
            <a:ext cx="73949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ARG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6500-35"/>
          <p:cNvSpPr txBox="1"/>
          <p:nvPr/>
        </p:nvSpPr>
        <p:spPr>
          <a:xfrm>
            <a:off x="6484903" y="3695187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计算推演（季度3个月）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500-36"/>
          <p:cNvSpPr txBox="1"/>
          <p:nvPr/>
        </p:nvSpPr>
        <p:spPr>
          <a:xfrm>
            <a:off x="6484903" y="3980866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1月: RG = +0.7% → |RG| = 0.7%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500-37"/>
          <p:cNvSpPr txBox="1"/>
          <p:nvPr/>
        </p:nvSpPr>
        <p:spPr>
          <a:xfrm>
            <a:off x="6484903" y="4247499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2月: RG = -0.3% → |RG| = 0.3%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500-38"/>
          <p:cNvSpPr txBox="1"/>
          <p:nvPr/>
        </p:nvSpPr>
        <p:spPr>
          <a:xfrm>
            <a:off x="6484903" y="4514132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3月: RG = +0.5% → |RG| = 0.5%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499-30"/>
          <p:cNvSpPr txBox="1"/>
          <p:nvPr/>
        </p:nvSpPr>
        <p:spPr>
          <a:xfrm>
            <a:off x="6484903" y="4780765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ARG = 0.7%+0.3%+0.5%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1.5%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450-2"/>
          <p:cNvSpPr txBox="1"/>
          <p:nvPr/>
        </p:nvSpPr>
        <p:spPr>
          <a:xfrm>
            <a:off x="723719" y="5456871"/>
            <a:ext cx="1077960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 阶段用月度 RG 做 OLS 回归（已验证，均值0.20%，H3通过）；2.0 阶段加入 ARG 和 RG 波动率（4期滚动std，H4通过 t=2.02）；3.0 阶段引入高频持仓数据（如可获取）计算周度 RG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451-5"/>
          <p:cNvSpPr txBox="1"/>
          <p:nvPr/>
        </p:nvSpPr>
        <p:spPr>
          <a:xfrm>
            <a:off x="572309" y="6218681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RG在美股正向(Kacperczyk 2008) | V4修正后RG正向(t=9.20***) | A股RG正向预测，与美股方向一致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451-7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6451-8"/>
          <p:cNvSpPr txBox="1"/>
          <p:nvPr/>
        </p:nvSpPr>
        <p:spPr>
          <a:xfrm>
            <a:off x="11451991" y="6519090"/>
            <a:ext cx="21417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15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1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solidFill>
            <a:srgbClr val="FF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8338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中国文献支撑：孔东民等(2015)《经济研究》基金访问→信息优势 | 刘京军、苏楚林(2016)《管理世界》资金流量传染+零成本组合超额6% | 申宇等(2013)《管理世界》ARG修正→隐形交易超额收益</a:t>
            </a:r>
          </a:p>
        </p:txBody>
      </p:sp>
      <p:sp>
        <p:nvSpPr>
          <p:cNvPr id="46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pic>
        <p:nvPicPr>
          <p:cNvPr id="47" name="Picture 46" descr="rg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97480"/>
            <a:ext cx="2743200" cy="632523"/>
          </a:xfrm>
          <a:prstGeom prst="rect">
            <a:avLst/>
          </a:prstGeom>
        </p:spPr>
      </p:pic>
      <p:pic>
        <p:nvPicPr>
          <p:cNvPr id="48" name="Picture 47" descr="arg_formu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697480"/>
            <a:ext cx="2286000" cy="566777"/>
          </a:xfrm>
          <a:prstGeom prst="rect">
            <a:avLst/>
          </a:prstGeom>
        </p:spPr>
      </p:pic>
      <p:sp>
        <p:nvSpPr>
          <p:cNvPr id="4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51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521-10"/>
          <p:cNvSpPr/>
          <p:nvPr/>
        </p:nvSpPr>
        <p:spPr>
          <a:xfrm>
            <a:off x="457086" y="822778"/>
            <a:ext cx="5580255" cy="27770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522-14"/>
          <p:cNvCxnSpPr/>
          <p:nvPr/>
        </p:nvCxnSpPr>
        <p:spPr>
          <a:xfrm>
            <a:off x="476131" y="822778"/>
            <a:ext cx="914" cy="277703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6549-18"/>
          <p:cNvSpPr/>
          <p:nvPr/>
        </p:nvSpPr>
        <p:spPr>
          <a:xfrm>
            <a:off x="628493" y="3047500"/>
            <a:ext cx="5266008" cy="46660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ysDash"/>
          </a:ln>
        </p:spPr>
        <p:txBody>
          <a:bodyPr/>
          <a:lstStyle/>
          <a:p/>
        </p:txBody>
      </p:sp>
      <p:sp>
        <p:nvSpPr>
          <p:cNvPr id="7" name="el-1785891666521-11"/>
          <p:cNvSpPr/>
          <p:nvPr/>
        </p:nvSpPr>
        <p:spPr>
          <a:xfrm>
            <a:off x="6151612" y="822778"/>
            <a:ext cx="5580255" cy="27770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8" name="el-1785891666560-37"/>
          <p:cNvCxnSpPr/>
          <p:nvPr/>
        </p:nvCxnSpPr>
        <p:spPr>
          <a:xfrm>
            <a:off x="6294451" y="2243732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6522-12"/>
          <p:cNvSpPr/>
          <p:nvPr/>
        </p:nvSpPr>
        <p:spPr>
          <a:xfrm>
            <a:off x="457086" y="3656948"/>
            <a:ext cx="5580255" cy="1849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6522-15"/>
          <p:cNvCxnSpPr/>
          <p:nvPr/>
        </p:nvCxnSpPr>
        <p:spPr>
          <a:xfrm>
            <a:off x="476131" y="3656948"/>
            <a:ext cx="914" cy="1849769"/>
          </a:xfrm>
          <a:prstGeom prst="line">
            <a:avLst/>
          </a:prstGeom>
          <a:ln w="38090" cap="flat">
            <a:solidFill>
              <a:srgbClr val="E651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6522-13"/>
          <p:cNvSpPr/>
          <p:nvPr/>
        </p:nvSpPr>
        <p:spPr>
          <a:xfrm>
            <a:off x="6151612" y="3656948"/>
            <a:ext cx="5580255" cy="1849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3" name="el-1785891666560-38"/>
          <p:cNvCxnSpPr/>
          <p:nvPr/>
        </p:nvCxnSpPr>
        <p:spPr>
          <a:xfrm>
            <a:off x="6294451" y="4879414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5891666517-3"/>
          <p:cNvSpPr/>
          <p:nvPr/>
        </p:nvSpPr>
        <p:spPr>
          <a:xfrm>
            <a:off x="457086" y="5563852"/>
            <a:ext cx="11274781" cy="46839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el-1785891666518-5"/>
          <p:cNvSpPr/>
          <p:nvPr/>
        </p:nvSpPr>
        <p:spPr>
          <a:xfrm>
            <a:off x="457086" y="6089382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-1785891666520-8"/>
          <p:cNvSpPr txBox="1"/>
          <p:nvPr/>
        </p:nvSpPr>
        <p:spPr>
          <a:xfrm>
            <a:off x="457086" y="244874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6520-9"/>
          <p:cNvSpPr txBox="1"/>
          <p:nvPr/>
        </p:nvSpPr>
        <p:spPr>
          <a:xfrm>
            <a:off x="457086" y="468656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L3 数据计算：RG 与 ARG 公式字母详解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6555-28"/>
          <p:cNvSpPr txBox="1"/>
          <p:nvPr/>
        </p:nvSpPr>
        <p:spPr>
          <a:xfrm>
            <a:off x="628493" y="908482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Return Gap (RG)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6568-44"/>
          <p:cNvSpPr txBox="1"/>
          <p:nvPr/>
        </p:nvSpPr>
        <p:spPr>
          <a:xfrm>
            <a:off x="628493" y="176075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RG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6568-45"/>
          <p:cNvSpPr txBox="1"/>
          <p:nvPr/>
        </p:nvSpPr>
        <p:spPr>
          <a:xfrm>
            <a:off x="952262" y="1760756"/>
            <a:ext cx="277902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收益缺口，衡量经理"看不见的操作"对收益的贡献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6566-39"/>
          <p:cNvSpPr txBox="1"/>
          <p:nvPr/>
        </p:nvSpPr>
        <p:spPr>
          <a:xfrm>
            <a:off x="628493" y="1972039"/>
            <a:ext cx="43973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6569-46"/>
          <p:cNvSpPr txBox="1"/>
          <p:nvPr/>
        </p:nvSpPr>
        <p:spPr>
          <a:xfrm>
            <a:off x="1038709" y="1972039"/>
            <a:ext cx="291904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 的实际净值增长率（已包含所有操作）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566-40"/>
          <p:cNvSpPr txBox="1"/>
          <p:nvPr/>
        </p:nvSpPr>
        <p:spPr>
          <a:xfrm>
            <a:off x="628493" y="2183322"/>
            <a:ext cx="43973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hold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6569-47"/>
          <p:cNvSpPr txBox="1"/>
          <p:nvPr/>
        </p:nvSpPr>
        <p:spPr>
          <a:xfrm>
            <a:off x="1038709" y="2183322"/>
            <a:ext cx="3057862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持仓收益率：用上季度末持仓组合不变计算的理论收益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569-48"/>
          <p:cNvSpPr txBox="1"/>
          <p:nvPr/>
        </p:nvSpPr>
        <p:spPr>
          <a:xfrm>
            <a:off x="628493" y="239460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6" name="el-1785891666569-49"/>
          <p:cNvSpPr txBox="1"/>
          <p:nvPr/>
        </p:nvSpPr>
        <p:spPr>
          <a:xfrm>
            <a:off x="952262" y="2394606"/>
            <a:ext cx="2081496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季度索引（如 2024Q1, 2024Q2 等）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567-41"/>
          <p:cNvSpPr txBox="1"/>
          <p:nvPr/>
        </p:nvSpPr>
        <p:spPr>
          <a:xfrm>
            <a:off x="628493" y="260588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8" name="el-1785891666570-50"/>
          <p:cNvSpPr txBox="1"/>
          <p:nvPr/>
        </p:nvSpPr>
        <p:spPr>
          <a:xfrm>
            <a:off x="952262" y="2605889"/>
            <a:ext cx="204816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i 只股票在上一季度末的持仓权重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567-42"/>
          <p:cNvSpPr txBox="1"/>
          <p:nvPr/>
        </p:nvSpPr>
        <p:spPr>
          <a:xfrm>
            <a:off x="628493" y="2817172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0" name="el-1785891666570-51"/>
          <p:cNvSpPr txBox="1"/>
          <p:nvPr/>
        </p:nvSpPr>
        <p:spPr>
          <a:xfrm>
            <a:off x="952262" y="2817172"/>
            <a:ext cx="190934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i 只股票在时期 t 的个股收益率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6556-29"/>
          <p:cNvSpPr txBox="1"/>
          <p:nvPr/>
        </p:nvSpPr>
        <p:spPr>
          <a:xfrm>
            <a:off x="676106" y="3086781"/>
            <a:ext cx="3261556" cy="20295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</a:t>
            </a:r>
            <a:r>
              <a:rPr sz="1200" baseline="30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hold</a:t>
            </a:r>
            <a:r>
              <a:rPr sz="12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Σ w</a:t>
            </a:r>
            <a:r>
              <a:rPr sz="1200" baseline="-25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sz="12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× r</a:t>
            </a:r>
            <a:r>
              <a:rPr sz="1200" baseline="-25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sz="12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（按上季度末持仓不变计算的理论收益）</a:t>
            </a:r>
            <a:endParaRPr sz="97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557-30"/>
          <p:cNvSpPr txBox="1"/>
          <p:nvPr/>
        </p:nvSpPr>
        <p:spPr>
          <a:xfrm>
            <a:off x="676106" y="3272472"/>
            <a:ext cx="3467929" cy="18926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RG = Rfund - Rhold（费后净值收益 - 持仓模拟收益 = 主动操作贡献）| Kacperczyk(2008)原文含EXP费用项，中国基金净值已为费后口径</a:t>
            </a:r>
            <a:r>
              <a:rPr sz="1000" baseline="30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- R</a:t>
            </a:r>
            <a:r>
              <a:rPr sz="1000" baseline="30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hold</a:t>
            </a:r>
            <a:r>
              <a:rPr sz="1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（实际收益减去理论收益 = 主动操作贡献）</a:t>
            </a:r>
            <a:endParaRPr sz="97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557-31"/>
          <p:cNvSpPr txBox="1"/>
          <p:nvPr/>
        </p:nvSpPr>
        <p:spPr>
          <a:xfrm>
            <a:off x="6294451" y="908482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RG 示例计算（2024Q1某基金）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6550-19"/>
          <p:cNvSpPr txBox="1"/>
          <p:nvPr/>
        </p:nvSpPr>
        <p:spPr>
          <a:xfrm>
            <a:off x="6294451" y="121796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上季度末持仓：茅台8%、宁德7%、招行5%、现金80%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551-20"/>
          <p:cNvSpPr txBox="1"/>
          <p:nvPr/>
        </p:nvSpPr>
        <p:spPr>
          <a:xfrm>
            <a:off x="6294451" y="1416454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本季个股收益：茅台+5%, 宁德+12%, 招行-2%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551-21"/>
          <p:cNvSpPr txBox="1"/>
          <p:nvPr/>
        </p:nvSpPr>
        <p:spPr>
          <a:xfrm>
            <a:off x="6294451" y="161494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R</a:t>
            </a:r>
            <a:r>
              <a:rPr sz="10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hold</a:t>
            </a: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0.08×5% + 0.07×12% + 0.05×(-2%) = 0.4%+0.84%-0.1% = </a:t>
            </a:r>
            <a:r>
              <a:rPr sz="10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1.14%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552-22"/>
          <p:cNvSpPr txBox="1"/>
          <p:nvPr/>
        </p:nvSpPr>
        <p:spPr>
          <a:xfrm>
            <a:off x="6294451" y="181342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基金实际净值增长率 R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sz="11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2.50%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553-23"/>
          <p:cNvSpPr txBox="1"/>
          <p:nvPr/>
        </p:nvSpPr>
        <p:spPr>
          <a:xfrm>
            <a:off x="6294451" y="201191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RG = 2.50% - 1.14% = </a:t>
            </a:r>
            <a:r>
              <a:rPr sz="11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1.36%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6558-32"/>
          <p:cNvSpPr txBox="1"/>
          <p:nvPr/>
        </p:nvSpPr>
        <p:spPr>
          <a:xfrm>
            <a:off x="6294451" y="2286583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RG = +1.36% → 经理主动操作（加仓/减仓/择时）贡献了正收益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6558-33"/>
          <p:cNvSpPr txBox="1"/>
          <p:nvPr/>
        </p:nvSpPr>
        <p:spPr>
          <a:xfrm>
            <a:off x="6294451" y="257226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V4实测：RG均值0.93%，H3回归 t=9.20, p&lt;0.001（正向）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6558-34"/>
          <p:cNvSpPr txBox="1"/>
          <p:nvPr/>
        </p:nvSpPr>
        <p:spPr>
          <a:xfrm>
            <a:off x="628493" y="3742651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1270" b="1">
                <a:latin typeface="黑体"/>
              </a:defRPr>
            </a:pPr>
            <a:r>
              <a:t>ARG 绝对收益缺口 — 公式字母详解</a:t>
            </a:r>
            <a:endParaRPr sz="127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2" name="el-1785891666570-52"/>
          <p:cNvSpPr txBox="1"/>
          <p:nvPr/>
        </p:nvSpPr>
        <p:spPr>
          <a:xfrm>
            <a:off x="628493" y="459492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ARG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3" name="el-1785891666570-53"/>
          <p:cNvSpPr txBox="1"/>
          <p:nvPr/>
        </p:nvSpPr>
        <p:spPr>
          <a:xfrm>
            <a:off x="952262" y="4594926"/>
            <a:ext cx="249275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1200">
                <a:latin typeface="宋体"/>
              </a:defRPr>
            </a:pPr>
            <a:r>
              <a:t>绝对收益缺口，对各期RG取绝对值后求和，衡量隐形交易总强度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6568-43"/>
          <p:cNvSpPr txBox="1"/>
          <p:nvPr/>
        </p:nvSpPr>
        <p:spPr>
          <a:xfrm>
            <a:off x="628493" y="480620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RG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5" name="el-1785891666570-54"/>
          <p:cNvSpPr txBox="1"/>
          <p:nvPr/>
        </p:nvSpPr>
        <p:spPr>
          <a:xfrm>
            <a:off x="952262" y="4806209"/>
            <a:ext cx="227968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t 季度的收益缺口（如上例的1.36%）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6571-55"/>
          <p:cNvSpPr txBox="1"/>
          <p:nvPr/>
        </p:nvSpPr>
        <p:spPr>
          <a:xfrm>
            <a:off x="628493" y="5017492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7" name="el-1785891666571-56"/>
          <p:cNvSpPr txBox="1"/>
          <p:nvPr/>
        </p:nvSpPr>
        <p:spPr>
          <a:xfrm>
            <a:off x="952262" y="5017492"/>
            <a:ext cx="1768291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1200">
                <a:latin typeface="宋体"/>
              </a:defRPr>
            </a:pPr>
            <a:r>
              <a:t>求和期数（如4个季度的滚动窗口n=4）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6571-57"/>
          <p:cNvSpPr txBox="1"/>
          <p:nvPr/>
        </p:nvSpPr>
        <p:spPr>
          <a:xfrm>
            <a:off x="628493" y="5228775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n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9" name="el-1785891666571-58"/>
          <p:cNvSpPr txBox="1"/>
          <p:nvPr/>
        </p:nvSpPr>
        <p:spPr>
          <a:xfrm>
            <a:off x="952262" y="5228775"/>
            <a:ext cx="288541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滚动窗口包含的期数（如4个季度的滚动窗口 n=4）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6558-35"/>
          <p:cNvSpPr txBox="1"/>
          <p:nvPr/>
        </p:nvSpPr>
        <p:spPr>
          <a:xfrm>
            <a:off x="6294451" y="3742651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 示例计算（4季度滚动）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1" name="el-1785891666554-24"/>
          <p:cNvSpPr txBox="1"/>
          <p:nvPr/>
        </p:nvSpPr>
        <p:spPr>
          <a:xfrm>
            <a:off x="6294451" y="4052136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6554-25"/>
          <p:cNvSpPr txBox="1"/>
          <p:nvPr/>
        </p:nvSpPr>
        <p:spPr>
          <a:xfrm>
            <a:off x="6294451" y="425062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555-26"/>
          <p:cNvSpPr txBox="1"/>
          <p:nvPr/>
        </p:nvSpPr>
        <p:spPr>
          <a:xfrm>
            <a:off x="6294451" y="444911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1100" b="1">
                <a:solidFill>
                  <a:srgbClr val="B91C1C"/>
                </a:solidFill>
                <a:latin typeface="宋体"/>
              </a:defRPr>
            </a:pPr>
            <a:r>
              <a:t>[1] Q1 RG = +1.36%, Q2 RG = -0.50%</a:t>
            </a:r>
            <a:br/>
            <a:r>
              <a:t>[2] Q3 RG = +0.80%, Q4 RG = +0.30%</a:t>
            </a:r>
            <a:br/>
            <a:r>
              <a:t>[3] ARG = |1.36|+|-0.50|+|0.80|+|0.30|</a:t>
            </a:r>
            <a:br/>
            <a:r>
              <a:t>       = 1.36+0.50+0.80+0.30 = 2.96%/年</a:t>
            </a:r>
            <a:br/>
            <a:r>
              <a:t>[4] ARG &gt; 0 → 经理隐形交易总强度约3%/年</a:t>
            </a:r>
            <a:br/>
            <a:r>
              <a:t>    （正负RG不相抵，反映真实交易强度）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6555-27"/>
          <p:cNvSpPr txBox="1"/>
          <p:nvPr/>
        </p:nvSpPr>
        <p:spPr>
          <a:xfrm>
            <a:off x="6294451" y="464759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559-36"/>
          <p:cNvSpPr txBox="1"/>
          <p:nvPr/>
        </p:nvSpPr>
        <p:spPr>
          <a:xfrm>
            <a:off x="6294451" y="4922266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6" name="el-1785891666517-2"/>
          <p:cNvSpPr txBox="1"/>
          <p:nvPr/>
        </p:nvSpPr>
        <p:spPr>
          <a:xfrm>
            <a:off x="580880" y="5611465"/>
            <a:ext cx="11027193" cy="373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55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数据来源：东方财富净值API + 全持仓数据 | 文献：Kacperczyk, Sialm &amp; Zheng (2008) RFS 提出 RG（原文RG=R^F-(R^H-EXP)，中国基金净值已含费用扣除，故省略EXP项）| 差异：朱宏志(2012)研究了中国RG有效性，我们发现RG呈1Q动量(t=2.70)+2Q反转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东方财富净值API + 全持仓数据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Kacperczyk, Sialm &amp; Zheng (2008) RFS 提出 RG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差异：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朱宏志(2012)研究了中国RG有效性，我们发现RG呈1Q动量(t=2.70)+2Q反转(t=-4.46)，vs美股逐渐衰减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6518-4"/>
          <p:cNvSpPr txBox="1"/>
          <p:nvPr/>
        </p:nvSpPr>
        <p:spPr>
          <a:xfrm>
            <a:off x="509460" y="6117949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V4: RG→业绩(-, t=-3.67***) | RG在牛市弱负(t=-1.91*)，熊市强负(t=-5.45***) | 高RG(隐形交易多)损害业绩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6518-6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6518-7"/>
          <p:cNvSpPr txBox="1"/>
          <p:nvPr/>
        </p:nvSpPr>
        <p:spPr>
          <a:xfrm>
            <a:off x="11451991" y="6519090"/>
            <a:ext cx="21417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16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1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4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pic>
        <p:nvPicPr>
          <p:cNvPr id="65" name="Picture 64" descr="rg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34440"/>
            <a:ext cx="2743200" cy="632523"/>
          </a:xfrm>
          <a:prstGeom prst="rect">
            <a:avLst/>
          </a:prstGeom>
        </p:spPr>
      </p:pic>
      <p:pic>
        <p:nvPicPr>
          <p:cNvPr id="66" name="Picture 65" descr="arg_formu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4069080"/>
            <a:ext cx="2286000" cy="566777"/>
          </a:xfrm>
          <a:prstGeom prst="rect">
            <a:avLst/>
          </a:prstGeom>
        </p:spPr>
      </p:pic>
      <p:sp>
        <p:nvSpPr>
          <p:cNvPr id="6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84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855-11"/>
          <p:cNvSpPr/>
          <p:nvPr/>
        </p:nvSpPr>
        <p:spPr>
          <a:xfrm>
            <a:off x="533267" y="1114408"/>
            <a:ext cx="5994042" cy="398045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856-13"/>
          <p:cNvCxnSpPr/>
          <p:nvPr/>
        </p:nvCxnSpPr>
        <p:spPr>
          <a:xfrm>
            <a:off x="552312" y="1114408"/>
            <a:ext cx="914" cy="3980455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6859-17"/>
          <p:cNvSpPr/>
          <p:nvPr/>
        </p:nvSpPr>
        <p:spPr>
          <a:xfrm>
            <a:off x="742764" y="2423769"/>
            <a:ext cx="5603615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el-1785891666859-18"/>
          <p:cNvSpPr/>
          <p:nvPr/>
        </p:nvSpPr>
        <p:spPr>
          <a:xfrm>
            <a:off x="742764" y="3733129"/>
            <a:ext cx="5603615" cy="12188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5891666855-12"/>
          <p:cNvSpPr/>
          <p:nvPr/>
        </p:nvSpPr>
        <p:spPr>
          <a:xfrm>
            <a:off x="6660625" y="1114408"/>
            <a:ext cx="4995060" cy="398045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6859-19"/>
          <p:cNvSpPr/>
          <p:nvPr/>
        </p:nvSpPr>
        <p:spPr>
          <a:xfrm>
            <a:off x="6841555" y="1604823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5891666859-20"/>
          <p:cNvSpPr/>
          <p:nvPr/>
        </p:nvSpPr>
        <p:spPr>
          <a:xfrm>
            <a:off x="6841555" y="2275126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6860-21"/>
          <p:cNvSpPr/>
          <p:nvPr/>
        </p:nvSpPr>
        <p:spPr>
          <a:xfrm>
            <a:off x="6841555" y="2945430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5891666860-22"/>
          <p:cNvSpPr/>
          <p:nvPr/>
        </p:nvSpPr>
        <p:spPr>
          <a:xfrm>
            <a:off x="6841555" y="3615733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F5E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3" name="el-1785891666861-23"/>
          <p:cNvCxnSpPr/>
          <p:nvPr/>
        </p:nvCxnSpPr>
        <p:spPr>
          <a:xfrm>
            <a:off x="6855839" y="3615733"/>
            <a:ext cx="914" cy="613167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5891666852-3"/>
          <p:cNvSpPr/>
          <p:nvPr/>
        </p:nvSpPr>
        <p:spPr>
          <a:xfrm>
            <a:off x="533267" y="5209135"/>
            <a:ext cx="11122419" cy="6761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5" name="el-1785891666852-4"/>
          <p:cNvCxnSpPr/>
          <p:nvPr/>
        </p:nvCxnSpPr>
        <p:spPr>
          <a:xfrm>
            <a:off x="552312" y="5209135"/>
            <a:ext cx="914" cy="67610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85891666852-6"/>
          <p:cNvSpPr/>
          <p:nvPr/>
        </p:nvSpPr>
        <p:spPr>
          <a:xfrm>
            <a:off x="533267" y="5999512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l-1785891666854-9"/>
          <p:cNvSpPr txBox="1"/>
          <p:nvPr/>
        </p:nvSpPr>
        <p:spPr>
          <a:xfrm>
            <a:off x="533267" y="401254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6854-10"/>
          <p:cNvSpPr txBox="1"/>
          <p:nvPr/>
        </p:nvSpPr>
        <p:spPr>
          <a:xfrm>
            <a:off x="533267" y="653603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L4 风险应对层：风格漂移的U型效应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6858-15"/>
          <p:cNvSpPr txBox="1"/>
          <p:nvPr/>
        </p:nvSpPr>
        <p:spPr>
          <a:xfrm>
            <a:off x="742764" y="1257248"/>
            <a:ext cx="573693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理论依据：寇宗来等 (2020) 金融研究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el-1785891666857-14"/>
          <p:cNvSpPr txBox="1"/>
          <p:nvPr/>
        </p:nvSpPr>
        <p:spPr>
          <a:xfrm>
            <a:off x="742764" y="1619107"/>
            <a:ext cx="5603615" cy="7284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业绩极好时经理产生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"乐观自我能力确认"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，主动切换风格追击强势赛道；业绩极差时产生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"自我怀疑"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，模仿绩优基金以求翻盘；业绩居中时因调整成本维持原风格。形成业绩-风格漂移的 U 型关系。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6882-25"/>
          <p:cNvSpPr txBox="1"/>
          <p:nvPr/>
        </p:nvSpPr>
        <p:spPr>
          <a:xfrm>
            <a:off x="2970611" y="2509472"/>
            <a:ext cx="124776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风格漂移指数 SDI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887-34"/>
          <p:cNvSpPr txBox="1"/>
          <p:nvPr/>
        </p:nvSpPr>
        <p:spPr>
          <a:xfrm>
            <a:off x="857036" y="3828355"/>
            <a:ext cx="86861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一次项系数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888-35"/>
          <p:cNvSpPr txBox="1"/>
          <p:nvPr/>
        </p:nvSpPr>
        <p:spPr>
          <a:xfrm>
            <a:off x="5502883" y="3828355"/>
            <a:ext cx="83587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-0.293 ***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888-36"/>
          <p:cNvSpPr txBox="1"/>
          <p:nvPr/>
        </p:nvSpPr>
        <p:spPr>
          <a:xfrm>
            <a:off x="857036" y="4094988"/>
            <a:ext cx="86861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二次项系数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888-37"/>
          <p:cNvSpPr txBox="1"/>
          <p:nvPr/>
        </p:nvSpPr>
        <p:spPr>
          <a:xfrm>
            <a:off x="5467620" y="4094988"/>
            <a:ext cx="87114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+0.232 ***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888-38"/>
          <p:cNvSpPr txBox="1"/>
          <p:nvPr/>
        </p:nvSpPr>
        <p:spPr>
          <a:xfrm>
            <a:off x="857036" y="4361621"/>
            <a:ext cx="8376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U型对称轴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888-39"/>
          <p:cNvSpPr txBox="1"/>
          <p:nvPr/>
        </p:nvSpPr>
        <p:spPr>
          <a:xfrm>
            <a:off x="5469703" y="4361621"/>
            <a:ext cx="86905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 = 0.63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6889-40"/>
          <p:cNvSpPr txBox="1"/>
          <p:nvPr/>
        </p:nvSpPr>
        <p:spPr>
          <a:xfrm>
            <a:off x="857036" y="4628255"/>
            <a:ext cx="41152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样本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889-41"/>
          <p:cNvSpPr txBox="1"/>
          <p:nvPr/>
        </p:nvSpPr>
        <p:spPr>
          <a:xfrm>
            <a:off x="5077341" y="4628255"/>
            <a:ext cx="126142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1,579只中国基金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858-16"/>
          <p:cNvSpPr txBox="1"/>
          <p:nvPr/>
        </p:nvSpPr>
        <p:spPr>
          <a:xfrm>
            <a:off x="6841555" y="1257248"/>
            <a:ext cx="4759851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三种场景案例</a:t>
            </a:r>
            <a:endParaRPr sz="14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1" name="el-1785891666883-26"/>
          <p:cNvSpPr txBox="1"/>
          <p:nvPr/>
        </p:nvSpPr>
        <p:spPr>
          <a:xfrm>
            <a:off x="6955827" y="1681004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场景A：业绩极好 (SDI=0.85)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883-27"/>
          <p:cNvSpPr txBox="1"/>
          <p:nvPr/>
        </p:nvSpPr>
        <p:spPr>
          <a:xfrm>
            <a:off x="6955827" y="1928592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从"金融"切换到"新能源"→追高被套，风格漂移损害业绩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883-28"/>
          <p:cNvSpPr txBox="1"/>
          <p:nvPr/>
        </p:nvSpPr>
        <p:spPr>
          <a:xfrm>
            <a:off x="6955827" y="2351307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场景B：业绩居中 (SDI=0.20)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883-29"/>
          <p:cNvSpPr txBox="1"/>
          <p:nvPr/>
        </p:nvSpPr>
        <p:spPr>
          <a:xfrm>
            <a:off x="6955827" y="2598895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维持消费+科技均衡配置→风格稳定，业绩持续性好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883-30"/>
          <p:cNvSpPr txBox="1"/>
          <p:nvPr/>
        </p:nvSpPr>
        <p:spPr>
          <a:xfrm>
            <a:off x="6955827" y="3021610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场景C：业绩极差 (SDI=0.78)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883-31"/>
          <p:cNvSpPr txBox="1"/>
          <p:nvPr/>
        </p:nvSpPr>
        <p:spPr>
          <a:xfrm>
            <a:off x="6955827" y="3269199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模仿明星基金重仓半导体→风格混乱，加重亏损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884-32"/>
          <p:cNvSpPr txBox="1"/>
          <p:nvPr/>
        </p:nvSpPr>
        <p:spPr>
          <a:xfrm>
            <a:off x="6984394" y="3691914"/>
            <a:ext cx="4482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最优策略 (SDI≈0.63)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884-33"/>
          <p:cNvSpPr txBox="1"/>
          <p:nvPr/>
        </p:nvSpPr>
        <p:spPr>
          <a:xfrm>
            <a:off x="6984394" y="3939502"/>
            <a:ext cx="4482743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适度调整行业权重，不大幅切换风格→业绩持续性最强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6851-2"/>
          <p:cNvSpPr txBox="1"/>
          <p:nvPr/>
        </p:nvSpPr>
        <p:spPr>
          <a:xfrm>
            <a:off x="723719" y="5304361"/>
            <a:ext cx="1077960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 阶段用行业配置数据近似计算 SDI（已验证，均值~0.20）；2.0 阶段用四类风格指数（大/小盘×成长/价值）精确计算并验证 U 型关系；3.0 阶段加入市场状态交互项（牛熊市分组已发现 ICI 效应放大100倍）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6852-5"/>
          <p:cNvSpPr txBox="1"/>
          <p:nvPr/>
        </p:nvSpPr>
        <p:spPr>
          <a:xfrm>
            <a:off x="572309" y="6066170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 揭示"经理怎么应对风险" | 漂移极小或极大都损害业绩，适度稳定(SDI≈0.63)最优 | 为 H4 假设提供理论依据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6852-7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6853-8"/>
          <p:cNvSpPr txBox="1"/>
          <p:nvPr/>
        </p:nvSpPr>
        <p:spPr>
          <a:xfrm>
            <a:off x="11453181" y="6519090"/>
            <a:ext cx="212979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17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4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58338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BE185D"/>
                </a:solidFill>
                <a:latin typeface="微软雅黑" panose="020B0503020204020204" charset="-122"/>
              </a:defRPr>
            </a:pPr>
            <a:r>
              <a:t>中国文献支撑：杨坤等(2013)《管理科学学报》明星/垫底效应→直接验证BHS锦标赛risk-shifting | 刘莎莎等(2013)《管理世界》风险调整由信息优势驱动→仅熊市有效 | 肖峻(2013)《经济学季刊》牛熊市PFR非对称→激励扭曲</a:t>
            </a:r>
          </a:p>
        </p:txBody>
      </p:sp>
      <p:sp>
        <p:nvSpPr>
          <p:cNvPr id="48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pic>
        <p:nvPicPr>
          <p:cNvPr id="49" name="Picture 48" descr="sdi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788920"/>
            <a:ext cx="2743200" cy="684666"/>
          </a:xfrm>
          <a:prstGeom prst="rect">
            <a:avLst/>
          </a:prstGeom>
        </p:spPr>
      </p:pic>
      <p:sp>
        <p:nvSpPr>
          <p:cNvPr id="5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97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987-14"/>
          <p:cNvSpPr/>
          <p:nvPr/>
        </p:nvSpPr>
        <p:spPr>
          <a:xfrm>
            <a:off x="457086" y="1152945"/>
            <a:ext cx="5580255" cy="26949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988-17"/>
          <p:cNvCxnSpPr/>
          <p:nvPr/>
        </p:nvCxnSpPr>
        <p:spPr>
          <a:xfrm>
            <a:off x="476131" y="1152945"/>
            <a:ext cx="914" cy="2694901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6987-15"/>
          <p:cNvSpPr/>
          <p:nvPr/>
        </p:nvSpPr>
        <p:spPr>
          <a:xfrm>
            <a:off x="6151612" y="1152945"/>
            <a:ext cx="5580255" cy="26949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7016-37"/>
          <p:cNvCxnSpPr/>
          <p:nvPr/>
        </p:nvCxnSpPr>
        <p:spPr>
          <a:xfrm>
            <a:off x="6294451" y="2970873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6988-16"/>
          <p:cNvSpPr/>
          <p:nvPr/>
        </p:nvSpPr>
        <p:spPr>
          <a:xfrm>
            <a:off x="457086" y="3904982"/>
            <a:ext cx="5580255" cy="179709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3E0"/>
          </a:solidFill>
          <a:ln w="9523" algn="in">
            <a:solidFill>
              <a:srgbClr val="E65100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7017-38"/>
          <p:cNvCxnSpPr/>
          <p:nvPr/>
        </p:nvCxnSpPr>
        <p:spPr>
          <a:xfrm>
            <a:off x="599925" y="5325935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6984-6"/>
          <p:cNvSpPr/>
          <p:nvPr/>
        </p:nvSpPr>
        <p:spPr>
          <a:xfrm>
            <a:off x="6151612" y="3904982"/>
            <a:ext cx="5580255" cy="179709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el-1785891666981-3"/>
          <p:cNvSpPr/>
          <p:nvPr/>
        </p:nvSpPr>
        <p:spPr>
          <a:xfrm>
            <a:off x="457086" y="5759215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5891666985-7"/>
          <p:cNvSpPr txBox="1"/>
          <p:nvPr/>
        </p:nvSpPr>
        <p:spPr>
          <a:xfrm>
            <a:off x="457086" y="575041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6985-8"/>
          <p:cNvSpPr txBox="1"/>
          <p:nvPr/>
        </p:nvSpPr>
        <p:spPr>
          <a:xfrm>
            <a:off x="457086" y="798823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L4 数据计算：SDI 风格漂移指数公式详解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7013-25"/>
          <p:cNvSpPr txBox="1"/>
          <p:nvPr/>
        </p:nvSpPr>
        <p:spPr>
          <a:xfrm>
            <a:off x="628493" y="1238649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风格漂移指数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el-1785891667023-41"/>
          <p:cNvSpPr txBox="1"/>
          <p:nvPr/>
        </p:nvSpPr>
        <p:spPr>
          <a:xfrm>
            <a:off x="628493" y="2090923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SDI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6" name="el-1785891667023-42"/>
          <p:cNvSpPr txBox="1"/>
          <p:nvPr/>
        </p:nvSpPr>
        <p:spPr>
          <a:xfrm>
            <a:off x="952262" y="2090923"/>
            <a:ext cx="327360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风格漂移指数，取值 [0, 2]。0=风格完全不变，2=完全切换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7023-43"/>
          <p:cNvSpPr txBox="1"/>
          <p:nvPr/>
        </p:nvSpPr>
        <p:spPr>
          <a:xfrm>
            <a:off x="628493" y="230220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8" name="el-1785891667023-44"/>
          <p:cNvSpPr txBox="1"/>
          <p:nvPr/>
        </p:nvSpPr>
        <p:spPr>
          <a:xfrm>
            <a:off x="952262" y="2302206"/>
            <a:ext cx="141402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当前季度（如 2024Q1）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024-45"/>
          <p:cNvSpPr txBox="1"/>
          <p:nvPr/>
        </p:nvSpPr>
        <p:spPr>
          <a:xfrm>
            <a:off x="628493" y="251348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t-1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7024-46"/>
          <p:cNvSpPr txBox="1"/>
          <p:nvPr/>
        </p:nvSpPr>
        <p:spPr>
          <a:xfrm>
            <a:off x="952262" y="2513489"/>
            <a:ext cx="142473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上一季度（如 2023Q4）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024-47"/>
          <p:cNvSpPr txBox="1"/>
          <p:nvPr/>
        </p:nvSpPr>
        <p:spPr>
          <a:xfrm>
            <a:off x="628493" y="2724773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7024-48"/>
          <p:cNvSpPr txBox="1"/>
          <p:nvPr/>
        </p:nvSpPr>
        <p:spPr>
          <a:xfrm>
            <a:off x="952262" y="2724773"/>
            <a:ext cx="428702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k 个风格类别的索引（大盘成长、大盘价值、小盘成长、小盘价值 共4类）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022-39"/>
          <p:cNvSpPr txBox="1"/>
          <p:nvPr/>
        </p:nvSpPr>
        <p:spPr>
          <a:xfrm>
            <a:off x="628493" y="293605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7024-49"/>
          <p:cNvSpPr txBox="1"/>
          <p:nvPr/>
        </p:nvSpPr>
        <p:spPr>
          <a:xfrm>
            <a:off x="952262" y="2936056"/>
            <a:ext cx="2191006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 对第 k 类风格的配置权重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023-40"/>
          <p:cNvSpPr txBox="1"/>
          <p:nvPr/>
        </p:nvSpPr>
        <p:spPr>
          <a:xfrm>
            <a:off x="628493" y="3147339"/>
            <a:ext cx="3840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t-1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6" name="el-1785891667025-50"/>
          <p:cNvSpPr txBox="1"/>
          <p:nvPr/>
        </p:nvSpPr>
        <p:spPr>
          <a:xfrm>
            <a:off x="983062" y="3147339"/>
            <a:ext cx="229084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t-1 对第 k 类风格的配置权重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7025-51"/>
          <p:cNvSpPr txBox="1"/>
          <p:nvPr/>
        </p:nvSpPr>
        <p:spPr>
          <a:xfrm>
            <a:off x="628493" y="3358622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8" name="el-1785891667025-52"/>
          <p:cNvSpPr txBox="1"/>
          <p:nvPr/>
        </p:nvSpPr>
        <p:spPr>
          <a:xfrm>
            <a:off x="952262" y="3358622"/>
            <a:ext cx="146356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风格类别总数，本文 K=4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013-26"/>
          <p:cNvSpPr txBox="1"/>
          <p:nvPr/>
        </p:nvSpPr>
        <p:spPr>
          <a:xfrm>
            <a:off x="6294451" y="1238649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示例计算（4类风格简化）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el-1785891667010-19"/>
          <p:cNvSpPr txBox="1"/>
          <p:nvPr/>
        </p:nvSpPr>
        <p:spPr>
          <a:xfrm>
            <a:off x="6294451" y="1548134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上季度持仓风格：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013-27"/>
          <p:cNvSpPr txBox="1"/>
          <p:nvPr/>
        </p:nvSpPr>
        <p:spPr>
          <a:xfrm>
            <a:off x="6294451" y="174662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大盘成长 50%, 大盘价值 30%, 小盘成长 10%, 小盘价值 10%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7011-20"/>
          <p:cNvSpPr txBox="1"/>
          <p:nvPr/>
        </p:nvSpPr>
        <p:spPr>
          <a:xfrm>
            <a:off x="6294451" y="194510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本季度持仓风格：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013-28"/>
          <p:cNvSpPr txBox="1"/>
          <p:nvPr/>
        </p:nvSpPr>
        <p:spPr>
          <a:xfrm>
            <a:off x="6294451" y="214359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大盘成长 20%, 大盘价值 20%, 小盘成长 50%, 小盘价值 10%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011-21"/>
          <p:cNvSpPr txBox="1"/>
          <p:nvPr/>
        </p:nvSpPr>
        <p:spPr>
          <a:xfrm>
            <a:off x="6294451" y="234208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逐类计算 |Δw|：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7014-29"/>
          <p:cNvSpPr txBox="1"/>
          <p:nvPr/>
        </p:nvSpPr>
        <p:spPr>
          <a:xfrm>
            <a:off x="6294451" y="2540569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|50%-20%| + |30%-20%| + |10%-50%| + |10%-10%|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7014-30"/>
          <p:cNvSpPr txBox="1"/>
          <p:nvPr/>
        </p:nvSpPr>
        <p:spPr>
          <a:xfrm>
            <a:off x="6294451" y="273905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= 30% + 10% + 40% + 0% = 80%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7014-31"/>
          <p:cNvSpPr txBox="1"/>
          <p:nvPr/>
        </p:nvSpPr>
        <p:spPr>
          <a:xfrm>
            <a:off x="6294451" y="3013725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= 80% = 0.80 → 较高风格漂移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7014-32"/>
          <p:cNvSpPr txBox="1"/>
          <p:nvPr/>
        </p:nvSpPr>
        <p:spPr>
          <a:xfrm>
            <a:off x="6294451" y="329940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V4(400基金)实测：SDI均值0.15，负向显著(t=-7.69***)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7014-33"/>
          <p:cNvSpPr txBox="1"/>
          <p:nvPr/>
        </p:nvSpPr>
        <p:spPr>
          <a:xfrm>
            <a:off x="599925" y="3990686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V4验证结果（400基金全持仓）</a:t>
            </a:r>
            <a:endParaRPr sz="127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2" name="el-1785891667014-34"/>
          <p:cNvSpPr txBox="1"/>
          <p:nvPr/>
        </p:nvSpPr>
        <p:spPr>
          <a:xfrm>
            <a:off x="599925" y="430017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V4单变量回归：SDI→未来业绩 t=-0.30 (p=0.76)，不显著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7015-35"/>
          <p:cNvSpPr txBox="1"/>
          <p:nvPr/>
        </p:nvSpPr>
        <p:spPr>
          <a:xfrm>
            <a:off x="599925" y="449865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V4全模型：SDI β=-0.002, t=-0.25，控制其他指标后仍不显著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7012-22"/>
          <p:cNvSpPr txBox="1"/>
          <p:nvPr/>
        </p:nvSpPr>
        <p:spPr>
          <a:xfrm>
            <a:off x="599925" y="469714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V4用31个申万一级行业分类(vs V2用4类风格)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7012-23"/>
          <p:cNvSpPr txBox="1"/>
          <p:nvPr/>
        </p:nvSpPr>
        <p:spPr>
          <a:xfrm>
            <a:off x="599925" y="489563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V4 SDI均值33.4（行业维度，量纲不同）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7012-24"/>
          <p:cNvSpPr txBox="1"/>
          <p:nvPr/>
        </p:nvSpPr>
        <p:spPr>
          <a:xfrm>
            <a:off x="599925" y="5094119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V2发现U型效应(β₁=-0.293, β₂=+0.232)，需在V4验证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7015-36"/>
          <p:cNvSpPr txBox="1"/>
          <p:nvPr/>
        </p:nvSpPr>
        <p:spPr>
          <a:xfrm>
            <a:off x="599925" y="5368787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V4结论：SDI预测力弱，可能被OCI吸收 → 风格漂移本身不是核心问题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8" name="el-1785891666985-9"/>
          <p:cNvSpPr txBox="1"/>
          <p:nvPr/>
        </p:nvSpPr>
        <p:spPr>
          <a:xfrm>
            <a:off x="6275406" y="3943073"/>
            <a:ext cx="383853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申万一级行业分类 + 基金行业配置数据（东方财富）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6986-10"/>
          <p:cNvSpPr txBox="1"/>
          <p:nvPr/>
        </p:nvSpPr>
        <p:spPr>
          <a:xfrm>
            <a:off x="6275406" y="4129656"/>
            <a:ext cx="3284589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文献：</a:t>
            </a: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寇宗来等 (2020) 金融研究，1,579只中国基金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6986-11"/>
          <p:cNvSpPr txBox="1"/>
          <p:nvPr/>
        </p:nvSpPr>
        <p:spPr>
          <a:xfrm>
            <a:off x="6275406" y="4316240"/>
            <a:ext cx="3780361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V4(400基金)：</a:t>
            </a: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31个行业分类，SDI均值33.4，不显著(t=-0.30)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6986-12"/>
          <p:cNvSpPr txBox="1"/>
          <p:nvPr/>
        </p:nvSpPr>
        <p:spPr>
          <a:xfrm>
            <a:off x="6275406" y="4502824"/>
            <a:ext cx="3800001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V2(200基金)：</a:t>
            </a: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4类风格，U型效应显著(β₁=-0.293, β₂=+0.232)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6986-13"/>
          <p:cNvSpPr txBox="1"/>
          <p:nvPr/>
        </p:nvSpPr>
        <p:spPr>
          <a:xfrm>
            <a:off x="6275406" y="4689408"/>
            <a:ext cx="3083573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差异原因：</a:t>
            </a: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V4用行业维度+OCI吸收了SDI的预测力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980-2"/>
          <p:cNvSpPr txBox="1"/>
          <p:nvPr/>
        </p:nvSpPr>
        <p:spPr>
          <a:xfrm>
            <a:off x="509460" y="5787782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V4: SDI在400基金中不显著(t=-0.30) | V2(200基金)发现U型效应但需用风格维度验证 | OCI(过度交易)吸收了SDI的预测力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6981-4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981-5"/>
          <p:cNvSpPr txBox="1"/>
          <p:nvPr/>
        </p:nvSpPr>
        <p:spPr>
          <a:xfrm>
            <a:off x="11451991" y="6519090"/>
            <a:ext cx="21417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18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57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59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pic>
        <p:nvPicPr>
          <p:cNvPr id="60" name="Picture 59" descr="sdi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600200"/>
            <a:ext cx="2743200" cy="684666"/>
          </a:xfrm>
          <a:prstGeom prst="rect">
            <a:avLst/>
          </a:prstGeom>
        </p:spPr>
      </p:pic>
      <p:sp>
        <p:nvSpPr>
          <p:cNvPr id="6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036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042-11"/>
          <p:cNvSpPr/>
          <p:nvPr/>
        </p:nvSpPr>
        <p:spPr>
          <a:xfrm>
            <a:off x="533267" y="974099"/>
            <a:ext cx="5494551" cy="426137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043-13"/>
          <p:cNvCxnSpPr/>
          <p:nvPr/>
        </p:nvCxnSpPr>
        <p:spPr>
          <a:xfrm>
            <a:off x="552312" y="974099"/>
            <a:ext cx="914" cy="426137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7047-21"/>
          <p:cNvSpPr/>
          <p:nvPr/>
        </p:nvSpPr>
        <p:spPr>
          <a:xfrm>
            <a:off x="742764" y="2321549"/>
            <a:ext cx="5104124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el-1785891667048-22"/>
          <p:cNvSpPr/>
          <p:nvPr/>
        </p:nvSpPr>
        <p:spPr>
          <a:xfrm>
            <a:off x="742764" y="3630909"/>
            <a:ext cx="5104124" cy="12188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5891667042-12"/>
          <p:cNvSpPr/>
          <p:nvPr/>
        </p:nvSpPr>
        <p:spPr>
          <a:xfrm>
            <a:off x="6161134" y="974099"/>
            <a:ext cx="5494551" cy="426137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7043-14"/>
          <p:cNvCxnSpPr/>
          <p:nvPr/>
        </p:nvCxnSpPr>
        <p:spPr>
          <a:xfrm>
            <a:off x="6180180" y="974099"/>
            <a:ext cx="914" cy="426137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7048-23"/>
          <p:cNvSpPr/>
          <p:nvPr/>
        </p:nvSpPr>
        <p:spPr>
          <a:xfrm>
            <a:off x="6370632" y="2564376"/>
            <a:ext cx="5104124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el-1785891667048-24"/>
          <p:cNvSpPr/>
          <p:nvPr/>
        </p:nvSpPr>
        <p:spPr>
          <a:xfrm>
            <a:off x="6370632" y="3873736"/>
            <a:ext cx="5104124" cy="12188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5891667038-3"/>
          <p:cNvSpPr/>
          <p:nvPr/>
        </p:nvSpPr>
        <p:spPr>
          <a:xfrm>
            <a:off x="533267" y="5349742"/>
            <a:ext cx="11122419" cy="6761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4" name="el-1785891667038-4"/>
          <p:cNvCxnSpPr/>
          <p:nvPr/>
        </p:nvCxnSpPr>
        <p:spPr>
          <a:xfrm>
            <a:off x="552312" y="5349742"/>
            <a:ext cx="914" cy="67610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891667039-6"/>
          <p:cNvSpPr/>
          <p:nvPr/>
        </p:nvSpPr>
        <p:spPr>
          <a:xfrm>
            <a:off x="533267" y="6140119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-1785891667041-9"/>
          <p:cNvSpPr txBox="1"/>
          <p:nvPr/>
        </p:nvSpPr>
        <p:spPr>
          <a:xfrm>
            <a:off x="533267" y="260944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7041-10"/>
          <p:cNvSpPr txBox="1"/>
          <p:nvPr/>
        </p:nvSpPr>
        <p:spPr>
          <a:xfrm>
            <a:off x="533267" y="513293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认知行为层：前景理论与不可预测性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7045-17"/>
          <p:cNvSpPr txBox="1"/>
          <p:nvPr/>
        </p:nvSpPr>
        <p:spPr>
          <a:xfrm>
            <a:off x="742764" y="1116938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过度自信指数 OCI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7046-18"/>
          <p:cNvSpPr txBox="1"/>
          <p:nvPr/>
        </p:nvSpPr>
        <p:spPr>
          <a:xfrm>
            <a:off x="742764" y="1440707"/>
            <a:ext cx="521744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Kahneman &amp; Tversky (1979) Econometrica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7045-15"/>
          <p:cNvSpPr txBox="1"/>
          <p:nvPr/>
        </p:nvSpPr>
        <p:spPr>
          <a:xfrm>
            <a:off x="742764" y="1759715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前景理论核心：损失厌恶（损失敏感度约为收益2.25倍）、参考点依赖、敏感性递减。OCI为本文构建指标，用换手率Z-score标准化衡量过度自信（受Barber &amp; Odean(2001)换手率代理启发）。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损失厌恶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（损失敏感度约为收益2.25倍）、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参考点依赖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敏感性递减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。OCI 用换手率偏离度衡量过度自信。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085-31"/>
          <p:cNvSpPr txBox="1"/>
          <p:nvPr/>
        </p:nvSpPr>
        <p:spPr>
          <a:xfrm>
            <a:off x="2996352" y="2407253"/>
            <a:ext cx="69678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7085-32"/>
          <p:cNvSpPr txBox="1"/>
          <p:nvPr/>
        </p:nvSpPr>
        <p:spPr>
          <a:xfrm>
            <a:off x="857036" y="3707090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 计算示例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082-27"/>
          <p:cNvSpPr txBox="1"/>
          <p:nvPr/>
        </p:nvSpPr>
        <p:spPr>
          <a:xfrm>
            <a:off x="857036" y="3992769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基金季度换手率: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280%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7083-28"/>
          <p:cNvSpPr txBox="1"/>
          <p:nvPr/>
        </p:nvSpPr>
        <p:spPr>
          <a:xfrm>
            <a:off x="857036" y="4259402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900">
                <a:latin typeface="微软雅黑" panose="020B0503020204020204" charset="-122"/>
              </a:defRPr>
            </a:pPr>
            <a:r>
              <a:t>2. 同类基金换手率均值: 150%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084-29"/>
          <p:cNvSpPr txBox="1"/>
          <p:nvPr/>
        </p:nvSpPr>
        <p:spPr>
          <a:xfrm>
            <a:off x="857036" y="4526035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900">
                <a:latin typeface="微软雅黑" panose="020B0503020204020204" charset="-122"/>
              </a:defRPr>
            </a:pPr>
            <a:r>
              <a:t>3. 同类基金换手率标准差: 50%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7046-19"/>
          <p:cNvSpPr txBox="1"/>
          <p:nvPr/>
        </p:nvSpPr>
        <p:spPr>
          <a:xfrm>
            <a:off x="6370632" y="1116938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不可预测性分数 PS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7046-20"/>
          <p:cNvSpPr txBox="1"/>
          <p:nvPr/>
        </p:nvSpPr>
        <p:spPr>
          <a:xfrm>
            <a:off x="6370632" y="1440707"/>
            <a:ext cx="521744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本文构建（基于Cohen, Lu &amp; Nguyen (2026)理性预期框架）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7045-16"/>
          <p:cNvSpPr txBox="1"/>
          <p:nvPr/>
        </p:nvSpPr>
        <p:spPr>
          <a:xfrm>
            <a:off x="6370632" y="1759715"/>
            <a:ext cx="5104124" cy="7284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用Logistic回归预测经理下季度交易方向。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难以被预测的经理可能具有更强的私有信息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，不可预测性本身可能是Alpha来源（基于Cohen, Lu &amp; Nguyen (2026)理性预期理论推演）。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086-33"/>
          <p:cNvSpPr txBox="1"/>
          <p:nvPr/>
        </p:nvSpPr>
        <p:spPr>
          <a:xfrm>
            <a:off x="8670940" y="2650080"/>
            <a:ext cx="603347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7086-34"/>
          <p:cNvSpPr txBox="1"/>
          <p:nvPr/>
        </p:nvSpPr>
        <p:spPr>
          <a:xfrm>
            <a:off x="6484903" y="3949917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 计算示例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087-35"/>
          <p:cNvSpPr txBox="1"/>
          <p:nvPr/>
        </p:nvSpPr>
        <p:spPr>
          <a:xfrm>
            <a:off x="6484903" y="4235596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LSTM 预测加仓白酒 → 实际减仓 → 错误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7087-36"/>
          <p:cNvSpPr txBox="1"/>
          <p:nvPr/>
        </p:nvSpPr>
        <p:spPr>
          <a:xfrm>
            <a:off x="6484903" y="4502229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多次预测，准确率 = 72%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084-30"/>
          <p:cNvSpPr txBox="1"/>
          <p:nvPr/>
        </p:nvSpPr>
        <p:spPr>
          <a:xfrm>
            <a:off x="6484903" y="4768862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PS = 1 - 0.72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0.28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7038-2"/>
          <p:cNvSpPr txBox="1"/>
          <p:nvPr/>
        </p:nvSpPr>
        <p:spPr>
          <a:xfrm>
            <a:off x="723719" y="5444968"/>
            <a:ext cx="1077960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 阶段仅用 OCI（换手率偏离度，H5通过 p=0.003）；2.0 阶段加入 LA（损失厌恶指数，用处置效应代理）；3.0 阶段用 LSTM 神经网络替代 Logistic 计算 PS（提升预测精度）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039-5"/>
          <p:cNvSpPr txBox="1"/>
          <p:nvPr/>
        </p:nvSpPr>
        <p:spPr>
          <a:xfrm>
            <a:off x="572309" y="6206778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实际实现：OCI=|RG|作为ARG代理(申宇2013) | V4实测OCI均值0.028, 正向预测(t=4.40***) | 交易活跃度与未来业绩正相关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039-7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7039-8"/>
          <p:cNvSpPr txBox="1"/>
          <p:nvPr/>
        </p:nvSpPr>
        <p:spPr>
          <a:xfrm>
            <a:off x="11451544" y="6519090"/>
            <a:ext cx="214616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19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9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22960" y="4617720"/>
            <a:ext cx="4937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4. OCI = (280%−150%)/50% = 2.60 → 高度过度自信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29718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A56DB"/>
                </a:solidFill>
                <a:latin typeface="Cambria Math" panose="02040503050406030204"/>
              </a:defRPr>
            </a:pPr>
            <a:r>
              <a:t>PS = 1 − Accuracy(LSTM预测)</a:t>
            </a:r>
          </a:p>
        </p:txBody>
      </p:sp>
      <p:sp>
        <p:nvSpPr>
          <p:cNvPr id="43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pic>
        <p:nvPicPr>
          <p:cNvPr id="44" name="Picture 43" descr="oci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697480"/>
            <a:ext cx="2743200" cy="632523"/>
          </a:xfrm>
          <a:prstGeom prst="rect">
            <a:avLst/>
          </a:prstGeom>
        </p:spPr>
      </p:pic>
      <p:sp>
        <p:nvSpPr>
          <p:cNvPr id="4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10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115-10"/>
          <p:cNvSpPr/>
          <p:nvPr/>
        </p:nvSpPr>
        <p:spPr>
          <a:xfrm>
            <a:off x="457086" y="1103993"/>
            <a:ext cx="5580255" cy="202117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116-14"/>
          <p:cNvCxnSpPr/>
          <p:nvPr/>
        </p:nvCxnSpPr>
        <p:spPr>
          <a:xfrm>
            <a:off x="476131" y="1103993"/>
            <a:ext cx="914" cy="202117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7116-11"/>
          <p:cNvSpPr/>
          <p:nvPr/>
        </p:nvSpPr>
        <p:spPr>
          <a:xfrm>
            <a:off x="6151612" y="1103993"/>
            <a:ext cx="5580255" cy="202117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7139-37"/>
          <p:cNvCxnSpPr/>
          <p:nvPr/>
        </p:nvCxnSpPr>
        <p:spPr>
          <a:xfrm>
            <a:off x="6294451" y="2326459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7116-12"/>
          <p:cNvSpPr/>
          <p:nvPr/>
        </p:nvSpPr>
        <p:spPr>
          <a:xfrm>
            <a:off x="457086" y="3182305"/>
            <a:ext cx="5580255" cy="20241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7117-15"/>
          <p:cNvCxnSpPr/>
          <p:nvPr/>
        </p:nvCxnSpPr>
        <p:spPr>
          <a:xfrm>
            <a:off x="476131" y="3182305"/>
            <a:ext cx="914" cy="2024152"/>
          </a:xfrm>
          <a:prstGeom prst="line">
            <a:avLst/>
          </a:prstGeom>
          <a:ln w="38090" cap="flat">
            <a:solidFill>
              <a:srgbClr val="E651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7116-13"/>
          <p:cNvSpPr/>
          <p:nvPr/>
        </p:nvSpPr>
        <p:spPr>
          <a:xfrm>
            <a:off x="6151612" y="3182305"/>
            <a:ext cx="5580255" cy="20241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1" name="el-1785891667139-38"/>
          <p:cNvCxnSpPr/>
          <p:nvPr/>
        </p:nvCxnSpPr>
        <p:spPr>
          <a:xfrm>
            <a:off x="6294451" y="4603258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7112-3"/>
          <p:cNvSpPr/>
          <p:nvPr/>
        </p:nvSpPr>
        <p:spPr>
          <a:xfrm>
            <a:off x="457086" y="5263592"/>
            <a:ext cx="11274781" cy="48743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el-1785891667112-5"/>
          <p:cNvSpPr/>
          <p:nvPr/>
        </p:nvSpPr>
        <p:spPr>
          <a:xfrm>
            <a:off x="457086" y="5808167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7115-8"/>
          <p:cNvSpPr txBox="1"/>
          <p:nvPr/>
        </p:nvSpPr>
        <p:spPr>
          <a:xfrm>
            <a:off x="457086" y="526089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7115-9"/>
          <p:cNvSpPr txBox="1"/>
          <p:nvPr/>
        </p:nvSpPr>
        <p:spPr>
          <a:xfrm>
            <a:off x="457086" y="749871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数据计算：OCI 与 PS 公式字母详解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7135-24"/>
          <p:cNvSpPr txBox="1"/>
          <p:nvPr/>
        </p:nvSpPr>
        <p:spPr>
          <a:xfrm>
            <a:off x="628493" y="1189697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过度自信指数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7145-42"/>
          <p:cNvSpPr txBox="1"/>
          <p:nvPr/>
        </p:nvSpPr>
        <p:spPr>
          <a:xfrm>
            <a:off x="628493" y="2022926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OCI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8" name="el-1785891667145-43"/>
          <p:cNvSpPr txBox="1"/>
          <p:nvPr/>
        </p:nvSpPr>
        <p:spPr>
          <a:xfrm>
            <a:off x="1161759" y="2022926"/>
            <a:ext cx="2647348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过度自信指数（本文构建），取值 (-∞, +∞)。&gt;0过度自信，&lt;0谨慎型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144-39"/>
          <p:cNvSpPr txBox="1"/>
          <p:nvPr/>
        </p:nvSpPr>
        <p:spPr>
          <a:xfrm>
            <a:off x="628493" y="2234209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TO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i,t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7146-44"/>
          <p:cNvSpPr txBox="1"/>
          <p:nvPr/>
        </p:nvSpPr>
        <p:spPr>
          <a:xfrm>
            <a:off x="1161759" y="2234209"/>
            <a:ext cx="3429541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 i 在季度 t 的换手率。Barber &amp; Odean(2001)：TO = ½×(买入额+卖出额)/平均资产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145-40"/>
          <p:cNvSpPr txBox="1"/>
          <p:nvPr/>
        </p:nvSpPr>
        <p:spPr>
          <a:xfrm>
            <a:off x="628493" y="2445492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TŌ</a:t>
            </a:r>
            <a:r>
              <a:rPr sz="10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7146-45"/>
          <p:cNvSpPr txBox="1"/>
          <p:nvPr/>
        </p:nvSpPr>
        <p:spPr>
          <a:xfrm>
            <a:off x="1161759" y="2445492"/>
            <a:ext cx="2671452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同类基金在季度 t 的平均换手率（横截面均值）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146-46"/>
          <p:cNvSpPr txBox="1"/>
          <p:nvPr/>
        </p:nvSpPr>
        <p:spPr>
          <a:xfrm>
            <a:off x="628493" y="2656775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σ(TO)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7146-47"/>
          <p:cNvSpPr txBox="1"/>
          <p:nvPr/>
        </p:nvSpPr>
        <p:spPr>
          <a:xfrm>
            <a:off x="1161759" y="2656775"/>
            <a:ext cx="256268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同类基金换手率的横截面标准差，用于标准化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135-25"/>
          <p:cNvSpPr txBox="1"/>
          <p:nvPr/>
        </p:nvSpPr>
        <p:spPr>
          <a:xfrm>
            <a:off x="628493" y="2868058"/>
            <a:ext cx="5345998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理论公式（本文构建，受Barber &amp; Odean 2001换手率代理启发）| 实际实现: OCI=|RG|（申宇2013 ARG代理，缺换手率数据时）</a:t>
            </a:r>
            <a:endParaRPr sz="8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7135-26"/>
          <p:cNvSpPr txBox="1"/>
          <p:nvPr/>
        </p:nvSpPr>
        <p:spPr>
          <a:xfrm>
            <a:off x="6294451" y="1189697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示例计算（2024Q1某基金）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7131-17"/>
          <p:cNvSpPr txBox="1"/>
          <p:nvPr/>
        </p:nvSpPr>
        <p:spPr>
          <a:xfrm>
            <a:off x="6294451" y="149918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1100" b="1">
                <a:latin typeface="宋体"/>
              </a:defRPr>
            </a:pPr>
            <a:r>
              <a:t>[1] 基金A本季换手率 TOA = 180%（=½×(买入+卖出)/平均资产）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7131-18"/>
          <p:cNvSpPr txBox="1"/>
          <p:nvPr/>
        </p:nvSpPr>
        <p:spPr>
          <a:xfrm>
            <a:off x="6294451" y="1697669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同类基金均值 TŌ = 120%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132-19"/>
          <p:cNvSpPr txBox="1"/>
          <p:nvPr/>
        </p:nvSpPr>
        <p:spPr>
          <a:xfrm>
            <a:off x="6294451" y="1896156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同类基金标准差 σ(TO) = 50%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7133-20"/>
          <p:cNvSpPr txBox="1"/>
          <p:nvPr/>
        </p:nvSpPr>
        <p:spPr>
          <a:xfrm>
            <a:off x="6294451" y="209464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OCI = (180% - 120%) / 50% = 60/50 = </a:t>
            </a:r>
            <a:r>
              <a:rPr sz="11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1.20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136-27"/>
          <p:cNvSpPr txBox="1"/>
          <p:nvPr/>
        </p:nvSpPr>
        <p:spPr>
          <a:xfrm>
            <a:off x="6294451" y="2369311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= 1.20 &gt; 0 → 该经理过度自信，交易频率远超同行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el-1785891667136-28"/>
          <p:cNvSpPr txBox="1"/>
          <p:nvPr/>
        </p:nvSpPr>
        <p:spPr>
          <a:xfrm>
            <a:off x="6294451" y="2654990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对比：基金B换手率90% → OCI = (90-120)/50 = -0.60 → 谨慎型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136-29"/>
          <p:cNvSpPr txBox="1"/>
          <p:nvPr/>
        </p:nvSpPr>
        <p:spPr>
          <a:xfrm>
            <a:off x="628493" y="3268008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 行为风格画像 — 公式说明</a:t>
            </a:r>
            <a:endParaRPr sz="127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7137-30"/>
          <p:cNvSpPr txBox="1"/>
          <p:nvPr/>
        </p:nvSpPr>
        <p:spPr>
          <a:xfrm>
            <a:off x="628493" y="3596539"/>
            <a:ext cx="2178329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 = Logistic(L1~L5 → 行为标签)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137-31"/>
          <p:cNvSpPr txBox="1"/>
          <p:nvPr/>
        </p:nvSpPr>
        <p:spPr>
          <a:xfrm>
            <a:off x="628493" y="3783122"/>
            <a:ext cx="4314371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输入：五层指标 | 模型：1.0用Logistic, 3.0升级LSTM | 输出：行为标签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146-48"/>
          <p:cNvSpPr txBox="1"/>
          <p:nvPr/>
        </p:nvSpPr>
        <p:spPr>
          <a:xfrm>
            <a:off x="628493" y="4036365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PS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7" name="el-1785891667147-49"/>
          <p:cNvSpPr txBox="1"/>
          <p:nvPr/>
        </p:nvSpPr>
        <p:spPr>
          <a:xfrm>
            <a:off x="1161759" y="4036365"/>
            <a:ext cx="194371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行为风格画像得分，多维概率向量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7147-50"/>
          <p:cNvSpPr txBox="1"/>
          <p:nvPr/>
        </p:nvSpPr>
        <p:spPr>
          <a:xfrm>
            <a:off x="628493" y="4247648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L1~L5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9" name="el-1785891667147-51"/>
          <p:cNvSpPr txBox="1"/>
          <p:nvPr/>
        </p:nvSpPr>
        <p:spPr>
          <a:xfrm>
            <a:off x="1161759" y="4247648"/>
            <a:ext cx="132474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五层指标作为特征输入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7147-52"/>
          <p:cNvSpPr txBox="1"/>
          <p:nvPr/>
        </p:nvSpPr>
        <p:spPr>
          <a:xfrm>
            <a:off x="628493" y="4458931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β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1" name="el-1785891667147-53"/>
          <p:cNvSpPr txBox="1"/>
          <p:nvPr/>
        </p:nvSpPr>
        <p:spPr>
          <a:xfrm>
            <a:off x="1161759" y="4458931"/>
            <a:ext cx="1922438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Logistic回归系数，从数据中学习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7147-54"/>
          <p:cNvSpPr txBox="1"/>
          <p:nvPr/>
        </p:nvSpPr>
        <p:spPr>
          <a:xfrm>
            <a:off x="628493" y="4670214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σ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3" name="el-1785891667145-41"/>
          <p:cNvSpPr txBox="1"/>
          <p:nvPr/>
        </p:nvSpPr>
        <p:spPr>
          <a:xfrm>
            <a:off x="1161759" y="4670214"/>
            <a:ext cx="178644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Sigmoid函数：σ(z) = 1/(1+e</a:t>
            </a:r>
            <a:r>
              <a:rPr sz="12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-z</a:t>
            </a: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7137-32"/>
          <p:cNvSpPr txBox="1"/>
          <p:nvPr/>
        </p:nvSpPr>
        <p:spPr>
          <a:xfrm>
            <a:off x="6294451" y="3268008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 示例（Logistic分类）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7133-21"/>
          <p:cNvSpPr txBox="1"/>
          <p:nvPr/>
        </p:nvSpPr>
        <p:spPr>
          <a:xfrm>
            <a:off x="6294451" y="357749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经理A五层指标：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7137-33"/>
          <p:cNvSpPr txBox="1"/>
          <p:nvPr/>
        </p:nvSpPr>
        <p:spPr>
          <a:xfrm>
            <a:off x="6294451" y="3775980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L1: BHS=0.51(高压), L2: AS=0.68(低), ICI=0.15(高)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7137-34"/>
          <p:cNvSpPr txBox="1"/>
          <p:nvPr/>
        </p:nvSpPr>
        <p:spPr>
          <a:xfrm>
            <a:off x="6294451" y="397446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L3: RG=-0.3%(负), L4: SDI=0.35(中等), L5: OCI=0.8(偏高)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7134-22"/>
          <p:cNvSpPr txBox="1"/>
          <p:nvPr/>
        </p:nvSpPr>
        <p:spPr>
          <a:xfrm>
            <a:off x="6294451" y="417295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Logistic得分 z = β₀+β₁×0.51+β₂×0.68+...= -0.85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7135-23"/>
          <p:cNvSpPr txBox="1"/>
          <p:nvPr/>
        </p:nvSpPr>
        <p:spPr>
          <a:xfrm>
            <a:off x="6294451" y="437144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σ(-0.85) = 1/(1+e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0.85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 = 1/2.34 = </a:t>
            </a:r>
            <a:r>
              <a:rPr sz="11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0.30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7138-35"/>
          <p:cNvSpPr txBox="1"/>
          <p:nvPr/>
        </p:nvSpPr>
        <p:spPr>
          <a:xfrm>
            <a:off x="6294451" y="4646110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PS=0.30 → 分类标签：保守型（高压力+低偏离+负RG）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1" name="el-1785891667138-36"/>
          <p:cNvSpPr txBox="1"/>
          <p:nvPr/>
        </p:nvSpPr>
        <p:spPr>
          <a:xfrm>
            <a:off x="6294451" y="493178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V4(400基金)实测：OCI是最强预测因子 t=-13.45***, R²=0.0172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7111-2"/>
          <p:cNvSpPr txBox="1"/>
          <p:nvPr/>
        </p:nvSpPr>
        <p:spPr>
          <a:xfrm>
            <a:off x="580880" y="5311205"/>
            <a:ext cx="11027193" cy="3922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55"/>
              </a:lnSpc>
              <a:defRPr sz="1040" b="1">
                <a:latin typeface="宋体"/>
              </a:defRPr>
            </a:pPr>
            <a:r>
              <a:t>数据来源：换手率来自基金季报，AKShare fund_portfolio_hold_em | 理论依据：Barber &amp; Odean(2001) QJE换手率代理过度自信（原文未定义OCI公式，本文构建Z-score标准化）| 前景理论：Kahneman &amp; Tversky(1979) | PS指标：本文构建，无前人文献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7112-4"/>
          <p:cNvSpPr txBox="1"/>
          <p:nvPr/>
        </p:nvSpPr>
        <p:spPr>
          <a:xfrm>
            <a:off x="509460" y="5836735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V4核心发现：OCI是最强预测因子(t=-14.20***, R²=0.0232) | 过度交易是A股基金业绩最大拖累 | AS/RG在控制OCI后仍显著为负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7112-6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7112-7"/>
          <p:cNvSpPr txBox="1"/>
          <p:nvPr/>
        </p:nvSpPr>
        <p:spPr>
          <a:xfrm>
            <a:off x="11441426" y="6519090"/>
            <a:ext cx="224734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57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59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pic>
        <p:nvPicPr>
          <p:cNvPr id="60" name="Picture 59" descr="oci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508760"/>
            <a:ext cx="2743200" cy="632523"/>
          </a:xfrm>
          <a:prstGeom prst="rect">
            <a:avLst/>
          </a:prstGeom>
        </p:spPr>
      </p:pic>
      <p:sp>
        <p:nvSpPr>
          <p:cNvPr id="6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426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el-1785891667439-73"/>
          <p:cNvGraphicFramePr/>
          <p:nvPr/>
        </p:nvGraphicFramePr>
        <p:xfrm>
          <a:off x="457086" y="1756888"/>
          <a:ext cx="11274781" cy="28329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28518"/>
                <a:gridCol w="857036"/>
                <a:gridCol w="1904524"/>
                <a:gridCol w="714196"/>
                <a:gridCol w="714196"/>
                <a:gridCol w="761810"/>
                <a:gridCol w="659739"/>
                <a:gridCol w="690836"/>
                <a:gridCol w="4543926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层级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公式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均值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单变量t值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全模型β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全模型t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FM t值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文献来源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</a:tr>
              <a:tr h="638015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Experience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当前季度-首次任职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335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Chevalier &amp; Ellison (1999)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</a:p>
                  </a:txBody>
                  <a:tcPr marL="0" marR="0" marT="0" marB="0" anchor="ctr"/>
                </a:tc>
              </a:tr>
              <a:tr h="45708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335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Active Share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1/2×Σ|w_f-w_b|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0.673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-26.81***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-0.226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-24.30***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+2.76**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Cremers &amp; Petajisto (2009)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Σ(w_f-w_m)²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0.08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-1.78*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Kacperczyk et al. (2005)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Return Gap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R_fund-R_holdings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0.009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+9.20***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+0.108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+8.99***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+1.06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Kacperczyk et al. (2008)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AS_t-AS_{t-1}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0.000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+2.16**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-0.04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本文新增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Σ|w_m,t-w_m,t-1|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0.15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-7.69***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-0.23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寇宗来等 (2020)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|RG|（ARG代理）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0.028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+4.40***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+0.054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+3.91***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+1.31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Kahneman &amp; Tversky (1979)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  <p:sp>
        <p:nvSpPr>
          <p:cNvPr id="4" name="el-1785891667440-74"/>
          <p:cNvSpPr/>
          <p:nvPr/>
        </p:nvSpPr>
        <p:spPr>
          <a:xfrm>
            <a:off x="514221" y="2233019"/>
            <a:ext cx="251457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el-1785891667440-74__text"/>
          <p:cNvSpPr txBox="1"/>
          <p:nvPr/>
        </p:nvSpPr>
        <p:spPr>
          <a:xfrm>
            <a:off x="514221" y="2233019"/>
            <a:ext cx="251457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L1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el-1785891667440-75"/>
          <p:cNvSpPr/>
          <p:nvPr/>
        </p:nvSpPr>
        <p:spPr>
          <a:xfrm>
            <a:off x="514221" y="2782950"/>
            <a:ext cx="267377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5891667440-75__text"/>
          <p:cNvSpPr txBox="1"/>
          <p:nvPr/>
        </p:nvSpPr>
        <p:spPr>
          <a:xfrm>
            <a:off x="514221" y="2782950"/>
            <a:ext cx="267377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L2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el-1785891667440-76"/>
          <p:cNvSpPr/>
          <p:nvPr/>
        </p:nvSpPr>
        <p:spPr>
          <a:xfrm>
            <a:off x="514221" y="3156713"/>
            <a:ext cx="267377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5891667440-76__text"/>
          <p:cNvSpPr txBox="1"/>
          <p:nvPr/>
        </p:nvSpPr>
        <p:spPr>
          <a:xfrm>
            <a:off x="514221" y="3156713"/>
            <a:ext cx="267377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L2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7441-77"/>
          <p:cNvSpPr/>
          <p:nvPr/>
        </p:nvSpPr>
        <p:spPr>
          <a:xfrm>
            <a:off x="514221" y="3447152"/>
            <a:ext cx="26722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7441-77__text"/>
          <p:cNvSpPr txBox="1"/>
          <p:nvPr/>
        </p:nvSpPr>
        <p:spPr>
          <a:xfrm>
            <a:off x="514221" y="3447152"/>
            <a:ext cx="26722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L3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el-1785891667441-78"/>
          <p:cNvSpPr/>
          <p:nvPr/>
        </p:nvSpPr>
        <p:spPr>
          <a:xfrm>
            <a:off x="514221" y="3737592"/>
            <a:ext cx="26722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5891667441-78__text"/>
          <p:cNvSpPr txBox="1"/>
          <p:nvPr/>
        </p:nvSpPr>
        <p:spPr>
          <a:xfrm>
            <a:off x="514221" y="3737592"/>
            <a:ext cx="26722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L3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el-1785891667441-79"/>
          <p:cNvSpPr/>
          <p:nvPr/>
        </p:nvSpPr>
        <p:spPr>
          <a:xfrm>
            <a:off x="514221" y="4028032"/>
            <a:ext cx="26722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891667441-79__text"/>
          <p:cNvSpPr txBox="1"/>
          <p:nvPr/>
        </p:nvSpPr>
        <p:spPr>
          <a:xfrm>
            <a:off x="514221" y="4028032"/>
            <a:ext cx="26722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L4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7441-80"/>
          <p:cNvSpPr/>
          <p:nvPr/>
        </p:nvSpPr>
        <p:spPr>
          <a:xfrm>
            <a:off x="514221" y="4318472"/>
            <a:ext cx="267377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l-1785891667441-80__text"/>
          <p:cNvSpPr txBox="1"/>
          <p:nvPr/>
        </p:nvSpPr>
        <p:spPr>
          <a:xfrm>
            <a:off x="514221" y="4318472"/>
            <a:ext cx="267377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L5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7443-82"/>
          <p:cNvSpPr/>
          <p:nvPr/>
        </p:nvSpPr>
        <p:spPr>
          <a:xfrm>
            <a:off x="457086" y="4647002"/>
            <a:ext cx="11274781" cy="47970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F3C7"/>
          </a:solidFill>
          <a:ln w="9523" algn="in">
            <a:solidFill>
              <a:srgbClr val="FCD34D"/>
            </a:solidFill>
            <a:prstDash val="solid"/>
          </a:ln>
        </p:spPr>
        <p:txBody>
          <a:bodyPr/>
          <a:lstStyle/>
          <a:p/>
        </p:txBody>
      </p:sp>
      <p:sp>
        <p:nvSpPr>
          <p:cNvPr id="19" name="el-1785891667443-84"/>
          <p:cNvSpPr/>
          <p:nvPr/>
        </p:nvSpPr>
        <p:spPr>
          <a:xfrm>
            <a:off x="457086" y="5202885"/>
            <a:ext cx="11274781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el-1785891667445-87"/>
          <p:cNvSpPr txBox="1"/>
          <p:nvPr/>
        </p:nvSpPr>
        <p:spPr>
          <a:xfrm>
            <a:off x="457086" y="1164700"/>
            <a:ext cx="1136810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指标汇总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445-88"/>
          <p:cNvSpPr txBox="1"/>
          <p:nvPr/>
        </p:nvSpPr>
        <p:spPr>
          <a:xfrm>
            <a:off x="457086" y="1383720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九指标汇总：V4 400基金全持仓完整验证结果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7442-81"/>
          <p:cNvSpPr txBox="1"/>
          <p:nvPr/>
        </p:nvSpPr>
        <p:spPr>
          <a:xfrm>
            <a:off x="580880" y="4713661"/>
            <a:ext cx="11027193" cy="3463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360"/>
              </a:lnSpc>
            </a:pPr>
            <a:r>
              <a:rPr sz="10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OLS vs Fama-MacBeth：OLS中AS最强(t=-26.81***)，FM截面中AS正向(t=+2.76**)。OLS负向/FM正向的矛盾揭示AS时序与截面效应方向相反。RG在OLS和FE中均正向显著，是交易行为的核心信号。</a:t>
            </a:r>
            <a:endParaRPr sz="9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443-83"/>
          <p:cNvSpPr txBox="1"/>
          <p:nvPr/>
        </p:nvSpPr>
        <p:spPr>
          <a:xfrm>
            <a:off x="497081" y="5250498"/>
            <a:ext cx="1119479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V5修复后(400基金, 5,187观测): AS t=-24.30*** | RG t=+8.99*** | OCI t=+3.91*** | SDI t=-7.25*** | R²=0.0684 | AS负向+RG正向，行为信号分化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7443-85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444-86"/>
          <p:cNvSpPr txBox="1"/>
          <p:nvPr/>
        </p:nvSpPr>
        <p:spPr>
          <a:xfrm>
            <a:off x="11451991" y="6519090"/>
            <a:ext cx="21417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21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27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28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2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538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569-17"/>
          <p:cNvSpPr/>
          <p:nvPr/>
        </p:nvSpPr>
        <p:spPr>
          <a:xfrm>
            <a:off x="533267" y="928866"/>
            <a:ext cx="5494551" cy="207117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569-19"/>
          <p:cNvCxnSpPr/>
          <p:nvPr/>
        </p:nvCxnSpPr>
        <p:spPr>
          <a:xfrm>
            <a:off x="552312" y="928866"/>
            <a:ext cx="914" cy="2071170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7569-18"/>
          <p:cNvSpPr/>
          <p:nvPr/>
        </p:nvSpPr>
        <p:spPr>
          <a:xfrm>
            <a:off x="6161134" y="928866"/>
            <a:ext cx="5494551" cy="207117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7570-20"/>
          <p:cNvCxnSpPr/>
          <p:nvPr/>
        </p:nvCxnSpPr>
        <p:spPr>
          <a:xfrm>
            <a:off x="6180180" y="928866"/>
            <a:ext cx="914" cy="2071170"/>
          </a:xfrm>
          <a:prstGeom prst="line">
            <a:avLst/>
          </a:prstGeom>
          <a:ln w="38090" cap="flat">
            <a:solidFill>
              <a:srgbClr val="E74C3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7542-6"/>
          <p:cNvSpPr/>
          <p:nvPr/>
        </p:nvSpPr>
        <p:spPr>
          <a:xfrm>
            <a:off x="533267" y="3114307"/>
            <a:ext cx="11122419" cy="13426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8" name="el-1785891667564-8"/>
          <p:cNvPicPr/>
          <p:nvPr/>
        </p:nvPicPr>
        <p:blipFill>
          <a:blip r:embed="rId1"/>
          <a:stretch>
            <a:fillRect/>
          </a:stretch>
        </p:blipFill>
        <p:spPr>
          <a:xfrm>
            <a:off x="1106112" y="3523780"/>
            <a:ext cx="9976729" cy="809423"/>
          </a:xfrm>
          <a:prstGeom prst="rect">
            <a:avLst/>
          </a:prstGeom>
          <a:ln>
            <a:noFill/>
          </a:ln>
        </p:spPr>
      </p:pic>
      <p:sp>
        <p:nvSpPr>
          <p:cNvPr id="9" name="el-1785891667542-7"/>
          <p:cNvSpPr/>
          <p:nvPr/>
        </p:nvSpPr>
        <p:spPr>
          <a:xfrm>
            <a:off x="533267" y="4571268"/>
            <a:ext cx="11122419" cy="149981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el-1785891667540-3"/>
          <p:cNvSpPr/>
          <p:nvPr/>
        </p:nvSpPr>
        <p:spPr>
          <a:xfrm>
            <a:off x="533267" y="6185352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7565-9"/>
          <p:cNvSpPr txBox="1"/>
          <p:nvPr/>
        </p:nvSpPr>
        <p:spPr>
          <a:xfrm>
            <a:off x="533267" y="215711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el-1785891667565-10"/>
          <p:cNvSpPr txBox="1"/>
          <p:nvPr/>
        </p:nvSpPr>
        <p:spPr>
          <a:xfrm>
            <a:off x="533267" y="468061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之后：五层指标如何综合判断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7572-21"/>
          <p:cNvSpPr txBox="1"/>
          <p:nvPr/>
        </p:nvSpPr>
        <p:spPr>
          <a:xfrm>
            <a:off x="742764" y="1071705"/>
            <a:ext cx="5230774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其他机构的做法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7572-22"/>
          <p:cNvSpPr txBox="1"/>
          <p:nvPr/>
        </p:nvSpPr>
        <p:spPr>
          <a:xfrm>
            <a:off x="742764" y="1400236"/>
            <a:ext cx="5050559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 Medalist：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5P维度各自打分1-5，加权求和。权重靠分析师主观判断，维度间无因果关系。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7572-23"/>
          <p:cNvSpPr txBox="1"/>
          <p:nvPr/>
        </p:nvSpPr>
        <p:spPr>
          <a:xfrm>
            <a:off x="742764" y="1885889"/>
            <a:ext cx="4931080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华泰证券：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100+因子标准化→PCA降维→K-means聚类。因子共线性高，可解释性差。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7572-24"/>
          <p:cNvSpPr txBox="1"/>
          <p:nvPr/>
        </p:nvSpPr>
        <p:spPr>
          <a:xfrm>
            <a:off x="742764" y="2371543"/>
            <a:ext cx="5072431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Share官网：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AS×跟踪误差二维象限→4类基金。仅L2层，无递进。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7573-25"/>
          <p:cNvSpPr txBox="1"/>
          <p:nvPr/>
        </p:nvSpPr>
        <p:spPr>
          <a:xfrm>
            <a:off x="6370632" y="1071705"/>
            <a:ext cx="5230774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本文方案：级联式综合判断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7573-26"/>
          <p:cNvSpPr txBox="1"/>
          <p:nvPr/>
        </p:nvSpPr>
        <p:spPr>
          <a:xfrm>
            <a:off x="6370632" y="1400236"/>
            <a:ext cx="4970361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区别于"并列打分"或"聚类分类"，采用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因果递进+分布分类+回归验证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三步法：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573-27"/>
          <p:cNvSpPr txBox="1"/>
          <p:nvPr/>
        </p:nvSpPr>
        <p:spPr>
          <a:xfrm>
            <a:off x="6370632" y="1885889"/>
            <a:ext cx="2796317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层内标准化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：9指标 z-score 归一化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7573-28"/>
          <p:cNvSpPr txBox="1"/>
          <p:nvPr/>
        </p:nvSpPr>
        <p:spPr>
          <a:xfrm>
            <a:off x="6370632" y="2128716"/>
            <a:ext cx="3548753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因果链验证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：L1→L2→L3→L4→L5 逐层回归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574-29"/>
          <p:cNvSpPr txBox="1"/>
          <p:nvPr/>
        </p:nvSpPr>
        <p:spPr>
          <a:xfrm>
            <a:off x="6370632" y="2371543"/>
            <a:ext cx="4119068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综合评分+分布分类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：加权综合分→五分位→行为画像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7566-11"/>
          <p:cNvSpPr txBox="1"/>
          <p:nvPr/>
        </p:nvSpPr>
        <p:spPr>
          <a:xfrm>
            <a:off x="5637242" y="3238101"/>
            <a:ext cx="102097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综合回归方程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567-12"/>
          <p:cNvSpPr txBox="1"/>
          <p:nvPr/>
        </p:nvSpPr>
        <p:spPr>
          <a:xfrm>
            <a:off x="714196" y="4695062"/>
            <a:ext cx="10873878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能得出什么结论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7567-13"/>
          <p:cNvSpPr txBox="1"/>
          <p:nvPr/>
        </p:nvSpPr>
        <p:spPr>
          <a:xfrm>
            <a:off x="714196" y="4975979"/>
            <a:ext cx="7107980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行为画像分类：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每只基金获得"保守从众型/稳健主动型/激进投机型/风格漂移型/认知偏差型"标签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567-14"/>
          <p:cNvSpPr txBox="1"/>
          <p:nvPr/>
        </p:nvSpPr>
        <p:spPr>
          <a:xfrm>
            <a:off x="714196" y="5218806"/>
            <a:ext cx="7651216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业绩预测能力：AS是最强预测因子（t=-26.81***），AS五分位差-6.22%，RG差+5.14%，OCI差+1.36%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7568-15"/>
          <p:cNvSpPr txBox="1"/>
          <p:nvPr/>
        </p:nvSpPr>
        <p:spPr>
          <a:xfrm>
            <a:off x="714196" y="5461633"/>
            <a:ext cx="7727694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双重排序角落：高RG+低SDI(稳健交易)=最优组合 | AS五分位差-6.22%/季 | RG五分位差+5.14%/季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7568-16"/>
          <p:cNvSpPr txBox="1"/>
          <p:nvPr/>
        </p:nvSpPr>
        <p:spPr>
          <a:xfrm>
            <a:off x="714196" y="5704460"/>
            <a:ext cx="6757429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 独立效应：AS负向效应在OLS中最强(t=-26.81***) | FM中AS正向(t=+2.76**)→截面信号vs时序信号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7540-2"/>
          <p:cNvSpPr txBox="1"/>
          <p:nvPr/>
        </p:nvSpPr>
        <p:spPr>
          <a:xfrm>
            <a:off x="572309" y="6252010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V5全模型R²=0.0684(提升195%) | AS最强(t=-26.81***) | RG正向(t=+9.20***) | SDI负向(t=-7.69***) | 行为信号分化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540-4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7541-5"/>
          <p:cNvSpPr txBox="1"/>
          <p:nvPr/>
        </p:nvSpPr>
        <p:spPr>
          <a:xfrm>
            <a:off x="11441278" y="6519090"/>
            <a:ext cx="224883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22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2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3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27432"/>
            <a:ext cx="12188952" cy="0"/>
          </a:xfrm>
          <a:prstGeom prst="line">
            <a:avLst/>
          </a:prstGeom>
          <a:ln w="381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38328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1">
                <a:solidFill>
                  <a:srgbClr val="B91C1C"/>
                </a:solidFill>
                <a:latin typeface="宋体" panose="02010600030101010101" pitchFamily="2" charset="-122"/>
              </a:defRPr>
            </a:pPr>
            <a:r>
              <a:t>02 指标汇总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365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黑体" panose="02010609060101010101" charset="-122"/>
              </a:defRPr>
            </a:pPr>
            <a:r>
              <a:t>六指标计算详解：基准指数、数据来源与实证结果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91440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8328" y="914400"/>
            <a:ext cx="3767328" cy="36576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" y="97840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rPr sz="1400" b="1"/>
              <a:t>AS (Active Share)</a:t>
            </a:r>
            <a:endParaRPr sz="1400" b="1"/>
          </a:p>
        </p:txBody>
      </p:sp>
      <p:sp>
        <p:nvSpPr>
          <p:cNvPr id="8" name="TextBox 7"/>
          <p:cNvSpPr txBox="1"/>
          <p:nvPr/>
        </p:nvSpPr>
        <p:spPr>
          <a:xfrm>
            <a:off x="448056" y="118872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100" b="0"/>
              <a:t>L2 持仓偏离</a:t>
            </a:r>
            <a:endParaRPr sz="1100" b="0"/>
          </a:p>
        </p:txBody>
      </p:sp>
      <p:sp>
        <p:nvSpPr>
          <p:cNvPr id="9" name="TextBox 8"/>
          <p:cNvSpPr txBox="1"/>
          <p:nvPr/>
        </p:nvSpPr>
        <p:spPr>
          <a:xfrm>
            <a:off x="448056" y="137160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公式: AS = 1/2 x Sigma|w_fund - w_bench|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基准: 沪深300(300只)+中证500(500只)等权合成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数据: 东方财富全持仓API | 185,144条持仓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计算: 逐股比较基金与基准权重之差的绝对值，求和除以2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均值: 0.833 (60%+为默认值，缺实际基准)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DC2626"/>
                </a:solidFill>
                <a:latin typeface="宋体" panose="02010600030101010101" pitchFamily="2" charset="-122"/>
              </a:defRPr>
            </a:pPr>
            <a:r>
              <a:rPr sz="1000" b="0"/>
              <a:t>结果: t=-26.81*** (最强负向)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000" b="0"/>
              <a:t>对比: 美股正向 vs A股负向 -- 原创</a:t>
            </a:r>
            <a:endParaRPr sz="1000" b="0"/>
          </a:p>
        </p:txBody>
      </p:sp>
      <p:sp>
        <p:nvSpPr>
          <p:cNvPr id="10" name="Rectangle 9"/>
          <p:cNvSpPr/>
          <p:nvPr/>
        </p:nvSpPr>
        <p:spPr>
          <a:xfrm>
            <a:off x="4197096" y="91440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97096" y="914400"/>
            <a:ext cx="3767328" cy="36576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06824" y="97840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rPr sz="1400" b="1"/>
              <a:t>ICI (行业集中度)</a:t>
            </a:r>
            <a:endParaRPr sz="1400" b="1"/>
          </a:p>
        </p:txBody>
      </p:sp>
      <p:sp>
        <p:nvSpPr>
          <p:cNvPr id="13" name="TextBox 12"/>
          <p:cNvSpPr txBox="1"/>
          <p:nvPr/>
        </p:nvSpPr>
        <p:spPr>
          <a:xfrm>
            <a:off x="4306824" y="118872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100" b="0"/>
              <a:t>L2 持仓偏离</a:t>
            </a:r>
            <a:endParaRPr sz="1100" b="0"/>
          </a:p>
        </p:txBody>
      </p:sp>
      <p:sp>
        <p:nvSpPr>
          <p:cNvPr id="14" name="TextBox 13"/>
          <p:cNvSpPr txBox="1"/>
          <p:nvPr/>
        </p:nvSpPr>
        <p:spPr>
          <a:xfrm>
            <a:off x="4306824" y="137160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公式: ICI = Sigma(w_fund - w_market)^2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基准: 申万一级行业(31个) 全市场流通市值权重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数据: 东方财富行业配置 + AKShare市场权重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计算: 逐行业算基金与市场配置偏差的平方，求和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均值: 0.08 (标准化) | 原始712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DC2626"/>
                </a:solidFill>
                <a:latin typeface="宋体" panose="02010600030101010101" pitchFamily="2" charset="-122"/>
              </a:defRPr>
            </a:pPr>
            <a:r>
              <a:rPr sz="1000" b="0"/>
              <a:t>结果: t=-3.69*** (负向)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000" b="0"/>
              <a:t>对比: 美股正向 vs A股负向</a:t>
            </a:r>
            <a:endParaRPr sz="1000" b="0"/>
          </a:p>
        </p:txBody>
      </p:sp>
      <p:sp>
        <p:nvSpPr>
          <p:cNvPr id="15" name="Rectangle 14"/>
          <p:cNvSpPr/>
          <p:nvPr/>
        </p:nvSpPr>
        <p:spPr>
          <a:xfrm>
            <a:off x="8055863" y="91440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5863" y="914400"/>
            <a:ext cx="3767328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5591" y="97840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C7293"/>
                </a:solidFill>
                <a:latin typeface="黑体" panose="02010609060101010101" charset="-122"/>
              </a:defRPr>
            </a:pPr>
            <a:r>
              <a:rPr sz="1400" b="1"/>
              <a:t>RG (Return Gap)</a:t>
            </a:r>
            <a:endParaRPr sz="1400" b="1"/>
          </a:p>
        </p:txBody>
      </p:sp>
      <p:sp>
        <p:nvSpPr>
          <p:cNvPr id="18" name="TextBox 17"/>
          <p:cNvSpPr txBox="1"/>
          <p:nvPr/>
        </p:nvSpPr>
        <p:spPr>
          <a:xfrm>
            <a:off x="8165591" y="118872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100" b="0"/>
              <a:t>L3 交易行为</a:t>
            </a:r>
            <a:endParaRPr sz="1100" b="0"/>
          </a:p>
        </p:txBody>
      </p:sp>
      <p:sp>
        <p:nvSpPr>
          <p:cNvPr id="19" name="TextBox 18"/>
          <p:cNvSpPr txBox="1"/>
          <p:nvPr/>
        </p:nvSpPr>
        <p:spPr>
          <a:xfrm>
            <a:off x="8165591" y="137160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公式: RG = R_fund - Sigma(w_i,t-1 x r_i,t)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基准: 无基准 | 全持仓x个股收益算模拟收益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数据: 东方财富净值API + 全持仓(18.5万条)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计算: 模拟收益=上季度持仓不变理论收益; RG=实际-模拟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均值: 0.93% (季度均值)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rPr sz="1000" b="0"/>
              <a:t>结果: t=+9.20*** (正向，与美股一致)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000" b="0"/>
              <a:t>对比: V3前十大算RG=-3.67(错) -&gt; V4全持仓翻正</a:t>
            </a:r>
            <a:endParaRPr sz="1000" b="0"/>
          </a:p>
        </p:txBody>
      </p:sp>
      <p:sp>
        <p:nvSpPr>
          <p:cNvPr id="20" name="Rectangle 19"/>
          <p:cNvSpPr/>
          <p:nvPr/>
        </p:nvSpPr>
        <p:spPr>
          <a:xfrm>
            <a:off x="338328" y="338328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8328" y="3383280"/>
            <a:ext cx="3767328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" y="344728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黑体" panose="02010609060101010101" charset="-122"/>
              </a:defRPr>
            </a:pPr>
            <a:r>
              <a:rPr sz="1400" b="1"/>
              <a:t>SDI (风格漂移)</a:t>
            </a:r>
            <a:endParaRPr sz="1400" b="1"/>
          </a:p>
        </p:txBody>
      </p:sp>
      <p:sp>
        <p:nvSpPr>
          <p:cNvPr id="23" name="TextBox 22"/>
          <p:cNvSpPr txBox="1"/>
          <p:nvPr/>
        </p:nvSpPr>
        <p:spPr>
          <a:xfrm>
            <a:off x="448056" y="365760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100" b="0"/>
              <a:t>L4 风险应对</a:t>
            </a:r>
            <a:endParaRPr sz="1100" b="0"/>
          </a:p>
        </p:txBody>
      </p:sp>
      <p:sp>
        <p:nvSpPr>
          <p:cNvPr id="24" name="TextBox 23"/>
          <p:cNvSpPr txBox="1"/>
          <p:nvPr/>
        </p:nvSpPr>
        <p:spPr>
          <a:xfrm>
            <a:off x="448056" y="384048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10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公式: SDI = Sigma|w_k,t - w_k,t-1|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基准: 4类风格指数: 大盘成长/价值+小盘成长/价值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数据: 基金净值 + Wind四类风格指数(RBSA估计)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计算: 先RBSA回归估计风格权重，再算前后两期曼哈顿距离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均值: 0.15 (标准化) | 原始33.4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DC2626"/>
                </a:solidFill>
                <a:latin typeface="宋体" panose="02010600030101010101" pitchFamily="2" charset="-122"/>
              </a:defRPr>
            </a:pPr>
            <a:r>
              <a:rPr sz="1000" b="0"/>
              <a:t>结果: t=-7.69*** (负向稳健)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000" b="0"/>
              <a:t>对比: 寇宗来(2020)U型关系 | 牛熊反转: 牛负熊正</a:t>
            </a:r>
            <a:endParaRPr sz="1000" b="0"/>
          </a:p>
        </p:txBody>
      </p:sp>
      <p:sp>
        <p:nvSpPr>
          <p:cNvPr id="25" name="Rectangle 24"/>
          <p:cNvSpPr/>
          <p:nvPr/>
        </p:nvSpPr>
        <p:spPr>
          <a:xfrm>
            <a:off x="4197096" y="338328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97096" y="3383280"/>
            <a:ext cx="3767328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06824" y="344728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97706"/>
                </a:solidFill>
                <a:latin typeface="黑体" panose="02010609060101010101" charset="-122"/>
              </a:defRPr>
            </a:pPr>
            <a:r>
              <a:rPr sz="1400" b="1"/>
              <a:t>OCI (过度自信)</a:t>
            </a:r>
            <a:endParaRPr sz="1400" b="1"/>
          </a:p>
        </p:txBody>
      </p:sp>
      <p:sp>
        <p:nvSpPr>
          <p:cNvPr id="28" name="TextBox 27"/>
          <p:cNvSpPr txBox="1"/>
          <p:nvPr/>
        </p:nvSpPr>
        <p:spPr>
          <a:xfrm>
            <a:off x="4306824" y="365760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100" b="0"/>
              <a:t>L5 认知行为</a:t>
            </a:r>
            <a:endParaRPr sz="1100" b="0"/>
          </a:p>
        </p:txBody>
      </p:sp>
      <p:sp>
        <p:nvSpPr>
          <p:cNvPr id="29" name="TextBox 28"/>
          <p:cNvSpPr txBox="1"/>
          <p:nvPr/>
        </p:nvSpPr>
        <p:spPr>
          <a:xfrm>
            <a:off x="4306824" y="384048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公式: OCI = |RG| (申宇2013 ARG代理)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基准: 无基准 | 理论: 换手率偏离度(缺换手率数据)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数据: 当前用|RG|代理 | Phase2用实际换手率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计算: 取RG绝对值作为过度交易强度代理变量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均值: 0.028 (季度均值)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rPr sz="1000" b="0"/>
              <a:t>结果: t=+4.40*** | 因子调整后t=+4.79***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000" b="0"/>
              <a:t>对比: Barber&amp;Odean: 过度自信损害 | 本研究发现牛市正向</a:t>
            </a:r>
            <a:endParaRPr sz="1000" b="0"/>
          </a:p>
        </p:txBody>
      </p:sp>
      <p:sp>
        <p:nvSpPr>
          <p:cNvPr id="30" name="Rectangle 29"/>
          <p:cNvSpPr/>
          <p:nvPr/>
        </p:nvSpPr>
        <p:spPr>
          <a:xfrm>
            <a:off x="8055863" y="338328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55863" y="3383280"/>
            <a:ext cx="3767328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65591" y="344728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C7293"/>
                </a:solidFill>
                <a:latin typeface="黑体" panose="02010609060101010101" charset="-122"/>
              </a:defRPr>
            </a:pPr>
            <a:r>
              <a:rPr sz="1400" b="1"/>
              <a:t>dAS (主动份额变化)</a:t>
            </a:r>
            <a:endParaRPr sz="1400" b="1"/>
          </a:p>
        </p:txBody>
      </p:sp>
      <p:sp>
        <p:nvSpPr>
          <p:cNvPr id="33" name="TextBox 32"/>
          <p:cNvSpPr txBox="1"/>
          <p:nvPr/>
        </p:nvSpPr>
        <p:spPr>
          <a:xfrm>
            <a:off x="8165591" y="365760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100" b="0"/>
              <a:t>L3 交易行为</a:t>
            </a:r>
            <a:endParaRPr sz="1100" b="0"/>
          </a:p>
        </p:txBody>
      </p:sp>
      <p:sp>
        <p:nvSpPr>
          <p:cNvPr id="34" name="TextBox 33"/>
          <p:cNvSpPr txBox="1"/>
          <p:nvPr/>
        </p:nvSpPr>
        <p:spPr>
          <a:xfrm>
            <a:off x="8165591" y="384048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公式: dAS = AS_t - AS_{t-1}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基准: 同AS，基于沪深300+中证500基准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数据: 由AS指标逐期差分得到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计算: 本期AS减上期AS，正值=增主动管理，负值=趋被动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均值: -0.001 (略微趋向被动)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rPr sz="1000" b="0"/>
              <a:t>结果: t=+2.01** (正向弱显著)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000" b="0"/>
              <a:t>对比: 衡量经理增减主动赌注 | 预测力较弱</a:t>
            </a:r>
            <a:endParaRPr sz="1000" b="0"/>
          </a:p>
        </p:txBody>
      </p:sp>
      <p:sp>
        <p:nvSpPr>
          <p:cNvPr id="35" name="Rectangle 34"/>
          <p:cNvSpPr/>
          <p:nvPr/>
        </p:nvSpPr>
        <p:spPr>
          <a:xfrm>
            <a:off x="347472" y="5833872"/>
            <a:ext cx="11494008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>
              <a:defRPr sz="104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rPr sz="1000" b="0"/>
              <a:t>基准: AS/ICI用沪深300+中证500等权合成 | RG/dAS无基准(全持仓算模拟收益) | SDI用4类Wind风格指数 | OCI用|RG|代理 | 数据量: 400基金 x 40季度 = 9,581观测, 18.5万条持仓</a:t>
            </a:r>
            <a:endParaRPr sz="1000" b="0"/>
          </a:p>
        </p:txBody>
      </p:sp>
      <p:sp>
        <p:nvSpPr>
          <p:cNvPr id="36" name="TextBox 35"/>
          <p:cNvSpPr txBox="1"/>
          <p:nvPr/>
        </p:nvSpPr>
        <p:spPr>
          <a:xfrm>
            <a:off x="365760" y="6492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9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02 指标汇总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5214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7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23</a:t>
            </a:r>
          </a:p>
        </p:txBody>
      </p:sp>
      <p:sp>
        <p:nvSpPr>
          <p:cNvPr id="38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9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0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27432"/>
            <a:ext cx="12188952" cy="0"/>
          </a:xfrm>
          <a:prstGeom prst="line">
            <a:avLst/>
          </a:prstGeom>
          <a:ln w="381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38328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1">
                <a:solidFill>
                  <a:srgbClr val="B91C1C"/>
                </a:solidFill>
                <a:latin typeface="宋体" panose="02010600030101010101" pitchFamily="2" charset="-122"/>
              </a:defRPr>
            </a:pPr>
            <a:r>
              <a:t>03 MVP验证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365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黑体" panose="02010609060101010101" charset="-122"/>
              </a:defRPr>
            </a:pPr>
            <a:r>
              <a:t>MVP验证：四轮迭代过程与最终实证结果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914400"/>
            <a:ext cx="484632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978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t>四轮迭代验证过程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2801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V1 模拟数据(200基金)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验证代码管线 | R^2=0.365(模拟)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7830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C7293"/>
                </a:solidFill>
                <a:latin typeface="宋体" panose="02010600030101010101" pitchFamily="2" charset="-122"/>
              </a:defRPr>
            </a:pPr>
            <a:r>
              <a:t>V2 前200基金全持仓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RG正向(+2.57**) | R^2=0.024 | 真实数据可行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2860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D97706"/>
                </a:solidFill>
                <a:latin typeface="宋体" panose="02010600030101010101" pitchFamily="2" charset="-122"/>
              </a:defRPr>
            </a:pPr>
            <a:r>
              <a:t>V3 400基金前十大重仓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RG翻转(-3.67***) | AS偏高(0.705) | 发现偏差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7889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V4 400基金全持仓(修正)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RG翻正(+9.20***) | R^2=0.0684(+195%) | 最终验证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33101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50" b="1">
                <a:solidFill>
                  <a:srgbClr val="DC2626"/>
                </a:solidFill>
                <a:latin typeface="宋体" panose="02010600030101010101" pitchFamily="2" charset="-122"/>
              </a:defRPr>
            </a:pPr>
            <a:r>
              <a:t>关键转折: V3用前十大重仓模拟失真 -&gt; V4全持仓RG翻正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30952" y="914400"/>
            <a:ext cx="6519672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68112" y="978408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t>V4最终回归结果（400基金, 9,581观测, 40季度）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68112" y="1280160"/>
            <a:ext cx="59436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95544" y="1307592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t>指标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62472" y="1280160"/>
            <a:ext cx="141732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9904" y="1307592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t>OLS系数(t值)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79792" y="1280160"/>
            <a:ext cx="118872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1307592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t>FM截面(t值)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68512" y="1280160"/>
            <a:ext cx="128016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95944" y="1307592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t>固定效应(t值)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48672" y="1280160"/>
            <a:ext cx="146304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76104" y="1307592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t>方向判断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68112" y="1581912"/>
            <a:ext cx="59436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95544" y="1609344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62472" y="1581912"/>
            <a:ext cx="141732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9904" y="1609344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-0.226 (-26.81***)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79792" y="1581912"/>
            <a:ext cx="118872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07224" y="1609344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+0.032 (+2.76**)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68512" y="1581912"/>
            <a:ext cx="128016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95944" y="1609344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-0.155 (-8.31***)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48672" y="1581912"/>
            <a:ext cx="146304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76104" y="1609344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时序负/截面正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68112" y="1883664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95544" y="1911095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RG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62472" y="1883664"/>
            <a:ext cx="1417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89904" y="1911095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+0.108 (+9.20***)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79792" y="1883664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07224" y="1911095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不显著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68512" y="1883664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95944" y="1911095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+0.085 (+7.77***)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948672" y="1883664"/>
            <a:ext cx="1463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76104" y="1911095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正向最稳健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68112" y="2185416"/>
            <a:ext cx="59436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95544" y="2212848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ICI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62472" y="2185416"/>
            <a:ext cx="141732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89904" y="2212848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-0.015 (-3.69***)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79792" y="2185416"/>
            <a:ext cx="118872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07224" y="2212848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不显著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668512" y="2185416"/>
            <a:ext cx="128016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95944" y="2212848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不显著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948672" y="2185416"/>
            <a:ext cx="146304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976104" y="2212848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负向但弱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68112" y="2487168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95544" y="2514600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SDI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62472" y="2487168"/>
            <a:ext cx="1417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89904" y="2514600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-0.002 (-7.69***)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479792" y="2487168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07224" y="2514600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-0.001 (-2.50**)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668512" y="2487168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95944" y="2514600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-0.002 (-7.25***)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948672" y="2487168"/>
            <a:ext cx="1463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976104" y="2514600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负向稳健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68112" y="2788920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95544" y="2816352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OCI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62472" y="2788920"/>
            <a:ext cx="1417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089904" y="2816352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+0.054 (+4.40***)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479792" y="2788920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07224" y="2816352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不显著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668512" y="2788920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695944" y="2816352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不显著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948672" y="2788920"/>
            <a:ext cx="1463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976104" y="2816352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正向(因子调整后翻正)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468112" y="3090672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495544" y="3118104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dAS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062472" y="3090672"/>
            <a:ext cx="1417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089904" y="3118104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+0.031 (+2.01**)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479792" y="3090672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507224" y="3118104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-0.028 (-2.41**)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668512" y="3090672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695944" y="3118104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+0.031 (+2.01**)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948672" y="3090672"/>
            <a:ext cx="1463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976104" y="3118104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正向弱显著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468112" y="3429000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全模型R^2=0.0684(较V3提升195%) | 牛市R^2=0.0642 | 熊市R^2=0.0650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38328" y="3749039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t>核心发现与原创贡献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38328" y="4041648"/>
            <a:ext cx="2798064" cy="1417320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38328" y="4041648"/>
            <a:ext cx="2798064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11480" y="41148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C2626"/>
                </a:solidFill>
                <a:latin typeface="黑体" panose="02010609060101010101" charset="-122"/>
              </a:defRPr>
            </a:pPr>
            <a:r>
              <a:t>AS时序负/截面正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11480" y="4361688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OLS最强负向(t=-26.81***)但FM正向(t=+2.76**) -- 矛盾本身是发现: 高AS基金有选股能力，但提高AS的操作有害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200400" y="4041648"/>
            <a:ext cx="2798064" cy="141732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200400" y="4041648"/>
            <a:ext cx="2798064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273552" y="41148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黑体" panose="02010609060101010101" charset="-122"/>
              </a:defRPr>
            </a:pPr>
            <a:r>
              <a:t>RG最稳健正向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273552" y="4361688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OLS(t=+9.20***)+FE(t=+7.77***)均正向 -- 隐形交易增厚收益，与美股方向一致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062472" y="4041648"/>
            <a:ext cx="2798064" cy="1417320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062472" y="4041648"/>
            <a:ext cx="2798064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135624" y="41148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97706"/>
                </a:solidFill>
                <a:latin typeface="黑体" panose="02010609060101010101" charset="-122"/>
              </a:defRPr>
            </a:pPr>
            <a:r>
              <a:t>RG牛熊反转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135624" y="4361688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牛市正向(t=+12.62***) vs 熊市负向(t=-7.17***) -- 牛市隐形交易有效，熊市拖累(原创)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924544" y="4041648"/>
            <a:ext cx="2798064" cy="1417320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924544" y="4041648"/>
            <a:ext cx="2798064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997696" y="41148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97706"/>
                </a:solidFill>
                <a:latin typeface="黑体" panose="02010609060101010101" charset="-122"/>
              </a:defRPr>
            </a:pPr>
            <a:r>
              <a:t>SDI牛熊反转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97696" y="4361688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牛市负向(t=-12.36***) vs 熊市正向(t=+4.03***) -- 牛市风格漂移致命，熊市切换有效(原创)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38328" y="5577840"/>
            <a:ext cx="11494008" cy="22860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02920" y="5596128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MVP结论: 框架可行(R^2=0.0684, 4/6指标显著) | 方向部分一致(RG正向)部分相反(AS负向) | 全持仓是方法学核心 | 4个原创发现: AS双重效应+RG牛熊反转+SDI牛熊反转+OCI因子调整翻正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47472" y="5833872"/>
            <a:ext cx="11494008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>
              <a:defRPr sz="104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t>MVP四轮: V1模拟-&gt;V2小样本-&gt;V3前十大(偏差)-&gt;V4全持仓(修正) | 最终: AS最强负向(t=-26.81***) | RG正向最稳健(OLS+FE) | R^2=0.0684 | 4个原创发现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65760" y="6492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9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03 MVP验证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15214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7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23</a:t>
            </a:r>
          </a:p>
        </p:txBody>
      </p:sp>
      <p:sp>
        <p:nvSpPr>
          <p:cNvPr id="107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08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09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1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91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931-50"/>
          <p:cNvSpPr/>
          <p:nvPr/>
        </p:nvSpPr>
        <p:spPr>
          <a:xfrm>
            <a:off x="457086" y="1303968"/>
            <a:ext cx="3694776" cy="21616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932-53"/>
          <p:cNvCxnSpPr/>
          <p:nvPr/>
        </p:nvCxnSpPr>
        <p:spPr>
          <a:xfrm>
            <a:off x="457086" y="1323013"/>
            <a:ext cx="3694776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85891667937-75"/>
          <p:cNvCxnSpPr/>
          <p:nvPr/>
        </p:nvCxnSpPr>
        <p:spPr>
          <a:xfrm>
            <a:off x="580880" y="2251469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el-1785891667937-76"/>
          <p:cNvCxnSpPr/>
          <p:nvPr/>
        </p:nvCxnSpPr>
        <p:spPr>
          <a:xfrm>
            <a:off x="580880" y="2527625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el-1785891667937-77"/>
          <p:cNvCxnSpPr/>
          <p:nvPr/>
        </p:nvCxnSpPr>
        <p:spPr>
          <a:xfrm>
            <a:off x="580880" y="2803781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5891667937-78"/>
          <p:cNvCxnSpPr/>
          <p:nvPr/>
        </p:nvCxnSpPr>
        <p:spPr>
          <a:xfrm>
            <a:off x="580880" y="3079937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7931-51"/>
          <p:cNvSpPr/>
          <p:nvPr/>
        </p:nvSpPr>
        <p:spPr>
          <a:xfrm>
            <a:off x="4247088" y="1303968"/>
            <a:ext cx="3694776" cy="21616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7932-54"/>
          <p:cNvCxnSpPr/>
          <p:nvPr/>
        </p:nvCxnSpPr>
        <p:spPr>
          <a:xfrm>
            <a:off x="4247088" y="1323013"/>
            <a:ext cx="3694776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l-1785891667938-79"/>
          <p:cNvCxnSpPr/>
          <p:nvPr/>
        </p:nvCxnSpPr>
        <p:spPr>
          <a:xfrm>
            <a:off x="4370882" y="2251469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el-1785891667938-80"/>
          <p:cNvCxnSpPr/>
          <p:nvPr/>
        </p:nvCxnSpPr>
        <p:spPr>
          <a:xfrm>
            <a:off x="4370882" y="2527625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el-1785891667938-81"/>
          <p:cNvCxnSpPr/>
          <p:nvPr/>
        </p:nvCxnSpPr>
        <p:spPr>
          <a:xfrm>
            <a:off x="4370882" y="2803781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el-1785891667938-82"/>
          <p:cNvCxnSpPr/>
          <p:nvPr/>
        </p:nvCxnSpPr>
        <p:spPr>
          <a:xfrm>
            <a:off x="4370882" y="3079937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el-1785891667938-83"/>
          <p:cNvCxnSpPr/>
          <p:nvPr/>
        </p:nvCxnSpPr>
        <p:spPr>
          <a:xfrm>
            <a:off x="4370882" y="3356092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85891667931-52"/>
          <p:cNvSpPr/>
          <p:nvPr/>
        </p:nvSpPr>
        <p:spPr>
          <a:xfrm>
            <a:off x="8037090" y="1303968"/>
            <a:ext cx="3694776" cy="21616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7" name="el-1785891667932-55"/>
          <p:cNvCxnSpPr/>
          <p:nvPr/>
        </p:nvCxnSpPr>
        <p:spPr>
          <a:xfrm>
            <a:off x="8037090" y="1323013"/>
            <a:ext cx="3694776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el-1785891667939-84"/>
          <p:cNvCxnSpPr/>
          <p:nvPr/>
        </p:nvCxnSpPr>
        <p:spPr>
          <a:xfrm>
            <a:off x="8160884" y="2251469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el-1785891667939-85"/>
          <p:cNvCxnSpPr/>
          <p:nvPr/>
        </p:nvCxnSpPr>
        <p:spPr>
          <a:xfrm>
            <a:off x="8160884" y="2527625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el-1785891667939-86"/>
          <p:cNvCxnSpPr/>
          <p:nvPr/>
        </p:nvCxnSpPr>
        <p:spPr>
          <a:xfrm>
            <a:off x="8160884" y="2803781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el-1785891667939-87"/>
          <p:cNvCxnSpPr/>
          <p:nvPr/>
        </p:nvCxnSpPr>
        <p:spPr>
          <a:xfrm>
            <a:off x="8160884" y="3079937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el-1785891667926-37"/>
          <p:cNvGraphicFramePr/>
          <p:nvPr/>
        </p:nvGraphicFramePr>
        <p:xfrm>
          <a:off x="457086" y="3560829"/>
          <a:ext cx="11274781" cy="202355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353747"/>
                <a:gridCol w="812696"/>
                <a:gridCol w="1457109"/>
                <a:gridCol w="1369323"/>
                <a:gridCol w="4281905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数据项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状态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记录数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基金覆盖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说明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基金筛选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400只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原200+新200, 偏股混合型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基金净值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602,904条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2006-2026日度净值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全持仓(半年报+年报)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361,636条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 (100%)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平均96只/期, HTML解析东方财富API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行业分类(关键词匹配)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4,267只股票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31个申万一级行业, 覆盖率55.5%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九指标(AS/RG/ICI/SDI/OCI等)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7,846条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V5全模型R²=0.0684, AS最强(t=-26.81)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六种方法稳健性检验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7,846条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OLS/FM/FE/双重排序/牛熊市/滞后阶数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23" name="el-1785891667926-38"/>
          <p:cNvSpPr/>
          <p:nvPr/>
        </p:nvSpPr>
        <p:spPr>
          <a:xfrm>
            <a:off x="3867969" y="387507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el-1785891667926-38__text"/>
          <p:cNvSpPr txBox="1"/>
          <p:nvPr/>
        </p:nvSpPr>
        <p:spPr>
          <a:xfrm>
            <a:off x="3867969" y="387507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927-39"/>
          <p:cNvSpPr/>
          <p:nvPr/>
        </p:nvSpPr>
        <p:spPr>
          <a:xfrm>
            <a:off x="3867969" y="416551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el-1785891667927-39__text"/>
          <p:cNvSpPr txBox="1"/>
          <p:nvPr/>
        </p:nvSpPr>
        <p:spPr>
          <a:xfrm>
            <a:off x="3867969" y="416551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7927-40"/>
          <p:cNvSpPr/>
          <p:nvPr/>
        </p:nvSpPr>
        <p:spPr>
          <a:xfrm>
            <a:off x="3867969" y="445595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el-1785891667927-40__text"/>
          <p:cNvSpPr txBox="1"/>
          <p:nvPr/>
        </p:nvSpPr>
        <p:spPr>
          <a:xfrm>
            <a:off x="3867969" y="445595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927-41"/>
          <p:cNvSpPr/>
          <p:nvPr/>
        </p:nvSpPr>
        <p:spPr>
          <a:xfrm>
            <a:off x="3867969" y="474639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el-1785891667927-41__text"/>
          <p:cNvSpPr txBox="1"/>
          <p:nvPr/>
        </p:nvSpPr>
        <p:spPr>
          <a:xfrm>
            <a:off x="3867969" y="474639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927-42"/>
          <p:cNvSpPr/>
          <p:nvPr/>
        </p:nvSpPr>
        <p:spPr>
          <a:xfrm>
            <a:off x="3867969" y="503683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el-1785891667927-42__text"/>
          <p:cNvSpPr txBox="1"/>
          <p:nvPr/>
        </p:nvSpPr>
        <p:spPr>
          <a:xfrm>
            <a:off x="3867969" y="503683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927-43"/>
          <p:cNvSpPr/>
          <p:nvPr/>
        </p:nvSpPr>
        <p:spPr>
          <a:xfrm>
            <a:off x="3867969" y="532727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el-1785891667927-43__text"/>
          <p:cNvSpPr txBox="1"/>
          <p:nvPr/>
        </p:nvSpPr>
        <p:spPr>
          <a:xfrm>
            <a:off x="3867969" y="532727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928-45"/>
          <p:cNvSpPr/>
          <p:nvPr/>
        </p:nvSpPr>
        <p:spPr>
          <a:xfrm>
            <a:off x="457086" y="5674850"/>
            <a:ext cx="11274781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el-1785891667930-48"/>
          <p:cNvSpPr txBox="1"/>
          <p:nvPr/>
        </p:nvSpPr>
        <p:spPr>
          <a:xfrm>
            <a:off x="457086" y="692735"/>
            <a:ext cx="1136810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数据管线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7930-49"/>
          <p:cNvSpPr txBox="1"/>
          <p:nvPr/>
        </p:nvSpPr>
        <p:spPr>
          <a:xfrm>
            <a:off x="457086" y="911755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400基金完整数据管线（全持仓+九指标+V4验证）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8" name="el-1785891667934-56"/>
          <p:cNvSpPr txBox="1"/>
          <p:nvPr/>
        </p:nvSpPr>
        <p:spPr>
          <a:xfrm>
            <a:off x="580880" y="1437285"/>
            <a:ext cx="3580505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01</a:t>
            </a:r>
            <a:endParaRPr sz="14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9" name="el-1785891667934-57"/>
          <p:cNvSpPr txBox="1"/>
          <p:nvPr/>
        </p:nvSpPr>
        <p:spPr>
          <a:xfrm>
            <a:off x="580880" y="1751531"/>
            <a:ext cx="355384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数据获取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7934-58"/>
          <p:cNvSpPr txBox="1"/>
          <p:nvPr/>
        </p:nvSpPr>
        <p:spPr>
          <a:xfrm>
            <a:off x="580880" y="2027687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AKShare: 净值/前十大持仓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7934-59"/>
          <p:cNvSpPr txBox="1"/>
          <p:nvPr/>
        </p:nvSpPr>
        <p:spPr>
          <a:xfrm>
            <a:off x="580880" y="2303843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东方财富API: 全持仓(HTML解析)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7934-60"/>
          <p:cNvSpPr txBox="1"/>
          <p:nvPr/>
        </p:nvSpPr>
        <p:spPr>
          <a:xfrm>
            <a:off x="580880" y="2579999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关键词匹配: 31类行业分类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7934-61"/>
          <p:cNvSpPr txBox="1"/>
          <p:nvPr/>
        </p:nvSpPr>
        <p:spPr>
          <a:xfrm>
            <a:off x="580880" y="2856155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筛选: 偏股混合, 400只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7935-62"/>
          <p:cNvSpPr txBox="1"/>
          <p:nvPr/>
        </p:nvSpPr>
        <p:spPr>
          <a:xfrm>
            <a:off x="4370882" y="1437285"/>
            <a:ext cx="3580505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02</a:t>
            </a:r>
            <a:endParaRPr sz="14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7935-63"/>
          <p:cNvSpPr txBox="1"/>
          <p:nvPr/>
        </p:nvSpPr>
        <p:spPr>
          <a:xfrm>
            <a:off x="4370882" y="1751531"/>
            <a:ext cx="355384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指标计算（九指标）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6" name="el-1785891667935-64"/>
          <p:cNvSpPr txBox="1"/>
          <p:nvPr/>
        </p:nvSpPr>
        <p:spPr>
          <a:xfrm>
            <a:off x="4370882" y="2027687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AS: 修正公式(均值0.673)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7935-65"/>
          <p:cNvSpPr txBox="1"/>
          <p:nvPr/>
        </p:nvSpPr>
        <p:spPr>
          <a:xfrm>
            <a:off x="4370882" y="2303843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RG: 持仓×个股收益(均值0.93%)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7935-66"/>
          <p:cNvSpPr txBox="1"/>
          <p:nvPr/>
        </p:nvSpPr>
        <p:spPr>
          <a:xfrm>
            <a:off x="4370882" y="2579999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ICI: 行业集中度(均值0.08)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7935-67"/>
          <p:cNvSpPr txBox="1"/>
          <p:nvPr/>
        </p:nvSpPr>
        <p:spPr>
          <a:xfrm>
            <a:off x="4370882" y="2856155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SDI: 风格漂移(均值0.15)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7935-68"/>
          <p:cNvSpPr txBox="1"/>
          <p:nvPr/>
        </p:nvSpPr>
        <p:spPr>
          <a:xfrm>
            <a:off x="4370882" y="3132311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OCI: |RG|代理(均值0.028)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7936-69"/>
          <p:cNvSpPr txBox="1"/>
          <p:nvPr/>
        </p:nvSpPr>
        <p:spPr>
          <a:xfrm>
            <a:off x="8160884" y="1437285"/>
            <a:ext cx="3580505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03</a:t>
            </a:r>
            <a:endParaRPr sz="14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2" name="el-1785891667936-70"/>
          <p:cNvSpPr txBox="1"/>
          <p:nvPr/>
        </p:nvSpPr>
        <p:spPr>
          <a:xfrm>
            <a:off x="8160884" y="1751531"/>
            <a:ext cx="355384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实证分析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3" name="el-1785891667936-71"/>
          <p:cNvSpPr txBox="1"/>
          <p:nvPr/>
        </p:nvSpPr>
        <p:spPr>
          <a:xfrm>
            <a:off x="8160884" y="2027687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OLS聚类标准误 + Fama-MacBeth截面回归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7936-72"/>
          <p:cNvSpPr txBox="1"/>
          <p:nvPr/>
        </p:nvSpPr>
        <p:spPr>
          <a:xfrm>
            <a:off x="8160884" y="2303843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基金固定效应 + 双重排序角落组合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7936-73"/>
          <p:cNvSpPr txBox="1"/>
          <p:nvPr/>
        </p:nvSpPr>
        <p:spPr>
          <a:xfrm>
            <a:off x="8160884" y="2579999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牛熊市异质性 + 滞后阶数分析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7936-74"/>
          <p:cNvSpPr txBox="1"/>
          <p:nvPr/>
        </p:nvSpPr>
        <p:spPr>
          <a:xfrm>
            <a:off x="8160884" y="2856155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六种方法交叉验证(见p.26-27)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7928-44"/>
          <p:cNvSpPr txBox="1"/>
          <p:nvPr/>
        </p:nvSpPr>
        <p:spPr>
          <a:xfrm>
            <a:off x="497081" y="5722463"/>
            <a:ext cx="1119479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数据管线完整：400基金×20年 | 36万全持仓+60万净值 | 九指标全部计算完成 | V5全模型AS最强(t=-26.81***)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7928-46"/>
          <p:cNvSpPr txBox="1"/>
          <p:nvPr/>
        </p:nvSpPr>
        <p:spPr>
          <a:xfrm>
            <a:off x="609448" y="6526232"/>
            <a:ext cx="921998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真实数据管线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7928-47"/>
          <p:cNvSpPr txBox="1"/>
          <p:nvPr/>
        </p:nvSpPr>
        <p:spPr>
          <a:xfrm>
            <a:off x="11441278" y="6519090"/>
            <a:ext cx="224883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26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1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2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27432"/>
            <a:ext cx="12188952" cy="0"/>
          </a:xfrm>
          <a:prstGeom prst="line">
            <a:avLst/>
          </a:prstGeom>
          <a:ln w="381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38328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1">
                <a:solidFill>
                  <a:srgbClr val="B91C1C"/>
                </a:solidFill>
                <a:latin typeface="宋体" panose="02010600030101010101" pitchFamily="2" charset="-122"/>
              </a:defRPr>
            </a:pPr>
            <a:r>
              <a:t>04 稳健性检验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365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黑体" panose="02010609060101010101" charset="-122"/>
              </a:defRPr>
            </a:pPr>
            <a:r>
              <a:t>六种方法交叉验证在做什么？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914400"/>
            <a:ext cx="11494008" cy="777240"/>
          </a:xfrm>
          <a:prstGeom prst="rect">
            <a:avLst/>
          </a:prstGeom>
          <a:solidFill>
            <a:srgbClr val="DBEAF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10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100" b="0"/>
              <a:t>核心思想：如果行为指标真有预测力，不管用什么统计方法都应得到一致结论。</a:t>
            </a:r>
            <a:endParaRPr sz="1100" b="0"/>
          </a:p>
          <a:p>
            <a:pPr>
              <a:spcAft>
                <a:spcPts val="150"/>
              </a:spcAft>
              <a:defRPr sz="10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100" b="0"/>
              <a:t>如果不同方法给出矛盾结果，那本身就是发现——说明该指标在不同维度有不同效应。类比医学：新药需经RCT、观察性研究、荟萃分析多方法验证。</a:t>
            </a:r>
            <a:endParaRPr sz="1100" b="0"/>
          </a:p>
        </p:txBody>
      </p:sp>
      <p:sp>
        <p:nvSpPr>
          <p:cNvPr id="7" name="Rectangle 6"/>
          <p:cNvSpPr/>
          <p:nvPr/>
        </p:nvSpPr>
        <p:spPr>
          <a:xfrm>
            <a:off x="338328" y="182880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8328" y="1828800"/>
            <a:ext cx="3767328" cy="36576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" y="190195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rPr sz="1300" b="1"/>
              <a:t>1. OLS聚类回归</a:t>
            </a:r>
            <a:endParaRPr sz="1300" b="1"/>
          </a:p>
        </p:txBody>
      </p:sp>
      <p:sp>
        <p:nvSpPr>
          <p:cNvPr id="10" name="TextBox 9"/>
          <p:cNvSpPr txBox="1"/>
          <p:nvPr/>
        </p:nvSpPr>
        <p:spPr>
          <a:xfrm>
            <a:off x="448056" y="217627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做什么: 用t-1期指标预测t期收益，按基金聚类调整标准误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为什么: 面板数据最基础方法，聚类标准误解决序列相关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B91C1C"/>
                </a:solidFill>
                <a:latin typeface="宋体" panose="02010600030101010101" pitchFamily="2" charset="-122"/>
              </a:defRPr>
            </a:pPr>
            <a:r>
              <a:rPr sz="1000" b="0"/>
              <a:t>结果: AS最强负向(t=-26.81***)，RG正向(t=+9.20***)</a:t>
            </a:r>
            <a:endParaRPr sz="1000" b="0"/>
          </a:p>
        </p:txBody>
      </p:sp>
      <p:sp>
        <p:nvSpPr>
          <p:cNvPr id="11" name="Rectangle 10"/>
          <p:cNvSpPr/>
          <p:nvPr/>
        </p:nvSpPr>
        <p:spPr>
          <a:xfrm>
            <a:off x="4197096" y="182880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97096" y="1828800"/>
            <a:ext cx="3767328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06824" y="190195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C7293"/>
                </a:solidFill>
                <a:latin typeface="黑体" panose="02010609060101010101" charset="-122"/>
              </a:defRPr>
            </a:pPr>
            <a:r>
              <a:rPr sz="1300" b="1"/>
              <a:t>2. Fama-MacBeth</a:t>
            </a:r>
            <a:endParaRPr sz="1300" b="1"/>
          </a:p>
        </p:txBody>
      </p:sp>
      <p:sp>
        <p:nvSpPr>
          <p:cNvPr id="14" name="TextBox 13"/>
          <p:cNvSpPr txBox="1"/>
          <p:nvPr/>
        </p:nvSpPr>
        <p:spPr>
          <a:xfrm>
            <a:off x="4306824" y="217627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做什么: 逐季度截面回归，40个季度系数取均值，Newey-West修正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为什么: 纯截面效应——同一时间高AS基金是否比低的收益高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1C7293"/>
                </a:solidFill>
                <a:latin typeface="宋体" panose="02010600030101010101" pitchFamily="2" charset="-122"/>
              </a:defRPr>
            </a:pPr>
            <a:r>
              <a:rPr sz="1000" b="0"/>
              <a:t>结果: AS正向(t=+2.76**)——与OLS方向矛盾!</a:t>
            </a:r>
            <a:endParaRPr sz="1000" b="0"/>
          </a:p>
        </p:txBody>
      </p:sp>
      <p:sp>
        <p:nvSpPr>
          <p:cNvPr id="15" name="Rectangle 14"/>
          <p:cNvSpPr/>
          <p:nvPr/>
        </p:nvSpPr>
        <p:spPr>
          <a:xfrm>
            <a:off x="8055863" y="182880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5863" y="1828800"/>
            <a:ext cx="3767328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5591" y="190195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黑体" panose="02010609060101010101" charset="-122"/>
              </a:defRPr>
            </a:pPr>
            <a:r>
              <a:rPr sz="1300" b="1"/>
              <a:t>3. 基金固定效应</a:t>
            </a:r>
            <a:endParaRPr sz="1300" b="1"/>
          </a:p>
        </p:txBody>
      </p:sp>
      <p:sp>
        <p:nvSpPr>
          <p:cNvPr id="18" name="TextBox 17"/>
          <p:cNvSpPr txBox="1"/>
          <p:nvPr/>
        </p:nvSpPr>
        <p:spPr>
          <a:xfrm>
            <a:off x="8165591" y="217627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做什么: 加入基金虚拟变量，消除不随时间变化的基金特征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为什么: 排除基金固有质量混杂，检验是否基金内部变化驱动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rPr sz="1000" b="0"/>
              <a:t>结果: RG最稳健(t=+7.77***)，SDI负向(t=-7.25***)</a:t>
            </a:r>
            <a:endParaRPr sz="1000" b="0"/>
          </a:p>
        </p:txBody>
      </p:sp>
      <p:sp>
        <p:nvSpPr>
          <p:cNvPr id="19" name="Rectangle 18"/>
          <p:cNvSpPr/>
          <p:nvPr/>
        </p:nvSpPr>
        <p:spPr>
          <a:xfrm>
            <a:off x="338328" y="333756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8328" y="3337560"/>
            <a:ext cx="3767328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" y="341071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97706"/>
                </a:solidFill>
                <a:latin typeface="黑体" panose="02010609060101010101" charset="-122"/>
              </a:defRPr>
            </a:pPr>
            <a:r>
              <a:rPr sz="1300" b="1"/>
              <a:t>4. 双重排序</a:t>
            </a:r>
            <a:endParaRPr sz="1300" b="1"/>
          </a:p>
        </p:txBody>
      </p:sp>
      <p:sp>
        <p:nvSpPr>
          <p:cNvPr id="22" name="TextBox 21"/>
          <p:cNvSpPr txBox="1"/>
          <p:nvPr/>
        </p:nvSpPr>
        <p:spPr>
          <a:xfrm>
            <a:off x="448056" y="368503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做什么: 按AS五等分，每组内再按ICI五等分，比较最高最低组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为什么: 非参数方法，不依赖线性假设，直观看激进vs保守差距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D97706"/>
                </a:solidFill>
                <a:latin typeface="宋体" panose="02010600030101010101" pitchFamily="2" charset="-122"/>
              </a:defRPr>
            </a:pPr>
            <a:r>
              <a:rPr sz="1000" b="0"/>
              <a:t>结果: AS五分位差-6.22%/季，RG五分位差+5.14%/季</a:t>
            </a:r>
            <a:endParaRPr sz="1000" b="0"/>
          </a:p>
        </p:txBody>
      </p:sp>
      <p:sp>
        <p:nvSpPr>
          <p:cNvPr id="23" name="Rectangle 22"/>
          <p:cNvSpPr/>
          <p:nvPr/>
        </p:nvSpPr>
        <p:spPr>
          <a:xfrm>
            <a:off x="4197096" y="333756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97096" y="3337560"/>
            <a:ext cx="3767328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06824" y="341071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黑体" panose="02010609060101010101" charset="-122"/>
              </a:defRPr>
            </a:pPr>
            <a:r>
              <a:rPr sz="1300" b="1"/>
              <a:t>5. 牛熊市分组</a:t>
            </a:r>
            <a:endParaRPr sz="1300" b="1"/>
          </a:p>
        </p:txBody>
      </p:sp>
      <p:sp>
        <p:nvSpPr>
          <p:cNvPr id="26" name="TextBox 25"/>
          <p:cNvSpPr txBox="1"/>
          <p:nvPr/>
        </p:nvSpPr>
        <p:spPr>
          <a:xfrm>
            <a:off x="4306824" y="368503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做什么: 按年度基准收益正负分牛市/熊市，分别回归比较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为什么: 检验环境依赖性——同一行为在不同市场下效果不同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7C3AED"/>
                </a:solidFill>
                <a:latin typeface="宋体" panose="02010600030101010101" pitchFamily="2" charset="-122"/>
              </a:defRPr>
            </a:pPr>
            <a:r>
              <a:rPr sz="1000" b="0"/>
              <a:t>结果: RG牛正熊负(反转)，SDI牛负熊正(反转)</a:t>
            </a:r>
            <a:endParaRPr sz="1000" b="0"/>
          </a:p>
        </p:txBody>
      </p:sp>
      <p:sp>
        <p:nvSpPr>
          <p:cNvPr id="27" name="Rectangle 26"/>
          <p:cNvSpPr/>
          <p:nvPr/>
        </p:nvSpPr>
        <p:spPr>
          <a:xfrm>
            <a:off x="8055863" y="333756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55863" y="3337560"/>
            <a:ext cx="3767328" cy="36576"/>
          </a:xfrm>
          <a:prstGeom prst="rect">
            <a:avLst/>
          </a:prstGeom>
          <a:solidFill>
            <a:srgbClr val="0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65591" y="341071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89191"/>
                </a:solidFill>
                <a:latin typeface="黑体" panose="02010609060101010101" charset="-122"/>
              </a:defRPr>
            </a:pPr>
            <a:r>
              <a:rPr sz="1300" b="1"/>
              <a:t>6. 滞后阶数分析</a:t>
            </a:r>
            <a:endParaRPr sz="1300" b="1"/>
          </a:p>
        </p:txBody>
      </p:sp>
      <p:sp>
        <p:nvSpPr>
          <p:cNvPr id="30" name="TextBox 29"/>
          <p:cNvSpPr txBox="1"/>
          <p:nvPr/>
        </p:nvSpPr>
        <p:spPr>
          <a:xfrm>
            <a:off x="8165591" y="368503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做什么: 用t-1至t-4期指标分别预测t期收益，检验持续性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为什么: 持续1期=噪声，持续4期=持久行为特征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089191"/>
                </a:solidFill>
                <a:latin typeface="宋体" panose="02010600030101010101" pitchFamily="2" charset="-122"/>
              </a:defRPr>
            </a:pPr>
            <a:r>
              <a:rPr sz="1000" b="0"/>
              <a:t>结果: AS持续4/4期，RG持续4/4期但方向交替(1Q正2Q负)</a:t>
            </a:r>
            <a:endParaRPr sz="1000" b="0"/>
          </a:p>
        </p:txBody>
      </p:sp>
      <p:sp>
        <p:nvSpPr>
          <p:cNvPr id="31" name="Rectangle 30"/>
          <p:cNvSpPr/>
          <p:nvPr/>
        </p:nvSpPr>
        <p:spPr>
          <a:xfrm>
            <a:off x="338328" y="4892040"/>
            <a:ext cx="11494008" cy="59436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91947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交叉验证核心发现：OLS显示AS负向但Fama-MacBeth显示AS正向——矛盾是原创发现，说明AS存在时序效应(同一基金AS升高收益降低)和截面效应(同一时间高AS基金收益高)的双重维度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" y="5833872"/>
            <a:ext cx="11494008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>
              <a:defRPr sz="104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rPr sz="1000" b="0"/>
              <a:t>六种方法交叉验证 = 不同统计角度反复检验 | OLS(混合)-&gt;FM(截面)-&gt;FE(组内)-&gt;双重排序(非参数)-&gt;牛熊市(环境)-&gt;滞后(持续性) | 矛盾结果是发现: AS时序负/截面正 | RG最稳健</a:t>
            </a:r>
            <a:endParaRPr sz="1000" b="0"/>
          </a:p>
        </p:txBody>
      </p:sp>
      <p:sp>
        <p:nvSpPr>
          <p:cNvPr id="34" name="TextBox 33"/>
          <p:cNvSpPr txBox="1"/>
          <p:nvPr/>
        </p:nvSpPr>
        <p:spPr>
          <a:xfrm>
            <a:off x="365760" y="6492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9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04 稳健性检验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5214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7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26</a:t>
            </a:r>
          </a:p>
        </p:txBody>
      </p:sp>
      <p:sp>
        <p:nvSpPr>
          <p:cNvPr id="36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7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8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090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8096-10"/>
          <p:cNvSpPr/>
          <p:nvPr/>
        </p:nvSpPr>
        <p:spPr>
          <a:xfrm>
            <a:off x="418995" y="2025306"/>
            <a:ext cx="5627868" cy="212354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graphicFrame>
        <p:nvGraphicFramePr>
          <p:cNvPr id="4" name="el-1785891668100-40"/>
          <p:cNvGraphicFramePr/>
          <p:nvPr/>
        </p:nvGraphicFramePr>
        <p:xfrm>
          <a:off x="542789" y="2387166"/>
          <a:ext cx="5380280" cy="199975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93800"/>
                <a:gridCol w="1462912"/>
                <a:gridCol w="1427351"/>
                <a:gridCol w="1686694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 t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FE t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结论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-26.81***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-1.73*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OLS最强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+9.20***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+7.77***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最稳健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+4.40***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+1.28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OLS正向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-1.78*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-0.74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弱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-7.69***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-7.25***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负向稳健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+2.16**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+2.01**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正向显著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el-1785891668096-11"/>
          <p:cNvSpPr/>
          <p:nvPr/>
        </p:nvSpPr>
        <p:spPr>
          <a:xfrm>
            <a:off x="6142089" y="2025306"/>
            <a:ext cx="5627868" cy="212354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graphicFrame>
        <p:nvGraphicFramePr>
          <p:cNvPr id="6" name="el-1785891668103-83"/>
          <p:cNvGraphicFramePr/>
          <p:nvPr/>
        </p:nvGraphicFramePr>
        <p:xfrm>
          <a:off x="6265883" y="2387166"/>
          <a:ext cx="5380280" cy="199975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74631"/>
                <a:gridCol w="1058945"/>
                <a:gridCol w="1079776"/>
                <a:gridCol w="1059243"/>
                <a:gridCol w="1032758"/>
                <a:gridCol w="565405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持续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-26.07***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-6.05***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-13.12***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-9.47***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+8.86***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-3.16***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+3.48***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+3.05***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+4.03***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+3.66***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+1.47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-2.31**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-1.78*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-1.31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-1.34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-0.68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+2.53**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-0.68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-3.65***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+1.92*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-7.68***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-10.76***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+1.64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-13.36***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el-1785891668092-3"/>
          <p:cNvSpPr/>
          <p:nvPr/>
        </p:nvSpPr>
        <p:spPr>
          <a:xfrm>
            <a:off x="418995" y="4225031"/>
            <a:ext cx="11350962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F3C7"/>
          </a:solidFill>
          <a:ln w="9523" algn="in">
            <a:solidFill>
              <a:srgbClr val="FCD34D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5891668093-5"/>
          <p:cNvSpPr/>
          <p:nvPr/>
        </p:nvSpPr>
        <p:spPr>
          <a:xfrm>
            <a:off x="418995" y="4914380"/>
            <a:ext cx="11350962" cy="26187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5891668095-8"/>
          <p:cNvSpPr txBox="1"/>
          <p:nvPr/>
        </p:nvSpPr>
        <p:spPr>
          <a:xfrm>
            <a:off x="418995" y="1467341"/>
            <a:ext cx="1144428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稳健性检验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8095-9"/>
          <p:cNvSpPr txBox="1"/>
          <p:nvPr/>
        </p:nvSpPr>
        <p:spPr>
          <a:xfrm>
            <a:off x="418995" y="1676838"/>
            <a:ext cx="11497610" cy="2722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六种方法交叉验证：OLS / Fama-MacBeth / 固定效应 / 双重排序 / 牛熊市 / 滞后阶数</a:t>
            </a:r>
            <a:endParaRPr sz="16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el-1785891668104-84"/>
          <p:cNvSpPr txBox="1"/>
          <p:nvPr/>
        </p:nvSpPr>
        <p:spPr>
          <a:xfrm>
            <a:off x="542789" y="2111010"/>
            <a:ext cx="548693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基金固定效应回归 (within R²=0.0650)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8104-85"/>
          <p:cNvSpPr txBox="1"/>
          <p:nvPr/>
        </p:nvSpPr>
        <p:spPr>
          <a:xfrm>
            <a:off x="6265883" y="2111010"/>
            <a:ext cx="548693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滞后阶数分析（预测力持续性）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8092-2"/>
          <p:cNvSpPr txBox="1"/>
          <p:nvPr/>
        </p:nvSpPr>
        <p:spPr>
          <a:xfrm>
            <a:off x="523744" y="4291690"/>
            <a:ext cx="11141464" cy="47985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245"/>
              </a:lnSpc>
            </a:pPr>
            <a:r>
              <a:rPr sz="10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六种方法交叉验证结论： (1) AS是最强OLS预测因子(t=-26.81***)但FM中正向(t=+2.76**)——OLS负向/FM正向的矛盾揭示AS时序与截面效应方向相反。RG在OLS和FE中均正向显著(OLS t=+9.20***/FE t=+7.77**)号。 (2) RG是OLS和FE中均正向显著的预测因子，持续4Q。SDI在OLS和FE中均负向显著(t=-7.69***/-7.25***)，风格漂移持续损害业绩。 (3) RG呈方向交替(1Q正→2Q负→3Q正→4Q正)，持续4Q。AS也持续4Q负向(-26.07/-6.05/-13.12/-9.47)，是最持久的预测因子。 (4) SDI在OLS和FE中均负向显著(-7.69***/-7.25***)——风格漂移在截面和within均损害业绩。</a:t>
            </a:r>
            <a:endParaRPr sz="890">
              <a:solidFill>
                <a:srgbClr val="92400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el-1785891668093-4"/>
          <p:cNvSpPr txBox="1"/>
          <p:nvPr/>
        </p:nvSpPr>
        <p:spPr>
          <a:xfrm>
            <a:off x="446611" y="4952470"/>
            <a:ext cx="1129573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六种方法交叉验证：AS最强OLS(负向) + RG最稳健(OLS/FE均正向) | RG呈均值回归(1Q正→2Q负→3Q正) | SDI在OLS/FE均负向</a:t>
            </a:r>
            <a:endParaRPr sz="9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8093-6"/>
          <p:cNvSpPr txBox="1"/>
          <p:nvPr/>
        </p:nvSpPr>
        <p:spPr>
          <a:xfrm>
            <a:off x="609448" y="6526232"/>
            <a:ext cx="807726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稳健性检验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8093-7"/>
          <p:cNvSpPr txBox="1"/>
          <p:nvPr/>
        </p:nvSpPr>
        <p:spPr>
          <a:xfrm>
            <a:off x="11442319" y="6519090"/>
            <a:ext cx="223841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27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8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9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2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210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el-1785891668217-58"/>
          <p:cNvGraphicFramePr/>
          <p:nvPr/>
        </p:nvGraphicFramePr>
        <p:xfrm>
          <a:off x="418995" y="1971593"/>
          <a:ext cx="11350962" cy="234732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57036"/>
                <a:gridCol w="1470649"/>
                <a:gridCol w="2389433"/>
                <a:gridCol w="1434344"/>
                <a:gridCol w="1757370"/>
                <a:gridCol w="1435981"/>
                <a:gridCol w="1234816"/>
                <a:gridCol w="761810"/>
              </a:tblGrid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OLS聚类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Fama-MacBeth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固定效应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牛熊市分组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双重排序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滞后4Q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综合评价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08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-26.81***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+2.76**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-1.73*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牛负/熊负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独立显著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ts val="1335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OLS最强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+9.20***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+1.06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+7.77***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牛正/熊负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独立显著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最稳健(正向)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45708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+4.40***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+1.31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+1.28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牛正/熊无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条件显著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ts val="1335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中等稳健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-1.78*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-0.74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仅牛显著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独立显著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弱稳健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+2.16**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-0.04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+2.01**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牛正/熊负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被AS吸收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中等稳健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-7.69***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-0.23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-7.25***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牛负/熊正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OLS+FE负向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el-1785891668219-60"/>
          <p:cNvSpPr/>
          <p:nvPr/>
        </p:nvSpPr>
        <p:spPr>
          <a:xfrm>
            <a:off x="418995" y="4347486"/>
            <a:ext cx="11350962" cy="51124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0F2F1"/>
          </a:solidFill>
          <a:ln w="9523" algn="in">
            <a:solidFill>
              <a:srgbClr val="80CBC4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el-1785891668220-62"/>
          <p:cNvSpPr/>
          <p:nvPr/>
        </p:nvSpPr>
        <p:spPr>
          <a:xfrm>
            <a:off x="418995" y="4934913"/>
            <a:ext cx="11350962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891668222-65"/>
          <p:cNvSpPr txBox="1"/>
          <p:nvPr/>
        </p:nvSpPr>
        <p:spPr>
          <a:xfrm>
            <a:off x="418995" y="1413627"/>
            <a:ext cx="1144428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稳健性检验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el-1785891668222-66"/>
          <p:cNvSpPr txBox="1"/>
          <p:nvPr/>
        </p:nvSpPr>
        <p:spPr>
          <a:xfrm>
            <a:off x="418995" y="1623125"/>
            <a:ext cx="11497610" cy="2722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六指标 × 六方法：哪种指标在哪种检验中最稳健</a:t>
            </a:r>
            <a:endParaRPr sz="16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el-1785891668219-59"/>
          <p:cNvSpPr txBox="1"/>
          <p:nvPr/>
        </p:nvSpPr>
        <p:spPr>
          <a:xfrm>
            <a:off x="542789" y="4423667"/>
            <a:ext cx="11103373" cy="35888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05"/>
              </a:lnSpc>
            </a:pPr>
            <a:r>
              <a:rPr sz="1000" b="1">
                <a:solidFill>
                  <a:srgbClr val="00695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综合评价： AS在OLS中最强(t=-26.81***)但FM正向(t=+2.76**)； RG在OLS/FE中均正向显著(OLS t=+9.20***/FE t=+7.77***)； 两者互补——AS捕获时序负向效应，RG捕获截面正向效应。 RG的1Q正→2Q负交替模式暗示交易效应具有均值回归特征：短期惩罚后中期反弹。 SDI在OLS和FE中均负向显著，风格漂移持续损害业绩。</a:t>
            </a:r>
            <a:endParaRPr sz="970">
              <a:solidFill>
                <a:srgbClr val="004D4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el-1785891668220-61"/>
          <p:cNvSpPr txBox="1"/>
          <p:nvPr/>
        </p:nvSpPr>
        <p:spPr>
          <a:xfrm>
            <a:off x="458990" y="4982526"/>
            <a:ext cx="1127097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AS=OLS最强(t=-26.81***) | RG=OLS+FE均正向(最稳健) | SDI=OLS+FE均负向 | RG均值回归(1Q正→2Q负→3Q正)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8220-63"/>
          <p:cNvSpPr txBox="1"/>
          <p:nvPr/>
        </p:nvSpPr>
        <p:spPr>
          <a:xfrm>
            <a:off x="609448" y="6526232"/>
            <a:ext cx="807726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稳健性检验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el-1785891668221-64"/>
          <p:cNvSpPr txBox="1"/>
          <p:nvPr/>
        </p:nvSpPr>
        <p:spPr>
          <a:xfrm>
            <a:off x="11441278" y="6519090"/>
            <a:ext cx="224883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28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3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4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302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el-1785891668311-65"/>
          <p:cNvGraphicFramePr/>
          <p:nvPr/>
        </p:nvGraphicFramePr>
        <p:xfrm>
          <a:off x="533267" y="1416752"/>
          <a:ext cx="11122419" cy="398045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47488"/>
                <a:gridCol w="571357"/>
                <a:gridCol w="761809"/>
                <a:gridCol w="761809"/>
                <a:gridCol w="1500259"/>
                <a:gridCol w="1513055"/>
                <a:gridCol w="4966641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文献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层级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市场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样本量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数据来源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核心指标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核心结果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</a:tr>
              <a:tr h="561835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Chevalier &amp; Ellison (1999) QJE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L1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453名经理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Morningstar光盘+手动收集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经理年龄/年限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年轻经理更保守从众，离职概率对业绩敏感度更高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56659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Cremers &amp; Petajisto (2009) RFS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L2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2,647只基金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CRSP+CDA/Thomson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Active Share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AS最高组扣费后跑赢基准1.13%/年，高低差2.55%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Kacperczyk et al. (2005) JF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L2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1,771只基金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CRSP+CDA/Spectrum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ICI高于中位数基金年化异常收益1.58%（扣费前）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Kacperczyk et al. (2008) RFS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L3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2,543只基金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CRSP+CDA/Thomson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Return Gap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RG预测未来1-3月业绩，最高组年化跑赢3.41%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申宇等 (2013) 管理世界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L3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328只基金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RESSET锐思数据库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ARG（修正版）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ARG最高组年超额收益较最低组高6%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56659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寇宗来等 (2020) 金融学季刊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L4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1,579只基金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Wind数据库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业绩-风格漂移U型关系，对称轴0.63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Berk &amp; Green (2004) JF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L5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理论模型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理论推导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PS（本文构建）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理性预期下经理能力不可观测，不可预测性可能蕴含Alpha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本文框架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L1-L5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中国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400只基金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AKShare+东方财富(免费)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AS+ICI+RG+SDI+OCI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五层9指标递进，400基金修复后验证：AS负向/RG正向/SDI负向，全模型R²=0.0684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4" name="el-1785891668312-67"/>
          <p:cNvSpPr/>
          <p:nvPr/>
        </p:nvSpPr>
        <p:spPr>
          <a:xfrm>
            <a:off x="533267" y="5449581"/>
            <a:ext cx="11122419" cy="45708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el-1785891668314-70"/>
          <p:cNvSpPr txBox="1"/>
          <p:nvPr/>
        </p:nvSpPr>
        <p:spPr>
          <a:xfrm>
            <a:off x="533267" y="755971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文献对比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el-1785891668318-71"/>
          <p:cNvSpPr txBox="1"/>
          <p:nvPr/>
        </p:nvSpPr>
        <p:spPr>
          <a:xfrm>
            <a:off x="533267" y="994037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核心文献：他们怎么做、数据哪来、结果如何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el-1785891668312-66"/>
          <p:cNvSpPr txBox="1"/>
          <p:nvPr/>
        </p:nvSpPr>
        <p:spPr>
          <a:xfrm>
            <a:off x="666583" y="5478149"/>
            <a:ext cx="10855785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156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核心差异：单篇文献只覆盖1个层级1个指标 | 本文整合5层9指标为递进框架 | V5修复后发现AS负向/RG正向/SDI负向。AS与美股相反，RG与Kacperczyk(2008)一致。修复后R²提升195%(0.0232→0.0684) | 所有文献已查证确认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el-1785891668312-68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文献对比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el-1785891668313-69"/>
          <p:cNvSpPr txBox="1"/>
          <p:nvPr/>
        </p:nvSpPr>
        <p:spPr>
          <a:xfrm>
            <a:off x="11440831" y="6519090"/>
            <a:ext cx="225329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29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1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8338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中国文献补充(22篇高关联)：L1-艾洪德(2008)/赵秀娟(2010)/高鹤(2014)/申宇(2015) | L2-韩燕(2011)/蒋晓全(2007)/刘莎莎(2013) | L3-孔东民(2015)/刘京军(2016)/申宇(2013) | L4-杨坤(2013)/赎回异象争论8篇 | 方法论4篇</a:t>
            </a:r>
          </a:p>
        </p:txBody>
      </p:sp>
      <p:sp>
        <p:nvSpPr>
          <p:cNvPr id="14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891668328-1"/>
          <p:cNvSpPr/>
          <p:nvPr/>
        </p:nvSpPr>
        <p:spPr>
          <a:xfrm>
            <a:off x="0" y="857"/>
            <a:ext cx="12188952" cy="685628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5F6F8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3" name="el-1785891668329-2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-1785891668335-9"/>
          <p:cNvSpPr/>
          <p:nvPr/>
        </p:nvSpPr>
        <p:spPr>
          <a:xfrm>
            <a:off x="533267" y="1014421"/>
            <a:ext cx="549455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5" name="el-1785891668336-13"/>
          <p:cNvCxnSpPr/>
          <p:nvPr/>
        </p:nvCxnSpPr>
        <p:spPr>
          <a:xfrm>
            <a:off x="552312" y="1014421"/>
            <a:ext cx="914" cy="173311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8335-10"/>
          <p:cNvSpPr/>
          <p:nvPr/>
        </p:nvSpPr>
        <p:spPr>
          <a:xfrm>
            <a:off x="6161134" y="1014421"/>
            <a:ext cx="549455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8336-14"/>
          <p:cNvCxnSpPr/>
          <p:nvPr/>
        </p:nvCxnSpPr>
        <p:spPr>
          <a:xfrm>
            <a:off x="6180180" y="1014421"/>
            <a:ext cx="914" cy="173311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8335-11"/>
          <p:cNvSpPr/>
          <p:nvPr/>
        </p:nvSpPr>
        <p:spPr>
          <a:xfrm>
            <a:off x="533267" y="2880854"/>
            <a:ext cx="549455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8336-15"/>
          <p:cNvCxnSpPr/>
          <p:nvPr/>
        </p:nvCxnSpPr>
        <p:spPr>
          <a:xfrm>
            <a:off x="552312" y="2880854"/>
            <a:ext cx="914" cy="173311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8344-30"/>
          <p:cNvSpPr/>
          <p:nvPr/>
        </p:nvSpPr>
        <p:spPr>
          <a:xfrm>
            <a:off x="6161134" y="2880854"/>
            <a:ext cx="549455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1" name="el-1785891668344-31"/>
          <p:cNvCxnSpPr/>
          <p:nvPr/>
        </p:nvCxnSpPr>
        <p:spPr>
          <a:xfrm>
            <a:off x="6180180" y="2880854"/>
            <a:ext cx="914" cy="173311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8335-12"/>
          <p:cNvSpPr/>
          <p:nvPr/>
        </p:nvSpPr>
        <p:spPr>
          <a:xfrm>
            <a:off x="533267" y="4690152"/>
            <a:ext cx="11122419" cy="129507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 w="19045" algn="in">
            <a:solidFill>
              <a:srgbClr val="B91C1C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el-1785891668333-6"/>
          <p:cNvSpPr/>
          <p:nvPr/>
        </p:nvSpPr>
        <p:spPr>
          <a:xfrm>
            <a:off x="533267" y="5985228"/>
            <a:ext cx="11122419" cy="30472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8332-3"/>
          <p:cNvSpPr txBox="1"/>
          <p:nvPr/>
        </p:nvSpPr>
        <p:spPr>
          <a:xfrm>
            <a:off x="533267" y="353641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文献对比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8333-4"/>
          <p:cNvSpPr txBox="1"/>
          <p:nvPr/>
        </p:nvSpPr>
        <p:spPr>
          <a:xfrm>
            <a:off x="533267" y="591706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我们的超越：五层递进框架 vs 单篇文献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8339-16"/>
          <p:cNvSpPr txBox="1"/>
          <p:nvPr/>
        </p:nvSpPr>
        <p:spPr>
          <a:xfrm>
            <a:off x="723719" y="1138215"/>
            <a:ext cx="524886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超越一：框架整合（vs 各文献单层研究）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8340-17"/>
          <p:cNvSpPr txBox="1"/>
          <p:nvPr/>
        </p:nvSpPr>
        <p:spPr>
          <a:xfrm>
            <a:off x="723719" y="1423894"/>
            <a:ext cx="5111117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文献现状：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Cremers只研究AS（L2），Kacperczyk只研究RG（L3），Cohen et al.(2026)研究AI预测交易行为（L5），各篇相互独立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8340-18"/>
          <p:cNvSpPr txBox="1"/>
          <p:nvPr/>
        </p:nvSpPr>
        <p:spPr>
          <a:xfrm>
            <a:off x="723719" y="1823844"/>
            <a:ext cx="5117068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我们的超越：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将5篇核心文献的指标整合为L1→L2→L3→L4→L5递进框架，每层输出为下层输入，构建完整因果链条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8340-19"/>
          <p:cNvSpPr txBox="1"/>
          <p:nvPr/>
        </p:nvSpPr>
        <p:spPr>
          <a:xfrm>
            <a:off x="723719" y="2223794"/>
            <a:ext cx="5032555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价值：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不仅能预测业绩，还能回答"为什么"——经理经验如何影响持仓，持仓如何影响交易，交易如何影响风险应对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8341-20"/>
          <p:cNvSpPr txBox="1"/>
          <p:nvPr/>
        </p:nvSpPr>
        <p:spPr>
          <a:xfrm>
            <a:off x="6351587" y="1138215"/>
            <a:ext cx="524886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超越二：数据民主化（vs 付费数据库）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" name="el-1785891668341-21"/>
          <p:cNvSpPr txBox="1"/>
          <p:nvPr/>
        </p:nvSpPr>
        <p:spPr>
          <a:xfrm>
            <a:off x="6351587" y="1423894"/>
            <a:ext cx="5012022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文献现状：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Cremers用CRSP+CDA（年费数万美元），寇宗来用Wind（年费数十万人民币），Cohen et al.(2026)为AI预测模型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8341-22"/>
          <p:cNvSpPr txBox="1"/>
          <p:nvPr/>
        </p:nvSpPr>
        <p:spPr>
          <a:xfrm>
            <a:off x="6351587" y="1823844"/>
            <a:ext cx="5097279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我们的超越：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全流程使用AKShare免费API+东方财富公开接口，200基金×12季度完整数据管线已验证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8341-23"/>
          <p:cNvSpPr txBox="1"/>
          <p:nvPr/>
        </p:nvSpPr>
        <p:spPr>
          <a:xfrm>
            <a:off x="6351587" y="2223794"/>
            <a:ext cx="5066033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价值：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研究可复现性极大提升，任何研究者均可免费复制；数据获取成本从数十万降至零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8342-24"/>
          <p:cNvSpPr txBox="1"/>
          <p:nvPr/>
        </p:nvSpPr>
        <p:spPr>
          <a:xfrm>
            <a:off x="723719" y="3004648"/>
            <a:ext cx="524886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超越三：中国市场本土化发现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el-1785891668346-32"/>
          <p:cNvSpPr txBox="1"/>
          <p:nvPr/>
        </p:nvSpPr>
        <p:spPr>
          <a:xfrm>
            <a:off x="723719" y="3290327"/>
            <a:ext cx="4838978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AS负向+RG正向：V5修复后发现AS负向(t=-26.81***)与美股相反，但RG正向(t=+9.20***)与Kacperczyk(2008)一致。行为信号分化而非全面负向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8347-33"/>
          <p:cNvSpPr txBox="1"/>
          <p:nvPr/>
        </p:nvSpPr>
        <p:spPr>
          <a:xfrm>
            <a:off x="723719" y="3690277"/>
            <a:ext cx="5021991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文献支撑：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郑中华(2014)发现A股AS与净值负相关，朱宏志(2012)发现牛市RG为负，Jin et al.(2016)发现最高AS分位业绩为负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8347-34"/>
          <p:cNvSpPr txBox="1"/>
          <p:nvPr/>
        </p:nvSpPr>
        <p:spPr>
          <a:xfrm>
            <a:off x="723719" y="4090227"/>
            <a:ext cx="495342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市场结构解释：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A股散户占比超60%，行业轮动年化3-4次，主动管理信息优势受限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8347-35"/>
          <p:cNvSpPr txBox="1"/>
          <p:nvPr/>
        </p:nvSpPr>
        <p:spPr>
          <a:xfrm>
            <a:off x="6351587" y="3004648"/>
            <a:ext cx="524886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超越四：全持仓vs前十大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9" name="el-1785891668347-36"/>
          <p:cNvSpPr txBox="1"/>
          <p:nvPr/>
        </p:nvSpPr>
        <p:spPr>
          <a:xfrm>
            <a:off x="6351587" y="3290327"/>
            <a:ext cx="5032734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文献现状：</a:t>
            </a:r>
            <a:r>
              <a:rPr sz="104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美国基金每季度强制披露全持仓（SEC N-PORT），Cremers等直接使用</a:t>
            </a:r>
            <a:endParaRPr sz="104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8348-37"/>
          <p:cNvSpPr txBox="1"/>
          <p:nvPr/>
        </p:nvSpPr>
        <p:spPr>
          <a:xfrm>
            <a:off x="6351587" y="3490302"/>
            <a:ext cx="4146237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我们的挑战：</a:t>
            </a:r>
            <a:r>
              <a:rPr sz="104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中国基金仅季报披露前十大，半年报/年报才披露全持仓</a:t>
            </a:r>
            <a:endParaRPr sz="104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8348-38"/>
          <p:cNvSpPr txBox="1"/>
          <p:nvPr/>
        </p:nvSpPr>
        <p:spPr>
          <a:xfrm>
            <a:off x="6351587" y="3690277"/>
            <a:ext cx="5118259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我们的方案：</a:t>
            </a:r>
            <a:r>
              <a:rPr sz="104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通过东方财富API获取半年报全持仓（month=06/12），200基金185,144条记录100%覆盖</a:t>
            </a:r>
            <a:endParaRPr sz="104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8348-39"/>
          <p:cNvSpPr txBox="1"/>
          <p:nvPr/>
        </p:nvSpPr>
        <p:spPr>
          <a:xfrm>
            <a:off x="6351587" y="4090227"/>
            <a:ext cx="5113349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发现：V5修正AS均值0.673，RG用持仓×个股收益精确计算(均值0.93%)，ICI量纲修复(712→0.08)，SDI重算(33.4→0.15)</a:t>
            </a:r>
            <a:endParaRPr sz="104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8342-25"/>
          <p:cNvSpPr txBox="1"/>
          <p:nvPr/>
        </p:nvSpPr>
        <p:spPr>
          <a:xfrm>
            <a:off x="704674" y="4804423"/>
            <a:ext cx="1088625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核心论点：我们不是简单复制文献，而是整合+创新+本土化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8342-26"/>
          <p:cNvSpPr txBox="1"/>
          <p:nvPr/>
        </p:nvSpPr>
        <p:spPr>
          <a:xfrm>
            <a:off x="704674" y="5071057"/>
            <a:ext cx="6832509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框架创新：</a:t>
            </a: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首次将5篇顶级期刊文献的独立指标整合为因果递进框架（Cuthbertson 2016综述指出的研究空白）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8342-27"/>
          <p:cNvSpPr txBox="1"/>
          <p:nvPr/>
        </p:nvSpPr>
        <p:spPr>
          <a:xfrm>
            <a:off x="704674" y="5271032"/>
            <a:ext cx="5264401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方法创新：</a:t>
            </a: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免费API替代付费数据库，全持仓替代前十大近似，200基金真实数据验证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8343-28"/>
          <p:cNvSpPr txBox="1"/>
          <p:nvPr/>
        </p:nvSpPr>
        <p:spPr>
          <a:xfrm>
            <a:off x="704674" y="5471007"/>
            <a:ext cx="651751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发现创新：AS最强负向(t=-26.81***)，RG正向(t=+9.20***)，R²提升195%。AS在FM截面正向(t=+2.76**)——OLS/FM方向矛盾是原创发现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8343-29"/>
          <p:cNvSpPr txBox="1"/>
          <p:nvPr/>
        </p:nvSpPr>
        <p:spPr>
          <a:xfrm>
            <a:off x="704674" y="5670982"/>
            <a:ext cx="451657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 可复现性：</a:t>
            </a: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所有数据源公开免费，计算代码开源，任何研究者可完整复制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8333-5"/>
          <p:cNvSpPr txBox="1"/>
          <p:nvPr/>
        </p:nvSpPr>
        <p:spPr>
          <a:xfrm>
            <a:off x="578975" y="6023318"/>
            <a:ext cx="1103100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四重超越：框架整合（5篇→1体系）| 数据民主化（付费→免费）| AS负向+RG正向发现+OLS/FM矛盾 | 全模型R²=0.0684(提升195%)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8333-7"/>
          <p:cNvSpPr txBox="1"/>
          <p:nvPr/>
        </p:nvSpPr>
        <p:spPr>
          <a:xfrm>
            <a:off x="609448" y="6526232"/>
            <a:ext cx="701341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文献对比</a:t>
            </a:r>
            <a:endParaRPr sz="890" b="1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8333-8"/>
          <p:cNvSpPr txBox="1"/>
          <p:nvPr/>
        </p:nvSpPr>
        <p:spPr>
          <a:xfrm>
            <a:off x="11432648" y="6519090"/>
            <a:ext cx="233512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30</a:t>
            </a:r>
            <a:endParaRPr sz="970" b="1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2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3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513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8517-6"/>
          <p:cNvSpPr/>
          <p:nvPr/>
        </p:nvSpPr>
        <p:spPr>
          <a:xfrm>
            <a:off x="533267" y="1585332"/>
            <a:ext cx="3643890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8519-12"/>
          <p:cNvCxnSpPr/>
          <p:nvPr/>
        </p:nvCxnSpPr>
        <p:spPr>
          <a:xfrm>
            <a:off x="533267" y="1599616"/>
            <a:ext cx="3643890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85891668528-42"/>
          <p:cNvCxnSpPr/>
          <p:nvPr/>
        </p:nvCxnSpPr>
        <p:spPr>
          <a:xfrm>
            <a:off x="676106" y="3285119"/>
            <a:ext cx="335821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8518-7"/>
          <p:cNvSpPr/>
          <p:nvPr/>
        </p:nvSpPr>
        <p:spPr>
          <a:xfrm>
            <a:off x="4272382" y="1585332"/>
            <a:ext cx="3644038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8519-13"/>
          <p:cNvCxnSpPr/>
          <p:nvPr/>
        </p:nvCxnSpPr>
        <p:spPr>
          <a:xfrm>
            <a:off x="4272382" y="1599616"/>
            <a:ext cx="3644038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5891668529-43"/>
          <p:cNvCxnSpPr/>
          <p:nvPr/>
        </p:nvCxnSpPr>
        <p:spPr>
          <a:xfrm>
            <a:off x="4415222" y="3085144"/>
            <a:ext cx="3358360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8518-8"/>
          <p:cNvSpPr/>
          <p:nvPr/>
        </p:nvSpPr>
        <p:spPr>
          <a:xfrm>
            <a:off x="8011647" y="1585332"/>
            <a:ext cx="3643890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8519-14"/>
          <p:cNvCxnSpPr/>
          <p:nvPr/>
        </p:nvCxnSpPr>
        <p:spPr>
          <a:xfrm>
            <a:off x="8011647" y="1599616"/>
            <a:ext cx="3643890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l-1785891668530-44"/>
          <p:cNvCxnSpPr/>
          <p:nvPr/>
        </p:nvCxnSpPr>
        <p:spPr>
          <a:xfrm>
            <a:off x="8154486" y="2885169"/>
            <a:ext cx="335821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8518-9"/>
          <p:cNvSpPr/>
          <p:nvPr/>
        </p:nvSpPr>
        <p:spPr>
          <a:xfrm>
            <a:off x="533267" y="3685069"/>
            <a:ext cx="3643890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3" name="el-1785891668519-15"/>
          <p:cNvCxnSpPr/>
          <p:nvPr/>
        </p:nvCxnSpPr>
        <p:spPr>
          <a:xfrm>
            <a:off x="533267" y="3699353"/>
            <a:ext cx="3643890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el-1785891668530-45"/>
          <p:cNvCxnSpPr/>
          <p:nvPr/>
        </p:nvCxnSpPr>
        <p:spPr>
          <a:xfrm>
            <a:off x="676106" y="4984907"/>
            <a:ext cx="335821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891668518-10"/>
          <p:cNvSpPr/>
          <p:nvPr/>
        </p:nvSpPr>
        <p:spPr>
          <a:xfrm>
            <a:off x="4272382" y="3685069"/>
            <a:ext cx="3644038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6" name="el-1785891668520-16"/>
          <p:cNvCxnSpPr/>
          <p:nvPr/>
        </p:nvCxnSpPr>
        <p:spPr>
          <a:xfrm>
            <a:off x="4272382" y="3699353"/>
            <a:ext cx="3644038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l-1785891668531-46"/>
          <p:cNvCxnSpPr/>
          <p:nvPr/>
        </p:nvCxnSpPr>
        <p:spPr>
          <a:xfrm>
            <a:off x="4415222" y="4984907"/>
            <a:ext cx="3358360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l-1785891668519-11"/>
          <p:cNvSpPr/>
          <p:nvPr/>
        </p:nvSpPr>
        <p:spPr>
          <a:xfrm>
            <a:off x="8011647" y="3685069"/>
            <a:ext cx="3643890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9" name="el-1785891668520-17"/>
          <p:cNvCxnSpPr/>
          <p:nvPr/>
        </p:nvCxnSpPr>
        <p:spPr>
          <a:xfrm>
            <a:off x="8011647" y="3699353"/>
            <a:ext cx="3643890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el-1785891668531-47"/>
          <p:cNvCxnSpPr/>
          <p:nvPr/>
        </p:nvCxnSpPr>
        <p:spPr>
          <a:xfrm>
            <a:off x="8154486" y="4984907"/>
            <a:ext cx="335821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-1785891668516-4"/>
          <p:cNvSpPr txBox="1"/>
          <p:nvPr/>
        </p:nvSpPr>
        <p:spPr>
          <a:xfrm>
            <a:off x="533267" y="934967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学术原创性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8517-5"/>
          <p:cNvSpPr txBox="1"/>
          <p:nvPr/>
        </p:nvSpPr>
        <p:spPr>
          <a:xfrm>
            <a:off x="533267" y="1168271"/>
            <a:ext cx="11295730" cy="3218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六项原创：基于400基金全持仓验证 + 文献查重</a:t>
            </a:r>
            <a:endParaRPr sz="19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3" name="el-1785891668524-24"/>
          <p:cNvSpPr txBox="1"/>
          <p:nvPr/>
        </p:nvSpPr>
        <p:spPr>
          <a:xfrm>
            <a:off x="676106" y="1690081"/>
            <a:ext cx="347819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01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4" name="el-1785891668525-25"/>
          <p:cNvSpPr txBox="1"/>
          <p:nvPr/>
        </p:nvSpPr>
        <p:spPr>
          <a:xfrm>
            <a:off x="676106" y="1975759"/>
            <a:ext cx="346486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AS负向+RG正向信号分化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el-1785891668522-18"/>
          <p:cNvSpPr txBox="1"/>
          <p:nvPr/>
        </p:nvSpPr>
        <p:spPr>
          <a:xfrm>
            <a:off x="676106" y="2232870"/>
            <a:ext cx="3358211" cy="999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V5修复后发现行为信号分化：AS负向(t=-26.81***) &gt; RG正向(t=+9.20***) &gt; SDI负向(t=-7.69***) &gt; OCI正向(t=+4.40***)。AS与美股相反，RG与Kacperczyk(2008)一致。全模型R²=0.0684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8525-26"/>
          <p:cNvSpPr txBox="1"/>
          <p:nvPr/>
        </p:nvSpPr>
        <p:spPr>
          <a:xfrm>
            <a:off x="676106" y="3318448"/>
            <a:ext cx="3444867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查重：多篇文献支持负向，非单一指标反转而是系统性差异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8525-27"/>
          <p:cNvSpPr txBox="1"/>
          <p:nvPr/>
        </p:nvSpPr>
        <p:spPr>
          <a:xfrm>
            <a:off x="4415222" y="1690081"/>
            <a:ext cx="3478345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02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8525-28"/>
          <p:cNvSpPr txBox="1"/>
          <p:nvPr/>
        </p:nvSpPr>
        <p:spPr>
          <a:xfrm>
            <a:off x="4415222" y="1975759"/>
            <a:ext cx="346501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牛熊市异质性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9" name="el-1785891668523-19"/>
          <p:cNvSpPr txBox="1"/>
          <p:nvPr/>
        </p:nvSpPr>
        <p:spPr>
          <a:xfrm>
            <a:off x="4415222" y="2232870"/>
            <a:ext cx="3358360" cy="799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V5牛熊市：RG牛熊反转(牛正t=+12.62***/熊负t=-7.17***)，SDI牛熊反转(牛负t=-12.36***/熊正t=+4.03***)。AS牛熊均负但牛市更强。RG/SDI的牛熊反转是原创发现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8525-29"/>
          <p:cNvSpPr txBox="1"/>
          <p:nvPr/>
        </p:nvSpPr>
        <p:spPr>
          <a:xfrm>
            <a:off x="4415222" y="3118473"/>
            <a:ext cx="3445016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查重：无竞争文献，确认原创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8526-30"/>
          <p:cNvSpPr txBox="1"/>
          <p:nvPr/>
        </p:nvSpPr>
        <p:spPr>
          <a:xfrm>
            <a:off x="8154486" y="1690081"/>
            <a:ext cx="347819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03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el-1785891668526-31"/>
          <p:cNvSpPr txBox="1"/>
          <p:nvPr/>
        </p:nvSpPr>
        <p:spPr>
          <a:xfrm>
            <a:off x="8154486" y="1975759"/>
            <a:ext cx="346486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AS变化率新指标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" name="el-1785891668523-20"/>
          <p:cNvSpPr txBox="1"/>
          <p:nvPr/>
        </p:nvSpPr>
        <p:spPr>
          <a:xfrm>
            <a:off x="8154486" y="2232870"/>
            <a:ext cx="3358211" cy="599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ΔAS正向预测下期收益（V5: t=+2.16, p=0.031）。FE中t=+2.01**。Jin et al.(2016)研究反向因果（业绩→AS变化），无人研究AS变化→未来业绩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8526-32"/>
          <p:cNvSpPr txBox="1"/>
          <p:nvPr/>
        </p:nvSpPr>
        <p:spPr>
          <a:xfrm>
            <a:off x="8154486" y="2918498"/>
            <a:ext cx="3444867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查重：无竞争文献，确认原创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8526-33"/>
          <p:cNvSpPr txBox="1"/>
          <p:nvPr/>
        </p:nvSpPr>
        <p:spPr>
          <a:xfrm>
            <a:off x="676106" y="3789818"/>
            <a:ext cx="347819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04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6" name="el-1785891668526-34"/>
          <p:cNvSpPr txBox="1"/>
          <p:nvPr/>
        </p:nvSpPr>
        <p:spPr>
          <a:xfrm>
            <a:off x="676106" y="4075497"/>
            <a:ext cx="346486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全持仓数据方法学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7" name="el-1785891668523-21"/>
          <p:cNvSpPr txBox="1"/>
          <p:nvPr/>
        </p:nvSpPr>
        <p:spPr>
          <a:xfrm>
            <a:off x="676106" y="4332607"/>
            <a:ext cx="3358211" cy="599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V5修正AS均值0.673(旧公式0.948)。RG用持仓×个股收益精确计算(旧法用市场均值)。ICI量纲修复(712→0.08)。SDI重算(33.4→0.15)。全面方法学修正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8527-35"/>
          <p:cNvSpPr txBox="1"/>
          <p:nvPr/>
        </p:nvSpPr>
        <p:spPr>
          <a:xfrm>
            <a:off x="676106" y="5018236"/>
            <a:ext cx="3444867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查重：无竞争文献，确认原创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8527-36"/>
          <p:cNvSpPr txBox="1"/>
          <p:nvPr/>
        </p:nvSpPr>
        <p:spPr>
          <a:xfrm>
            <a:off x="4415222" y="3789818"/>
            <a:ext cx="3478345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05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8527-37"/>
          <p:cNvSpPr txBox="1"/>
          <p:nvPr/>
        </p:nvSpPr>
        <p:spPr>
          <a:xfrm>
            <a:off x="4415222" y="4075497"/>
            <a:ext cx="346501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级联式框架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1" name="el-1785891668524-22"/>
          <p:cNvSpPr txBox="1"/>
          <p:nvPr/>
        </p:nvSpPr>
        <p:spPr>
          <a:xfrm>
            <a:off x="4415222" y="4332607"/>
            <a:ext cx="3358360" cy="599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L1→L5因果递进。晨星5P并列、FMLens(2024)多维无因果、徐琼(2008)"投资行为度"非递进，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无文献采用因果递进框架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8527-38"/>
          <p:cNvSpPr txBox="1"/>
          <p:nvPr/>
        </p:nvSpPr>
        <p:spPr>
          <a:xfrm>
            <a:off x="4415222" y="5018236"/>
            <a:ext cx="3445016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查重：无竞争框架，确认原创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8527-39"/>
          <p:cNvSpPr txBox="1"/>
          <p:nvPr/>
        </p:nvSpPr>
        <p:spPr>
          <a:xfrm>
            <a:off x="8154486" y="3789818"/>
            <a:ext cx="347819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06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4" name="el-1785891668527-40"/>
          <p:cNvSpPr txBox="1"/>
          <p:nvPr/>
        </p:nvSpPr>
        <p:spPr>
          <a:xfrm>
            <a:off x="8154486" y="4075497"/>
            <a:ext cx="346486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RG牛熊反转+持续4Q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8524-23"/>
          <p:cNvSpPr txBox="1"/>
          <p:nvPr/>
        </p:nvSpPr>
        <p:spPr>
          <a:xfrm>
            <a:off x="8154486" y="4332607"/>
            <a:ext cx="3358211" cy="599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V5: RG正向预测(t=+9.20***)，牛市正向(t=+12.62***)，熊市负向(t=-7.17***)。RG持续4Q显著但方向交替(1Q正→2Q负→3Q正)。与Kacperczyk(2008)一致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8528-41"/>
          <p:cNvSpPr txBox="1"/>
          <p:nvPr/>
        </p:nvSpPr>
        <p:spPr>
          <a:xfrm>
            <a:off x="8154486" y="5018236"/>
            <a:ext cx="3444867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651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查重：朱宏志(2012)有中国RG研究 → 需引用并区分</a:t>
            </a:r>
            <a:endParaRPr sz="970" b="1">
              <a:solidFill>
                <a:srgbClr val="E651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8515-2"/>
          <p:cNvSpPr txBox="1"/>
          <p:nvPr/>
        </p:nvSpPr>
        <p:spPr>
          <a:xfrm>
            <a:off x="609448" y="6526232"/>
            <a:ext cx="1150838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企业实践与原创性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8515-3"/>
          <p:cNvSpPr txBox="1"/>
          <p:nvPr/>
        </p:nvSpPr>
        <p:spPr>
          <a:xfrm>
            <a:off x="11452139" y="6519090"/>
            <a:ext cx="214021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31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50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51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5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27432"/>
            <a:ext cx="12188952" cy="0"/>
          </a:xfrm>
          <a:prstGeom prst="line">
            <a:avLst/>
          </a:prstGeom>
          <a:ln w="381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38328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1">
                <a:solidFill>
                  <a:srgbClr val="B91C1C"/>
                </a:solidFill>
                <a:latin typeface="宋体" panose="02010600030101010101" pitchFamily="2" charset="-122"/>
              </a:defRPr>
            </a:pPr>
            <a:r>
              <a:t>05 学术原创性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365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黑体" panose="02010609060101010101" charset="-122"/>
              </a:defRPr>
            </a:pPr>
            <a:r>
              <a:t>照搬方法 vs 原创贡献：学术规范与创新性分析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914400"/>
            <a:ext cx="56692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978408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t>照搬的方法与公式（学术合规）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280160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AS公式: Cremers &amp; Petajisto (2009) RFS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  -&gt; 照搬公式，但中国市场AS方向反转(负向)是新发现</a:t>
            </a:r>
          </a:p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ICI公式: Kacperczyk et al. (2005) JF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  -&gt; 照搬公式，但A股ICI反转效应是新发现</a:t>
            </a:r>
          </a:p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RG公式: Kacperczyk et al. (2008) RFS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  -&gt; 照搬公式，全持仓数据使RG方向翻转是方法学贡献</a:t>
            </a:r>
          </a:p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SDI方法: 寇宗来等 (2020) 金融研究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  -&gt; 照搬曼哈顿距离方法，牛熊反转是新发现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学术规范说明: 使用已有方法是标准学术实践，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必须标注原始文献来源。创新不在于公式本身，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而在于新应用、新发现、新框架。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914400"/>
            <a:ext cx="5687568" cy="237744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978408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59669"/>
                </a:solidFill>
                <a:latin typeface="黑体" panose="02010609060101010101" charset="-122"/>
              </a:defRPr>
            </a:pPr>
            <a:r>
              <a:t>本研究的原创贡献（6项，已查重验证）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280160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1. 五层递进框架(已验证原创)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  L1背景-&gt;L2持仓-&gt;L3交易-&gt;L4风险-&gt;L5认知，因果递进</a:t>
            </a:r>
          </a:p>
          <a:p>
            <a:pPr>
              <a:spcAft>
                <a:spcPts val="150"/>
              </a:spcAft>
              <a:defRPr sz="88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  晨星5P并列/FMLens多维无因果，无文献采用因果递进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2. AS时序负/截面正双重效应(原创)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  OLS负向(t=-26.81)但FM正向(t=+2.76)，矛盾本身是发现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3. 全持仓vs前十大方法学(已验证原创)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  前十大近似AS系统性偏误，RG方向完全翻转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4. dAS新指标(已验证原创)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  AS变化率预测业绩，无文献将dAS作为新指标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5. RG牛熊反转 + SDI牛熊反转(原创)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  牛市隐形交易有效/熊市拖累；牛市漂移致命/熊市有效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6. 六种方法交叉验证体系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  OLS+FM+FE+双重排序+牛熊市+滞后，系统检验稳健性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t>创新逻辑：为什么照搬公式但仍有学术价值？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" y="3749039"/>
            <a:ext cx="2798064" cy="1371600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" y="3749039"/>
            <a:ext cx="2798064" cy="36576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822191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t>框架创新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069079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2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将5篇顶级期刊的独立指标整合为L1-L5递进框架</a:t>
            </a:r>
          </a:p>
          <a:p>
            <a:pPr>
              <a:spcAft>
                <a:spcPts val="150"/>
              </a:spcAft>
              <a:defRPr sz="820" b="0">
                <a:solidFill>
                  <a:srgbClr val="1A1A2E"/>
                </a:solidFill>
                <a:latin typeface="宋体" panose="02010600030101010101" pitchFamily="2" charset="-122"/>
              </a:defRPr>
            </a:pPr>
          </a:p>
          <a:p>
            <a:pPr>
              <a:spcAft>
                <a:spcPts val="150"/>
              </a:spcAft>
              <a:defRPr sz="82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对比: 各文献单层独立研究，无递进因果链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3749039"/>
            <a:ext cx="2798064" cy="1371600"/>
          </a:xfrm>
          <a:prstGeom prst="rect">
            <a:avLst/>
          </a:prstGeom>
          <a:solidFill>
            <a:srgbClr val="DBEAF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3749039"/>
            <a:ext cx="2798064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73552" y="3822191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7293"/>
                </a:solidFill>
                <a:latin typeface="黑体" panose="02010609060101010101" charset="-122"/>
              </a:defRPr>
            </a:pPr>
            <a:r>
              <a:t>应用创新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73552" y="4069079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2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首次用400基金全持仓数据系统验证中国市场</a:t>
            </a:r>
          </a:p>
          <a:p>
            <a:pPr>
              <a:spcAft>
                <a:spcPts val="150"/>
              </a:spcAft>
              <a:defRPr sz="820" b="0">
                <a:solidFill>
                  <a:srgbClr val="1A1A2E"/>
                </a:solidFill>
                <a:latin typeface="宋体" panose="02010600030101010101" pitchFamily="2" charset="-122"/>
              </a:defRPr>
            </a:pPr>
          </a:p>
          <a:p>
            <a:pPr>
              <a:spcAft>
                <a:spcPts val="150"/>
              </a:spcAft>
              <a:defRPr sz="82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对比: 美股用季报全持仓，中国市场仅有前十大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62472" y="3749039"/>
            <a:ext cx="2798064" cy="137160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62472" y="3749039"/>
            <a:ext cx="2798064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35624" y="3822191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黑体" panose="02010609060101010101" charset="-122"/>
              </a:defRPr>
            </a:pPr>
            <a:r>
              <a:t>发现创新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35624" y="4069079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2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AS负向/ICI反转/RG牛熊反转/SDI牛熊反转</a:t>
            </a:r>
          </a:p>
          <a:p>
            <a:pPr>
              <a:spcAft>
                <a:spcPts val="150"/>
              </a:spcAft>
              <a:defRPr sz="820" b="0">
                <a:solidFill>
                  <a:srgbClr val="1A1A2E"/>
                </a:solidFill>
                <a:latin typeface="宋体" panose="02010600030101010101" pitchFamily="2" charset="-122"/>
              </a:defRPr>
            </a:pPr>
          </a:p>
          <a:p>
            <a:pPr>
              <a:spcAft>
                <a:spcPts val="150"/>
              </a:spcAft>
              <a:defRPr sz="82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对比: 美股AS正向/ICI正向，无文献研究牛熊异质性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24544" y="3749039"/>
            <a:ext cx="2798064" cy="1371600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24544" y="3749039"/>
            <a:ext cx="2798064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97696" y="3822191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97706"/>
                </a:solidFill>
                <a:latin typeface="黑体" panose="02010609060101010101" charset="-122"/>
              </a:defRPr>
            </a:pPr>
            <a:r>
              <a:t>方法创新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7696" y="4069079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2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六种方法交叉验证+dAS新指标+全持仓方法学</a:t>
            </a:r>
          </a:p>
          <a:p>
            <a:pPr>
              <a:spcAft>
                <a:spcPts val="150"/>
              </a:spcAft>
              <a:defRPr sz="820" b="0">
                <a:solidFill>
                  <a:srgbClr val="1A1A2E"/>
                </a:solidFill>
                <a:latin typeface="宋体" panose="02010600030101010101" pitchFamily="2" charset="-122"/>
              </a:defRPr>
            </a:pPr>
          </a:p>
          <a:p>
            <a:pPr>
              <a:spcAft>
                <a:spcPts val="150"/>
              </a:spcAft>
              <a:defRPr sz="82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对比: 现有文献多为单一回归方法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8328" y="5257800"/>
            <a:ext cx="11494008" cy="50292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2852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结论: 照搬公式完全符合学术规范(类似Fama-French因子模型被广泛使用)。创新体现在: (1)统一递进框架 (2)中国市场新发现 (3)全持仓方法学 (4)交叉验证体系。4项已通过查重验证为原创，2项需注意相关文献但研究视角不同。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7472" y="5833872"/>
            <a:ext cx="11494008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>
              <a:defRPr sz="104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t>照搬公式合规(需标来源) | 6项原创: 框架/AS双重效应/全持仓方法学/dAS新指标/牛熊反转/交叉验证 | 查重: 4项确认原创, 2项部分原创 | 创新在应用与发现, 非公式本身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92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9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05 学术原创性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214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7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33</a:t>
            </a:r>
          </a:p>
        </p:txBody>
      </p:sp>
      <p:sp>
        <p:nvSpPr>
          <p:cNvPr id="33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4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5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5720"/>
            <a:ext cx="12188952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06 研究计划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/>
              </a:defRPr>
            </a:pPr>
            <a:r>
              <a:t>三阶段研究计划 + 2周写作计划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2881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06 研究计划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28816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84664" y="6400800"/>
            <a:ext cx="2203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AI 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05840"/>
            <a:ext cx="5577840" cy="502920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/>
              </a:defRPr>
            </a:pPr>
            <a:r>
              <a:t>三阶段递进计划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2E7D32"/>
                </a:solidFill>
                <a:latin typeface="微软雅黑"/>
              </a:defRPr>
            </a:pPr>
            <a:r>
              <a:t>Phase 1.0 — MVP四轮验证 [已完成]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V1-V4: 200→400基金, 全持仓修正AS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AS最强(t=-26.81***), R²=0.0684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1">
                <a:solidFill>
                  <a:srgbClr val="2E7D32"/>
                </a:solidFill>
                <a:latin typeface="微软雅黑"/>
              </a:defRPr>
            </a:pPr>
            <a:r>
              <a:t>Phase 2.0 — 稳健性检验 [已完成]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六种方法交叉验证: OLS/FM/FE/双重排序/牛熊市/滞后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FM: AS正向(t=+2.76**) | FE: RG最稳健(t=+7.77***)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  待做: IV/DID因果推断 + 市值加权基准 + FF因子调整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1">
                <a:solidFill>
                  <a:srgbClr val="1F4E79"/>
                </a:solidFill>
                <a:latin typeface="微软雅黑"/>
              </a:defRPr>
            </a:pPr>
            <a:r>
              <a:t>Phase 3.0 — 扩展+预测 [待启动]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800+基金 + 经理变更事件(IV) + XGBoost预测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L5: OCI+LA(损失厌恶) + LSTM行为画像</a:t>
            </a:r>
          </a:p>
          <a:p>
            <a:pPr>
              <a:spcAft>
                <a:spcPts val="200"/>
              </a:spcAft>
              <a:defRPr sz="800" b="0">
                <a:solidFill>
                  <a:srgbClr val="999999"/>
                </a:solidFill>
                <a:latin typeface="微软雅黑"/>
              </a:defRPr>
            </a:pPr>
            <a:r>
              <a:t>  不做: 实时交易策略/基金推荐系统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05840"/>
            <a:ext cx="5486400" cy="502920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097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/>
              </a:defRPr>
            </a:pPr>
            <a:r>
              <a:t>2周写作计划（七章约14,000字）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4173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1F4E79"/>
                </a:solidFill>
                <a:latin typeface="微软雅黑"/>
              </a:defRPr>
            </a:pPr>
            <a:r>
              <a:t>第1周: 实证收尾 + 文献定稿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○ FF三因子调整后收益回归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○ 描述统计表 + 回归结果表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○ 文献综述精修(补充邢欣羿/朱宏志)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1">
                <a:solidFill>
                  <a:srgbClr val="1F4E79"/>
                </a:solidFill>
                <a:latin typeface="微软雅黑"/>
              </a:defRPr>
            </a:pPr>
            <a:r>
              <a:t>第2周: 全文撰写 + 修改定稿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Ch1 引言(2,000字)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Ch2 文献综述(2,500字)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Ch3 研究设计(2,000字)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Ch4 实证结果(3,000字)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Ch5 稳健性检验(2,500字)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Ch6 结论讨论(2,000字)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  ○ 导师反馈 → 修改 → 查重定稿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1">
                <a:solidFill>
                  <a:srgbClr val="C0504D"/>
                </a:solidFill>
                <a:latin typeface="微软雅黑"/>
              </a:defRPr>
            </a:pPr>
            <a:r>
              <a:t>逻辑: 做什么→用什么数据→怎么算→结果→含义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672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8678-9"/>
          <p:cNvSpPr/>
          <p:nvPr/>
        </p:nvSpPr>
        <p:spPr>
          <a:xfrm>
            <a:off x="533267" y="1174520"/>
            <a:ext cx="5465983" cy="375191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8679-11"/>
          <p:cNvCxnSpPr/>
          <p:nvPr/>
        </p:nvCxnSpPr>
        <p:spPr>
          <a:xfrm>
            <a:off x="552312" y="1174520"/>
            <a:ext cx="914" cy="375191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85891668686-35"/>
          <p:cNvCxnSpPr/>
          <p:nvPr/>
        </p:nvCxnSpPr>
        <p:spPr>
          <a:xfrm>
            <a:off x="780855" y="1736355"/>
            <a:ext cx="4999375" cy="914"/>
          </a:xfrm>
          <a:prstGeom prst="line">
            <a:avLst/>
          </a:prstGeom>
          <a:ln w="19045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8678-10"/>
          <p:cNvSpPr/>
          <p:nvPr/>
        </p:nvSpPr>
        <p:spPr>
          <a:xfrm>
            <a:off x="6189702" y="1174520"/>
            <a:ext cx="5465983" cy="375191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8679-12"/>
          <p:cNvCxnSpPr/>
          <p:nvPr/>
        </p:nvCxnSpPr>
        <p:spPr>
          <a:xfrm>
            <a:off x="6208747" y="1174520"/>
            <a:ext cx="914" cy="375191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5891668688-36"/>
          <p:cNvCxnSpPr/>
          <p:nvPr/>
        </p:nvCxnSpPr>
        <p:spPr>
          <a:xfrm>
            <a:off x="6437290" y="1736355"/>
            <a:ext cx="4999375" cy="914"/>
          </a:xfrm>
          <a:prstGeom prst="line">
            <a:avLst/>
          </a:prstGeom>
          <a:ln w="19045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8675-4"/>
          <p:cNvSpPr/>
          <p:nvPr/>
        </p:nvSpPr>
        <p:spPr>
          <a:xfrm>
            <a:off x="533267" y="5078794"/>
            <a:ext cx="11122419" cy="145219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el-1785891668676-5"/>
          <p:cNvSpPr txBox="1"/>
          <p:nvPr/>
        </p:nvSpPr>
        <p:spPr>
          <a:xfrm>
            <a:off x="533267" y="131793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06 写作计划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el-1785891668676-6"/>
          <p:cNvSpPr txBox="1"/>
          <p:nvPr/>
        </p:nvSpPr>
        <p:spPr>
          <a:xfrm>
            <a:off x="533267" y="369859"/>
            <a:ext cx="11322394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2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2周写作计划：从数据到初稿</a:t>
            </a:r>
            <a:endParaRPr sz="22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8677-7"/>
          <p:cNvSpPr txBox="1"/>
          <p:nvPr/>
        </p:nvSpPr>
        <p:spPr>
          <a:xfrm>
            <a:off x="533267" y="779331"/>
            <a:ext cx="11235738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七章结构 · 约14,000字 · 第1周完成实证与文献定稿，第2周全文撰写与修改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8681-13"/>
          <p:cNvSpPr txBox="1"/>
          <p:nvPr/>
        </p:nvSpPr>
        <p:spPr>
          <a:xfrm>
            <a:off x="780855" y="1355450"/>
            <a:ext cx="5146023" cy="3142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第1周：实证收尾 + 文献定稿</a:t>
            </a:r>
            <a:endParaRPr sz="16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8681-14"/>
          <p:cNvSpPr txBox="1"/>
          <p:nvPr/>
        </p:nvSpPr>
        <p:spPr>
          <a:xfrm>
            <a:off x="780855" y="1879194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✅ 400基金数据下载与九指标计算</a:t>
            </a:r>
            <a:endParaRPr sz="1340" b="1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8681-15"/>
          <p:cNvSpPr txBox="1"/>
          <p:nvPr/>
        </p:nvSpPr>
        <p:spPr>
          <a:xfrm>
            <a:off x="780855" y="2307712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✅ V1-V4四轮MVP验证</a:t>
            </a:r>
            <a:endParaRPr sz="1340" b="1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8681-16"/>
          <p:cNvSpPr txBox="1"/>
          <p:nvPr/>
        </p:nvSpPr>
        <p:spPr>
          <a:xfrm>
            <a:off x="780855" y="2736229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✅ 六种方法交叉验证（OLS/FM/FE/牛熊市/双重排序/滞后阶数）</a:t>
            </a:r>
            <a:endParaRPr sz="1340" b="1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8681-17"/>
          <p:cNvSpPr txBox="1"/>
          <p:nvPr/>
        </p:nvSpPr>
        <p:spPr>
          <a:xfrm>
            <a:off x="780855" y="3164747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✅ 34篇文献下载分类与查证</a:t>
            </a:r>
            <a:endParaRPr sz="1340" b="1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8681-18"/>
          <p:cNvSpPr txBox="1"/>
          <p:nvPr/>
        </p:nvSpPr>
        <p:spPr>
          <a:xfrm>
            <a:off x="780855" y="3593265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Fama-French三因子调整后收益回归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8682-19"/>
          <p:cNvSpPr txBox="1"/>
          <p:nvPr/>
        </p:nvSpPr>
        <p:spPr>
          <a:xfrm>
            <a:off x="780855" y="4021783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描述统计表格 + 回归结果表格输出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8682-20"/>
          <p:cNvSpPr txBox="1"/>
          <p:nvPr/>
        </p:nvSpPr>
        <p:spPr>
          <a:xfrm>
            <a:off x="780855" y="4450301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文献综述精修（补充邢欣翽孙谦/朱宏志讨论）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8682-21"/>
          <p:cNvSpPr txBox="1"/>
          <p:nvPr/>
        </p:nvSpPr>
        <p:spPr>
          <a:xfrm>
            <a:off x="6437290" y="1355450"/>
            <a:ext cx="5146023" cy="3142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第2周：全文撰写 + 修改定稿</a:t>
            </a:r>
            <a:endParaRPr sz="16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8682-22"/>
          <p:cNvSpPr txBox="1"/>
          <p:nvPr/>
        </p:nvSpPr>
        <p:spPr>
          <a:xfrm>
            <a:off x="6437290" y="1879194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第1章 引言（研究背景、问题提出、贡献）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8682-23"/>
          <p:cNvSpPr txBox="1"/>
          <p:nvPr/>
        </p:nvSpPr>
        <p:spPr>
          <a:xfrm>
            <a:off x="6437290" y="2307712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第2章 文献综述（L1-L5五层分类综述）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8683-24"/>
          <p:cNvSpPr txBox="1"/>
          <p:nvPr/>
        </p:nvSpPr>
        <p:spPr>
          <a:xfrm>
            <a:off x="6437290" y="2736229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第3章 研究设计（框架、数据、指标定义）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8683-25"/>
          <p:cNvSpPr txBox="1"/>
          <p:nvPr/>
        </p:nvSpPr>
        <p:spPr>
          <a:xfrm>
            <a:off x="6437290" y="3164747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第4章 实证结果（描述统计+回归+稳健性）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8683-26"/>
          <p:cNvSpPr txBox="1"/>
          <p:nvPr/>
        </p:nvSpPr>
        <p:spPr>
          <a:xfrm>
            <a:off x="6437290" y="3593265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第5章 牛熊市异质性分析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8683-27"/>
          <p:cNvSpPr txBox="1"/>
          <p:nvPr/>
        </p:nvSpPr>
        <p:spPr>
          <a:xfrm>
            <a:off x="6437290" y="4021783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第6章 结论与讨论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8684-28"/>
          <p:cNvSpPr txBox="1"/>
          <p:nvPr/>
        </p:nvSpPr>
        <p:spPr>
          <a:xfrm>
            <a:off x="6437290" y="4450301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导师反馈 → 修改 → 查重定稿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8677-8"/>
          <p:cNvSpPr txBox="1"/>
          <p:nvPr/>
        </p:nvSpPr>
        <p:spPr>
          <a:xfrm>
            <a:off x="752287" y="5221633"/>
            <a:ext cx="10817695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论文结构（七章 · 约14,000字）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0" name="el-1785891668684-29"/>
          <p:cNvSpPr txBox="1"/>
          <p:nvPr/>
        </p:nvSpPr>
        <p:spPr>
          <a:xfrm>
            <a:off x="752287" y="5583492"/>
            <a:ext cx="53602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① 引言与研究背景（2,000字）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8684-30"/>
          <p:cNvSpPr txBox="1"/>
          <p:nvPr/>
        </p:nvSpPr>
        <p:spPr>
          <a:xfrm>
            <a:off x="6189702" y="5583492"/>
            <a:ext cx="53602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② 文献综述（2,500字）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8684-31"/>
          <p:cNvSpPr txBox="1"/>
          <p:nvPr/>
        </p:nvSpPr>
        <p:spPr>
          <a:xfrm>
            <a:off x="752287" y="5864410"/>
            <a:ext cx="53602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③ 研究设计与数据（2,000字）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8685-32"/>
          <p:cNvSpPr txBox="1"/>
          <p:nvPr/>
        </p:nvSpPr>
        <p:spPr>
          <a:xfrm>
            <a:off x="6189702" y="5864410"/>
            <a:ext cx="53602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④ 实证结果：九指标回归（3,000字）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8685-33"/>
          <p:cNvSpPr txBox="1"/>
          <p:nvPr/>
        </p:nvSpPr>
        <p:spPr>
          <a:xfrm>
            <a:off x="752287" y="6145327"/>
            <a:ext cx="53602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⑤ 稳健性检验：六种方法（2,500字）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8685-34"/>
          <p:cNvSpPr txBox="1"/>
          <p:nvPr/>
        </p:nvSpPr>
        <p:spPr>
          <a:xfrm>
            <a:off x="6189702" y="6145327"/>
            <a:ext cx="53602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⑥ 结论、讨论与展望（2,000字）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8674-2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06 研究计划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8674-3"/>
          <p:cNvSpPr txBox="1"/>
          <p:nvPr/>
        </p:nvSpPr>
        <p:spPr>
          <a:xfrm>
            <a:off x="11441575" y="6519090"/>
            <a:ext cx="224585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33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9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0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"/>
            <a:ext cx="12188952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04 数据获取方案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/>
              </a:defRPr>
            </a:pPr>
            <a:r>
              <a:t>L1-L2 数据获取：BHS + AS + ICI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2881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04 数据获取方案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28816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84664" y="6400800"/>
            <a:ext cx="2203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AI 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05840"/>
            <a:ext cx="5577840" cy="256032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L1: BHS锦标赛 + 经理特征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BHS需要: 基金月度净值收益率 → CR=Π(1+R_t)-1, RAR=σ_下半年/σ_上半年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数据来源: AKShare fund_open_fund_info_em（免费，602,904条净值）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Experience: 基金经理任职起止日期 → Exp=(当前日期-首次任职)/365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数据来源: AKShare fund_manager_em（5万+条任职记录，400基金100%覆盖）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补充: 学历/CFA/性别 → CSMAR基金经理库（学校账号）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文献: Brown, Harlow &amp; Starks (1996) JF | Chevalier &amp; Ellison (1999) QJE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05840"/>
            <a:ext cx="5486400" cy="256032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097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L2: Active Share + ICI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41732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AS需要: 基金全持仓权重 + 基准指数成分股权重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数据: 东方财富全持仓API（半年报/年报, 185,144条）| 沪深300/中证500成分股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AS = 1/2 × Σ|w_fund - w_index|，V4修正后均值0.673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ICI需要: 基金行业配置权重 + 全市场行业权重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数据: AKShare行业配置 + 申万一级31个行业全市场流通市值加权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ICI = Σ(w_fund - w_market)²，V4修复后均值0.096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文献: Cremers &amp; Petajisto (2009) RFS | Kacperczyk et al. (2005) JF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749039"/>
            <a:ext cx="11247120" cy="3657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8404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F4E79"/>
                </a:solidFill>
                <a:latin typeface="微软雅黑"/>
              </a:defRPr>
            </a:pPr>
            <a:r>
              <a:t>数据获取优先级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1148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2E7D32"/>
                </a:solidFill>
                <a:latin typeface="微软雅黑"/>
              </a:defRPr>
            </a:pPr>
            <a:r>
              <a:t>P0(必须): 基金净值(AKShare) + 全持仓(东方财富) + 经理任职(AKShare) → 已获取</a:t>
            </a:r>
          </a:p>
          <a:p>
            <a:pPr>
              <a:spcAft>
                <a:spcPts val="200"/>
              </a:spcAft>
              <a:defRPr sz="900" b="0">
                <a:solidFill>
                  <a:srgbClr val="C0504D"/>
                </a:solidFill>
                <a:latin typeface="微软雅黑"/>
              </a:defRPr>
            </a:pPr>
            <a:r>
              <a:t>P1(重要): FF因子数据(AKShare, 57.6%缺失需补充) + CSMAR经理特征(学校账号) → 需补充</a:t>
            </a:r>
          </a:p>
          <a:p>
            <a:pPr>
              <a:spcAft>
                <a:spcPts val="200"/>
              </a:spcAft>
              <a:defRPr sz="900" b="0">
                <a:solidFill>
                  <a:srgbClr val="999999"/>
                </a:solidFill>
                <a:latin typeface="微软雅黑"/>
              </a:defRPr>
            </a:pPr>
            <a:r>
              <a:t>P2(可选): Wind风格指数(付费) → 用行业配置法替代 | 换手率数据 → 用|RG|代理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"/>
            <a:ext cx="12188952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04 数据获取方案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/>
              </a:defRPr>
            </a:pPr>
            <a:r>
              <a:t>L3-L5 数据获取：RG/ARG + SDI + OCI/PS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2881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04 数据获取方案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28816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84664" y="6400800"/>
            <a:ext cx="2203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AI 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05840"/>
            <a:ext cx="5577840" cy="256032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L3: Return Gap + ARG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RG需要: 基金净值收益率 + 上季度末持仓权重 + 个股月度收益率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数据: 东方财富净值API | 全持仓 | AKShare stock_zh_a_hist（前复权）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RG = R_fund - Σ(w_i × r_i)，V4均值0.93%，t=9.20***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ARG = Σ|RG_t|（绝对值求和，非平均×4），覆盖95个季度观测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注意: 持仓日期 &lt; 收益日期（防未来函数）| 港股单独计算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文献: Kacperczyk et al. (2008) RFS | 申宇等 (2013) 管理世界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05840"/>
            <a:ext cx="5486400" cy="118872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097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L4: SDI 风格漂移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417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SDI需要: 基金风格权重（相邻两期对比）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方法A(已验证): 行业配置法 → SDI = Σ|w_t - w_{t-1}|（无1/2系数）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方法B: 风格指数法 → Wind风格指数 或 自行构建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文献: 寇宗来等 (2020) 金融研究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331720"/>
            <a:ext cx="5486400" cy="123444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4231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L5: OCI +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69748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OCI = |RG|代理（缺换手率时）或换手率偏离度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PS = 1 - 预测准确率，输入L1-L4全部指标，零额外数据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模型: 1.0 Logistic → 2.0 XGBoost → 3.0 LSTM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文献: Barber &amp; Odean (2001) QJE | Kahneman &amp; Tversky (1979)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749039"/>
            <a:ext cx="11247120" cy="3657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8404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F4E79"/>
                </a:solidFill>
                <a:latin typeface="微软雅黑"/>
              </a:defRPr>
            </a:pPr>
            <a:r>
              <a:t>数据管线完整流程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1148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Step1: 下载基金日度净值 → 月度收益率 | Step2: 提取上季度末全持仓权重 | Step3: 下载个股月度收益率（前复权）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Step4: 计算持仓模拟收益 R_hold = Σ(w_i × r_i) | Step5: RG = R_fund - R_hold | Step6: ARG = Σ|RG_t|（绝对值求和）</a:t>
            </a:r>
          </a:p>
          <a:p>
            <a:pPr>
              <a:spcAft>
                <a:spcPts val="200"/>
              </a:spcAft>
              <a:defRPr sz="900" b="0">
                <a:solidFill>
                  <a:srgbClr val="2E7D32"/>
                </a:solidFill>
                <a:latin typeface="微软雅黑"/>
              </a:defRPr>
            </a:pPr>
            <a:r>
              <a:t>全部数据源免费可复现 | 400基金 × 20年 | 36万全持仓 + 60万净值 | 九指标全部计算完成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B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L3 数据获取方案：Return Gap + ARG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Kacperczyk et al. (2008) RFS · 申宇等 (2013) 管理世界 · 净值+持仓+个股收益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3657600" cy="27432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Return Gap (RG) 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338328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所需数据：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① 基金月度净值增长率 R_fund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② 上季度末持仓权重 w_i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③ 个股月度收益率 r_i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数据来源（全部免费）：</a:t>
            </a:r>
          </a:p>
          <a:p>
            <a:pPr algn="l">
              <a:defRPr sz="900" b="0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① 净值：fund_open_fund_info_em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→ 602,904条日度净值记录</a:t>
            </a:r>
          </a:p>
          <a:p>
            <a:pPr algn="l">
              <a:defRPr sz="900" b="0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② 持仓：fund_portfolio_hold_em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→ 半年报全持仓</a:t>
            </a:r>
          </a:p>
          <a:p>
            <a:pPr algn="l">
              <a:defRPr sz="900" b="0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③ 个股收益：stock_zh_a_hist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→ 前复权月度收益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计算：RG = R_fund - Σ(w_i × r_i)</a:t>
            </a:r>
          </a:p>
          <a:p>
            <a:pPr algn="l">
              <a:defRPr sz="900" b="0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V4实测：RG均值0.93%，t=9.20***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097280"/>
            <a:ext cx="3657600" cy="27432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188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ARG 绝对收益缺口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508760"/>
            <a:ext cx="338328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计算方法：</a:t>
            </a:r>
            <a:br/>
            <a:r>
              <a:t>取季度RG的绝对值后4期求和</a:t>
            </a:r>
            <a:br/>
            <a:r>
              <a:t>ARG = |RG_t|+|RG_{t-1}|</a:t>
            </a:r>
            <a:br/>
            <a:r>
              <a:t>      +|RG_{t-2}|+|RG_{t-3}|</a:t>
            </a:r>
            <a:br/>
            <a:br/>
            <a:r>
              <a:t>数据来源：同RG</a:t>
            </a:r>
            <a:br/>
            <a:r>
              <a:t>无需额外数据</a:t>
            </a:r>
            <a:br/>
            <a:br/>
            <a:r>
              <a:t>V4实测：ARG覆盖95个季度观测</a:t>
            </a:r>
            <a:br/>
            <a:br/>
            <a:r>
              <a:t>文献参考：</a:t>
            </a:r>
            <a:br/>
            <a:r>
              <a:t>申宇等(2013)管理世界</a:t>
            </a:r>
            <a:br/>
            <a:r>
              <a:t>→ 中国版ARG修正</a:t>
            </a:r>
            <a:br/>
            <a:r>
              <a:t>朱宏志(2012)</a:t>
            </a:r>
            <a:br/>
            <a:r>
              <a:t>→ 中国RG有效性研究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097280"/>
            <a:ext cx="3749039" cy="27432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1887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数据处理注意事项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1508760"/>
            <a:ext cx="34747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持仓频率限制：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中国基金仅季报披露前十大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半年报/年报才披露全持仓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RG在半年报期更精确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未来函数防控：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RG计算必须用t-1期持仓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预测t期收益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代码层面：持仓日期 &lt; 收益日期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港股持仓处理：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部分基金持有港股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港股收益需单独计算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stock_hk_hist 接口可获取</a:t>
            </a:r>
          </a:p>
          <a:p>
            <a:pPr algn="l">
              <a:defRPr sz="900" b="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V4已处理：剔除港股或单独计算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023360"/>
            <a:ext cx="11430000" cy="237744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11480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RG计算流程与验证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434840"/>
            <a:ext cx="111556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完整计算流程：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Step1: 下载基金日度净值 → 计算月度收益率 R_fund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Step2: 提取上季度末全持仓权重 {w_1, w_2, ..., w_N}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Step3: 下载个股月度收益率 {r_1, r_2, ..., r_N} (stock_zh_a_hist, 前复权)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Step4: 计算持仓模拟收益 R_hold = Σ(w_i × r_i)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Step5: RG = R_fund - R_hold （正值=经理增厚收益，负值=拖累）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已验证结果（5基金×57月=285观测）：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RG均值范围：0.11%~1.19%/月  |  季度ARG范围：0.04~0.54  |  V4扩展至400基金：RG均值0.93%，t=9.20***（正向预测）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文献对比：Kacperczyk(2008)美股RG均值~0.05%/月，我们A股RG更高(0.93%)，反映中国市场信息不对称更强、隐形交易价值更大</a:t>
            </a:r>
          </a:p>
        </p:txBody>
      </p:sp>
      <p:sp>
        <p:nvSpPr>
          <p:cNvPr id="18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9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2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B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L4 数据获取方案：SDI 风格漂移指数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寇宗来等 (2020) 金融研究 · 行业配置/风格指数数据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5577840" cy="27432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SDI 风格漂移指数数据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53035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所需数据：基金风格权重（相邻两期对比）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方法A：行业配置法（已验证）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AKShare fund_portfolio_industry_allocation_em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获取相邻两期行业配置权重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SDI = Σ|w_t - w_{t-1}|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V4用31个申万一级行业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方法B：风格指数法（寇宗来2020原版）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四类风格：大盘成长/价值/小盘成长/价值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用基金收益率对风格指数回归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估计风格暴露权重 → 计算曼哈顿距离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数据：Wind风格指数 或 自行构建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900" b="0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V4实测：SDI均值0.15（行业法），t=-7.69***</a:t>
            </a:r>
          </a:p>
          <a:p>
            <a:pPr algn="l">
              <a:defRPr sz="900" b="0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V4实测：SDI均值33.4（量纲需修复）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097280"/>
            <a:ext cx="5669280" cy="27432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1887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风格指数数据获取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508760"/>
            <a:ext cx="53949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四类风格指数构建方法：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方案A：Wind风格指数（付费）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大盘成长(885001)/大盘价值(885002)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小盘成长(885003)/小盘价值(885004)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日度收益数据完整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方案B：自行构建（免费）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用申万风格指数或CSI风格指数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或用个股数据自行分组构建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1. 按市值分大盘/小盘（中位数）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2. 按B/P比分成长/价值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3. 等权或市值加权构建指数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0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方案C：用行业配置替代（已验证）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SDI用行业权重变化计算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虽然不是严格风格漂移，但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捕捉了配置变化的核心信息</a:t>
            </a:r>
          </a:p>
          <a:p>
            <a:pPr algn="l">
              <a:defRPr sz="900" b="1">
                <a:solidFill>
                  <a:srgbClr val="D68910"/>
                </a:solidFill>
                <a:latin typeface="微软雅黑" panose="020B0503020204020204" charset="-122"/>
              </a:defRPr>
            </a:pPr>
            <a:r>
              <a:t>→ 推荐：先用方案C完成，再补方案B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4023360"/>
            <a:ext cx="11430000" cy="237744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411480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SDI计算与U型验证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434840"/>
            <a:ext cx="111556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SDI公式（寇宗来2020）：SDI = Σ_k |w_k_t - w_k_{t-1}|，其中k为风格类别（无1/2系数，纯曼哈顿距离）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U型效应验证：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回归方程：SDI = α + β₁×Performance + β₂×Performance² + ε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V2(200基金)发现：β₁=-0.293***, β₂=+0.232***，U型对称轴SDI=0.63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解释：业绩极好→追高风格切换(高SDI)；业绩极差→模仿明星基金(高SDI)；居中→维持稳定(低SDI)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V4量纲修复：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当前SDI均值33.4（行业维度），需÷100归一化至0~1区间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修复后预期均值~0.15，与V2风格维度可比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文献对比：寇宗来等(2020)金融研究，1,579只中国基金，用四类风格指数计算SDI，发现U型效应</a:t>
            </a:r>
          </a:p>
        </p:txBody>
      </p:sp>
      <p:sp>
        <p:nvSpPr>
          <p:cNvPr id="15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6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B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L5 数据获取方案：OCI + PS 不可预测性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Kahneman &amp; Tversky (1979) · Cohen et al. (2026) NBER · 换手率+行为指标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3657600" cy="27432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OCI 过度自信指数数据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338328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计算方法：OCI = |RG|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取Return Gap的绝对值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衡量隐形交易总规模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换手率越高，|RG|越大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数据来源：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同RG计算，无需额外数据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净值+持仓+个股收益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替代计算：换手率偏离度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OCI = |基金换手率 - 同类中位数|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换手率数据：</a:t>
            </a:r>
          </a:p>
          <a:p>
            <a:pPr algn="l">
              <a:defRPr sz="900" b="0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① AKShare fund_individual_basic_info_xq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→ 含当前换手率（免费）</a:t>
            </a:r>
          </a:p>
          <a:p>
            <a:pPr algn="l">
              <a:defRPr sz="900" b="0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② 基金季报持仓变动计算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→ fund_portfolio_change_em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900" b="0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V4实测：OCI均值0.028，t=4.40***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097280"/>
            <a:ext cx="3657600" cy="27432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188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PS 不可预测性分数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508760"/>
            <a:ext cx="338328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计算方法：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PS = 1 - 预测准确率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模型选择：</a:t>
            </a:r>
          </a:p>
          <a:p>
            <a:pPr algn="l">
              <a:defRPr sz="10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① Logistic回归（1.0阶段）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输入：L1-L4全部指标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预测：下季度加仓/减仓方向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PS = 1 - accuracy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② XGBoost（2.0阶段推荐）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+ SHAP可解释性分析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预测R² &gt; 0.10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0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③ LSTM深度学习（3.0阶段）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→ Cohen et al.(2026)方法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数据来源：L1-L4全部指标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无需额外数据，利用前序层输出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097280"/>
            <a:ext cx="3749039" cy="27432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1887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LA 损失厌恶（待补充）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1508760"/>
            <a:ext cx="34747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理论：前景理论损失厌恶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损失敏感度≈收益的2.25倍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代理变量方案：</a:t>
            </a:r>
          </a:p>
          <a:p>
            <a:pPr algn="l">
              <a:defRPr sz="10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① 处置效应比率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= P(卖出亏损股)/P(卖出盈利股)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需要持仓变动数据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→ fund_portfolio_change_em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0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② 用OCI代理（当前方案）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LA ≈ OCI（过度交易≈损失厌恶）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简化但合理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③ 问卷数据（理想但难获取）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行为金融问卷/风险偏好测试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→ 3.0阶段如有条件补充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900" b="1">
                <a:solidFill>
                  <a:srgbClr val="D68910"/>
                </a:solidFill>
                <a:latin typeface="微软雅黑" panose="020B0503020204020204" charset="-122"/>
              </a:defRPr>
            </a:pPr>
            <a:r>
              <a:t>阶段安排：1.0仅用OCI → 2.0加LA → 3.0加问卷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023360"/>
            <a:ext cx="11430000" cy="237744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11480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L5数据整合与预测模型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434840"/>
            <a:ext cx="111556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PS预测模型构建流程：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Step1: 收集L1-L4全部指标（Experience/BHS/AS/ICI/RG/ARG/SDI/OCI）作为特征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Step2: 定义标签——下季度持仓变动方向（加仓=1, 减仓=0），从持仓变化数据获取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Step3: 滚动训练窗口（20Q训练, 8Q测试），确保无未来函数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Step4: Logistic/XGBoost训练 → 计算预测准确率 → PS = 1 - accuracy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数据全部来自前序层，零额外数据成本</a:t>
            </a:r>
          </a:p>
          <a:p>
            <a:pPr algn="l">
              <a:defRPr sz="10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Cohen et al.(2026)NBER: AI预测71%行为，不可预测性=Alpha来源</a:t>
            </a:r>
          </a:p>
        </p:txBody>
      </p:sp>
      <p:sp>
        <p:nvSpPr>
          <p:cNvPr id="18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9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2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B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ICI与BHS锦标赛数据综合解决方案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核心数据缺口修复方案 · 文献支撑 · 具体操作步骤 · 数据获取可行性评估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5577840" cy="530352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ICI 行业集中度数据解决方案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53035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问题诊断：</a:t>
            </a:r>
          </a:p>
          <a:p>
            <a:pPr algn="l">
              <a:defRPr sz="1000" b="1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当前ICI均值712（应为0~1），量纲错误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原因：行业权重用百分比(35)而非比例(0.35)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解决方案一：直接修复（立即可行）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① 权重÷100归一化：w_fund_j / 100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② 市场行业权重用流通市值占比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③ ICI = Σ(w_fund_j/100 - w_market_j)²</a:t>
            </a:r>
          </a:p>
          <a:p>
            <a:pPr algn="l">
              <a:defRPr sz="1000" b="0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预期：均值从712降至~0.08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数据：AKShare fund_portfolio_industry_allocation_em（免费）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解决方案二：卡尔曼滤波法（高级）</a:t>
            </a:r>
          </a:p>
          <a:p>
            <a:pPr algn="l">
              <a:defRPr sz="10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文献：张学勇等(2018)——行业配置与基金业绩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核心创新：不依赖持仓数据，仅用收益率反推行业敞口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① 用基金月度收益对行业指数收益回归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② 状态空间模型 + 卡尔曼滤波估计β_j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③ IC = Σ(β_j - w_market_j)²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数据：CSMAR基金收益率 + RESSET行业指数（学校账号）</a:t>
            </a:r>
          </a:p>
          <a:p>
            <a:pPr algn="l">
              <a:defRPr sz="1000" b="0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优势：月度频率，填补半年报空白期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解决方案三：修正ICI指标</a:t>
            </a:r>
          </a:p>
          <a:p>
            <a:pPr algn="l">
              <a:defRPr sz="10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文献：邢欣羿&amp;孙谦(2015)——中国开放式基金行业配置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原始ICI存在量纲缺陷 → 提出ICR = Σ(w_fund/w_index)²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ICR与业绩显著正相关（原始ICI不显著）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数据：国泰君安数据库 或 基金季报持仓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D68910"/>
                </a:solidFill>
                <a:latin typeface="微软雅黑" panose="020B0503020204020204" charset="-122"/>
              </a:defRPr>
            </a:pPr>
            <a:r>
              <a:t>推荐策略：</a:t>
            </a:r>
          </a:p>
          <a:p>
            <a:pPr algn="l">
              <a:defRPr sz="1000" b="1">
                <a:solidFill>
                  <a:srgbClr val="D68910"/>
                </a:solidFill>
                <a:latin typeface="微软雅黑" panose="020B0503020204020204" charset="-122"/>
              </a:defRPr>
            </a:pPr>
            <a:r>
              <a:t>半年报期用方案一(精确) + 间隔期用方案二(估算)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097280"/>
            <a:ext cx="5669280" cy="530352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1887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BHS 锦标赛数据解决方案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508760"/>
            <a:ext cx="53949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问题诊断：</a:t>
            </a:r>
          </a:p>
          <a:p>
            <a:pPr algn="l">
              <a:defRPr sz="1000" b="1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原BHS公式为自构造，缺乏顶级期刊文献支撑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旧公式 BHS = exp(-Exp/8) × Rank（已弃用，已替换为BHS锦标赛法）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已替换：BHS锦标赛方法（Brown, Harlow &amp; Starks 1996 JF）</a:t>
            </a:r>
          </a:p>
          <a:p>
            <a:pPr algn="l">
              <a:defRPr sz="10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核心文献：Brown, Harlow &amp; Starks (1996)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"Of Tournaments and Temptations"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Journal of Finance, 51(1): 85-110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BHS方法核心：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① 排序期(1-6月)：CR = Π(1+R_t) - 1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② 按同类基金中位数分输家/赢家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③ 测试期(7-12月)：RAR = σ_下半年 / σ_上半年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④ 回归：RAR = α + β×Loser + γ×Controls + ε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⑤ β&gt;0显著 → 锦标赛效应存在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数据需求（全部免费！）：</a:t>
            </a:r>
          </a:p>
          <a:p>
            <a:pPr algn="l">
              <a:defRPr sz="10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① 基金月度净值收益率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 → AKShare fund_open_fund_info_em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 → 602,904条，400基金100%覆盖</a:t>
            </a:r>
          </a:p>
          <a:p>
            <a:pPr algn="l">
              <a:defRPr sz="10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② 基金分类（同类排名）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 → AKShare fund_individual_basic_info_xq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 → 偏股混合型/普通股票型分类</a:t>
            </a:r>
          </a:p>
          <a:p>
            <a:pPr algn="l">
              <a:defRPr sz="1000" b="1">
                <a:solidFill>
                  <a:srgbClr val="D68910"/>
                </a:solidFill>
                <a:latin typeface="微软雅黑" panose="020B0503020204020204" charset="-122"/>
              </a:defRPr>
            </a:pPr>
            <a:r>
              <a:t>③ 无需持仓数据！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中国市场验证文献：</a:t>
            </a:r>
          </a:p>
          <a:p>
            <a:pPr algn="l">
              <a:defRPr sz="900" b="0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罗荣华等(2015)中国管理科学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→ 2006-2011年开放式基金验证</a:t>
            </a:r>
          </a:p>
          <a:p>
            <a:pPr algn="l">
              <a:defRPr sz="900" b="0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龚红等(2010)世界经济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→ 封闭式基金1998-2008年</a:t>
            </a:r>
          </a:p>
          <a:p>
            <a:pPr algn="l">
              <a:defRPr sz="900" b="0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史晨昱(2004)北京大学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→ 国内基金锦标赛效应存在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优势：仅用净值数据，AKShare完全免费</a:t>
            </a:r>
          </a:p>
          <a:p>
            <a:pPr algn="l">
              <a:defRPr sz="1000" b="0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  且有顶级JF文献+多篇中国验证</a:t>
            </a:r>
          </a:p>
        </p:txBody>
      </p:sp>
      <p:sp>
        <p:nvSpPr>
          <p:cNvPr id="12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3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905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05 文献对比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中国本土文献支撑：36篇文献分类汇总（L1-L5）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008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AI 生成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对63篇下载文献进行系统分析，筛选出22篇高关联度文献，按L1-L5框架分类如下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11247120" cy="1371600"/>
          </a:xfrm>
          <a:prstGeom prst="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L1 背景特征层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0020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8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艾洪德、刘聪(2008)《财贸经济》：从业时间越长→稳健风格；CFA→价值投资；名校→稳健风格 | Logit模型，210只基金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赵秀娟、汪寿阳(2010)《管理评论》：经验丰富经理更注重风险控制；硕士学历高收益；博士学历好风控 | OLS回归，7项特征变量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高鹤等(2014)《金融研究》：女性经理市场风险厌恶更强，但业绩无显著差异 | 配对样本法，四因子Alpha调整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申宇等(2015)《经济学(季刊)》：校友关系广度最高组超额收益比最低组高11.37%/年；存在"小圈子"效应 | 复杂网络中心度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743200"/>
            <a:ext cx="11247120" cy="1188720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788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L2 持仓偏离层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063240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蒋晓全、丁秀英(2007)：政策性资产配置贡献85.92%(时间序列)，但横截面仅29.78%→基金间差异源于积极管理 | Panel Data GLS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韩燕等(2011)《管理世界》：能力强的基金持股行业更集中；交易行为包含更多信息含量(降低股价同步性) | 超几何分布检验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胡大春、金赛男(2007)《金融研究》：基金提高持股比例→股票波动率减小→基金稳定股市 | GMM动态面板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刘莎莎等(2013)《管理世界》：基金风险调整(增大风险)由信息优势驱动→显著提升未来业绩；仅熊市有效 | RS指标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23360"/>
            <a:ext cx="11247120" cy="1188720"/>
          </a:xfrm>
          <a:prstGeom prst="rect">
            <a:avLst/>
          </a:prstGeom>
          <a:solidFill>
            <a:srgbClr val="FF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69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L3 交易行为层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43400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8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申宇等(2013)《管理世界》：隐形交易(ARG)与超额收益正相关，最高组年超额6%；私有信息→隐形交易→高收益 | 修正Kacperczyk ARG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孔东民等(2015)《经济研究》：基金访问上市公司→显著影响交易行为→预测盈余信息；关注度低的公司信息优势更强 | Probit+2SLS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刘京军、苏楚林(2016)《管理世界》：基金重仓持股网络→资金流量传染效应；零成本组合年超额6% | 空间计量模型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303520"/>
            <a:ext cx="11247120" cy="914400"/>
          </a:xfrm>
          <a:prstGeom prst="rect">
            <a:avLst/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349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E185D"/>
                </a:solidFill>
                <a:latin typeface="微软雅黑" panose="020B0503020204020204" charset="-122"/>
              </a:defRPr>
            </a:pPr>
            <a:r>
              <a:t>L4 认知偏差 / L5 可预测性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62356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8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杨坤等(2013)《管理科学学报》：基金经理中期业绩好→承担风险争做"明星"；业绩差→承担风险摆脱"垫底"→直接验证锦标赛效应 | 半参数回归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赎回异象争论(2004-2016)：早期发现赎回异象(陆蓉2007)→方法论反思认为是假象(肖峻2011)→牛熊市不对称(肖峻2013)→PFR构成隐性激励机制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蔡庆丰、宋友勇(2010)《经济研究》：基金业跨越式发展加剧而非稳定市场波动 | TARCH+面板数据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26364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数据库分布：WIND(5篇) · CSMAR(6篇) · RESSET锐思(3篇) · 深交所独特数据(1篇) · 案例研究(2篇) | 22篇高关联文献覆盖L1-L5全部层级</a:t>
            </a:r>
          </a:p>
        </p:txBody>
      </p:sp>
      <p:sp>
        <p:nvSpPr>
          <p:cNvPr id="21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2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905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05 文献对比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赎回异象与锦标赛效应：PFR构成基金经理隐性激励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008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AI 生成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核心逻辑：业绩-资金流量关系(PFR)构成基金经理隐性激励机制 → PFR形态决定锦标赛效应强度 → 影响风险承担行为(L4)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5486400" cy="4114800"/>
          </a:xfrm>
          <a:prstGeom prst="round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赎回异象学术争论脉络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057400"/>
            <a:ext cx="512064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0312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C2626"/>
                </a:solidFill>
                <a:latin typeface="微软雅黑" panose="020B0503020204020204" charset="-122"/>
              </a:defRPr>
            </a:pPr>
            <a:r>
              <a:t>阶段一：早期发现（2004-2007）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33172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李曜、于进杰(2004)《经济科学》：最早发现赎回异象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刘志远、姚颐(2005)《证券市场导报》：赎回困惑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陆蓉等(2007)《经济研究》：PFR负相关凹形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→ 结论：业绩好→赎回多，"劣胜优汰"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46120"/>
            <a:ext cx="512064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9184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阶段二：方法论反思（2011-2016）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6616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肖峻、石劲(2011)《经济科学》：用中长期年度回报率→PFR正相关，赎回异象是假象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冯旭南、李心愉(2013)《管理世界》：参与成本影响PFR敏感性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杨坤等(2013)《管理科学学报》：发现明星效应+垫底效应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→ 早期结论源于短期季度数据+平衡面板缺陷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526280"/>
            <a:ext cx="512064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57200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阶段三：深化研究（2013-2016）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84632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肖峻(2013)《经济学(季刊)》：牛市追逐业绩、熊市忽视业绩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肖继辉(2016)《经济与管理研究》：区分申购与赎回行为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→ 牛熊市PFR不对称→激励机制非对称扭曲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→ 对"牛短熊长"的中国市场具有特殊含义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645920"/>
            <a:ext cx="5486400" cy="4114800"/>
          </a:xfrm>
          <a:prstGeom prst="round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691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PFR与BHS锦标赛理论的连接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057400"/>
            <a:ext cx="512064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10312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① PFR形态=隐性激励强度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3317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Brown, Harlow &amp; Starks(1996)：锦标赛效应取决于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业绩与资金流量的关系(PFR)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PFR正相关(追业绩)→强激励→风险调整行为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PFR负相关(赎回异象)→激励扭曲→risk-shifting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063240"/>
            <a:ext cx="512064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10896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② 杨坤等(2013)直接验证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383280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基金经理中期业绩好→承担更多风险(争做"明星")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基金经理中期业绩差→承担更多风险(摆脱"垫底")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业绩居中→风险偏好平缓上升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→ PFR两头陡中间缓→风险偏好两头高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→ 直接验证BHS锦标赛的risk-shifting行为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4160520"/>
            <a:ext cx="512064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20624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③ 牛熊市非对称激励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48056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肖峻(2013)：牛市PFR正→激励有效→经理积极操作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熊市PFR弱→激励失灵→经理保守/躺平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→ 与本研究V5发现RG牛熊反转一致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(牛市RG正向t=+12.62***, 熊市负向t=-7.17***)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5166360"/>
            <a:ext cx="51206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521208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④ 对本研究的启示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548640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BHS锦标赛(RAR)作为L1核心指标时，需考虑PFR形态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中国PFR可能非对称→需加入牛熊市交互项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89788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文献支撑：BHS(1996) JF · Chevalier &amp; Ellison(1999) QJE · 杨坤等(2013) · 肖峻(2013) · 陆蓉等(2007) · 冯旭南(2013) · 肖继辉(2016) | PFR争论揭示锦标赛效应在中国市场的特殊性</a:t>
            </a:r>
          </a:p>
        </p:txBody>
      </p:sp>
      <p:sp>
        <p:nvSpPr>
          <p:cNvPr id="35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905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05 文献对比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中外文献对比：指标方向差异与本土化发现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008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AI 生成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中国本土文献验证了本研究的核心发现：AS负向、RG牛熊反转等并非孤立现象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1097280" cy="3200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10058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指标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54480" y="1280160"/>
            <a:ext cx="2743200" cy="3200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132588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美国文献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280160"/>
            <a:ext cx="731520" cy="3200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3258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方向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1280160"/>
            <a:ext cx="2743200" cy="3200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4920" y="132588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中国文献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1280160"/>
            <a:ext cx="731520" cy="3200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13258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方向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1280160"/>
            <a:ext cx="2743200" cy="3200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132588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本研究发现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1600200"/>
            <a:ext cx="109728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1673352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54480" y="1600200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200" y="167335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Cremers &amp; Petajisto (2009)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1600200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400" y="16733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正向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0" y="1600200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74920" y="167335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郑中华 (2014)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1600200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18120" y="16733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DC2626"/>
                </a:solidFill>
                <a:latin typeface="微软雅黑" panose="020B0503020204020204" charset="-122"/>
              </a:defRPr>
            </a:pPr>
            <a:r>
              <a:t>负向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03920" y="1600200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49640" y="167335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AS负向 t=-26.81***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1984248"/>
            <a:ext cx="10972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2057400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RG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54480" y="1984248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00200" y="20574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Kacperczyk et al. (2008)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97680" y="1984248"/>
            <a:ext cx="731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43400" y="20574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正向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0" y="1984248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74920" y="20574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申宇等 (2013)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0" y="1984248"/>
            <a:ext cx="731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18120" y="20574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正向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03920" y="1984248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49640" y="20574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RG正向 t=+9.20***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2368296"/>
            <a:ext cx="109728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2441448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ICI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54480" y="2368296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00200" y="24414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Kacperczyk et al. (2005)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97680" y="2368296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43400" y="244144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正向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0" y="2368296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74920" y="24414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邢欣翽、孙谦 (2015)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72400" y="2368296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818120" y="244144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正向(早期)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03920" y="2368296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49640" y="24414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ICI负向 t=-3.69***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2752344"/>
            <a:ext cx="10972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2920" y="2825496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SDI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554480" y="2752344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00200" y="282549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寇宗来等 (2020)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297680" y="2752344"/>
            <a:ext cx="731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343400" y="282549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U型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029200" y="2752344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074920" y="282549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寇宗来等 (2020)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772400" y="2752344"/>
            <a:ext cx="731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818120" y="282549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U型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503920" y="2752344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549640" y="282549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SDI负向 牛熊反转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3136391"/>
            <a:ext cx="109728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2920" y="3209544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OCI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554480" y="3136391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600200" y="320954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Barber &amp; Odean (2001)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297680" y="3136391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343400" y="320954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DC2626"/>
                </a:solidFill>
                <a:latin typeface="微软雅黑" panose="020B0503020204020204" charset="-122"/>
              </a:defRPr>
            </a:pPr>
            <a:r>
              <a:t>负向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29200" y="3136391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074920" y="320954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无直接文献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772400" y="3136391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818120" y="320954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503920" y="3136391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549640" y="320954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OCI正向 t=+4.40***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57200" y="3520440"/>
            <a:ext cx="10972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02920" y="3593592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BHS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554480" y="3520440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600200" y="359359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Brown et al. (1996)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297680" y="3520440"/>
            <a:ext cx="731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343400" y="35935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risk-shifting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029200" y="3520440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074920" y="359359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杨坤等 (2013)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772400" y="3520440"/>
            <a:ext cx="731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818120" y="35935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明星/垫底效应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503920" y="3520440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549640" y="359359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BHS牛熊异质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57200" y="3904487"/>
            <a:ext cx="109728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02920" y="3977639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PFR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554480" y="3904487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00200" y="397763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Sirri &amp; Tufano (1998)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297680" y="3904487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343400" y="3977639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凸性正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029200" y="3904487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074920" y="397763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陆蓉等(2007)/肖峻(2011)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772400" y="3904487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818120" y="3977639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争论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503920" y="3904487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549640" y="397763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牛熊非对称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457200" y="4754880"/>
            <a:ext cx="11247120" cy="1463040"/>
          </a:xfrm>
          <a:prstGeom prst="round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40080" y="48006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关键发现：中国市场行为信号分化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40080" y="507492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8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① AS方向反转：美股AS正向(主动选股增厚收益) → A股AS负向(主动选股反损收益)，郑中华(2014)亦有类似发现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② RG方向一致：申宇等(2013)修正ARG后发现隐形交易与超额收益正相关，与Kacperczyk(2008)方向一致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③ 牛熊异质性：肖峻(2013)发现PFR牛熊不对称 → 本研究V5发现RG/SDI牛熊反转，中国市场的特殊性得到交叉验证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④ PFR争论启示：赎回异象争论(2004-2016)揭示中国基金激励机制的非线性特征 → BHS锦标赛效应需考虑PFR形态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⑤ 方法论借鉴：申宇等(2013)的ARG修正方法已被本研究采用作为OCI代理变量；杨坤等(2013)半参数回归可验证BHS非线性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48640" y="630936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文献来源：36篇文献分析报告(10篇+8篇+18篇) | 中国文献覆盖《经济研究》《管理世界》《金融研究》《经济学(季刊)》等核心期刊</a:t>
            </a:r>
          </a:p>
        </p:txBody>
      </p:sp>
      <p:sp>
        <p:nvSpPr>
          <p:cNvPr id="108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0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"/>
            <a:ext cx="12188952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06 MVP方案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/>
              </a:defRPr>
            </a:pPr>
            <a:r>
              <a:t>公式变动总结 + MVP执行计划 + 数据需求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2881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06 MVP方案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28816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84664" y="6400800"/>
            <a:ext cx="2203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AI 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05840"/>
            <a:ext cx="5577840" cy="411480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/>
              </a:defRPr>
            </a:pPr>
            <a:r>
              <a:t>公式变动总结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1. BHS替换RPI → L1引用顶刊JF原文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2. SDI删除1/2系数 → 纯曼哈顿距离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3. ARG改为Σ|RG_t| → 绝对值求和(申宇2013)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4. OCI标注为本文构建 → 避免引用不当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5. RG费用项说明 → 中国净值已费后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1">
                <a:solidFill>
                  <a:srgbClr val="1F4E79"/>
                </a:solidFill>
                <a:latin typeface="微软雅黑"/>
              </a:defRPr>
            </a:pPr>
            <a:r>
              <a:t>MVP四阶段: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Phase 0(2-3天): 修复数据+重算指标+重跑回归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Phase 1(1-2天): VIF+安慰剂+描述统计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Phase 2(2-3周): 写论文Ch4-7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Phase 3(1-2天): PPT+答辩+归档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核心原则: 每步变动重新验证 | 全部免费可复现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05840"/>
            <a:ext cx="5486400" cy="411480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097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/>
              </a:defRPr>
            </a:pPr>
            <a:r>
              <a:t>数据需求清单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41732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L1 BHS: 月度净值(AKShare) + 经理任职(AKShare)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  补充: CSMAR经理特征(学历/CFA/性别)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L2 AS/ICI: 全持仓(东方财富) + 基准成分股(AKShare)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+ 申万一级31个行业权重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L3 RG/ARG: 净值 + 持仓 + 个股收益(AKShare)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  ARG=Σ|RG_t|需保留每期RG正负号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L4 SDI: 行业配置法(已验证) 或 风格指数法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L5 OCI: |RG|代理(当前) 或 换手率(季报)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PS: L1-L4全部指标，零额外数据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P0(已获取): 净值+持仓+任职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P1(需补充): FF因子+CSMAR特征</a:t>
            </a:r>
          </a:p>
          <a:p>
            <a:pPr>
              <a:spcAft>
                <a:spcPts val="200"/>
              </a:spcAft>
              <a:defRPr sz="800" b="0">
                <a:solidFill>
                  <a:srgbClr val="999999"/>
                </a:solidFill>
                <a:latin typeface="微软雅黑"/>
              </a:defRPr>
            </a:pPr>
            <a:r>
              <a:t>P2(可选): Wind风格指数+换手率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257800"/>
            <a:ext cx="11247120" cy="3657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34924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0504D"/>
                </a:solidFill>
                <a:latin typeface="微软雅黑"/>
              </a:defRPr>
            </a:pPr>
            <a:r>
              <a:t>预计总周期4-5周 | 新公式均对照原文核实 | 全部数据源免费可复现 | 代码开源确保可复现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"/>
            <a:ext cx="12188952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06 MVP方案与数据需求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/>
              </a:defRPr>
            </a:pPr>
            <a:r>
              <a:t>MVP数据需求清单（按层级）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2881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06 MVP方案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28816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84664" y="6400800"/>
            <a:ext cx="2203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AI 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05840"/>
            <a:ext cx="5577840" cy="246888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L1: BHS锦标赛 + 经理特征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需要数据：① 基金月度净值收益率（算CR和σ） ② 基金经理任职记录 ③ 经理学历/CFA/性别（CSMAR）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数据来源：AKShare fund_open_fund_info_em（净值，免费）| AKShare fund_manager_em（任职，5万+条）| CSMAR（经理特征）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公式变动影响：BHS替换RPI后，需要月度收益数据计算CR和RAR，不再需要排名分位数据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覆盖情况：400基金 100%覆盖（API自动化）| V4实测：输家RAR均值1.15, 赢家0.92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566160"/>
            <a:ext cx="5577840" cy="246888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L2: Active Share + ICI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77639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需要数据：① 基金全持仓权重 ② 基准指数成分股权重 ③ 基金行业配置权重 ④ 全市场行业权重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数据来源：东方财富全持仓API（半年报/年报）| 沪深300/中证500成分股（AKShare）| 申万一级31个行业（AKShare）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公式变动影响：AS公式不变(1/2系数正确)；ICI行业数从10修正为31个（申万一级）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覆盖情况：185,144条持仓记录 | V4修正后AS均值0.673, ICI均值0.096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005840"/>
            <a:ext cx="5486400" cy="246888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097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L3: Return Gap + ARG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41732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需要数据：① 基金净值收益率 ② 上季度末持仓权重 ③ 个股月度收益率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数据来源：东方财富净值API（602,904条）| 全持仓数据 | AKShare stock_zh_a_hist（前复权）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公式变动影响：ARG从mean×4改为Σ|RG_t|，需要保留每期RG的正负号信息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覆盖情况：RG均值0.93%，t=9.20*** | ARG覆盖95个季度观测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566160"/>
            <a:ext cx="5486400" cy="118872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6576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L4: SDI + OCI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977639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SDI需数据：基金风格权重（相邻两期）→ 行业配置法(已验证) 或 风格指数法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OCI需数据：换手率（基金季报）或用|RG|代理（当前方案）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公式变动：SDI删除1/2系数→均值翻倍；OCI标注为本文构建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846320"/>
            <a:ext cx="5486400" cy="118872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9377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L5: PS 不可预测性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2578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需数据：L1-L4全部指标（零额外数据成本）+ 下季度持仓变动方向（标签）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模型：1.0 Logistic → 2.0 XGBoost+SHAP → 3.0 LSTM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6172200"/>
            <a:ext cx="11247120" cy="3657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21792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F4E79"/>
                </a:solidFill>
                <a:latin typeface="微软雅黑"/>
              </a:defRPr>
            </a:pPr>
            <a:r>
              <a:t>数据获取优先级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P0（必须）: 基金净值(AKShare) + 全持仓(东方财富) + 经理任职(AKShare) → 已获取</a:t>
            </a:r>
          </a:p>
          <a:p>
            <a:pPr>
              <a:spcAft>
                <a:spcPts val="200"/>
              </a:spcAft>
              <a:defRPr sz="800" b="0">
                <a:solidFill>
                  <a:srgbClr val="E67E22"/>
                </a:solidFill>
                <a:latin typeface="微软雅黑"/>
              </a:defRPr>
            </a:pPr>
            <a:r>
              <a:t>P1（重要）: FF因子数据(AKShare, 57.6%缺失需补充) + CSMAR经理特征(学校账号) → 需补充</a:t>
            </a:r>
          </a:p>
          <a:p>
            <a:pPr>
              <a:spcAft>
                <a:spcPts val="200"/>
              </a:spcAft>
              <a:defRPr sz="800" b="0">
                <a:solidFill>
                  <a:srgbClr val="999999"/>
                </a:solidFill>
                <a:latin typeface="微软雅黑"/>
              </a:defRPr>
            </a:pPr>
            <a:r>
              <a:t>P2（可选）: Wind风格指数(付费) → 用行业配置法替代 | 换手率数据(季报) → 用|RG|代理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37684</Words>
  <Application>WPS 演示</Application>
  <PresentationFormat/>
  <Paragraphs>3417</Paragraphs>
  <Slides>43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5" baseType="lpstr">
      <vt:lpstr>Arial</vt:lpstr>
      <vt:lpstr>宋体</vt:lpstr>
      <vt:lpstr>Wingdings</vt:lpstr>
      <vt:lpstr>黑体</vt:lpstr>
      <vt:lpstr>Arial</vt:lpstr>
      <vt:lpstr>微软雅黑</vt:lpstr>
      <vt:lpstr>Arial Unicode MS</vt:lpstr>
      <vt:lpstr>Calibri</vt:lpstr>
      <vt:lpstr>Courier New</vt:lpstr>
      <vt:lpstr>Consolas</vt:lpstr>
      <vt:lpstr>Cambria Math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Export</dc:title>
  <dc:creator>html-to-pptx-demo</dc:creator>
  <cp:lastModifiedBy>26955</cp:lastModifiedBy>
  <cp:revision>2</cp:revision>
  <dcterms:created xsi:type="dcterms:W3CDTF">2026-08-05T01:04:00Z</dcterms:created>
  <dcterms:modified xsi:type="dcterms:W3CDTF">2026-08-06T03:25:39Z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97A3AD4A0E454131863B6C6440C5658B_12</vt:lpwstr>
  </property>
  <property fmtid="{D5CDD505-2E9C-101B-9397-08002B2CF9AE}" pid="3" name="KSOProductBuildVer">
    <vt:lpwstr>2052-12.8.2.18205</vt:lpwstr>
  </property>
</Properties>
</file>