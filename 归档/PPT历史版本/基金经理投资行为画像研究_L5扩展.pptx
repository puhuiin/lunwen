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  <p:sldId id="310" r:id="rId51"/>
    <p:sldId id="311" r:id="rId52"/>
    <p:sldId id="312" r:id="rId53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42.xml"/><Relationship Id="rId45" Type="http://schemas.openxmlformats.org/officeDocument/2006/relationships/slide" Target="slides/slide38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39.xml"/><Relationship Id="rId50" Type="http://schemas.openxmlformats.org/officeDocument/2006/relationships/slide" Target="slides/slide45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286000" cy="547884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286000" cy="527102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572000" cy="7356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BHS案例：小王(输家·新手) vs 老李(赢家·老手)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小王（从业3年·8亿规模）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上半年月收益：-1%, +0.5%, -2%, +1%, +0.5%, -1%</a:t>
            </a:r>
            <a:br/>
            <a:r>
              <a:t>CR = (0.99)(1.005)(0.98)(1.01)(1.005)(0.99)-1 = -2.0%</a:t>
            </a:r>
            <a:br/>
            <a:r>
              <a:t>同类100只基金排名：第85名 → 输家(Loser)</a:t>
            </a:r>
            <a:br/>
            <a:r>
              <a:t>上半年 σ_rank = 1.17%（月度波动小）</a:t>
            </a:r>
            <a:br/>
            <a:r>
              <a:t>下半年行为：重仓半导体 15%→40%，追涨杀跌</a:t>
            </a:r>
            <a:br/>
            <a:r>
              <a:t>下半年月收益：+4%, -3%, +5%, -2%, +3%, -4%</a:t>
            </a:r>
            <a:br/>
            <a:r>
              <a:t>下半年 σ_test = 3.94%（波动翻3倍）</a:t>
            </a:r>
            <a:br/>
            <a:r>
              <a:t>RAR = 3.94/1.17 = 3.37 &gt;&gt; 1 → 大幅增险</a:t>
            </a:r>
            <a:br/>
            <a:r>
              <a:t>结果：全年-8.5%，排名跌至后5%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老李（从业10年·50亿规模）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上半年月收益：+1.5%, +1%, +0.5%, +2%, +1%, +0.5%</a:t>
            </a:r>
            <a:br/>
            <a:r>
              <a:t>CR = (1.015)(1.01)(1.005)(1.02)(1.01)(1.005)-1 = +6.7%</a:t>
            </a:r>
            <a:br/>
            <a:r>
              <a:t>同类100只基金排名：第8名 → 赢家(Winner)</a:t>
            </a:r>
            <a:br/>
            <a:r>
              <a:t>上半年 σ_rank = 0.58%（波动平稳）</a:t>
            </a:r>
            <a:br/>
            <a:r>
              <a:t>下半年行为：维持均衡配置，适度获利了结</a:t>
            </a:r>
            <a:br/>
            <a:r>
              <a:t>下半年月收益：+0.8%, +0.5%, +1%, +0.3%, +0.6%, +0.4%</a:t>
            </a:r>
            <a:br/>
            <a:r>
              <a:t>下半年 σ_test = 0.26%（波动进一步降低）</a:t>
            </a:r>
            <a:br/>
            <a:r>
              <a:t>RAR = 0.26/0.58 = 0.45 &lt; 1 → 明显降险</a:t>
            </a:r>
            <a:br/>
            <a:r>
              <a:t>结果：全年+12.8%，排名稳居前10%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输家RAR(3.37) &gt;&gt; 赢家RAR(0.45)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从业年限短(3年)→职业忧虑强→增险更激进 | 从业年限长(10年)→职业安全高→降险保收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3200400" cy="55841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 CR</a:t>
            </a:r>
            <a:br/>
            <a:r>
              <a:t>上半年6个月收益率：</a:t>
            </a:r>
            <a:br/>
            <a:r>
              <a:t>  1月=-1%, 2月=+0.5%, 3月=-2%, 4月=+1%, 5月=+0.5%, 6月=-1%</a:t>
            </a:r>
            <a:br/>
            <a:r>
              <a:t>CR = (1-0.01)×(1+0.005)×(1-0.02)×(1+0.01)×(1+0.005)×(1-0.01) - 1</a:t>
            </a:r>
            <a:br/>
            <a:r>
              <a:t>   = 0.99 × 1.005 × 0.98 × 1.01 × 1.005 × 0.99 - 1</a:t>
            </a:r>
            <a:br/>
            <a:r>
              <a:t>   = 0.980 - 1 = -2.0%</a:t>
            </a:r>
            <a:br/>
            <a:r>
              <a:t>同类100只基金中排名第85 → 后15% → 输家(Loser)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743200" cy="657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 σ_rank</a:t>
            </a:r>
            <a:br/>
            <a:r>
              <a:t>上半年月度收益率均值 R̄ = (-1+0.5-2+1+0.5-1)/6 = -0.33%</a:t>
            </a:r>
            <a:br/>
            <a:r>
              <a:t>各月偏差²：(0.67²)+(0.83²)+(1.67²)+(1.33²)+(0.83²)+(0.67²)</a:t>
            </a:r>
            <a:br/>
            <a:r>
              <a:t>       = 0.45+0.69+2.79+1.77+0.69+0.45 = 6.84</a:t>
            </a:r>
            <a:br/>
            <a:r>
              <a:t>方差 = 6.84/5 = 1.37</a:t>
            </a:r>
            <a:br/>
            <a:r>
              <a:t>σ_rank = √1.37 = 1.17%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657600" cy="7598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 σ_test</a:t>
            </a:r>
            <a:br/>
            <a:r>
              <a:t>小王下半年重仓半导体(15%→40%)追涨</a:t>
            </a:r>
            <a:br/>
            <a:r>
              <a:t>下半年月收益：+4%, -3%, +5%, -2%, +3%, -4%</a:t>
            </a:r>
            <a:br/>
            <a:r>
              <a:t>均值 R̄ = (4-3+5-2+3-4)/6 = 0.5%</a:t>
            </a:r>
            <a:br/>
            <a:r>
              <a:t>偏差²之和 = 12.25+12.25+20.25+6.25+6.25+20.25 = 77.5</a:t>
            </a:r>
            <a:br/>
            <a:r>
              <a:t>方差 = 77.5/5 = 15.5</a:t>
            </a:r>
            <a:br/>
            <a:r>
              <a:t>σ_test = √15.5 = 3.94%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657600" cy="684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 RAR</a:t>
            </a:r>
            <a:br/>
            <a:r>
              <a:t>RAR = σ_test / σ_rank = 3.94% / 1.17% = 3.37</a:t>
            </a:r>
            <a:br/>
            <a:r>
              <a:t>RAR = 3.37 &gt;&gt; 1 → 下半年风险是上半年的3.37倍</a:t>
            </a:r>
            <a:br/>
            <a:r>
              <a:t>经济含义：输家在下半年大幅增加风险敞口</a:t>
            </a:r>
            <a:br/>
            <a:r>
              <a:t>对比：赢家老李 RAR = 0.26/0.58 = 0.45 &lt; 1 → 降险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286000" cy="5271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  <a:br/>
            <a:r>
              <a:t>H0: 输家RAR = 赢家RAR（无锦标赛效应）</a:t>
            </a:r>
            <a:br/>
            <a:r>
              <a:t>H1: 输家RAR &gt; 赢家RAR（锦标赛效应存在）</a:t>
            </a:r>
            <a:br/>
            <a:r>
              <a:t>小王(输家) RAR = 3.37  vs  老李(赢家) RAR = 0.45</a:t>
            </a:r>
            <a:br/>
            <a:r>
              <a:t>输家RAR是赢家RAR的7.5倍 → 拒绝H0</a:t>
            </a:r>
            <a:br/>
            <a:r>
              <a:t>结论：锦标赛效应显著，输家增险翻盘，赢家降险保收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572000" cy="7356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BHS示例计算：小王2024年锦标赛行为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同类基金100只，CR=-2.0% 排名第85名(后15%) → 输家(Loser)</a:t>
            </a:r>
            <a:br/>
            <a:r>
              <a:t>[2] 下半年重仓半导体(15%→40%)，月收益波动从1.17%升至3.94%</a:t>
            </a:r>
            <a:br/>
            <a:r>
              <a:t>[3] RAR = 3.94/1.17 = 3.37 &gt;&gt; 1 → 大幅增险，锦标赛效应验证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</a:t>
            </a:r>
            <a:br/>
            <a:r>
              <a:t>直观对比：输家RAR=3.37(增险237%) vs 赢家RAR=0.45(降险55%) → 差异7.5倍</a:t>
            </a:r>
            <a:br/>
            <a:r>
              <a:t>数据来源：AKShare ak.fund_manager_em()（免费API）+ fund_open_fund_info_em（净值数据）| 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193792"/>
            <a:ext cx="1104528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325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440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6509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4114800" cy="102699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4114800" cy="1115416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3200400" cy="798777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3200400" cy="867546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881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求和上界（滚动窗口期数，如4季度T=4）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1920240"/>
            <a:ext cx="5603615" cy="1141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134558"/>
            <a:ext cx="5603615" cy="1519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463040"/>
            <a:ext cx="5603615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1965960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207710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207710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345459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345459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3701486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3701486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425237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425237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103120"/>
            <a:ext cx="2286000" cy="271661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47933"/>
            <a:ext cx="4572000" cy="522033"/>
          </a:xfrm>
          <a:prstGeom prst="rect">
            <a:avLst/>
          </a:prstGeom>
        </p:spPr>
      </p:pic>
      <p:pic>
        <p:nvPicPr>
          <p:cNvPr id="53" name="Picture 52" descr="u_shape_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975806"/>
            <a:ext cx="3200400" cy="376279"/>
          </a:xfrm>
          <a:prstGeom prst="rect">
            <a:avLst/>
          </a:prstGeom>
        </p:spPr>
      </p:pic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Barber &amp; Odean (2001) QJE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  <a:defRPr sz="1270">
                <a:solidFill>
                  <a:srgbClr val="4B5563"/>
                </a:solidFill>
                <a:latin typeface="宋体"/>
              </a:defRPr>
            </a:pPr>
            <a:r>
              <a:t>理论背景：Barber &amp; Odean(2001)发现过度自信投资者交易过多，用换手率衡量过度自信程度。OCI为本文构建指标，将换手率Z-score标准化以衡量基金经理过度自信。理论基础：前景理论(Kahneman &amp; Tversky, 1979)解释非理性行为。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45152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理论公式: OCI = (TO_{i,t} - TŌ_t) / σ(TO)，本文构建，受Barber &amp; Odean(2001)换手率代理启发 | 实际实现: OCI = |RG_t|（申宇2013 ARG代理，当前缺换手率数据时使用）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/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t>输入：L1~L5五层指标 | β₀~β₅: 回归系数 | σ: Sigmoid激活函数 | 输出：行为标签概率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3" y="3596539"/>
            <a:ext cx="4572000" cy="537542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OCI = |RG_t|（实际实现，理论公式见L5详解）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OCI: |RG|代理(均值0.028, 理论公式为换手率Z-score)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OCI理论=(TO-TŌ)/σ(TO) | 实际=|RG|代理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1 - 预测准确率，输入L1-L4全部指标，零额外数据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04 MVP与执行计划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OCI标注为本文构建(理论=换手率Z-score, 实际=|RG|代理)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759"/>
                </a:solidFill>
                <a:latin typeface="微软雅黑"/>
              </a:defRPr>
            </a:pPr>
            <a:r>
              <a:t>L5 扩展：PS分类标签矩阵 — 12类基金经理行为画像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83080"/>
                <a:gridCol w="1783080"/>
                <a:gridCol w="1783080"/>
                <a:gridCol w="178308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</a:p>
                  </a:txBody>
                  <a:tcPr anchor="ctr" marL="38100" marR="38100" marT="25400" marB="25400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AS主导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持仓偏离型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RG主导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隐形交易型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SDI主导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风格漂移型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OCI主导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过度自信型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高可测性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PS &gt; 0.67</a:t>
                      </a:r>
                    </a:p>
                  </a:txBody>
                  <a:tcPr anchor="ctr" marL="38100" marR="38100" marT="25400" marB="25400">
                    <a:solidFill>
                      <a:srgbClr val="4B3F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激进主动型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高AS+高PS</a:t>
                      </a:r>
                    </a:p>
                    <a:p>
                      <a:pPr algn="ctr">
                        <a:defRPr sz="700">
                          <a:solidFill>
                            <a:srgbClr val="E8463A"/>
                          </a:solidFill>
                          <a:latin typeface="微软雅黑"/>
                        </a:defRPr>
                      </a:pPr>
                      <a:r>
                        <a:t>AS负向 t=-26.81***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信息优势型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高RG+高PS</a:t>
                      </a:r>
                    </a:p>
                    <a:p>
                      <a:pPr algn="ctr">
                        <a:defRPr sz="700">
                          <a:solidFill>
                            <a:srgbClr val="1DC981"/>
                          </a:solidFill>
                          <a:latin typeface="微软雅黑"/>
                        </a:defRPr>
                      </a:pPr>
                      <a:r>
                        <a:t>RG正向 t=+9.20***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频繁切换型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高SDI+高PS</a:t>
                      </a:r>
                    </a:p>
                    <a:p>
                      <a:pPr algn="ctr">
                        <a:defRPr sz="700">
                          <a:solidFill>
                            <a:srgbClr val="E8463A"/>
                          </a:solidFill>
                          <a:latin typeface="微软雅黑"/>
                        </a:defRPr>
                      </a:pPr>
                      <a:r>
                        <a:t>SDI负向 t=-7.69***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A1759"/>
                          </a:solidFill>
                          <a:latin typeface="微软雅黑"/>
                        </a:defRPr>
                      </a:pPr>
                      <a:r>
                        <a:t>过度交易型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高OCI+高PS</a:t>
                      </a:r>
                    </a:p>
                    <a:p>
                      <a:pPr algn="ctr">
                        <a:defRPr sz="700">
                          <a:solidFill>
                            <a:srgbClr val="1DC981"/>
                          </a:solidFill>
                          <a:latin typeface="微软雅黑"/>
                        </a:defRPr>
                      </a:pPr>
                      <a:r>
                        <a:t>OCI正向 t=+4.40***</a:t>
                      </a:r>
                    </a:p>
                  </a:txBody>
                  <a:tcPr anchor="ctr" marL="38100" marR="38100" marT="25400" marB="25400">
                    <a:solidFill>
                      <a:srgbClr val="F2F7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微软雅黑"/>
                        </a:defRPr>
                      </a:pPr>
                      <a:r>
                        <a:t>中可测性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0.33≤PS≤0.67</a:t>
                      </a:r>
                    </a:p>
                  </a:txBody>
                  <a:tcPr anchor="ctr" marL="38100" marR="38100" marT="25400" marB="25400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适度偏离型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AS中等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混合信号</a:t>
                      </a:r>
                    </a:p>
                  </a:txBody>
                  <a:tcPr anchor="ctr" marL="38100" marR="38100" marT="25400" marB="25400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均衡交易型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RG中等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混合信号</a:t>
                      </a:r>
                    </a:p>
                  </a:txBody>
                  <a:tcPr anchor="ctr" marL="38100" marR="38100" marT="25400" marB="25400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偶尔漂移型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SDI中等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混合信号</a:t>
                      </a:r>
                    </a:p>
                  </a:txBody>
                  <a:tcPr anchor="ctr" marL="38100" marR="38100" marT="25400" marB="25400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正常交易型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OCI中等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混合信号</a:t>
                      </a:r>
                    </a:p>
                  </a:txBody>
                  <a:tcPr anchor="ctr" marL="38100" marR="38100" marT="25400" marB="25400">
                    <a:solidFill>
                      <a:srgbClr val="F7F7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微软雅黑"/>
                        </a:defRPr>
                      </a:pPr>
                      <a:r>
                        <a:t>低可测性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PS &lt; 0.33</a:t>
                      </a:r>
                    </a:p>
                  </a:txBody>
                  <a:tcPr anchor="ctr" marL="38100" marR="38100" marT="25400" marB="25400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被动跟踪型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低AS+低PS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噪声驱动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透明交易型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低RG+低PS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噪声驱动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风格稳定型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低SDI+低PS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噪声驱动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理性克制型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低OCI+低PS</a:t>
                      </a:r>
                    </a:p>
                    <a:p>
                      <a:pPr algn="ctr">
                        <a:defRPr sz="700">
                          <a:latin typeface="微软雅黑"/>
                        </a:defRPr>
                      </a:pPr>
                      <a:r>
                        <a:t>噪声驱动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212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PS = σ(β₀ + Σβₖ·Lₖ) | 主导向量 = Logistic回归中|βₖ|最大的指标 | PS值反映L1-L4行为信号对未来业绩的可预测概率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03 研究设计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4937760" y="868680"/>
            <a:ext cx="4114800" cy="2926080"/>
          </a:xfrm>
          <a:prstGeom prst="rect">
            <a:avLst/>
          </a:prstGeom>
          <a:noFill/>
          <a:ln w="25400">
            <a:solidFill>
              <a:srgbClr val="4B3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868680"/>
            <a:ext cx="4297680" cy="2926080"/>
          </a:xfrm>
          <a:prstGeom prst="rect">
            <a:avLst/>
          </a:prstGeom>
          <a:noFill/>
          <a:ln w="1270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759"/>
                </a:solidFill>
                <a:latin typeface="微软雅黑"/>
              </a:defRPr>
            </a:pPr>
            <a:r>
              <a:t>L5 逻辑架构：两阶段框架 — PS作为综合输出层，不参与解释层回归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微软雅黑"/>
              </a:defRPr>
            </a:pPr>
            <a:r>
              <a:t>Stage 1 — 解释层（Ch4 实证结果）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1717"/>
                </a:solidFill>
                <a:latin typeface="微软雅黑"/>
              </a:defRPr>
            </a:pPr>
            <a:r>
              <a:t>自变量: {BHS, AS, ICI, RG, ARG, SDI, OCI}</a:t>
            </a:r>
            <a:br/>
            <a:r>
              <a:t>因变量: 下期基金超额收益</a:t>
            </a:r>
            <a:br/>
            <a:r>
              <a:t>方法: OLS聚类回归 + Fama-MacBeth + FE</a:t>
            </a:r>
            <a:br/>
            <a:r>
              <a:t>问题: 哪个行为维度对业绩有预测力？</a:t>
            </a:r>
            <a:br/>
            <a:br/>
            <a:r>
              <a:t>关键发现:</a:t>
            </a:r>
            <a:br/>
            <a:r>
              <a:t>• AS负向最强 (t=-26.81***)</a:t>
            </a:r>
            <a:br/>
            <a:r>
              <a:t>• RG正向最稳健 (t=+9.20***)</a:t>
            </a:r>
            <a:br/>
            <a:r>
              <a:t>• SDI负向 (t=-7.69***)</a:t>
            </a:r>
            <a:br/>
            <a:r>
              <a:t>• OCI正向 (t=+4.40***)</a:t>
            </a:r>
            <a:br/>
            <a:r>
              <a:t>• R² = 0.0684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B3FE3"/>
                </a:solidFill>
                <a:latin typeface="微软雅黑"/>
              </a:defRPr>
            </a:pPr>
            <a:r>
              <a:t>→ 输入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2525B"/>
                </a:solidFill>
                <a:latin typeface="微软雅黑"/>
              </a:defRPr>
            </a:pPr>
            <a:r>
              <a:t>βₖ权重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759"/>
                </a:solidFill>
                <a:latin typeface="微软雅黑"/>
              </a:defRPr>
            </a:pPr>
            <a:r>
              <a:t>Stage 2 — 综合层（Ch5 画像与分类）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2801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1717"/>
                </a:solidFill>
                <a:latin typeface="微软雅黑"/>
              </a:defRPr>
            </a:pPr>
            <a:r>
              <a:t>PS = σ(β₀ + β₁·BHS + β₂·AS + β₃·RG</a:t>
            </a:r>
            <a:br/>
            <a:r>
              <a:t>         + β₄·SDI + β₅·OCI)</a:t>
            </a:r>
            <a:br/>
            <a:r>
              <a:t>σ(z) = 1/(1+e⁻ᶻ)</a:t>
            </a:r>
            <a:br/>
            <a:br/>
            <a:r>
              <a:t>PS不进入Stage 1回归</a:t>
            </a:r>
            <a:br/>
            <a:r>
              <a:t>PS用途:</a:t>
            </a:r>
            <a:br/>
            <a:r>
              <a:t>• 12类行为画像分类标签</a:t>
            </a:r>
            <a:br/>
            <a:r>
              <a:t>• 高PS组 vs 低PS组收益差异检验</a:t>
            </a:r>
            <a:br/>
            <a:r>
              <a:t>• FF因子调整后PS分组Alpha</a:t>
            </a:r>
            <a:br/>
            <a:r>
              <a:t>• 双重排序: PS×AS 非参数验证</a:t>
            </a:r>
            <a:br/>
            <a:br/>
            <a:r>
              <a:t>问题: 综合行为模式能否预测未来业绩？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759"/>
                </a:solidFill>
                <a:latin typeface="微软雅黑"/>
              </a:defRPr>
            </a:pPr>
            <a:r>
              <a:t>为什么不存在多重共线性？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8912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Stage 1 回归自变量 = {BHS, AS, ICI, RG, ARG, SDI, OCI}，PS 不在该集合中</a:t>
            </a:r>
            <a:br/>
            <a:r>
              <a:t>Stage 2 用 PS 做分组/分类检验，不做回归（或做 PS 对下期收益的单独回归，不含 L1-L4 原始指标）</a:t>
            </a:r>
            <a:br/>
            <a:r>
              <a:t>两个阶段回答不同问题：Stage 1 = "哪个指标有效" → Stage 2 = "综合行为模式能否预测"</a:t>
            </a:r>
            <a:br/>
            <a:r>
              <a:t>文章逻辑：Ch4 逐层检验 L1-L4 → Ch5 PS 综合画像 → Ch6 稳健性验证 → Ch7 结论</a:t>
            </a:r>
            <a:br/>
            <a:r>
              <a:t>如果审稿人质疑：可做 VIF 检验（Stage 1 中不含 PS，VIF 自然不存在 PS 引起的共线性）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4864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微软雅黑"/>
              </a:defRPr>
            </a:pPr>
            <a:r>
              <a:t>文章逻辑结构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521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Ch1 引言 | Ch2 文献综述 | Ch3 研究设计（L1-L5框架+公式+数据）</a:t>
            </a:r>
            <a:br/>
            <a:r>
              <a:t>Ch4 实证结果（Stage 1: L1-L4各自回归，不含PS）→ 回答"哪些行为有效"</a:t>
            </a:r>
            <a:br/>
            <a:r>
              <a:t>Ch5 行为画像（Stage 2: PS分类+分组检验，不含L1-L4原始指标）→ 回答"综合模式能否预测"</a:t>
            </a:r>
            <a:br/>
            <a:r>
              <a:t>Ch6 稳健性检验（六种方法交叉验证 + PS分组稳健性）| Ch7 结论与讨论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03 研究设计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759"/>
                </a:solidFill>
                <a:latin typeface="微软雅黑"/>
              </a:defRPr>
            </a:pPr>
            <a:r>
              <a:t>L5 详解：PS计算流程 → 分类标签生成 → 业绩预测验证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3FE3"/>
                </a:solidFill>
                <a:latin typeface="微软雅黑"/>
              </a:defRPr>
            </a:pPr>
            <a:r>
              <a:t>Step 1: Logistic回归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1717"/>
                </a:solidFill>
                <a:latin typeface="微软雅黑"/>
              </a:defRPr>
            </a:pPr>
            <a:r>
              <a:t>输入: L1-L4全部指标</a:t>
            </a:r>
            <a:br/>
            <a:r>
              <a:t>  BHS (锦标赛排名变化)</a:t>
            </a:r>
            <a:br/>
            <a:r>
              <a:t>  AS (主动份额)</a:t>
            </a:r>
            <a:br/>
            <a:r>
              <a:t>  ICI (行业集中度)</a:t>
            </a:r>
            <a:br/>
            <a:r>
              <a:t>  RG/ARG (隐形交易)</a:t>
            </a:r>
            <a:br/>
            <a:r>
              <a:t>  SDI (风格漂移)</a:t>
            </a:r>
            <a:br/>
            <a:r>
              <a:t>  OCI (过度自信)</a:t>
            </a:r>
            <a:br/>
            <a:br/>
            <a:r>
              <a:t>因变量: 下期收益是否超额</a:t>
            </a:r>
            <a:br/>
            <a:r>
              <a:t>  Y = 1 if R &gt; R_median</a:t>
            </a:r>
            <a:br/>
            <a:r>
              <a:t>  Y = 0 otherwise</a:t>
            </a:r>
            <a:br/>
            <a:br/>
            <a:r>
              <a:t>输出: β₀, β₁, ..., β₅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3FE3"/>
                </a:solidFill>
                <a:latin typeface="微软雅黑"/>
              </a:defRPr>
            </a:pPr>
            <a:r>
              <a:t>Step 2: PS得分计算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2801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1717"/>
                </a:solidFill>
                <a:latin typeface="微软雅黑"/>
              </a:defRPr>
            </a:pPr>
            <a:r>
              <a:t>PS = σ(β₀ + Σβₖ·Lₖ)</a:t>
            </a:r>
            <a:br/>
            <a:r>
              <a:t>σ(z) = 1/(1+e⁻ᶻ)</a:t>
            </a:r>
            <a:br/>
            <a:br/>
            <a:r>
              <a:t>PS ∈ [0, 1]</a:t>
            </a:r>
            <a:br/>
            <a:r>
              <a:t>  PS → 1: 行为高度可预测</a:t>
            </a:r>
            <a:br/>
            <a:r>
              <a:t>  PS → 0: 行为难以预测</a:t>
            </a:r>
            <a:br/>
            <a:br/>
            <a:r>
              <a:t>主导向量:</a:t>
            </a:r>
            <a:br/>
            <a:r>
              <a:t>  argmax|βₖ| 决定行为类型</a:t>
            </a:r>
            <a:br/>
            <a:r>
              <a:t>  (AS/RG/SDI/OCI之一)</a:t>
            </a:r>
            <a:br/>
            <a:br/>
            <a:r>
              <a:t>PS分层:</a:t>
            </a:r>
            <a:br/>
            <a:r>
              <a:t>  高: PS &gt; 0.67</a:t>
            </a:r>
            <a:br/>
            <a:r>
              <a:t>  中: 0.33 ≤ PS ≤ 0.67</a:t>
            </a:r>
            <a:br/>
            <a:r>
              <a:t>  低: PS &lt; 0.33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914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3FE3"/>
                </a:solidFill>
                <a:latin typeface="微软雅黑"/>
              </a:defRPr>
            </a:pPr>
            <a:r>
              <a:t>Step 3: 分类与验证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1717"/>
                </a:solidFill>
                <a:latin typeface="微软雅黑"/>
              </a:defRPr>
            </a:pPr>
            <a:r>
              <a:t>3×4矩阵 = 12类行为画像</a:t>
            </a:r>
            <a:br/>
            <a:br/>
            <a:r>
              <a:t>验证方法:</a:t>
            </a:r>
            <a:br/>
            <a:r>
              <a:t>  ① 高PS组 vs 低PS组</a:t>
            </a:r>
            <a:br/>
            <a:r>
              <a:t>     收益差异t检验</a:t>
            </a:r>
            <a:br/>
            <a:r>
              <a:t>  ② PS分组 × FF因子调整</a:t>
            </a:r>
            <a:br/>
            <a:r>
              <a:t>     检验Alpha差异</a:t>
            </a:r>
            <a:br/>
            <a:r>
              <a:t>  ③ 双重排序: PS×AS</a:t>
            </a:r>
            <a:br/>
            <a:r>
              <a:t>     非参数验证</a:t>
            </a:r>
            <a:br/>
            <a:r>
              <a:t>  ④ PS预测准确率</a:t>
            </a:r>
            <a:br/>
            <a:r>
              <a:t>     = 1 - 分类错误率</a:t>
            </a:r>
            <a:br/>
            <a:br/>
            <a:r>
              <a:t>预期发现:</a:t>
            </a:r>
            <a:br/>
            <a:r>
              <a:t>  高PS组收益离散度更大</a:t>
            </a:r>
            <a:br/>
            <a:r>
              <a:t>  正向指标主导→高收益</a:t>
            </a:r>
            <a:br/>
            <a:r>
              <a:t>  负向指标主导→低收益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759"/>
                </a:solidFill>
                <a:latin typeface="微软雅黑"/>
              </a:defRPr>
            </a:pPr>
            <a:r>
              <a:t>PS的学术定位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02336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1717"/>
                </a:solidFill>
                <a:latin typeface="微软雅黑"/>
              </a:defRPr>
            </a:pPr>
            <a:r>
              <a:t>PS不是"第六个自变量"，而是L1-L4行为的"综合评价器"。类比：L1-L4是各科考试成绩，PS是总评等级。</a:t>
            </a:r>
            <a:br/>
            <a:r>
              <a:t>各科成绩单独看（Stage 1）能判断哪门课重要；总评等级（Stage 2）能判断学生整体水平。</a:t>
            </a:r>
            <a:br/>
            <a:r>
              <a:t>两者不矛盾，回答不同层次的问题。这是递进框架的核心逻辑：L1→L2→L3→L4→L5，每层输出为下层输入，L5是终点而非并列项。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303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微软雅黑"/>
              </a:defRPr>
            </a:pPr>
            <a:r>
              <a:t>文献支撑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6692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Cohen, Lu &amp; Nguyen (2026) "Mimicking Finance": 用AI预测交易行为，但仅做预测不做分类画像</a:t>
            </a:r>
            <a:br/>
            <a:r>
              <a:t>Cuthbertson et al. (2016) "A Review of Behavioural Effects": 指出缺乏将多指标综合为统一评价的框架</a:t>
            </a:r>
            <a:br/>
            <a:r>
              <a:t>本研究的创新: 首次将L1-L4行为指标通过Logistic综合为PS分类系统，填补该研究空白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03 研究设计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759"/>
                </a:solidFill>
                <a:latin typeface="微软雅黑"/>
              </a:defRPr>
            </a:pPr>
            <a:r>
              <a:t>L5 详解：PS计算流程 → 分类标签生成 → 业绩预测验证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3FE3"/>
                </a:solidFill>
                <a:latin typeface="微软雅黑"/>
              </a:defRPr>
            </a:pPr>
            <a:r>
              <a:t>Step 1: Logistic回归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1717"/>
                </a:solidFill>
                <a:latin typeface="微软雅黑"/>
              </a:defRPr>
            </a:pPr>
            <a:r>
              <a:t>输入: L1-L4全部指标</a:t>
            </a:r>
            <a:br/>
            <a:r>
              <a:t>  BHS (锦标赛排名变化)</a:t>
            </a:r>
            <a:br/>
            <a:r>
              <a:t>  AS (主动份额)</a:t>
            </a:r>
            <a:br/>
            <a:r>
              <a:t>  ICI (行业集中度)</a:t>
            </a:r>
            <a:br/>
            <a:r>
              <a:t>  RG/ARG (隐形交易)</a:t>
            </a:r>
            <a:br/>
            <a:r>
              <a:t>  SDI (风格漂移)</a:t>
            </a:r>
            <a:br/>
            <a:r>
              <a:t>  OCI (过度自信)</a:t>
            </a:r>
            <a:br/>
            <a:br/>
            <a:r>
              <a:t>因变量: 下期收益是否超额</a:t>
            </a:r>
            <a:br/>
            <a:r>
              <a:t>  Y = 1 if R &gt; R_median</a:t>
            </a:r>
            <a:br/>
            <a:r>
              <a:t>  Y = 0 otherwise</a:t>
            </a:r>
            <a:br/>
            <a:br/>
            <a:r>
              <a:t>输出: β₀, β₁, ..., β₅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3FE3"/>
                </a:solidFill>
                <a:latin typeface="微软雅黑"/>
              </a:defRPr>
            </a:pPr>
            <a:r>
              <a:t>Step 2: PS得分计算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2801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1717"/>
                </a:solidFill>
                <a:latin typeface="微软雅黑"/>
              </a:defRPr>
            </a:pPr>
            <a:r>
              <a:t>PS = σ(β₀ + Σβₖ·Lₖ)</a:t>
            </a:r>
            <a:br/>
            <a:r>
              <a:t>σ(z) = 1/(1+e⁻ᶻ)</a:t>
            </a:r>
            <a:br/>
            <a:br/>
            <a:r>
              <a:t>PS ∈ [0, 1]</a:t>
            </a:r>
            <a:br/>
            <a:r>
              <a:t>  PS → 1: 行为高度可预测</a:t>
            </a:r>
            <a:br/>
            <a:r>
              <a:t>  PS → 0: 行为难以预测</a:t>
            </a:r>
            <a:br/>
            <a:br/>
            <a:r>
              <a:t>主导向量:</a:t>
            </a:r>
            <a:br/>
            <a:r>
              <a:t>  argmax|βₖ| 决定行为类型</a:t>
            </a:r>
            <a:br/>
            <a:r>
              <a:t>  (AS/RG/SDI/OCI之一)</a:t>
            </a:r>
            <a:br/>
            <a:br/>
            <a:r>
              <a:t>PS分层:</a:t>
            </a:r>
            <a:br/>
            <a:r>
              <a:t>  高: PS &gt; 0.67</a:t>
            </a:r>
            <a:br/>
            <a:r>
              <a:t>  中: 0.33 ≤ PS ≤ 0.67</a:t>
            </a:r>
            <a:br/>
            <a:r>
              <a:t>  低: PS &lt; 0.33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914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3FE3"/>
                </a:solidFill>
                <a:latin typeface="微软雅黑"/>
              </a:defRPr>
            </a:pPr>
            <a:r>
              <a:t>Step 3: 分类与验证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1717"/>
                </a:solidFill>
                <a:latin typeface="微软雅黑"/>
              </a:defRPr>
            </a:pPr>
            <a:r>
              <a:t>3×4矩阵 = 12类行为画像</a:t>
            </a:r>
            <a:br/>
            <a:br/>
            <a:r>
              <a:t>验证方法:</a:t>
            </a:r>
            <a:br/>
            <a:r>
              <a:t>  ① 高PS组 vs 低PS组</a:t>
            </a:r>
            <a:br/>
            <a:r>
              <a:t>     收益差异t检验</a:t>
            </a:r>
            <a:br/>
            <a:r>
              <a:t>  ② PS分组 × FF因子调整</a:t>
            </a:r>
            <a:br/>
            <a:r>
              <a:t>     检验Alpha差异</a:t>
            </a:r>
            <a:br/>
            <a:r>
              <a:t>  ③ 双重排序: PS×AS</a:t>
            </a:r>
            <a:br/>
            <a:r>
              <a:t>     非参数验证</a:t>
            </a:r>
            <a:br/>
            <a:r>
              <a:t>  ④ PS预测准确率</a:t>
            </a:r>
            <a:br/>
            <a:r>
              <a:t>     = 1 - 分类错误率</a:t>
            </a:r>
            <a:br/>
            <a:br/>
            <a:r>
              <a:t>预期发现:</a:t>
            </a:r>
            <a:br/>
            <a:r>
              <a:t>  高PS组收益离散度更大</a:t>
            </a:r>
            <a:br/>
            <a:r>
              <a:t>  正向指标主导→高收益</a:t>
            </a:r>
            <a:br/>
            <a:r>
              <a:t>  负向指标主导→低收益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759"/>
                </a:solidFill>
                <a:latin typeface="微软雅黑"/>
              </a:defRPr>
            </a:pPr>
            <a:r>
              <a:t>PS的学术定位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02336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1717"/>
                </a:solidFill>
                <a:latin typeface="微软雅黑"/>
              </a:defRPr>
            </a:pPr>
            <a:r>
              <a:t>PS不是"第六个自变量"，而是L1-L4行为的"综合评价器"。类比：L1-L4是各科考试成绩，PS是总评等级。</a:t>
            </a:r>
            <a:br/>
            <a:r>
              <a:t>各科成绩单独看（Stage 1）能判断哪门课重要；总评等级（Stage 2）能判断学生整体水平。</a:t>
            </a:r>
            <a:br/>
            <a:r>
              <a:t>两者不矛盾，回答不同层次的问题。这是递进框架的核心逻辑：L1→L2→L3→L4→L5，每层输出为下层输入，L5是终点而非并列项。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303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微软雅黑"/>
              </a:defRPr>
            </a:pPr>
            <a:r>
              <a:t>文献支撑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6692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Cohen, Lu &amp; Nguyen (2026) "Mimicking Finance": 用AI预测交易行为，但仅做预测不做分类画像</a:t>
            </a:r>
            <a:br/>
            <a:r>
              <a:t>Cuthbertson et al. (2016) "A Review of Behavioural Effects": 指出缺乏将多指标综合为统一评价的框架</a:t>
            </a:r>
            <a:br/>
            <a:r>
              <a:t>本研究的创新: 首次将L1-L4行为指标通过Logistic综合为PS分类系统，填补该研究空白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03 研究设计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2525B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