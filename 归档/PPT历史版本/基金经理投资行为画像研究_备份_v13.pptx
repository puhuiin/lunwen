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2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25"/>
    <p:sldId id="298" r:id="rId26"/>
    <p:sldId id="281" r:id="rId27"/>
    <p:sldId id="296" r:id="rId28"/>
    <p:sldId id="282" r:id="rId29"/>
    <p:sldId id="283" r:id="rId30"/>
    <p:sldId id="284" r:id="rId31"/>
    <p:sldId id="285" r:id="rId32"/>
    <p:sldId id="286" r:id="rId33"/>
    <p:sldId id="299" r:id="rId34"/>
    <p:sldId id="287" r:id="rId35"/>
    <p:sldId id="300" r:id="rId37"/>
    <p:sldId id="301" r:id="rId38"/>
    <p:sldId id="305" r:id="rId42"/>
    <p:sldId id="306" r:id="rId43"/>
    <p:sldId id="308" r:id="rId45"/>
    <p:sldId id="309" r:id="rId49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42.xml"/><Relationship Id="rId45" Type="http://schemas.openxmlformats.org/officeDocument/2006/relationships/slide" Target="slides/slide38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49" Type="http://schemas.openxmlformats.org/officeDocument/2006/relationships/slide" Target="slides/slide39.xml"/><Relationship Id="rId50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背景特征层：BHS锦标赛压力与经理特征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BHS锦标赛理论 (Brown, Harlow &amp; Starks, 1996 JF)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核心思想：基金经理在年中排名落后时（输家），会在下半年增加风险以"翻盘"；排名领先时（赢家）则保守降险。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BHS方法三步骤：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① 排序期(1-6月)：计算累积收益率CR，按同类基金排名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② 分组：以中位数为界，分为赢家(上半)和输家(下半)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③ 测试期(7-12月)：计算风险调整比率RAR=σ(下半年)/σ(上半年)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锦标赛效应检验：</a:t>
            </a: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/>
              </a:defRPr>
            </a:pPr>
            <a:r>
              <a:t>输家RAR &gt; 赢家RAR → 锦标赛效应存在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输家增险翻盘，赢家保守守成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核心公式：</a:t>
            </a:r>
          </a:p>
        </p:txBody>
      </p:sp>
      <p:pic>
        <p:nvPicPr>
          <p:cNvPr id="12" name="Picture 11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286000" cy="547884"/>
          </a:xfrm>
          <a:prstGeom prst="rect">
            <a:avLst/>
          </a:prstGeom>
        </p:spPr>
      </p:pic>
      <p:pic>
        <p:nvPicPr>
          <p:cNvPr id="13" name="Picture 12" descr="bhs_r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931920"/>
            <a:ext cx="2286000" cy="527102"/>
          </a:xfrm>
          <a:prstGeom prst="rect">
            <a:avLst/>
          </a:prstGeom>
        </p:spPr>
      </p:pic>
      <p:pic>
        <p:nvPicPr>
          <p:cNvPr id="14" name="Picture 13" descr="bhs_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26280"/>
            <a:ext cx="4572000" cy="7356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005840"/>
            <a:ext cx="548640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BHS案例：小王(输家·新手) vs 老李(赢家·老手)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小王（从业3年·8亿规模）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上半年月收益：-1%, +0.5%, -2%, +1%, +0.5%, -1%</a:t>
            </a:r>
            <a:br/>
            <a:r>
              <a:t>CR = (0.99)(1.005)(0.98)(1.01)(1.005)(0.99)-1 = -2.0%</a:t>
            </a:r>
            <a:br/>
            <a:r>
              <a:t>同类100只基金排名：第85名 → 输家(Loser)</a:t>
            </a:r>
            <a:br/>
            <a:r>
              <a:t>上半年 σ_rank = 1.17%（月度波动小）</a:t>
            </a:r>
            <a:br/>
            <a:r>
              <a:t>下半年行为：重仓半导体 15%→40%，追涨杀跌</a:t>
            </a:r>
            <a:br/>
            <a:r>
              <a:t>下半年月收益：+4%, -3%, +5%, -2%, +3%, -4%</a:t>
            </a:r>
            <a:br/>
            <a:r>
              <a:t>下半年 σ_test = 3.94%（波动翻3倍）</a:t>
            </a:r>
            <a:br/>
            <a:r>
              <a:t>RAR = 3.94/1.17 = 3.37 &gt;&gt; 1 → 大幅增险</a:t>
            </a:r>
            <a:br/>
            <a:r>
              <a:t>结果：全年-8.5%，排名跌至后5%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老李（从业10年·50亿规模）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上半年月收益：+1.5%, +1%, +0.5%, +2%, +1%, +0.5%</a:t>
            </a:r>
            <a:br/>
            <a:r>
              <a:t>CR = (1.015)(1.01)(1.005)(1.02)(1.01)(1.005)-1 = +6.7%</a:t>
            </a:r>
            <a:br/>
            <a:r>
              <a:t>同类100只基金排名：第8名 → 赢家(Winner)</a:t>
            </a:r>
            <a:br/>
            <a:r>
              <a:t>上半年 σ_rank = 0.58%（波动平稳）</a:t>
            </a:r>
            <a:br/>
            <a:r>
              <a:t>下半年行为：维持均衡配置，适度获利了结</a:t>
            </a:r>
            <a:br/>
            <a:r>
              <a:t>下半年月收益：+0.8%, +0.5%, +1%, +0.3%, +0.6%, +0.4%</a:t>
            </a:r>
            <a:br/>
            <a:r>
              <a:t>下半年 σ_test = 0.26%（波动进一步降低）</a:t>
            </a:r>
            <a:br/>
            <a:r>
              <a:t>RAR = 0.26/0.58 = 0.45 &lt; 1 → 明显降险</a:t>
            </a:r>
            <a:br/>
            <a:r>
              <a:t>结果：全年+12.8%，排名稳居前10%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输家RAR(3.37) &gt;&gt; 赢家RAR(0.45) → 锦标赛效应验证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从业年限短(3年)→职业忧虑强→增险更激进 | 从业年限长(10年)→职业安全高→降险保收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从业年限Exp计算：</a:t>
            </a:r>
          </a:p>
        </p:txBody>
      </p:sp>
      <p:pic>
        <p:nvPicPr>
          <p:cNvPr id="27" name="Picture 26" descr="exp_form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3200400" cy="55841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562356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阶段安排：1.0阶段用Experience(从业年限)+Dummy(输家/赢家)做OLS回归 | 2.0加入学历、管理规模、CFA等特征 | 3.0加入行为心理学问卷数据</a:t>
            </a: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核心逻辑：职业忧虑(L1)→持仓偏离行为(L2)→业绩差异 | H1假设：输家Dummy β&gt;0, p&lt;0.05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中国文献：艾洪德、刘聪(2008)经理特征→风格 | 赵秀娟(2010)7项特征→业绩 | 高鹤等(2014)性别→风险 | 申宇等(2015)校友网络→超额11.37%/年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数据计算：BHS锦标赛压力公式详解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572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公式字母详解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1: 排序期累积收益 CR</a:t>
            </a:r>
            <a:br/>
            <a:r>
              <a:t>上半年6个月收益率：</a:t>
            </a:r>
            <a:br/>
            <a:r>
              <a:t>  1月=-1%, 2月=+0.5%, 3月=-2%, 4月=+1%, 5月=+0.5%, 6月=-1%</a:t>
            </a:r>
            <a:br/>
            <a:r>
              <a:t>CR = (1-0.01)×(1+0.005)×(1-0.02)×(1+0.01)×(1+0.005)×(1-0.01) - 1</a:t>
            </a:r>
            <a:br/>
            <a:r>
              <a:t>   = 0.99 × 1.005 × 0.98 × 1.01 × 1.005 × 0.99 - 1</a:t>
            </a:r>
            <a:br/>
            <a:r>
              <a:t>   = 0.980 - 1 = -2.0%</a:t>
            </a:r>
            <a:br/>
            <a:r>
              <a:t>同类100只基金中排名第85 → 后15% → 输家(Loser)</a:t>
            </a:r>
          </a:p>
        </p:txBody>
      </p:sp>
      <p:pic>
        <p:nvPicPr>
          <p:cNvPr id="11" name="Picture 10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743200" cy="6574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148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2: 排序期风险 σ_rank</a:t>
            </a:r>
            <a:br/>
            <a:r>
              <a:t>上半年月度收益率均值 R̄ = (-1+0.5-2+1+0.5-1)/6 = -0.33%</a:t>
            </a:r>
            <a:br/>
            <a:r>
              <a:t>各月偏差²：(0.67²)+(0.83²)+(1.67²)+(1.33²)+(0.83²)+(0.67²)</a:t>
            </a:r>
            <a:br/>
            <a:r>
              <a:t>       = 0.45+0.69+2.79+1.77+0.69+0.45 = 6.84</a:t>
            </a:r>
            <a:br/>
            <a:r>
              <a:t>方差 = 6.84/5 = 1.37</a:t>
            </a:r>
            <a:br/>
            <a:r>
              <a:t>σ_rank = √1.37 = 1.17%</a:t>
            </a:r>
          </a:p>
        </p:txBody>
      </p:sp>
      <p:pic>
        <p:nvPicPr>
          <p:cNvPr id="13" name="Picture 12" descr="bhs_sigma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59152"/>
            <a:ext cx="3657600" cy="7598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80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3: 测试期风险 σ_test</a:t>
            </a:r>
            <a:br/>
            <a:r>
              <a:t>小王下半年重仓半导体(15%→40%)追涨</a:t>
            </a:r>
            <a:br/>
            <a:r>
              <a:t>下半年月收益：+4%, -3%, +5%, -2%, +3%, -4%</a:t>
            </a:r>
            <a:br/>
            <a:r>
              <a:t>均值 R̄ = (4-3+5-2+3-4)/6 = 0.5%</a:t>
            </a:r>
            <a:br/>
            <a:r>
              <a:t>偏差²之和 = 12.25+12.25+20.25+6.25+6.25+20.25 = 77.5</a:t>
            </a:r>
            <a:br/>
            <a:r>
              <a:t>方差 = 77.5/5 = 15.5</a:t>
            </a:r>
            <a:br/>
            <a:r>
              <a:t>σ_test = √15.5 = 3.94%</a:t>
            </a:r>
          </a:p>
        </p:txBody>
      </p:sp>
      <p:pic>
        <p:nvPicPr>
          <p:cNvPr id="15" name="Picture 14" descr="bhs_sigma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90672"/>
            <a:ext cx="3657600" cy="6844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611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4: 风险调整比率 RAR</a:t>
            </a:r>
            <a:br/>
            <a:r>
              <a:t>RAR = σ_test / σ_rank = 3.94% / 1.17% = 3.37</a:t>
            </a:r>
            <a:br/>
            <a:r>
              <a:t>RAR = 3.37 &gt;&gt; 1 → 下半年风险是上半年的3.37倍</a:t>
            </a:r>
            <a:br/>
            <a:r>
              <a:t>经济含义：输家在下半年大幅增加风险敞口</a:t>
            </a:r>
            <a:br/>
            <a:r>
              <a:t>对比：赢家老李 RAR = 0.26/0.58 = 0.45 &lt; 1 → 降险</a:t>
            </a:r>
          </a:p>
        </p:txBody>
      </p:sp>
      <p:pic>
        <p:nvPicPr>
          <p:cNvPr id="17" name="Picture 16" descr="bhs_r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1"/>
            <a:ext cx="2286000" cy="5271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5: 锦标赛假说检验</a:t>
            </a:r>
            <a:br/>
            <a:r>
              <a:t>H0: 输家RAR = 赢家RAR（无锦标赛效应）</a:t>
            </a:r>
            <a:br/>
            <a:r>
              <a:t>H1: 输家RAR &gt; 赢家RAR（锦标赛效应存在）</a:t>
            </a:r>
            <a:br/>
            <a:r>
              <a:t>小王(输家) RAR = 3.37  vs  老李(赢家) RAR = 0.45</a:t>
            </a:r>
            <a:br/>
            <a:r>
              <a:t>输家RAR是赢家RAR的7.5倍 → 拒绝H0</a:t>
            </a:r>
            <a:br/>
            <a:r>
              <a:t>结论：锦标赛效应显著，输家增险翻盘，赢家降险保收</a:t>
            </a:r>
          </a:p>
        </p:txBody>
      </p:sp>
      <p:pic>
        <p:nvPicPr>
          <p:cNvPr id="19" name="Picture 18" descr="bhs_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53712"/>
            <a:ext cx="4572000" cy="7356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CR: 累积收益率 | m: 排序期月数(=6) | R: 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σ_rank: 上半年月度收益标准差 | σ_test: 下半年月度收益标准差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RAR&gt;1: 增险 | RAR&lt;1: 降险 | RAR=1: 风险不变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BHS示例计算：小王2024年锦标赛行为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[1] 同类基金100只，CR=-2.0% 排名第85名(后15%) → 输家(Loser)</a:t>
            </a:r>
            <a:br/>
            <a:r>
              <a:t>[2] 下半年重仓半导体(15%→40%)，月收益波动从1.17%升至3.94%</a:t>
            </a:r>
            <a:br/>
            <a:r>
              <a:t>[3] RAR = 3.94/1.17 = 3.37 &gt;&gt; 1 → 大幅增险，锦标赛效应验证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486400" cy="21488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文献对比与方法来源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BHS原文 (1996 JF)：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数据：Lipper/CDA，334只美国基金1976-1991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方法：列联表检验，赢家/输家RAR差异显著性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发现：输家下半年显著增险，锦标赛效应存在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Chevalier &amp; Ellison (1999 QJE)：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方法：Probit回归，基金经理职业忧虑与业绩关系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发现：业绩差→更可能被解雇→增险动机更强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本文方法：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采用BHS排名分位法，用RAR回归+面板固定效应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数据：AKShare fund_manager_em()，5万+条任职记录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改进：API自动化400基金100%覆盖 vs 原文手动334只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H1回归结果：输家Dummy β=0.15, p&lt;0.05 | 输家增险(RAR↑) → 下期业绩更差</a:t>
            </a:r>
            <a:br/>
            <a:r>
              <a:t>直观对比：输家RAR=3.37(增险237%) vs 赢家RAR=0.45(降险55%) → 差异7.5倍</a:t>
            </a:r>
            <a:br/>
            <a:r>
              <a:t>数据来源：AKShare ak.fund_manager_em()（免费API）+ fund_open_fund_info_em（净值数据）| 5万+条任职记录，400基金100%覆盖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90">
                <a:latin typeface="宋体"/>
              </a:defRPr>
            </a:pPr>
            <a:r>
              <a:t>AS = 1/2 × (3%+7%+3%+89.1%) = 0.511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193792"/>
            <a:ext cx="11045285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7200" y="5120640"/>
            <a:ext cx="11247120" cy="1325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440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论文方法对比与本文实现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6509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AS方法来源 — Cremers &amp; Petajisto (2009 RFS)：原文用CRSP全持仓数据(1980-2003, 2648只基金)，对比基金持仓与基准指数成分股权重差异。AS=(1/2)×Σ|w_fund-w_index|，1/2系数经济含义：基金和指数权重和均为1，绝对偏差总和被2整除，AS表示"与基准不同的持仓比例"。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AS本文实现 — 我们用东方财富全持仓API(半年报/年报)获取基金前十大重仓+全部持仓，对比沪深300/中证500指数成分股权重。V4修正后AS均值0.673(vs原文均值0.63)，量纲正确。差异：原文用月度持仓，我们用季度/半年度持仓(受国内披露频率限制)。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ICI方法来源 — Kacperczyk et al. (2005 JF)：原文用CRSP 10个行业分类(1984-1999, 1664只基金)，计算基金行业配置权重与全市场行业权重的平方偏差和。ICI=Σ(w_fund-w_market)²，无1/2系数(与Herfindahl指数思想一致)。原文发现ICI高的基金业绩更好。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ICI本文实现 — 我们用申万一级行业分类(31个行业vs原文10个)，基金行业配置数据来自东方财富，市场行业权重用全A股市值加权。V4修复后ICI均值0.096(vs原文0.034)，差异源于行业分类更细。引用邢欣羿&amp;孙谦(2015)、张学勇等(2018)的中国ICI计算方法。</a:t>
            </a:r>
          </a:p>
        </p:txBody>
      </p:sp>
      <p:pic>
        <p:nvPicPr>
          <p:cNvPr id="76" name="Picture 75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4114800" cy="1026999"/>
          </a:xfrm>
          <a:prstGeom prst="rect">
            <a:avLst/>
          </a:prstGeom>
        </p:spPr>
      </p:pic>
      <p:pic>
        <p:nvPicPr>
          <p:cNvPr id="77" name="Picture 76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23160"/>
            <a:ext cx="4114800" cy="1115416"/>
          </a:xfrm>
          <a:prstGeom prst="rect">
            <a:avLst/>
          </a:prstGeom>
        </p:spPr>
      </p:pic>
      <p:sp>
        <p:nvSpPr>
          <p:cNvPr id="7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第 j 个行业的索引（申万一级31个行业）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　其余28个行业偏离小，合计≈0.38%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7" name="Picture 66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325880"/>
            <a:ext cx="3200400" cy="798777"/>
          </a:xfrm>
          <a:prstGeom prst="rect">
            <a:avLst/>
          </a:prstGeom>
        </p:spPr>
      </p:pic>
      <p:pic>
        <p:nvPicPr>
          <p:cNvPr id="68" name="Picture 67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94760"/>
            <a:ext cx="3200400" cy="867546"/>
          </a:xfrm>
          <a:prstGeom prst="rect">
            <a:avLst/>
          </a:prstGeom>
        </p:spPr>
      </p:pic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881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  <p:pic>
        <p:nvPicPr>
          <p:cNvPr id="47" name="Picture 46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0" cy="632523"/>
          </a:xfrm>
          <a:prstGeom prst="rect">
            <a:avLst/>
          </a:prstGeom>
        </p:spPr>
      </p:pic>
      <p:pic>
        <p:nvPicPr>
          <p:cNvPr id="48" name="Picture 47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2286000" cy="566777"/>
          </a:xfrm>
          <a:prstGeom prst="rect">
            <a:avLst/>
          </a:prstGeom>
        </p:spPr>
      </p:pic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Rfund - Rhold（费后净值收益 - 持仓模拟收益 = 主动操作贡献）| Kacperczyk(2008)原文含EXP费用项，中国基金净值已为费后口径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70" b="1">
                <a:latin typeface="黑体"/>
              </a:defRPr>
            </a:pPr>
            <a:r>
              <a:t>ARG 绝对收益缺口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绝对收益缺口，对各期RG取绝对值后求和，衡量隐形交易总强度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求和上界（滚动窗口期数，如4季度T=4）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solidFill>
                  <a:srgbClr val="B91C1C"/>
                </a:solidFill>
                <a:latin typeface="宋体"/>
              </a:defRPr>
            </a:pPr>
            <a:r>
              <a:t>[1] Q1 RG = +1.36%, Q2 RG = -0.50%</a:t>
            </a:r>
            <a:br/>
            <a:r>
              <a:t>[2] Q3 RG = +0.80%, Q4 RG = +0.30%</a:t>
            </a:r>
            <a:br/>
            <a:r>
              <a:t>[3] ARG = |1.36|+|-0.50|+|0.80|+|0.30|</a:t>
            </a:r>
            <a:br/>
            <a:r>
              <a:t>       = 1.36+0.50+0.80+0.30 = 2.96%/年</a:t>
            </a:r>
            <a:br/>
            <a:r>
              <a:t>[4] ARG &gt; 0 → 经理隐形交易总强度约3%/年</a:t>
            </a:r>
            <a:br/>
            <a:r>
              <a:t>    （正负RG不相抵，反映真实交易强度）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数据来源：东方财富净值API + 全持仓数据 | 文献：Kacperczyk, Sialm &amp; Zheng (2008) RFS 提出 RG（原文RG=R^F-(R^H-EXP)，中国基金净值已含费用扣除，故省略EXP项）| 差异：朱宏志(2012)研究了中国RG有效性，我们发现RG呈1Q动量(t=2.70)+2Q反转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5" name="Picture 64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2743200" cy="632523"/>
          </a:xfrm>
          <a:prstGeom prst="rect">
            <a:avLst/>
          </a:prstGeom>
        </p:spPr>
      </p:pic>
      <p:pic>
        <p:nvPicPr>
          <p:cNvPr id="66" name="Picture 65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069080"/>
            <a:ext cx="2286000" cy="566777"/>
          </a:xfrm>
          <a:prstGeom prst="rect">
            <a:avLst/>
          </a:prstGeom>
        </p:spPr>
      </p:pic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1920240"/>
            <a:ext cx="5603615" cy="1141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859-18"/>
          <p:cNvSpPr/>
          <p:nvPr/>
        </p:nvSpPr>
        <p:spPr>
          <a:xfrm>
            <a:off x="742764" y="3134558"/>
            <a:ext cx="5603615" cy="1519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463040"/>
            <a:ext cx="5603615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1965960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207710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207710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345459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345459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3701486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3701486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425237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425237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103120"/>
            <a:ext cx="2286000" cy="271661"/>
          </a:xfrm>
          <a:prstGeom prst="rect">
            <a:avLst/>
          </a:prstGeom>
        </p:spPr>
      </p:pic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47933"/>
            <a:ext cx="4572000" cy="522033"/>
          </a:xfrm>
          <a:prstGeom prst="rect">
            <a:avLst/>
          </a:prstGeom>
        </p:spPr>
      </p:pic>
      <p:pic>
        <p:nvPicPr>
          <p:cNvPr id="53" name="Picture 52" descr="u_shape_ax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975806"/>
            <a:ext cx="3200400" cy="376279"/>
          </a:xfrm>
          <a:prstGeom prst="rect">
            <a:avLst/>
          </a:prstGeom>
        </p:spPr>
      </p:pic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2]。0=风格完全不变，2=完全切换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较高风格漂移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2743200" cy="684666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Barber &amp; Odean (2001) QJE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  <a:defRPr sz="1270">
                <a:solidFill>
                  <a:srgbClr val="4B5563"/>
                </a:solidFill>
                <a:latin typeface="宋体"/>
              </a:defRPr>
            </a:pPr>
            <a:r>
              <a:t>理论背景：Barber &amp; Odean(2001)发现过度自信投资者交易过多，用换手率衡量过度自信程度。OCI为本文构建指标，将换手率Z-score标准化以衡量基金经理过度自信。理论基础：前景理论(Kahneman &amp; Tversky, 1979)解释非理性行为。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2. 同类基金换手率均值: 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3. 同类基金换手率标准差: 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实际实现：OCI=|RG|作为ARG代理(申宇2013) | V4实测OCI均值0.028,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2960" y="4645152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4. OCI = (280%−150%)/50% = 2.60 → 高度过度自信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971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 panose="02040503050406030204"/>
              </a:defRPr>
            </a:pPr>
            <a:r>
              <a:t>PS = 1 − Accuracy(LSTM预测)</a:t>
            </a:r>
          </a:p>
        </p:txBody>
      </p:sp>
      <p:pic>
        <p:nvPicPr>
          <p:cNvPr id="44" name="Picture 43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2743200" cy="632523"/>
          </a:xfrm>
          <a:prstGeom prst="rect">
            <a:avLst/>
          </a:prstGeom>
        </p:spPr>
      </p:pic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过度自信指数（本文构建），取值 (-∞, +∞)。&gt;0过度自信，&lt;0谨慎型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的换手率。Barber &amp; Odean(2001)：TO = ½×(买入额+卖出额)/平均资产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理论公式: OCI = (TO_{i,t} - TŌ_t) / σ(TO)，本文构建，受Barber &amp; Odean(2001)换手率代理启发 | 实际实现: OCI = |RG_t|（申宇2013 ARG代理，当前缺换手率数据时使用）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latin typeface="宋体"/>
              </a:defRPr>
            </a:pPr>
            <a:r>
              <a:t>[1] 基金A本季换手率 TOA = 180%（=½×(买入+卖出)/平均资产）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/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t>输入：L1~L5五层指标 | β₀~β₅: 回归系数 | σ: Sigmoid激活函数 | 输出：行为标签概率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BHS=0.51(高压),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  <a:defRPr sz="1040" b="1">
                <a:latin typeface="宋体"/>
              </a:defRPr>
            </a:pPr>
            <a:r>
              <a:t>数据来源：换手率来自基金季报，AKShare fund_portfolio_hold_em | 理论依据：Barber &amp; Odean(2001) QJE换手率代理过度自信（原文未定义OCI公式，本文构建Z-score标准化）| 前景理论：Kahneman &amp; Tversky(1979) | PS指标：本文构建，无前人文献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08760"/>
            <a:ext cx="2743200" cy="632523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93" y="3596539"/>
            <a:ext cx="4572000" cy="537542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AS (Active Share)</a:t>
            </a:r>
            <a:endParaRPr sz="1400" b="1"/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AS = 1/2 x Sigma|w_fund - w_bench|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沪深300(300只)+中证500(500只)等权合成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东方财富全持仓API | 185,144条持仓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逐股比较基金与基准权重之差的绝对值，求和除以2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0.833 (60%+为默认值，缺实际基准)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t=-26.81*** (最强负向)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 -- 原创</a:t>
            </a:r>
            <a:endParaRPr sz="1000" b="0"/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ICI (行业集中度)</a:t>
            </a:r>
            <a:endParaRPr sz="1400" b="1"/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ICI = Sigma(w_fund - w_market)^2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申万一级行业(31个) 全市场流通市值权重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东方财富行业配置 + AKShare市场权重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逐行业算基金与市场配置偏差的平方，求和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0.08 (标准化) | 原始712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t=-3.69*** (负向)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RG (Return Gap)</a:t>
            </a:r>
            <a:endParaRPr sz="14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RG = R_fund - Sigma(w_i,t-1 x r_i,t)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全持仓x个股收益算模拟收益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东方财富净值API + 全持仓(18.5万条)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模拟收益=上季度持仓不变理论收益; RG=实际-模拟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0.93%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t=+9.20*** (正向，与美股一致)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V3前十大算RG=-3.67(错) -&gt; V4全持仓翻正</a:t>
            </a:r>
            <a:endParaRPr sz="1000" b="0"/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400" b="1"/>
              <a:t>SDI (风格漂移)</a:t>
            </a:r>
            <a:endParaRPr sz="1400" b="1"/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L4 风险应对</a:t>
            </a:r>
            <a:endParaRPr sz="1100" b="0"/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SDI = Sigma|w_k,t - w_k,t-1|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4类风格指数: 大盘成长/价值+小盘成长/价值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基金净值 + Wind四类风格指数(RBSA估计)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先RBSA回归估计风格权重，再算前后两期曼哈顿距离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0.15 (标准化) | 原始33.4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t=-7.69*** (负向稳健)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寇宗来(2020)U型关系 | 牛熊反转: 牛负熊正</a:t>
            </a:r>
            <a:endParaRPr sz="1000" b="0"/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400" b="1"/>
              <a:t>OCI (过度自信)</a:t>
            </a:r>
            <a:endParaRPr sz="1400" b="1"/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L5 认知行为</a:t>
            </a:r>
            <a:endParaRPr sz="1100" b="0"/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OCI = |RG_t|（实际实现，理论公式见L5详解）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理论: 换手率偏离度(缺换手率数据)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当前用|RG|代理 | Phase2用实际换手率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取RG绝对值作为过度交易强度代理变量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0.028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t=+4.40*** | 因子调整后t=+4.79***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Barber&amp;Odean: 过度自信损害 | 本研究发现牛市正向</a:t>
            </a:r>
            <a:endParaRPr sz="1000" b="0"/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dAS (主动份额变化)</a:t>
            </a:r>
            <a:endParaRPr sz="1400" b="1"/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dAS = AS_t - AS_{t-1}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同AS，基于沪深300+中证500基准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由AS指标逐期差分得到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本期AS减上期AS，正值=增主动管理，负值=趋被动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-0.001 (略微趋向被动)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t=+2.01** (正向弱显著)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衡量经理增减主动赌注 | 预测力较弱</a:t>
            </a:r>
            <a:endParaRPr sz="1000" b="0"/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  <a:endParaRPr sz="1000" b="0"/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 panose="02010609060101010101" charset="-122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OCI: |RG|代理(均值0.028, 理论公式为换手率Z-score)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100" b="0"/>
              <a:t>核心思想：如果行为指标真有预测力，不管用什么统计方法都应得到一致结论。</a:t>
            </a:r>
            <a:endParaRPr sz="1100" b="0"/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  <a:endParaRPr sz="1100" b="0"/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300" b="1"/>
              <a:t>1. OLS聚类回归</a:t>
            </a:r>
            <a:endParaRPr sz="1300" b="1"/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用t-1期指标预测t期收益，按基金聚类调整标准误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面板数据最基础方法，聚类标准误解决序列相关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rPr sz="1000" b="0"/>
              <a:t>结果: AS最强负向(t=-26.81***)，RG正向(t=+9.20***)</a:t>
            </a:r>
            <a:endParaRPr sz="1000" b="0"/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300" b="1"/>
              <a:t>2. Fama-MacBeth</a:t>
            </a:r>
            <a:endParaRPr sz="1300" b="1"/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逐季度截面回归，40个季度系数取均值，Newey-West修正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纯截面效应——同一时间高AS基金是否比低的收益高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rPr sz="1000" b="0"/>
              <a:t>结果: AS正向(t=+2.76**)——与OLS方向矛盾!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300" b="1"/>
              <a:t>3. 基金固定效应</a:t>
            </a:r>
            <a:endParaRPr sz="13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加入基金虚拟变量，消除不随时间变化的基金特征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排除基金固有质量混杂，检验是否基金内部变化驱动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RG最稳健(t=+7.77***)，SDI负向(t=-7.25***)</a:t>
            </a:r>
            <a:endParaRPr sz="1000" b="0"/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300" b="1"/>
              <a:t>4. 双重排序</a:t>
            </a:r>
            <a:endParaRPr sz="1300" b="1"/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按AS五等分，每组内再按ICI五等分，比较最高最低组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非参数方法，不依赖线性假设，直观看激进vs保守差距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rPr sz="1000" b="0"/>
              <a:t>结果: AS五分位差-6.22%/季，RG五分位差+5.14%/季</a:t>
            </a:r>
            <a:endParaRPr sz="1000" b="0"/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 panose="02010609060101010101" charset="-122"/>
              </a:defRPr>
            </a:pPr>
            <a:r>
              <a:rPr sz="1300" b="1"/>
              <a:t>5. 牛熊市分组</a:t>
            </a:r>
            <a:endParaRPr sz="1300" b="1"/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按年度基准收益正负分牛市/熊市，分别回归比较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检验环境依赖性——同一行为在不同市场下效果不同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 panose="02010600030101010101" pitchFamily="2" charset="-122"/>
              </a:defRPr>
            </a:pPr>
            <a:r>
              <a:rPr sz="1000" b="0"/>
              <a:t>结果: RG牛正熊负(反转)，SDI牛负熊正(反转)</a:t>
            </a:r>
            <a:endParaRPr sz="1000" b="0"/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 panose="02010609060101010101" charset="-122"/>
              </a:defRPr>
            </a:pPr>
            <a:r>
              <a:rPr sz="1300" b="1"/>
              <a:t>6. 滞后阶数分析</a:t>
            </a:r>
            <a:endParaRPr sz="1300" b="1"/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用t-1至t-4期指标分别预测t期收益，检验持续性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持续1期=噪声，持续4期=持久行为特征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 panose="02010600030101010101" pitchFamily="2" charset="-122"/>
              </a:defRPr>
            </a:pPr>
            <a:r>
              <a:rPr sz="1000" b="0"/>
              <a:t>结果: AS持续4/4期，RG持续4/4期但方向交替(1Q正2Q负)</a:t>
            </a:r>
            <a:endParaRPr sz="1000" b="0"/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  <a:endParaRPr sz="1000" b="0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三阶段研究计划 + 2周写作计划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三阶段递进计划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1.0 — MVP四轮验证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V1-V4: 200→400基金, 全持仓修正AS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AS最强(t=-26.81***), R²=0.0684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2.0 — 稳健性检验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六种方法交叉验证: OLS/FM/FE/双重排序/牛熊市/滞后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FM: AS正向(t=+2.76**) | FE: RG最稳健(t=+7.77***)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待做: IV/DID因果推断 + 市值加权基准 + FF因子调整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Phase 3.0 — 扩展+预测 [待启动]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800+基金 + 经理变更事件(IV) + XGBoost预测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L5: OCI+LA(损失厌恶) + LSTM行为画像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不做: 实时交易策略/基金推荐系统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2周写作计划（七章约14,000字）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第1周: 实证收尾 + 文献定稿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FF三因子调整后收益回归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描述统计表 + 回归结果表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文献综述精修(补充邢欣羿/朱宏志)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第2周: 全文撰写 + 修改定稿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Ch1 引言(2,000字)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Ch2 文献综述(2,500字)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Ch3 研究设计(2,000字)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Ch4 实证结果(3,000字)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Ch5 稳健性检验(2,500字)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Ch6 结论讨论(2,000字)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○ 导师反馈 → 修改 → 查重定稿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逻辑: 做什么→用什么数据→怎么算→结果→含义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L1-L2 数据获取：BHS + AS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BHS需要: 基金月度净值收益率 → CR=Π(1+R_t)-1, RAR=σ_下半年/σ_上半年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fund_open_fund_info_em（免费，602,904条净值）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Experience: 基金经理任职起止日期 → Exp=(当前日期-首次任职)/365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fund_manager_em（5万+条任职记录，400基金100%覆盖）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补充: 学历/CFA/性别 → CSMAR基金经理库（学校账号）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Brown, Harlow &amp; Starks (1996) JF | Chevalier &amp; Ellison (1999) QJE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AS需要: 基金全持仓权重 + 基准指数成分股权重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东方财富全持仓API（半年报/年报, 185,144条）| 沪深300/中证500成分股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 = 1/2 × Σ|w_fund - w_index|，V4修正后均值0.673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ICI需要: 基金行业配置权重 +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AKShare行业配置 + 申万一级31个行业全市场流通市值加权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 = Σ(w_fund - w_market)²，V4修复后均值0.096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Cremers &amp; Petajisto (2009) RFS | Kacperczyk et al. (2005) JF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P0(必须):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P1(重要):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P2(可选): Wind风格指数(付费) → 用行业配置法替代 | 换手率数据 → 用|RG|代理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L3-L5 数据获取：RG/ARG + SDI + OCI/PS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RG需要: 基金净值收益率 + 上季度末持仓权重 +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东方财富净值API | 全持仓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 = R_fund - Σ(w_i × r_i)，V4均值0.93%，t=9.20***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ARG = Σ|RG_t|（绝对值求和，非平均×4），覆盖95个季度观测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注意: 持仓日期 &lt; 收益日期（防未来函数）| 港股单独计算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Kacperczyk et al. (2008) RFS | 申宇等 (2013) 管理世界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风格漂移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SDI需要: 基金风格权重（相邻两期对比）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方法A(已验证): 行业配置法 → SDI = Σ|w_t - w_{t-1}|（无1/2系数）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方法B: 风格指数法 → Wind风格指数 或 自行构建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寇宗来等 (2020) 金融研究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486400" cy="12344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OCI +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OCI理论=(TO-TŌ)/σ(TO) | 实际=|RG|代理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PS = 1 - 预测准确率，输入L1-L4全部指标，零额外数据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模型: 1.0 Logistic → 2.0 XGBoost → 3.0 LSTM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Barber &amp; Odean (2001) QJE | Kahneman &amp; Tversky (1979)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数据管线完整流程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Step1: 下载基金日度净值 → 月度收益率 | Step2: 提取上季度末全持仓权重 | Step3: 下载个股月度收益率（前复权）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Step4: 计算持仓模拟收益 R_hold = Σ(w_i × r_i) | Step5: RG = R_fund - R_hold | Step6: ARG = Σ|RG_t|（绝对值求和）</a:t>
            </a:r>
          </a:p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全部数据源免费可复现 | 400基金 × 20年 | 36万全持仓 + 60万净值 | 九指标全部计算完成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原BHS公式为自构造，缺乏顶级期刊文献支撑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旧公式 BHS = exp(-Exp/8) × Rank（已弃用，已替换为BHS锦标赛法）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已替换：BHS锦标赛方法（Brown, Harlow &amp; Starks 1996 JF）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04 MVP与执行计划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公式变动总结 + MVP执行计划 + 数据需求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公式变动总结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1. BHS替换RPI → L1引用顶刊JF原文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2. SDI删除1/2系数 → 纯曼哈顿距离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3. ARG改为Σ|RG_t| → 绝对值求和(申宇2013)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4. OCI标注为本文构建(理论=换手率Z-score, 实际=|RG|代理) → 避免引用不当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5. RG费用项说明 → 中国净值已费后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MVP四阶段: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0(2-3天): 修复数据+重算指标+重跑回归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1(1-2天): VIF+安慰剂+描述统计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2(2-3周): 写论文Ch4-7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3(1-2天): PPT+答辩+归档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核心原则: 每步变动重新验证 | 全部免费可复现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数据需求清单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L1 BHS: 月度净值(AKShare) + 经理任职(AKShare)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补充: CSMAR经理特征(学历/CFA/性别)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L2 AS/ICI: 全持仓(东方财富) + 基准成分股(AKShare)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申万一级31个行业权重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L3 RG/ARG: 净值 + 持仓 + 个股收益(AKShare)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ARG=Σ|RG_t|需保留每期RG正负号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L4 SDI: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L5 OCI: |RG|代理(当前) 或 换手率(季报)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PS: 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P0(已获取): 净值+持仓+任职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P1(需补充): FF因子+CSMAR特征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P2(可选): Wind风格指数+换手率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预计总周期4-5周 | 新公式均对照原文核实 | 全部数据源免费可复现 | 代码开源确保可复现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赎回异象与锦标赛效应：PFR构成基金经理隐性激励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核心逻辑：业绩-资金流量关系(PFR)构成基金经理隐性激励机制 → PFR形态决定锦标赛效应强度 → 影响风险承担行为(L4)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赎回异象学术争论脉络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阶段一：早期发现（2004-2007）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李曜、于进杰(2004)《经济科学》：最早发现赎回异象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刘志远、姚颐(2005)《证券市场导报》：赎回困惑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陆蓉等(2007)《经济研究》：PFR负相关凹形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结论：业绩好→赎回多，"劣胜优汰"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阶段二：方法论反思（2011-2016）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肖峻、石劲(2011)《经济科学》：用中长期年度回报率→PFR正相关，赎回异象是假象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冯旭南、李心愉(2013)《管理世界》：参与成本影响PFR敏感性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杨坤等(2013)《管理科学学报》：发现明星效应+垫底效应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早期结论源于短期季度数据+平衡面板缺陷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阶段三：深化研究（2013-2016）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肖峻(2013)《经济学(季刊)》：牛市追逐业绩、熊市忽视业绩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肖继辉(2016)《经济与管理研究》：区分申购与赎回行为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牛熊市PFR不对称→激励机制非对称扭曲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对"牛短熊长"的中国市场具有特殊含义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PFR与BHS锦标赛理论的连接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5740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① PFR形态=隐性激励强度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Brown, Harlow &amp; Starks(1996)：锦标赛效应取决于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业绩与资金流量的关系(PFR)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PFR正相关(追业绩)→强激励→风险调整行为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PFR负相关(赎回异象)→激励扭曲→risk-shifting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② 杨坤等(2013)直接验证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基金经理中期业绩好→承担更多风险(争做"明星")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基金经理中期业绩差→承担更多风险(摆脱"垫底")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业绩居中→风险偏好平缓上升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PFR两头陡中间缓→风险偏好两头高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直接验证BHS锦标赛的risk-shifting行为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6052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③ 牛熊市非对称激励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肖峻(2013)：牛市PFR正→激励有效→经理积极操作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熊市PFR弱→激励失灵→经理保守/躺平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与本研究V5发现RG牛熊反转一致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(牛市RG正向t=+12.62***, 熊市负向t=-7.17***)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④ 对本研究的启示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4864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BHS锦标赛(RAR)作为L1核心指标时，需考虑PFR形态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中国PFR可能非对称→需加入牛熊市交互项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文献支撑：BHS(1996) JF · Chevalier &amp; Ellison(1999) QJE · 杨坤等(2013) · 肖峻(2013) · 陆蓉等(2007) · 冯旭南(2013) · 肖继辉(2016) | PFR争论揭示锦标赛效应在中国市场的特殊性</a:t>
            </a: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MVP方案与数据需求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MVP数据需求清单（按层级）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基金月度净值收益率（算CR和σ） ② 基金经理任职记录 ③ 经理学历/CFA/性别（CSMAR）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数据来源：AKShare fund_open_fund_info_em（净值，免费）| AKShare fund_manager_em（任职，5万+条）| CSMAR（经理特征）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公式变动影响：BHS替换RPI后，需要月度收益数据计算CR和RAR，不再需要排名分位数据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覆盖情况：400基金 100%覆盖（API自动化）| V4实测：输家RAR均值1.15, 赢家0.92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基金全持仓权重 ② 基准指数成分股权重 ③ 基金行业配置权重 ④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数据来源：东方财富全持仓API（半年报/年报）| 沪深300/中证500成分股（AKShare）| 申万一级31个行业（AKShare）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公式变动影响：AS公式不变(1/2系数正确)；ICI行业数从10修正为31个（申万一级）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覆盖情况：185,144条持仓记录 | V4修正后AS均值0.673, ICI均值0.096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548640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基金净值收益率 ② 上季度末持仓权重 ③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数据来源：东方财富净值API（602,904条）| 全持仓数据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公式变动影响：ARG从mean×4改为Σ|RG_t|，需要保留每期RG的正负号信息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覆盖情况：RG均值0.93%，t=9.20*** | ARG覆盖95个季度观测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+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SDI需数据：基金风格权重（相邻两期）→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OCI需数据：换手率（基金季报）或用|RG|代理（当前方案）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公式变动：SDI删除1/2系数→均值翻倍；OCI标注为本文构建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4632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PS 不可预测性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需数据：L1-L4全部指标（零额外数据成本）+ 下季度持仓变动方向（标签）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模型：1.0 Logistic → 2.0 XGBoost+SHAP → 3.0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P0（必须）: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P1（重要）: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P2（可选）: Wind风格指数(付费) → 用行业配置法替代 | 换手率数据(季报) → 用|RG|代理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37684</Words>
  <Application>WPS 演示</Application>
  <PresentationFormat/>
  <Paragraphs>3417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2</cp:revision>
  <dcterms:created xsi:type="dcterms:W3CDTF">2026-08-05T01:04:00Z</dcterms:created>
  <dcterms:modified xsi:type="dcterms:W3CDTF">2026-08-06T03:25:39Z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