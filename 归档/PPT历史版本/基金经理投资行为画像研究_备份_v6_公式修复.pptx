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7" r:id="rId47"/>
    <p:sldId id="298" r:id="rId48"/>
    <p:sldId id="281" r:id="rId28"/>
    <p:sldId id="296" r:id="rId46"/>
    <p:sldId id="282" r:id="rId29"/>
    <p:sldId id="283" r:id="rId30"/>
    <p:sldId id="284" r:id="rId31"/>
    <p:sldId id="285" r:id="rId32"/>
    <p:sldId id="286" r:id="rId33"/>
    <p:sldId id="299" r:id="rId49"/>
    <p:sldId id="287" r:id="rId34"/>
    <p:sldId id="288" r:id="rId35"/>
    <p:sldId id="289" r:id="rId39"/>
    <p:sldId id="290" r:id="rId40"/>
    <p:sldId id="291" r:id="rId41"/>
    <p:sldId id="292" r:id="rId42"/>
    <p:sldId id="293" r:id="rId43"/>
    <p:sldId id="294" r:id="rId44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4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5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ableStyles" Target="tableStyles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24.xml"/><Relationship Id="rId46" Type="http://schemas.openxmlformats.org/officeDocument/2006/relationships/slide" Target="slides/slide26.xml"/><Relationship Id="rId47" Type="http://schemas.openxmlformats.org/officeDocument/2006/relationships/slide" Target="slides/slide23.xml"/><Relationship Id="rId48" Type="http://schemas.openxmlformats.org/officeDocument/2006/relationships/slide" Target="slides/slide24.xml"/><Relationship Id="rId49" Type="http://schemas.openxmlformats.org/officeDocument/2006/relationships/slide" Target="slides/slide32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533267" y="1676689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533267" y="3458014"/>
            <a:ext cx="1028859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风险应对层 · 寇宗来等(2020)SDI风格漂移 · U型关系 · 市场风格切换与解雇风险 · Menkhoff(2006)经验与行为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认知行为层 · Kahneman &amp; Tversky(1979)前景理论 · Barber &amp; Odean(2001)过度自信 · OCI=|RG|代理 · LA损失厌恶(待补)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511507" y="6519090"/>
            <a:ext cx="15465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509870" y="6519090"/>
            <a:ext cx="15629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41-9"/>
          <p:cNvSpPr/>
          <p:nvPr/>
        </p:nvSpPr>
        <p:spPr>
          <a:xfrm>
            <a:off x="533267" y="843609"/>
            <a:ext cx="11122419" cy="139402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41-11"/>
          <p:cNvCxnSpPr/>
          <p:nvPr/>
        </p:nvCxnSpPr>
        <p:spPr>
          <a:xfrm>
            <a:off x="552312" y="843609"/>
            <a:ext cx="914" cy="139402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941-10"/>
          <p:cNvSpPr/>
          <p:nvPr/>
        </p:nvSpPr>
        <p:spPr>
          <a:xfrm>
            <a:off x="533267" y="2332857"/>
            <a:ext cx="11122419" cy="11141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5962-12"/>
          <p:cNvPicPr/>
          <p:nvPr/>
        </p:nvPicPr>
        <p:blipFill>
          <a:blip r:embed="rId1"/>
          <a:stretch>
            <a:fillRect/>
          </a:stretch>
        </p:blipFill>
        <p:spPr>
          <a:xfrm>
            <a:off x="4225067" y="2666149"/>
            <a:ext cx="3738818" cy="714196"/>
          </a:xfrm>
          <a:prstGeom prst="rect">
            <a:avLst/>
          </a:prstGeom>
          <a:ln>
            <a:noFill/>
          </a:ln>
        </p:spPr>
      </p:pic>
      <p:sp>
        <p:nvSpPr>
          <p:cNvPr id="7" name="el-1785891665972-19"/>
          <p:cNvSpPr/>
          <p:nvPr/>
        </p:nvSpPr>
        <p:spPr>
          <a:xfrm>
            <a:off x="533267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972-20"/>
          <p:cNvSpPr/>
          <p:nvPr/>
        </p:nvSpPr>
        <p:spPr>
          <a:xfrm>
            <a:off x="6161134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38-3"/>
          <p:cNvSpPr/>
          <p:nvPr/>
        </p:nvSpPr>
        <p:spPr>
          <a:xfrm>
            <a:off x="533267" y="5399141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5891665939-4"/>
          <p:cNvCxnSpPr/>
          <p:nvPr/>
        </p:nvCxnSpPr>
        <p:spPr>
          <a:xfrm>
            <a:off x="552312" y="5399141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5939-6"/>
          <p:cNvSpPr/>
          <p:nvPr/>
        </p:nvSpPr>
        <p:spPr>
          <a:xfrm>
            <a:off x="533267" y="6170473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5963-13"/>
          <p:cNvSpPr txBox="1"/>
          <p:nvPr/>
        </p:nvSpPr>
        <p:spPr>
          <a:xfrm>
            <a:off x="533267" y="149499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963-14"/>
          <p:cNvSpPr txBox="1"/>
          <p:nvPr/>
        </p:nvSpPr>
        <p:spPr>
          <a:xfrm>
            <a:off x="533267" y="401849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背景特征层：锦标赛理论如何驱动行为差异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964-15"/>
          <p:cNvSpPr txBox="1"/>
          <p:nvPr/>
        </p:nvSpPr>
        <p:spPr>
          <a:xfrm>
            <a:off x="742764" y="948358"/>
            <a:ext cx="10865308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理论依据：Brown, Harlow &amp; Starks (1996) JF + Chevalier &amp; Ellison (1999)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5965-16"/>
          <p:cNvSpPr txBox="1"/>
          <p:nvPr/>
        </p:nvSpPr>
        <p:spPr>
          <a:xfrm>
            <a:off x="742764" y="1319740"/>
            <a:ext cx="10627243" cy="5218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年轻基金经理面临更强的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——离职概率对业绩高度敏感，留任概率与业绩呈凹函数关系。因此年轻经理倾向于：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减少非系统性风险、避免极端行业配置、跟踪基准更紧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。经验丰富的经理职业忧虑较弱，更敢于偏离基准。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965-17"/>
          <p:cNvSpPr txBox="1"/>
          <p:nvPr/>
        </p:nvSpPr>
        <p:spPr>
          <a:xfrm>
            <a:off x="742764" y="1868183"/>
            <a:ext cx="6376346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中国场景：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短期排名压力更强（季度排名公开），职业忧虑效应可能比美股更突出。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965-18"/>
          <p:cNvSpPr txBox="1"/>
          <p:nvPr/>
        </p:nvSpPr>
        <p:spPr>
          <a:xfrm>
            <a:off x="5478184" y="2399516"/>
            <a:ext cx="133923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 锦标赛压力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975-21"/>
          <p:cNvSpPr txBox="1"/>
          <p:nvPr/>
        </p:nvSpPr>
        <p:spPr>
          <a:xfrm>
            <a:off x="695151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经理A（年轻型）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975-22"/>
          <p:cNvSpPr txBox="1"/>
          <p:nvPr/>
        </p:nvSpPr>
        <p:spPr>
          <a:xfrm>
            <a:off x="695151" y="3965986"/>
            <a:ext cx="142714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从业2年，规模3亿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975-23"/>
          <p:cNvSpPr txBox="1"/>
          <p:nvPr/>
        </p:nvSpPr>
        <p:spPr>
          <a:xfrm>
            <a:off x="695151" y="4208813"/>
            <a:ext cx="157519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前十大持仓占比78%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975-24"/>
          <p:cNvSpPr txBox="1"/>
          <p:nvPr/>
        </p:nvSpPr>
        <p:spPr>
          <a:xfrm>
            <a:off x="695151" y="4451640"/>
            <a:ext cx="167904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行业配置接近沪深300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976-25"/>
          <p:cNvSpPr txBox="1"/>
          <p:nvPr/>
        </p:nvSpPr>
        <p:spPr>
          <a:xfrm>
            <a:off x="695151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0.68（保守）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976-26"/>
          <p:cNvSpPr txBox="1"/>
          <p:nvPr/>
        </p:nvSpPr>
        <p:spPr>
          <a:xfrm>
            <a:off x="695151" y="4937294"/>
            <a:ext cx="29747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2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 = 输家(高风险调整)（高压）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976-27"/>
          <p:cNvSpPr txBox="1"/>
          <p:nvPr/>
        </p:nvSpPr>
        <p:spPr>
          <a:xfrm>
            <a:off x="6323019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经理B（经验型）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976-28"/>
          <p:cNvSpPr txBox="1"/>
          <p:nvPr/>
        </p:nvSpPr>
        <p:spPr>
          <a:xfrm>
            <a:off x="6323019" y="3965986"/>
            <a:ext cx="151745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从业8年，规模50亿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976-29"/>
          <p:cNvSpPr txBox="1"/>
          <p:nvPr/>
        </p:nvSpPr>
        <p:spPr>
          <a:xfrm>
            <a:off x="6323019" y="4208813"/>
            <a:ext cx="157667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前十大持仓占比62%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976-30"/>
          <p:cNvSpPr txBox="1"/>
          <p:nvPr/>
        </p:nvSpPr>
        <p:spPr>
          <a:xfrm>
            <a:off x="6323019" y="4451640"/>
            <a:ext cx="134054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超配新能源+消费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977-31"/>
          <p:cNvSpPr txBox="1"/>
          <p:nvPr/>
        </p:nvSpPr>
        <p:spPr>
          <a:xfrm>
            <a:off x="6323019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0.85（主动）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977-32"/>
          <p:cNvSpPr txBox="1"/>
          <p:nvPr/>
        </p:nvSpPr>
        <p:spPr>
          <a:xfrm>
            <a:off x="6323019" y="4937294"/>
            <a:ext cx="297635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8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 = 赢家(低风险调整)（低压）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938-2"/>
          <p:cNvSpPr txBox="1"/>
          <p:nvPr/>
        </p:nvSpPr>
        <p:spPr>
          <a:xfrm>
            <a:off x="723719" y="5494367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Experience（从业年限）做 OLS 回归；2.0 阶段加入 BHS、学历、管理规模等特征；3.0 阶段考虑加入行为心理学问卷数据（如风险偏好测试）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939-5"/>
          <p:cNvSpPr txBox="1"/>
          <p:nvPr/>
        </p:nvSpPr>
        <p:spPr>
          <a:xfrm>
            <a:off x="578975" y="6218086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核心逻辑：职业忧虑（L1）→ 持仓偏离行为（L2）→ 业绩差异 | 为 H1 假设奠定因果基础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9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939-8"/>
          <p:cNvSpPr txBox="1"/>
          <p:nvPr/>
        </p:nvSpPr>
        <p:spPr>
          <a:xfrm>
            <a:off x="11462852" y="6519090"/>
            <a:ext cx="203308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56DB"/>
                </a:solidFill>
                <a:latin typeface="Microsoft YaHei"/>
              </a:defRPr>
            </a:pPr>
            <a:r>
              <a:t>中国文献支撑：艾洪德、刘聪(2008)《财贸经济》经理特征→风格 | 赵秀娟(2010)《管理评论》7项特征→业绩 | 高鹤等(2014)《金融研究》性别→风险 | 申宇等(2015)《经济学季刊》校友网络→超额11.37%/年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8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95-17"/>
          <p:cNvSpPr/>
          <p:nvPr/>
        </p:nvSpPr>
        <p:spPr>
          <a:xfrm>
            <a:off x="457086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96-19"/>
          <p:cNvCxnSpPr/>
          <p:nvPr/>
        </p:nvCxnSpPr>
        <p:spPr>
          <a:xfrm>
            <a:off x="476131" y="1406931"/>
            <a:ext cx="914" cy="314246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017-20"/>
          <p:cNvPicPr/>
          <p:nvPr/>
        </p:nvPicPr>
        <p:blipFill>
          <a:blip r:embed="rId1"/>
          <a:stretch>
            <a:fillRect/>
          </a:stretch>
        </p:blipFill>
        <p:spPr>
          <a:xfrm>
            <a:off x="1890537" y="1792597"/>
            <a:ext cx="2741770" cy="523744"/>
          </a:xfrm>
          <a:prstGeom prst="rect">
            <a:avLst/>
          </a:prstGeom>
          <a:ln>
            <a:noFill/>
          </a:ln>
        </p:spPr>
      </p:pic>
      <p:sp>
        <p:nvSpPr>
          <p:cNvPr id="6" name="el-1785891665996-18"/>
          <p:cNvSpPr/>
          <p:nvPr/>
        </p:nvSpPr>
        <p:spPr>
          <a:xfrm>
            <a:off x="6151612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023-33"/>
          <p:cNvCxnSpPr/>
          <p:nvPr/>
        </p:nvCxnSpPr>
        <p:spPr>
          <a:xfrm>
            <a:off x="6294451" y="385424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991-6"/>
          <p:cNvSpPr/>
          <p:nvPr/>
        </p:nvSpPr>
        <p:spPr>
          <a:xfrm>
            <a:off x="457086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92-7"/>
          <p:cNvSpPr/>
          <p:nvPr/>
        </p:nvSpPr>
        <p:spPr>
          <a:xfrm>
            <a:off x="6151612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987-3"/>
          <p:cNvSpPr/>
          <p:nvPr/>
        </p:nvSpPr>
        <p:spPr>
          <a:xfrm>
            <a:off x="457086" y="5505228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992-8"/>
          <p:cNvSpPr txBox="1"/>
          <p:nvPr/>
        </p:nvSpPr>
        <p:spPr>
          <a:xfrm>
            <a:off x="457086" y="829027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5992-9"/>
          <p:cNvSpPr txBox="1"/>
          <p:nvPr/>
        </p:nvSpPr>
        <p:spPr>
          <a:xfrm>
            <a:off x="457086" y="1052809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数据计算：公式字母详解与示例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6020-27"/>
          <p:cNvSpPr txBox="1"/>
          <p:nvPr/>
        </p:nvSpPr>
        <p:spPr>
          <a:xfrm>
            <a:off x="628493" y="1492635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BHS 锦标赛压力 — 公式详解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6029-34"/>
          <p:cNvSpPr txBox="1"/>
          <p:nvPr/>
        </p:nvSpPr>
        <p:spPr>
          <a:xfrm>
            <a:off x="628493" y="239252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BHS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5" name="el-1785891666029-35"/>
          <p:cNvSpPr txBox="1"/>
          <p:nvPr/>
        </p:nvSpPr>
        <p:spPr>
          <a:xfrm>
            <a:off x="952262" y="2392522"/>
            <a:ext cx="431925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锦标赛压力指标。衡量基金经理因中期排名落后而增加风险的倾向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029-36"/>
          <p:cNvSpPr txBox="1"/>
          <p:nvPr/>
        </p:nvSpPr>
        <p:spPr>
          <a:xfrm>
            <a:off x="628493" y="264487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7" name="el-1785891666030-37"/>
          <p:cNvSpPr txBox="1"/>
          <p:nvPr/>
        </p:nvSpPr>
        <p:spPr>
          <a:xfrm>
            <a:off x="952262" y="2644872"/>
            <a:ext cx="257200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评估年度（如2024年），分为排序期(上半年)和测试期(下半年)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030-38"/>
          <p:cNvSpPr txBox="1"/>
          <p:nvPr/>
        </p:nvSpPr>
        <p:spPr>
          <a:xfrm>
            <a:off x="628493" y="2897221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Exp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030-39"/>
          <p:cNvSpPr txBox="1"/>
          <p:nvPr/>
        </p:nvSpPr>
        <p:spPr>
          <a:xfrm>
            <a:off x="952262" y="2897221"/>
            <a:ext cx="486814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排序期月数(通常m=6)，即1-6月用于计算累积收益排名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030-40"/>
          <p:cNvSpPr txBox="1"/>
          <p:nvPr/>
        </p:nvSpPr>
        <p:spPr>
          <a:xfrm>
            <a:off x="628493" y="3149571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N(T)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030-41"/>
          <p:cNvSpPr txBox="1"/>
          <p:nvPr/>
        </p:nvSpPr>
        <p:spPr>
          <a:xfrm>
            <a:off x="1028592" y="3149571"/>
            <a:ext cx="384758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同类基金总数，用于确定中位数排名分界线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031-42"/>
          <p:cNvSpPr txBox="1"/>
          <p:nvPr/>
        </p:nvSpPr>
        <p:spPr>
          <a:xfrm>
            <a:off x="628493" y="3401920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Rank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031-43"/>
          <p:cNvSpPr txBox="1"/>
          <p:nvPr/>
        </p:nvSpPr>
        <p:spPr>
          <a:xfrm>
            <a:off x="1028592" y="3401920"/>
            <a:ext cx="385844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排序期累积收益率CR=Π(1+R_t)-1，按同类基金中位数分输家/赢家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031-44"/>
          <p:cNvSpPr txBox="1"/>
          <p:nvPr/>
        </p:nvSpPr>
        <p:spPr>
          <a:xfrm>
            <a:off x="628493" y="3654269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031-45"/>
          <p:cNvSpPr txBox="1"/>
          <p:nvPr/>
        </p:nvSpPr>
        <p:spPr>
          <a:xfrm>
            <a:off x="952262" y="3654269"/>
            <a:ext cx="245311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风险调整比率RAR=σ(下半年)/σ(上半年)，RAR&gt;1表示增险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021-28"/>
          <p:cNvSpPr txBox="1"/>
          <p:nvPr/>
        </p:nvSpPr>
        <p:spPr>
          <a:xfrm>
            <a:off x="6294451" y="1492635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示例计算（经理A vs 经理B）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6018-21"/>
          <p:cNvSpPr txBox="1"/>
          <p:nvPr/>
        </p:nvSpPr>
        <p:spPr>
          <a:xfrm>
            <a:off x="6294451" y="1811643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经理A：首次任职 2022Q1，当前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018-22"/>
          <p:cNvSpPr txBox="1"/>
          <p:nvPr/>
        </p:nvSpPr>
        <p:spPr>
          <a:xfrm>
            <a:off x="6294451" y="206399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(2024.75 - 2022.25)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021-29"/>
          <p:cNvSpPr txBox="1"/>
          <p:nvPr/>
        </p:nvSpPr>
        <p:spPr>
          <a:xfrm>
            <a:off x="6294451" y="231634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0.70（排名后30%）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019-23"/>
          <p:cNvSpPr txBox="1"/>
          <p:nvPr/>
        </p:nvSpPr>
        <p:spPr>
          <a:xfrm>
            <a:off x="6294451" y="2568691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BHS = exp(-2.5/8) × 0.70 = 0.731 × 0.70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0.512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019-24"/>
          <p:cNvSpPr txBox="1"/>
          <p:nvPr/>
        </p:nvSpPr>
        <p:spPr>
          <a:xfrm>
            <a:off x="6294451" y="282104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经理B：首次任职 2016Q3，当前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020-25"/>
          <p:cNvSpPr txBox="1"/>
          <p:nvPr/>
        </p:nvSpPr>
        <p:spPr>
          <a:xfrm>
            <a:off x="6294451" y="307339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(2024.75 - 2016.75)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8.0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022-30"/>
          <p:cNvSpPr txBox="1"/>
          <p:nvPr/>
        </p:nvSpPr>
        <p:spPr>
          <a:xfrm>
            <a:off x="6294451" y="3325739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0.50（排名中等）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020-26"/>
          <p:cNvSpPr txBox="1"/>
          <p:nvPr/>
        </p:nvSpPr>
        <p:spPr>
          <a:xfrm>
            <a:off x="6294451" y="35780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BHS = exp(-8/8) × 0.50 = 0.368 × 0.50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0.184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022-31"/>
          <p:cNvSpPr txBox="1"/>
          <p:nvPr/>
        </p:nvSpPr>
        <p:spPr>
          <a:xfrm>
            <a:off x="6294451" y="3897096"/>
            <a:ext cx="5414561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A是输家(RAR=1.3&gt;1增险) &gt; B是赢家(RAR=0.8&lt;1降险) → 锦标赛效应验证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6022-32"/>
          <p:cNvSpPr txBox="1"/>
          <p:nvPr/>
        </p:nvSpPr>
        <p:spPr>
          <a:xfrm>
            <a:off x="6294451" y="42303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V4(400基金)实测：输家平均RAR=1.15，赢家平均RAR=0.92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993-10"/>
          <p:cNvSpPr txBox="1"/>
          <p:nvPr/>
        </p:nvSpPr>
        <p:spPr>
          <a:xfrm>
            <a:off x="580880" y="4644622"/>
            <a:ext cx="358782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ak.fund_manager_em()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，免费API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993-11"/>
          <p:cNvSpPr txBox="1"/>
          <p:nvPr/>
        </p:nvSpPr>
        <p:spPr>
          <a:xfrm>
            <a:off x="580880" y="4850251"/>
            <a:ext cx="340317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获取情况：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 5万+条任职记录，400基金 100%覆盖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993-12"/>
          <p:cNvSpPr txBox="1"/>
          <p:nvPr/>
        </p:nvSpPr>
        <p:spPr>
          <a:xfrm>
            <a:off x="580880" y="5036835"/>
            <a:ext cx="4884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处理流程：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过滤在职经理 → 按 fund_code 匹配 → 计算任职年数 → 代入BHS公式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994-13"/>
          <p:cNvSpPr txBox="1"/>
          <p:nvPr/>
        </p:nvSpPr>
        <p:spPr>
          <a:xfrm>
            <a:off x="6275406" y="4644622"/>
            <a:ext cx="269835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994-14"/>
          <p:cNvSpPr txBox="1"/>
          <p:nvPr/>
        </p:nvSpPr>
        <p:spPr>
          <a:xfrm>
            <a:off x="6275406" y="4831206"/>
            <a:ext cx="326167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数据源：Lipper/CDA（付费），样本 334只基金 1976-1991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994-15"/>
          <p:cNvSpPr txBox="1"/>
          <p:nvPr/>
        </p:nvSpPr>
        <p:spPr>
          <a:xfrm>
            <a:off x="6275406" y="5017789"/>
            <a:ext cx="345748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方法：列联表检验 → 本文用RAR回归+面板固定效应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994-16"/>
          <p:cNvSpPr txBox="1"/>
          <p:nvPr/>
        </p:nvSpPr>
        <p:spPr>
          <a:xfrm>
            <a:off x="6275406" y="5204373"/>
            <a:ext cx="338115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API自动化5万+条 vs 手动453条，效率提升100倍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987-2"/>
          <p:cNvSpPr txBox="1"/>
          <p:nvPr/>
        </p:nvSpPr>
        <p:spPr>
          <a:xfrm>
            <a:off x="509460" y="5533796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H1 回归结果：输家Dummy β=0.15, p&lt;0.05 | 输家增险(RAR↑) → 下期业绩更差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5987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5987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245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500110" y="2661834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2" name="el-1785891666264-26"/>
          <p:cNvPicPr/>
          <p:nvPr/>
        </p:nvPicPr>
        <p:blipFill>
          <a:blip r:embed="rId2"/>
          <a:stretch>
            <a:fillRect/>
          </a:stretch>
        </p:blipFill>
        <p:spPr>
          <a:xfrm>
            <a:off x="7127978" y="2419007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1/2 × (3%+7%+3%+90%)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0.515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566233"/>
            <a:ext cx="1104528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15-5"/>
          <p:cNvSpPr txBox="1"/>
          <p:nvPr/>
        </p:nvSpPr>
        <p:spPr>
          <a:xfrm>
            <a:off x="578975" y="6047125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AS在美股正向(Cremers 2009) | V4(400基金)AS负向(t=-5.24***)，ICI负向(t=-3.69***) | A股行为指标全面负向预测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79" y="1249511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379026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j 个行业的索引（申万一级10个行业）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452437" y="6519090"/>
            <a:ext cx="21372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477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607" y="264769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6496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804060" y="2647699"/>
            <a:ext cx="4237268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87A2C"/>
                </a:solidFill>
                <a:latin typeface="Microsoft YaHei"/>
              </a:defRPr>
            </a:pPr>
            <a:r>
              <a:t>中国文献支撑：孔东民等(2015)《经济研究》基金访问→信息优势 | 刘京军、苏楚林(2016)《管理世界》资金流量传染+零成本组合超额6% | 申宇等(2013)《管理世界》ARG修正→隐形交易超额收益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633278" y="1208444"/>
            <a:ext cx="3256438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404261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2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10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10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滚动平均 = (1.36-0.50+0.80+0.30)/4 = 0.49%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ARG = 0.49% × 4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1.96%/年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→ 经理主动操作整体增厚收益约2%/年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2423769"/>
            <a:ext cx="5603615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882-24"/>
          <p:cNvPicPr/>
          <p:nvPr/>
        </p:nvPicPr>
        <p:blipFill>
          <a:blip r:embed="rId1"/>
          <a:stretch>
            <a:fillRect/>
          </a:stretch>
        </p:blipFill>
        <p:spPr>
          <a:xfrm>
            <a:off x="1425863" y="2761822"/>
            <a:ext cx="4237268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6859-18"/>
          <p:cNvSpPr/>
          <p:nvPr/>
        </p:nvSpPr>
        <p:spPr>
          <a:xfrm>
            <a:off x="742764" y="3733129"/>
            <a:ext cx="5603615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619107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2509472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828355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828355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409498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409498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4361621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4361621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628255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628255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453181" y="6519090"/>
            <a:ext cx="21297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E185D"/>
                </a:solidFill>
                <a:latin typeface="Microsoft YaHei"/>
              </a:defRPr>
            </a:pPr>
            <a:r>
              <a:t>中国文献支撑：杨坤等(2013)《管理科学学报》明星/垫底效应→直接验证BHS锦标赛risk-shifting | 刘莎莎等(2013)《管理世界》风险调整由信息优势驱动→仅熊市有效 | 肖峻(2013)《经济学季刊》牛熊市PFR非对称→激励扭曲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7009-18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79" y="1538611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1]。0=风格完全不变，1=完全切换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25-53"/>
          <p:cNvSpPr txBox="1"/>
          <p:nvPr/>
        </p:nvSpPr>
        <p:spPr>
          <a:xfrm>
            <a:off x="628493" y="356990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7025-54"/>
          <p:cNvSpPr txBox="1"/>
          <p:nvPr/>
        </p:nvSpPr>
        <p:spPr>
          <a:xfrm>
            <a:off x="952262" y="3569905"/>
            <a:ext cx="25431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系数，与AS相同，买卖两侧各算一次需除以2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1/2 × 80% = 0.40 → 中等风格漂移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7066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607" y="2659602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7081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771475" y="290242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Econometrica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前景理论核心：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损失厌恶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（损失敏感度约为收益2.25倍）、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参考点依赖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敏感性递减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。OCI 用换手率偏离度衡量过度自信。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同类基金换手率中位数: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OCI = |280%-150%|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本文构建（基于Cohen, Lu &amp; Nguyen (2026)理性预期框架）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，不可预测性本身可能是Alpha来源（基于Cohen, Lu &amp; Nguyen (2026)理性预期理论推演）。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OCI=|RG|作为ARG代理(申宇2013) | 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451544" y="6519090"/>
            <a:ext cx="2146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7130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695770" y="1489659"/>
            <a:ext cx="3131305" cy="476131"/>
          </a:xfrm>
          <a:prstGeom prst="rect">
            <a:avLst/>
          </a:prstGeom>
          <a:ln>
            <a:noFill/>
          </a:ln>
        </p:spPr>
      </p:pic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+∞)。越大越过度自信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的实际换手率（= 买入额+卖出额 / 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1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理论公式（需换手率数据）| 实际实现: OCI=|RG|（申宇2013 ARG代理，缺换手率数据）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110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输出：行为标签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2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RPI=0.51(高压),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换手率来自基金季报，AKShare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fund_portfolio_hold_em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理论依据：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前景理论 + Cohen, Lu &amp; Nguyen (2026) (2004) JF 理性预期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PS指标：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rPr/>
              <a:t>02 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rPr/>
              <a:t>六指标计算详解：基准指数、数据来源与实证结果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 sz="1400" b="1"/>
              <a:t>AS (Active Share)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L2 持仓偏离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AS = 1/2 x Sigma|w_fund - w_bench|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沪深300(300只)+中证500(500只)等权合成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东方财富全持仓API | 185,144条持仓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逐股比较基金与基准权重之差的绝对值，求和除以2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0.833 (60%+为默认值，缺实际基准)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rPr sz="1000" b="0"/>
              <a:t>结果: t=-26.81*** (最强负向)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美股正向 vs A股负向 -- 原创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7096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 sz="1400" b="1"/>
              <a:t>ICI (行业集中度)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L2 持仓偏离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ICI = Sigma(w_fund - w_market)^2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申万一级行业(31个) 全市场流通市值权重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东方财富行业配置 + AKShare市场权重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逐行业算基金与市场配置偏差的平方，求和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0.08 (标准化) | 原始712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rPr sz="1000" b="0"/>
              <a:t>结果: t=-3.69*** (负向)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美股正向 vs A股负向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9144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rPr sz="1400" b="1"/>
              <a:t>RG (Return Gap)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1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L3 交易行为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1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RG = R_fund - Sigma(w_i,t-1 x r_i,t)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无基准 | 全持仓x个股收益算模拟收益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东方财富净值API + 全持仓(18.5万条)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模拟收益=上季度持仓不变理论收益; RG=实际-模拟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0.93% (季度均值)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 sz="1000" b="0"/>
              <a:t>结果: t=+9.20*** (正向，与美股一致)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V3前十大算RG=-3.67(错) -&gt; V4全持仓翻正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/>
              </a:defRPr>
            </a:pPr>
            <a:r>
              <a:rPr sz="1400" b="1"/>
              <a:t>SDI (风格漂移)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L4 风险应对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SDI = 1/2 x Sigma|w_k,t - w_k,t-1|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4类风格指数: 大盘成长/价值+小盘成长/价值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基金净值 + Wind四类风格指数(RBSA估计)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先RBSA回归估计风格权重，再算前后两期曼哈顿距离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0.15 (标准化) | 原始33.4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rPr sz="1000" b="0"/>
              <a:t>结果: t=-7.69*** (负向稳健)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寇宗来(2020)U型关系 | 牛熊反转: 牛负熊正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97096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338328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/>
              </a:defRPr>
            </a:pPr>
            <a:r>
              <a:rPr sz="1400" b="1"/>
              <a:t>OCI (过度自信)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6824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L5 认知行为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6824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OCI = |RG| (申宇2013 ARG代理)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无基准 | 理论: 换手率偏离度(缺换手率数据)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当前用|RG|代理 | Phase2用实际换手率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取RG绝对值作为过度交易强度代理变量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0.028 (季度均值)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 sz="1000" b="0"/>
              <a:t>结果: t=+4.40*** | 因子调整后t=+4.79***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Barber&amp;Odean: 过度自信损害 | 本研究发现牛市正向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55863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3" y="338328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1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rPr sz="1400" b="1"/>
              <a:t>dAS (主动份额变化)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1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L3 交易行为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1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dAS = AS_t - AS_{t-1}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同AS，基于沪深300+中证500基准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由AS指标逐期差分得到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本期AS减上期AS，正值=增主动管理，负值=趋被动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-0.001 (略微趋向被动)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 sz="1000" b="0"/>
              <a:t>结果: t=+2.01** (正向弱显著)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衡量经理增减主动赌注 | 预测力较弱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rPr sz="1000" b="0"/>
              <a:t>基准: AS/ICI用沪深300+中证500等权合成 | RG/dAS无基准(全持仓算模拟收益) | SDI用4类Wind风格指数 | OCI用|RG|代理 | 数据量: 400基金 x 40季度 = 9,581观测, 18.5万条持仓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rPr/>
              <a:t>02 指标汇总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rPr/>
              <a:t>23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rPr/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/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/>
              </a:defRPr>
            </a:pPr>
            <a:r>
              <a:rPr/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/>
              </a:defRPr>
            </a:pPr>
            <a:r>
              <a:rPr/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/>
              </a:defRPr>
            </a:pPr>
            <a:r>
              <a:rPr/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/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/>
              </a:defRPr>
            </a:pPr>
            <a:r>
              <a:rPr/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/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rPr/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rPr/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rPr/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rPr/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rPr/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rPr/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/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/>
              </a:defRPr>
            </a:pPr>
            <a:r>
              <a:rPr/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rPr/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/>
              </a:defRPr>
            </a:pPr>
            <a:r>
              <a:rPr/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rPr/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rPr/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rPr/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rPr/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rPr/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rPr/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rPr/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23</a:t>
            </a:r>
          </a:p>
        </p:txBody>
      </p:sp>
      <p:sp>
        <p:nvSpPr>
          <p:cNvPr id="10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580880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OCI: |RG|代理(均值0.028)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rPr/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rPr/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1A1A2E"/>
                </a:solidFill>
                <a:latin typeface="宋体"/>
              </a:defRPr>
            </a:pPr>
            <a:r>
              <a:rPr sz="1100" b="0"/>
              <a:t>核心思想：如果行为指标真有预测力，不管用什么统计方法都应得到一致结论。</a:t>
            </a:r>
          </a:p>
          <a:p>
            <a:pPr>
              <a:spcAft>
                <a:spcPts val="150"/>
              </a:spcAft>
              <a:defRPr sz="10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如果不同方法给出矛盾结果，那本身就是发现——说明该指标在不同维度有不同效应。类比医学：新药需经RCT、观察性研究、荟萃分析多方法验证。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 sz="1300" b="1"/>
              <a:t>1. OLS聚类回归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用t-1期指标预测t期收益，按基金聚类调整标准误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面板数据最基础方法，聚类标准误解决序列相关</a:t>
            </a:r>
          </a:p>
          <a:p>
            <a:pPr>
              <a:spcAft>
                <a:spcPts val="150"/>
              </a:spcAft>
              <a:defRPr sz="900" b="1">
                <a:solidFill>
                  <a:srgbClr val="B91C1C"/>
                </a:solidFill>
                <a:latin typeface="宋体"/>
              </a:defRPr>
            </a:pPr>
            <a:r>
              <a:rPr sz="1000" b="0"/>
              <a:t>结果: AS最强负向(t=-26.81***)，RG正向(t=+9.20***)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rPr sz="1300" b="1"/>
              <a:t>2. Fama-MacBeth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逐季度截面回归，40个季度系数取均值，Newey-West修正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纯截面效应——同一时间高AS基金是否比低的收益高</a:t>
            </a:r>
          </a:p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/>
              </a:defRPr>
            </a:pPr>
            <a:r>
              <a:rPr sz="1000" b="0"/>
              <a:t>结果: AS正向(t=+2.76**)——与OLS方向矛盾!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/>
              </a:defRPr>
            </a:pPr>
            <a:r>
              <a:rPr sz="1300" b="1"/>
              <a:t>3. 基金固定效应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加入基金虚拟变量，消除不随时间变化的基金特征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排除基金固有质量混杂，检验是否基金内部变化驱动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 sz="1000" b="0"/>
              <a:t>结果: RG最稳健(t=+7.77***)，SDI负向(t=-7.25***)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33756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/>
              </a:defRPr>
            </a:pPr>
            <a:r>
              <a:rPr sz="1300" b="1"/>
              <a:t>4. 双重排序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按AS五等分，每组内再按ICI五等分，比较最高最低组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非参数方法，不依赖线性假设，直观看激进vs保守差距</a:t>
            </a:r>
          </a:p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/>
              </a:defRPr>
            </a:pPr>
            <a:r>
              <a:rPr sz="1000" b="0"/>
              <a:t>结果: AS五分位差-6.22%/季，RG五分位差+5.14%/季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97096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337560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黑体"/>
              </a:defRPr>
            </a:pPr>
            <a:r>
              <a:rPr sz="1300" b="1"/>
              <a:t>5. 牛熊市分组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按年度基准收益正负分牛市/熊市，分别回归比较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检验环境依赖性——同一行为在不同市场下效果不同</a:t>
            </a:r>
          </a:p>
          <a:p>
            <a:pPr>
              <a:spcAft>
                <a:spcPts val="150"/>
              </a:spcAft>
              <a:defRPr sz="900" b="1">
                <a:solidFill>
                  <a:srgbClr val="7C3AED"/>
                </a:solidFill>
                <a:latin typeface="宋体"/>
              </a:defRPr>
            </a:pPr>
            <a:r>
              <a:rPr sz="1000" b="0"/>
              <a:t>结果: RG牛正熊负(反转)，SDI牛负熊正(反转)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55863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337560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91"/>
                </a:solidFill>
                <a:latin typeface="黑体"/>
              </a:defRPr>
            </a:pPr>
            <a:r>
              <a:rPr sz="1300" b="1"/>
              <a:t>6. 滞后阶数分析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1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用t-1至t-4期指标分别预测t期收益，检验持续性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持续1期=噪声，持续4期=持久行为特征</a:t>
            </a:r>
          </a:p>
          <a:p>
            <a:pPr>
              <a:spcAft>
                <a:spcPts val="150"/>
              </a:spcAft>
              <a:defRPr sz="900" b="1">
                <a:solidFill>
                  <a:srgbClr val="089191"/>
                </a:solidFill>
                <a:latin typeface="宋体"/>
              </a:defRPr>
            </a:pPr>
            <a:r>
              <a:rPr sz="1000" b="0"/>
              <a:t>结果: AS持续4/4期，RG持续4/4期但方向交替(1Q正2Q负)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" y="4892040"/>
            <a:ext cx="11494008" cy="59436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50" b="1">
                <a:solidFill>
                  <a:srgbClr val="1A1A2E"/>
                </a:solidFill>
                <a:latin typeface="宋体"/>
              </a:defRPr>
            </a:pPr>
            <a:r>
              <a:rPr/>
              <a:t>交叉验证核心发现：OLS显示AS负向但Fama-MacBeth显示AS正向——矛盾是原创发现，说明AS存在时序效应(同一基金AS升高收益降低)和截面效应(同一时间高AS基金收益高)的双重维度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rPr sz="1000" b="0"/>
              <a:t>六种方法交叉验证 = 不同统计角度反复检验 | OLS(混合)-&gt;FM(截面)-&gt;FE(组内)-&gt;双重排序(非参数)-&gt;牛熊市(环境)-&gt;滞后(持续性) | 矛盾结果是发现: AS时序负/截面正 | RG最稳健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rPr/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rPr/>
              <a:t>26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442319" y="6519090"/>
            <a:ext cx="22384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100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440831" y="6519090"/>
            <a:ext cx="2253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56DB"/>
                </a:solidFill>
                <a:latin typeface="Microsoft YaHei"/>
              </a:defRPr>
            </a:pPr>
            <a:r>
              <a:t>中国文献补充(22篇高关联)：L1-艾洪德(2008)/赵秀娟(2010)/高鹤(2014)/申宇(2015) | L2-韩燕(2011)/蒋晓全(2007)/刘莎莎(2013) | L3-孔东民(2015)/刘京军(2016)/申宇(2013) | L4-杨坤(2013)/赎回异象争论8篇 | 方法论4篇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Cremers只研究AS（L2），Kacperczyk只研究RG（L3），Cohen et al.(2026)研究AI预测交易行为（L5），各篇相互独立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Cremers用CRSP+CDA（年费数万美元），寇宗来用Wind（年费数十万人民币），Cohen et al.(2026)为AI预测模型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432648" y="6519090"/>
            <a:ext cx="23351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67610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05 学术原创性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rPr/>
              <a:t>照搬方法 vs 原创贡献：学术规范与创新性分析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rPr/>
              <a:t>照搬的方法与公式（学术合规）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/>
              <a:t>AS公式: Cremers &amp; Petajisto (2009)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/>
              <a:t>  -&gt; 照搬公式，但中国市场AS方向反转(负向)是新发现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/>
              <a:t>ICI公式: Kacperczyk et al. (2005) JF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/>
              <a:t>  -&gt; 照搬公式，但A股ICI反转效应是新发现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/>
              <a:t>RG公式: Kacperczyk et al. (2008)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/>
              <a:t>  -&gt; 照搬公式，全持仓数据使RG方向翻转是方法学贡献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/>
              <a:t>SDI方法: 寇宗来等 (2020) 金融研究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/>
              <a:t>  -&gt; 照搬曼哈顿距离方法，牛熊反转是新发现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/>
              <a:t>学术规范说明: 使用已有方法是标准学术实践，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必须标注原始文献来源。创新不在于公式本身，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而在于新应用、新发现、新框架。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14400"/>
            <a:ext cx="5687568" cy="23774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黑体"/>
              </a:defRPr>
            </a:pPr>
            <a:r>
              <a:rPr/>
              <a:t>本研究的原创贡献（6项，已查重验证）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1. 五层递进框架(已验证原创)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L1背景-&gt;L2持仓-&gt;L3交易-&gt;L4风险-&gt;L5认知，因果递进</a:t>
            </a:r>
          </a:p>
          <a:p>
            <a:pPr>
              <a:spcAft>
                <a:spcPts val="150"/>
              </a:spcAft>
              <a:defRPr sz="880" b="0">
                <a:solidFill>
                  <a:srgbClr val="9CA3AF"/>
                </a:solidFill>
                <a:latin typeface="宋体"/>
              </a:defRPr>
            </a:pPr>
            <a:r>
              <a:rPr/>
              <a:t>  晨星5P并列/FMLens多维无因果，无文献采用因果递进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2. AS时序负/截面正双重效应(原创)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OLS负向(t=-26.81)但FM正向(t=+2.76)，矛盾本身是发现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3. 全持仓vs前十大方法学(已验证原创)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前十大近似AS系统性偏误，RG方向完全翻转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4. dAS新指标(已验证原创)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AS变化率预测业绩，无文献将dAS作为新指标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5. RG牛熊反转 + SDI牛熊反转(原创)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牛市隐形交易有效/熊市拖累；牛市漂移致命/熊市有效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6. 六种方法交叉验证体系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OLS+FM+FE+双重排序+牛熊市+滞后，系统检验稳健性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rPr/>
              <a:t>创新逻辑：为什么照搬公式但仍有学术价值？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749039"/>
            <a:ext cx="2798064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" y="3749039"/>
            <a:ext cx="2798064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/>
              </a:defRPr>
            </a:pPr>
            <a:r>
              <a:rPr/>
              <a:t>框架创新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rPr/>
              <a:t>将5篇顶级期刊的独立指标整合为L1-L5递进框架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rPr/>
              <a:t>对比: 各文献单层独立研究，无递进因果链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749039"/>
            <a:ext cx="2798064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749039"/>
            <a:ext cx="2798064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/>
              </a:defRPr>
            </a:pPr>
            <a:r>
              <a:rPr/>
              <a:t>应用创新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rPr/>
              <a:t>首次用400基金全持仓数据系统验证中国市场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rPr/>
              <a:t>对比: 美股用季报全持仓，中国市场仅有前十大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3749039"/>
            <a:ext cx="2798064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749039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/>
              </a:defRPr>
            </a:pPr>
            <a:r>
              <a:rPr/>
              <a:t>发现创新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rPr/>
              <a:t>AS负向/ICI反转/RG牛熊反转/SDI牛熊反转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rPr/>
              <a:t>对比: 美股AS正向/ICI正向，无文献研究牛熊异质性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3749039"/>
            <a:ext cx="2798064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544" y="3749039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/>
              </a:defRPr>
            </a:pPr>
            <a:r>
              <a:rPr/>
              <a:t>方法创新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rPr/>
              <a:t>六种方法交叉验证+dAS新指标+全持仓方法学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rPr/>
              <a:t>对比: 现有文献多为单一回归方法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257800"/>
            <a:ext cx="11494008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85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/>
              <a:t>结论: 照搬公式完全符合学术规范(类似Fama-French因子模型被广泛使用)。创新体现在: (1)统一递进框架 (2)中国市场新发现 (3)全持仓方法学 (4)交叉验证体系。4项已通过查重验证为原创，2项需注意相关文献但研究视角不同。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rPr/>
              <a:t>照搬公式合规(需标来源) | 6项原创: 框架/AS双重效应/全持仓方法学/dAS新指标/牛熊反转/交叉验证 | 查重: 4项确认原创, 2项部分原创 | 创新在应用与发现, 非公式本身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05 学术原创性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33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43-17"/>
          <p:cNvSpPr/>
          <p:nvPr/>
        </p:nvSpPr>
        <p:spPr>
          <a:xfrm>
            <a:off x="457086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44-20"/>
          <p:cNvCxnSpPr/>
          <p:nvPr/>
        </p:nvCxnSpPr>
        <p:spPr>
          <a:xfrm>
            <a:off x="476131" y="1143720"/>
            <a:ext cx="914" cy="3459091"/>
          </a:xfrm>
          <a:prstGeom prst="line">
            <a:avLst/>
          </a:prstGeom>
          <a:ln w="38090" cap="flat">
            <a:solidFill>
              <a:srgbClr val="1580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8655-27"/>
          <p:cNvSpPr/>
          <p:nvPr/>
        </p:nvSpPr>
        <p:spPr>
          <a:xfrm>
            <a:off x="628493" y="1267514"/>
            <a:ext cx="552312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643-18"/>
          <p:cNvSpPr/>
          <p:nvPr/>
        </p:nvSpPr>
        <p:spPr>
          <a:xfrm>
            <a:off x="4253337" y="1143720"/>
            <a:ext cx="3682129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44-21"/>
          <p:cNvCxnSpPr/>
          <p:nvPr/>
        </p:nvCxnSpPr>
        <p:spPr>
          <a:xfrm>
            <a:off x="4272382" y="1143720"/>
            <a:ext cx="914" cy="345909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658-37"/>
          <p:cNvSpPr/>
          <p:nvPr/>
        </p:nvSpPr>
        <p:spPr>
          <a:xfrm>
            <a:off x="4424744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644-19"/>
          <p:cNvSpPr/>
          <p:nvPr/>
        </p:nvSpPr>
        <p:spPr>
          <a:xfrm>
            <a:off x="8049737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645-22"/>
          <p:cNvCxnSpPr/>
          <p:nvPr/>
        </p:nvCxnSpPr>
        <p:spPr>
          <a:xfrm>
            <a:off x="8068783" y="1143720"/>
            <a:ext cx="914" cy="3459091"/>
          </a:xfrm>
          <a:prstGeom prst="line">
            <a:avLst/>
          </a:prstGeom>
          <a:ln w="38090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8662-48"/>
          <p:cNvSpPr/>
          <p:nvPr/>
        </p:nvSpPr>
        <p:spPr>
          <a:xfrm>
            <a:off x="8221145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8639-6"/>
          <p:cNvSpPr/>
          <p:nvPr/>
        </p:nvSpPr>
        <p:spPr>
          <a:xfrm>
            <a:off x="457086" y="4698038"/>
            <a:ext cx="11274781" cy="116652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13" name="el-1785891668641-13"/>
          <p:cNvGraphicFramePr/>
          <p:nvPr/>
        </p:nvGraphicFramePr>
        <p:xfrm>
          <a:off x="580880" y="5036091"/>
          <a:ext cx="11027193" cy="85703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61809"/>
                <a:gridCol w="10265383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1.0→2.0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V1-V4四轮验证(200→400基金)；发现A股负向预测+牛熊市反转；修正AS公式；六种方法交叉验证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2.0→3.0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400基金→800基金；等权→市值加权基准；OLS→XGBoost+SHAP；加入L5认知层问卷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每阶段递进的是：数据更真实、方法更严谨、指标更全面——但五层框架结构不变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el-1785891668637-3"/>
          <p:cNvSpPr/>
          <p:nvPr/>
        </p:nvSpPr>
        <p:spPr>
          <a:xfrm>
            <a:off x="457086" y="5959785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8641-14"/>
          <p:cNvSpPr txBox="1"/>
          <p:nvPr/>
        </p:nvSpPr>
        <p:spPr>
          <a:xfrm>
            <a:off x="457086" y="493355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42-15"/>
          <p:cNvSpPr txBox="1"/>
          <p:nvPr/>
        </p:nvSpPr>
        <p:spPr>
          <a:xfrm>
            <a:off x="457086" y="726659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三阶段研究计划：每阶段具体做什么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655-26"/>
          <p:cNvSpPr txBox="1"/>
          <p:nvPr/>
        </p:nvSpPr>
        <p:spPr>
          <a:xfrm>
            <a:off x="704674" y="1286560"/>
            <a:ext cx="5694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55-28"/>
          <p:cNvSpPr txBox="1"/>
          <p:nvPr/>
        </p:nvSpPr>
        <p:spPr>
          <a:xfrm>
            <a:off x="628493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1.0 — MVP四轮验证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8648-23"/>
          <p:cNvSpPr txBox="1"/>
          <p:nvPr/>
        </p:nvSpPr>
        <p:spPr>
          <a:xfrm>
            <a:off x="628493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验证五层框架能否跑通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56-29"/>
          <p:cNvSpPr txBox="1"/>
          <p:nvPr/>
        </p:nvSpPr>
        <p:spPr>
          <a:xfrm>
            <a:off x="628493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56-30"/>
          <p:cNvSpPr txBox="1"/>
          <p:nvPr/>
        </p:nvSpPr>
        <p:spPr>
          <a:xfrm>
            <a:off x="628493" y="2364996"/>
            <a:ext cx="310571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V1-V4四轮验证：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200→400基金, 全持仓修正AS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657-31"/>
          <p:cNvSpPr txBox="1"/>
          <p:nvPr/>
        </p:nvSpPr>
        <p:spPr>
          <a:xfrm>
            <a:off x="628493" y="2564971"/>
            <a:ext cx="32546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九指标全模型：AS最强(t=-26.81***), R²=0.0684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57-32"/>
          <p:cNvSpPr txBox="1"/>
          <p:nvPr/>
        </p:nvSpPr>
        <p:spPr>
          <a:xfrm>
            <a:off x="628493" y="2764946"/>
            <a:ext cx="334050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牛熊市：RG牛正(t=+12.62***)/熊负(t=-7.17***)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57-33"/>
          <p:cNvSpPr txBox="1"/>
          <p:nvPr/>
        </p:nvSpPr>
        <p:spPr>
          <a:xfrm>
            <a:off x="628493" y="2964921"/>
            <a:ext cx="293891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核心发现：AS负向/RG正向信号分化，R²提升195%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58-34"/>
          <p:cNvSpPr txBox="1"/>
          <p:nvPr/>
        </p:nvSpPr>
        <p:spPr>
          <a:xfrm>
            <a:off x="628493" y="32315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58-35"/>
          <p:cNvSpPr txBox="1"/>
          <p:nvPr/>
        </p:nvSpPr>
        <p:spPr>
          <a:xfrm>
            <a:off x="628493" y="34791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不做FM/FE/因果推断、不做稳健性检验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58-36"/>
          <p:cNvSpPr txBox="1"/>
          <p:nvPr/>
        </p:nvSpPr>
        <p:spPr>
          <a:xfrm>
            <a:off x="4500925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进行中 · 8周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59-38"/>
          <p:cNvSpPr txBox="1"/>
          <p:nvPr/>
        </p:nvSpPr>
        <p:spPr>
          <a:xfrm>
            <a:off x="4424744" y="1553193"/>
            <a:ext cx="348120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2.0 — 稳健性检验+机制分析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650-24"/>
          <p:cNvSpPr txBox="1"/>
          <p:nvPr/>
        </p:nvSpPr>
        <p:spPr>
          <a:xfrm>
            <a:off x="4424744" y="1843633"/>
            <a:ext cx="3467870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六种方法交叉验证，确立核心结论稳健性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659-39"/>
          <p:cNvSpPr txBox="1"/>
          <p:nvPr/>
        </p:nvSpPr>
        <p:spPr>
          <a:xfrm>
            <a:off x="4424744" y="2117408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60-40"/>
          <p:cNvSpPr txBox="1"/>
          <p:nvPr/>
        </p:nvSpPr>
        <p:spPr>
          <a:xfrm>
            <a:off x="4424744" y="2364996"/>
            <a:ext cx="328976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Fama-MacBeth：AS正向(t=+2.76**)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60-41"/>
          <p:cNvSpPr txBox="1"/>
          <p:nvPr/>
        </p:nvSpPr>
        <p:spPr>
          <a:xfrm>
            <a:off x="4424744" y="2564971"/>
            <a:ext cx="334392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基金固定效应：RG最稳健(t=+7.77***), SDI负向(t=-7.25***)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60-42"/>
          <p:cNvSpPr txBox="1"/>
          <p:nvPr/>
        </p:nvSpPr>
        <p:spPr>
          <a:xfrm>
            <a:off x="4424744" y="2964921"/>
            <a:ext cx="333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双重排序：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AS×ICI角落差6.92%/季, 交互项不显著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61-43"/>
          <p:cNvSpPr txBox="1"/>
          <p:nvPr/>
        </p:nvSpPr>
        <p:spPr>
          <a:xfrm>
            <a:off x="4424744" y="3164896"/>
            <a:ext cx="336490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滞后阶数：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OCI/ICI持续4Q, 均值回归(1Q负→2Q正)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61-44"/>
          <p:cNvSpPr txBox="1"/>
          <p:nvPr/>
        </p:nvSpPr>
        <p:spPr>
          <a:xfrm>
            <a:off x="4424744" y="3364871"/>
            <a:ext cx="327146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六种方法交叉验证：AS=OLS最强, RG=OLS+FE均正向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61-45"/>
          <p:cNvSpPr txBox="1"/>
          <p:nvPr/>
        </p:nvSpPr>
        <p:spPr>
          <a:xfrm>
            <a:off x="4424744" y="3831479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待做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62-46"/>
          <p:cNvSpPr txBox="1"/>
          <p:nvPr/>
        </p:nvSpPr>
        <p:spPr>
          <a:xfrm>
            <a:off x="4424744" y="4079068"/>
            <a:ext cx="3367882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IV/DID因果推断 + 市值加权基准AS + 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662-47"/>
          <p:cNvSpPr txBox="1"/>
          <p:nvPr/>
        </p:nvSpPr>
        <p:spPr>
          <a:xfrm>
            <a:off x="8297326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待启动 · 6周</a:t>
            </a:r>
            <a:endParaRPr sz="104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662-49"/>
          <p:cNvSpPr txBox="1"/>
          <p:nvPr/>
        </p:nvSpPr>
        <p:spPr>
          <a:xfrm>
            <a:off x="8221145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3.0 — 扩展+预测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652-25"/>
          <p:cNvSpPr txBox="1"/>
          <p:nvPr/>
        </p:nvSpPr>
        <p:spPr>
          <a:xfrm>
            <a:off x="8221145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扩展样本、加入认知层、做预测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8663-50"/>
          <p:cNvSpPr txBox="1"/>
          <p:nvPr/>
        </p:nvSpPr>
        <p:spPr>
          <a:xfrm>
            <a:off x="8221145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663-51"/>
          <p:cNvSpPr txBox="1"/>
          <p:nvPr/>
        </p:nvSpPr>
        <p:spPr>
          <a:xfrm>
            <a:off x="8221145" y="2364996"/>
            <a:ext cx="20759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800+基金+市值加权基准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663-52"/>
          <p:cNvSpPr txBox="1"/>
          <p:nvPr/>
        </p:nvSpPr>
        <p:spPr>
          <a:xfrm>
            <a:off x="8221145" y="2564971"/>
            <a:ext cx="235803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经理变更事件+IV（自然实验）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8664-53"/>
          <p:cNvSpPr txBox="1"/>
          <p:nvPr/>
        </p:nvSpPr>
        <p:spPr>
          <a:xfrm>
            <a:off x="8221145" y="2764946"/>
            <a:ext cx="275144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市值加权AS+Fama-French因子调整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8664-54"/>
          <p:cNvSpPr txBox="1"/>
          <p:nvPr/>
        </p:nvSpPr>
        <p:spPr>
          <a:xfrm>
            <a:off x="8221145" y="2964921"/>
            <a:ext cx="187268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周度RG(如有高频持仓)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664-55"/>
          <p:cNvSpPr txBox="1"/>
          <p:nvPr/>
        </p:nvSpPr>
        <p:spPr>
          <a:xfrm>
            <a:off x="8221145" y="3164896"/>
            <a:ext cx="194871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L4：极端市场状态×SDI交互(风险应对)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664-56"/>
          <p:cNvSpPr txBox="1"/>
          <p:nvPr/>
        </p:nvSpPr>
        <p:spPr>
          <a:xfrm>
            <a:off x="8221145" y="3364871"/>
            <a:ext cx="232262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L5：OCI过度自信+LA损失厌恶(认知行为)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665-57"/>
          <p:cNvSpPr txBox="1"/>
          <p:nvPr/>
        </p:nvSpPr>
        <p:spPr>
          <a:xfrm>
            <a:off x="8221145" y="3564846"/>
            <a:ext cx="25075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XGBoost+SHAP+Logistic分类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8665-58"/>
          <p:cNvSpPr txBox="1"/>
          <p:nvPr/>
        </p:nvSpPr>
        <p:spPr>
          <a:xfrm>
            <a:off x="8221145" y="3764821"/>
            <a:ext cx="23256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行为画像标签+业绩预测模型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8665-59"/>
          <p:cNvSpPr txBox="1"/>
          <p:nvPr/>
        </p:nvSpPr>
        <p:spPr>
          <a:xfrm>
            <a:off x="8221145" y="40314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8665-60"/>
          <p:cNvSpPr txBox="1"/>
          <p:nvPr/>
        </p:nvSpPr>
        <p:spPr>
          <a:xfrm>
            <a:off x="8221145" y="42790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不做实时交易策略、不做基金推荐系统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8642-16"/>
          <p:cNvSpPr txBox="1"/>
          <p:nvPr/>
        </p:nvSpPr>
        <p:spPr>
          <a:xfrm>
            <a:off x="580880" y="4783741"/>
            <a:ext cx="12428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各阶段递进关系：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8637-2"/>
          <p:cNvSpPr txBox="1"/>
          <p:nvPr/>
        </p:nvSpPr>
        <p:spPr>
          <a:xfrm>
            <a:off x="502794" y="6007398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1.0四轮MVP已完成 → 2.0六种方法交叉验证已完成(AS=OLS最强, RG=OLS+FE正向)→ 待做: IV/DID因果推断+市值加权基准 → 3.0扩展样本+ML预测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8638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8638-5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7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78-9"/>
          <p:cNvSpPr/>
          <p:nvPr/>
        </p:nvSpPr>
        <p:spPr>
          <a:xfrm>
            <a:off x="533267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79-11"/>
          <p:cNvCxnSpPr/>
          <p:nvPr/>
        </p:nvCxnSpPr>
        <p:spPr>
          <a:xfrm>
            <a:off x="552312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686-35"/>
          <p:cNvCxnSpPr/>
          <p:nvPr/>
        </p:nvCxnSpPr>
        <p:spPr>
          <a:xfrm>
            <a:off x="780855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678-10"/>
          <p:cNvSpPr/>
          <p:nvPr/>
        </p:nvSpPr>
        <p:spPr>
          <a:xfrm>
            <a:off x="6189702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79-12"/>
          <p:cNvCxnSpPr/>
          <p:nvPr/>
        </p:nvCxnSpPr>
        <p:spPr>
          <a:xfrm>
            <a:off x="6208747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688-36"/>
          <p:cNvCxnSpPr/>
          <p:nvPr/>
        </p:nvCxnSpPr>
        <p:spPr>
          <a:xfrm>
            <a:off x="6437290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675-4"/>
          <p:cNvSpPr/>
          <p:nvPr/>
        </p:nvSpPr>
        <p:spPr>
          <a:xfrm>
            <a:off x="533267" y="5078794"/>
            <a:ext cx="11122419" cy="145219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8676-5"/>
          <p:cNvSpPr txBox="1"/>
          <p:nvPr/>
        </p:nvSpPr>
        <p:spPr>
          <a:xfrm>
            <a:off x="533267" y="13179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写作计划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676-6"/>
          <p:cNvSpPr txBox="1"/>
          <p:nvPr/>
        </p:nvSpPr>
        <p:spPr>
          <a:xfrm>
            <a:off x="533267" y="369859"/>
            <a:ext cx="11322394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2周写作计划：从数据到初稿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677-7"/>
          <p:cNvSpPr txBox="1"/>
          <p:nvPr/>
        </p:nvSpPr>
        <p:spPr>
          <a:xfrm>
            <a:off x="533267" y="779331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七章结构 · 约14,000字 · 第1周完成实证与文献定稿，第2周全文撰写与修改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8681-13"/>
          <p:cNvSpPr txBox="1"/>
          <p:nvPr/>
        </p:nvSpPr>
        <p:spPr>
          <a:xfrm>
            <a:off x="780855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第1周：实证收尾 + 文献定稿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8681-14"/>
          <p:cNvSpPr txBox="1"/>
          <p:nvPr/>
        </p:nvSpPr>
        <p:spPr>
          <a:xfrm>
            <a:off x="780855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400基金数据下载与九指标计算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681-15"/>
          <p:cNvSpPr txBox="1"/>
          <p:nvPr/>
        </p:nvSpPr>
        <p:spPr>
          <a:xfrm>
            <a:off x="780855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V1-V4四轮MVP验证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81-16"/>
          <p:cNvSpPr txBox="1"/>
          <p:nvPr/>
        </p:nvSpPr>
        <p:spPr>
          <a:xfrm>
            <a:off x="780855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六种方法交叉验证（OLS/FM/FE/牛熊市/双重排序/滞后阶数）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8681-17"/>
          <p:cNvSpPr txBox="1"/>
          <p:nvPr/>
        </p:nvSpPr>
        <p:spPr>
          <a:xfrm>
            <a:off x="780855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34篇文献下载分类与查证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81-18"/>
          <p:cNvSpPr txBox="1"/>
          <p:nvPr/>
        </p:nvSpPr>
        <p:spPr>
          <a:xfrm>
            <a:off x="780855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Fama-French三因子调整后收益回归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682-19"/>
          <p:cNvSpPr txBox="1"/>
          <p:nvPr/>
        </p:nvSpPr>
        <p:spPr>
          <a:xfrm>
            <a:off x="780855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描述统计表格 + 回归结果表格输出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82-20"/>
          <p:cNvSpPr txBox="1"/>
          <p:nvPr/>
        </p:nvSpPr>
        <p:spPr>
          <a:xfrm>
            <a:off x="780855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文献综述精修（补充邢欣翽孙谦/朱宏志讨论）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82-21"/>
          <p:cNvSpPr txBox="1"/>
          <p:nvPr/>
        </p:nvSpPr>
        <p:spPr>
          <a:xfrm>
            <a:off x="6437290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第2周：全文撰写 + 修改定稿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8682-22"/>
          <p:cNvSpPr txBox="1"/>
          <p:nvPr/>
        </p:nvSpPr>
        <p:spPr>
          <a:xfrm>
            <a:off x="6437290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第1章 引言（研究背景、问题提出、贡献）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82-23"/>
          <p:cNvSpPr txBox="1"/>
          <p:nvPr/>
        </p:nvSpPr>
        <p:spPr>
          <a:xfrm>
            <a:off x="6437290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第2章 文献综述（L1-L5五层分类综述）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83-24"/>
          <p:cNvSpPr txBox="1"/>
          <p:nvPr/>
        </p:nvSpPr>
        <p:spPr>
          <a:xfrm>
            <a:off x="6437290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第3章 研究设计（框架、数据、指标定义）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83-25"/>
          <p:cNvSpPr txBox="1"/>
          <p:nvPr/>
        </p:nvSpPr>
        <p:spPr>
          <a:xfrm>
            <a:off x="6437290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第4章 实证结果（描述统计+回归+稳健性）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83-26"/>
          <p:cNvSpPr txBox="1"/>
          <p:nvPr/>
        </p:nvSpPr>
        <p:spPr>
          <a:xfrm>
            <a:off x="6437290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第5章 牛熊市异质性分析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83-27"/>
          <p:cNvSpPr txBox="1"/>
          <p:nvPr/>
        </p:nvSpPr>
        <p:spPr>
          <a:xfrm>
            <a:off x="6437290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第6章 结论与讨论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84-28"/>
          <p:cNvSpPr txBox="1"/>
          <p:nvPr/>
        </p:nvSpPr>
        <p:spPr>
          <a:xfrm>
            <a:off x="6437290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导师反馈 → 修改 → 查重定稿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8677-8"/>
          <p:cNvSpPr txBox="1"/>
          <p:nvPr/>
        </p:nvSpPr>
        <p:spPr>
          <a:xfrm>
            <a:off x="752287" y="5221633"/>
            <a:ext cx="1081769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论文结构（七章 · 约14,000字）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el-1785891668684-29"/>
          <p:cNvSpPr txBox="1"/>
          <p:nvPr/>
        </p:nvSpPr>
        <p:spPr>
          <a:xfrm>
            <a:off x="752287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引言与研究背景（2,000字）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84-30"/>
          <p:cNvSpPr txBox="1"/>
          <p:nvPr/>
        </p:nvSpPr>
        <p:spPr>
          <a:xfrm>
            <a:off x="6189702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文献综述（2,500字）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84-31"/>
          <p:cNvSpPr txBox="1"/>
          <p:nvPr/>
        </p:nvSpPr>
        <p:spPr>
          <a:xfrm>
            <a:off x="752287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 研究设计与数据（2,000字）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85-32"/>
          <p:cNvSpPr txBox="1"/>
          <p:nvPr/>
        </p:nvSpPr>
        <p:spPr>
          <a:xfrm>
            <a:off x="6189702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 实证结果：九指标回归（3,000字）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85-33"/>
          <p:cNvSpPr txBox="1"/>
          <p:nvPr/>
        </p:nvSpPr>
        <p:spPr>
          <a:xfrm>
            <a:off x="752287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 稳健性检验：六种方法（2,500字）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85-34"/>
          <p:cNvSpPr txBox="1"/>
          <p:nvPr/>
        </p:nvSpPr>
        <p:spPr>
          <a:xfrm>
            <a:off x="6189702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⑥ 结论、讨论与展望（2,000字）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74-2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74-3"/>
          <p:cNvSpPr txBox="1"/>
          <p:nvPr/>
        </p:nvSpPr>
        <p:spPr>
          <a:xfrm>
            <a:off x="11441575" y="6519090"/>
            <a:ext cx="22458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论文整体学术逻辑框架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/>
              <a:t>07 论文写作计划 | 七章结构 × L1-L5因果递进链条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87552"/>
            <a:ext cx="4572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论文七章结构（约14,000字）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第1章  引言与研究背景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研究问题、贡献声明、论文结构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67128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第2章  文献综述  (2,500字)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L1-L5五层分类综述，研究空白论证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16936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第3章  研究设计与数据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五层框架、数据来源、指标定义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66744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12463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第4章  实证结果：九指标回归  (3,000字)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描述统计+OLS+FM+FE回归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416552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62272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第5章  稳健性检验与异质性  (2,500字)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六种方法+牛熊市+滞后阶数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166359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212079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第6章  结论、讨论与展望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核心发现+贡献+局限+未来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L1-L5因果递进链条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417320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45389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40AF"/>
                </a:solidFill>
                <a:latin typeface="微软雅黑"/>
              </a:defRPr>
            </a:pPr>
            <a:r>
              <a:rPr/>
              <a:t>L1 背景特征层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746504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从业年限/学历/管理规模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1848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rPr/>
              <a:t>Chevalier &amp; Ellison (1999)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823960" y="2075688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5040" y="2167128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203704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40AF"/>
                </a:solidFill>
                <a:latin typeface="微软雅黑"/>
              </a:defRPr>
            </a:pPr>
            <a:r>
              <a:rPr/>
              <a:t>L2 持仓偏离层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9631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AS(0.673) / ICI(0.08)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368296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rPr/>
              <a:t>Cremers &amp; Petajisto (2009)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823960" y="2825496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35040" y="2916936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95351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微软雅黑"/>
              </a:defRPr>
            </a:pPr>
            <a:r>
              <a:rPr/>
              <a:t>L3 交易行为层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2461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RG(0.93%) / SDI(0.15) / OCI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118104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rPr/>
              <a:t>Kacperczyk et al. (2008)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8823960" y="3575304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0" y="3666744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37033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2410C"/>
                </a:solidFill>
                <a:latin typeface="微软雅黑"/>
              </a:defRPr>
            </a:pPr>
            <a:r>
              <a:rPr>
                <a:solidFill/>
              </a:rPr>
              <a:t>L4 风险应对层(SDI)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9959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处置效应 / 过度自信 / 损失厌恶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867911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rPr/>
              <a:t>Kahneman &amp; Tversky (1979)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8823960" y="4325112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35040" y="4416552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45312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>
                <a:solidFill/>
              </a:rPr>
              <a:t>L5 认知行为层(OCI/LA)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74573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PS = 1 - 预测准确率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6177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rPr/>
              <a:t>Cohen et al. (2026)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669280"/>
            <a:ext cx="11430000" cy="64008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5"/>
              </a:lnSpc>
              <a:spcAft>
                <a:spcPts val="200"/>
              </a:spcAft>
              <a:defRPr sz="1050" b="1">
                <a:solidFill>
                  <a:srgbClr val="991B1B"/>
                </a:solidFill>
                <a:latin typeface="微软雅黑"/>
              </a:defRPr>
            </a:pPr>
            <a:r>
              <a:rPr>
                <a:solidFill/>
              </a:rPr>
              <a:t>学术逻辑核心：L1经理特征决定信息优势 -&gt; L2持仓偏离体现选股能力 -&gt; L3交易行为揭示隐性信息 -&gt; L4风险应对解释行为偏误 -&gt; L5认知行为验证不可预测性=Alpha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B91C1C"/>
                </a:solidFill>
                <a:latin typeface="微软雅黑"/>
              </a:defRPr>
            </a:pPr>
            <a:r>
              <a:rPr/>
              <a:t>每层输出为下层输入，构建从背景到行为到预测的完整因果链条，区别于现有文献的单层独立研究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34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Phase 1 详解：MVP四轮验证（已完成）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/>
              <a:t>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/>
              <a:t>07 论文写作计划 | 每一步做什么、算什么、用什么数据、结果如何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V1-V4四轮验证：200-&gt;400基金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全持仓数据修正AS公式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九指标全模型回归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六种方法交叉验证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 = 1/2 x Sigma|w_fund - w_bench|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 = R_fund - R_holdings(持仓x个股收益)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ICI = Sigma(w_fund - w_market)^2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SDI = 风格权重曼哈顿距离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OCI = |RG| (申宇2013修正)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400只偏股混合基金(2006-2026)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361,636条全持仓记录(半年报)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602,904条日度净值记录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沪深300/中证500成分股权重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东方财富API + AKShare(免费)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计算结果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AS负向(t=-26.81***) 最强预测因子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RG正向(t=+9.20***) 与文献一致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SDI负向(t=-7.69***) 风格漂移有害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全模型R^2=0.0684(提升195%)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FM截面: AS正向(t=+2.76**)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首次中国市场五层九指标整合验证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发现AS负向(与美股相反)+RG正向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OLS/FM方向矛盾是原创发现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全持仓替代前十大近似(方法学)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免费API替代付费数据库(可复现性)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OLS按基金聚类标准误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无未来函数: t-1指标预测t期收益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Fama-MacBeth截面回归(40季度)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基金固定效应控制个体异质性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Winsorize极端值(1%/99%)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35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Phase 2 详解：稳健性检验与机制分析（进行中）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/>
              <a:t>进行中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/>
              <a:t>07 论文写作计划 | 六种方法交叉验证 + 因果推断 + 机制检验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Fama-MacBeth截面回归(40季度)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基金固定效应(within R^2)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牛熊市异质性分组检验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 x ICI双重排序角落组合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滞后1-4Q预测力持续性分析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FM: 逐季度截面回归取均值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FE: within变换消除个体效应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牛熊市: 月收益&gt;0为牛, &lt;0为熊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双重排序: 先AS五分位再ICI五分位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IV: 基金规模变化作为工具变量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Phase 1的400基金面板(7,846 obs)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Fama-French三因子(中国市场)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沪深300月度收益(市场因子)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基金规模TNA(Wind/东方财富)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经理变更记录(事件研究用)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计算结果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AS: OLS最强(t=-26.81***) / FM正向(t=+2.76**)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RG: OLS+FE均正向(最稳健, t=+9.20***/+7.77***)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SDI: OLS+FE均负向(t=-7.69***/-7.25***)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RG牛熊反转: 牛正(t=+12.62***)/熊负(t=-7.17***)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AS持续4Q / RG持续4Q(方向交替)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OLS负向/FM正向矛盾揭示AS时序vs截面效应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RG牛熊反转是原创发现(无竞争文献)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RG均值回归(1Q正-&gt;2Q负-&gt;3Q正)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SDI风格漂移持续损害业绩(稳健)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六种方法交叉验证增强结论可信度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Newey-West标准误修正自相关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IV: AR检验拒绝弱工具变量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多重检验校正(Bonferroni/Holm)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Fama-French因子调整业绩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Clauser-Shiappacasse样本筛选标准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Phase 3 详解：样本扩展与AI预测（待启动）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/>
              <a:t>待启动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>
                <a:solidFill/>
              </a:rPr>
              <a:t>07 论文写作计划 | L4风险应对(SDI) + L5认知行为 + 行为画像标签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样本扩展: 400-&gt;800+基金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市值加权基准AS(替代等权)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  -  L4风险应对(SDI): 风格漂移分析/波动率管理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  -  L5认知行为(OCI/LA): 过度自信/损失厌恶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XGBoost+SHAP行为画像预测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PS = 1 - Logistic预测准确率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处置效应比率 = P(buy loser)/P(sell winner)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过度自信指数 = 超额交易量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SHAP值: 各指标对业绩的贡献度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行为画像标签(聚类分析)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800+偏股混合基金(扩展样本)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基金经理变更事件记录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经理个人特征(年限/学历/性别)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行为金融问卷数据(如可得)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周度持仓数据(如有高频数据)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预期结果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PS高的基金(不可预测)业绩更好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认知偏差指标与业绩负相关(预期)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XGBoost预测R^2 &gt; 0.10(优于OLS)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行为画像: 识别3-5种经理类型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SHAP: AS/RG为最重要预测因子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Cohen et al.(2026)中国本土化验证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首次将五层指标输入ML模型预测业绩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SHAP可解释性弥补黑箱模型缺陷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行为画像标签连接学术与实践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PS独立于AS的增量信息验证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样本外预测(rolling window)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10折交叉验证防过拟合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特征全部滞后(无未来函数)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DID/IV因果推断(L1经理变更)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代码开源+数据公开(可复现性)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37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学术规范性检查清单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六大规范性维度 × 逐项检验标准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01  未来函数防控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所有指标使用t-1期数据预测t期收益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RG: 上季度持仓x 本期个股收益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AS: 使用已披露的半年报持仓计算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PS: 滚动训练窗口(20Q训练/8Q测试)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FM回归: 自变量在t-1取值, 因变量在t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02  过度拟合检验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OLS/FM/FE三种方法交叉验证一致性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XGBoost: 10折交叉验证+早停机制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Logistic PS: 样本外预测准确率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不追求R^2最大化, 关注经济显著性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Harvey &amp; Liu (2014)多重检验校正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03  统计显著性检验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t检验: ***p&lt;0.01, **p&lt;0.05, *p&lt;0.1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Newey-West标准误修正异方差+自相关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OLS按基金聚类(cluster by fund)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FM: Newey-West修正t值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IV: AR检验/Anderson LR/Cragg-Donald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04  样本选择偏差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包含已清盘基金(避免生存偏差)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剔除成立不满1年的基金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至少24个月历史净值数据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剔除停止申购/赎回的样本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稳健性: 含/不含停止申购样本对比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05  稳健性检验矩阵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六种方法: OLS/FM/FE/牛熊市/双重排序/滞后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因子模型: CAPM/FF3/Carhart4/FF5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基准选择: 沪深300/中证500/中证800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AS公式: 全持仓vs前十大对比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RG: 原版vs ARG(取绝对值)对比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06  可复现性保障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数据源: AKShare+东方财富(免费公开)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代码开源: Python全流程可复现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随机种子固定(np.random.seed)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版本控制: 参数版本+回滚机制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数据管线文档化: 每步可追溯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38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/>
              <a:t>07 论文写作计划 | 核心发现 + 学术贡献 + 局限性 + 未来方向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核心发现（V5修复后）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577840" cy="22860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3035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1. AS负向预测(t=-26.81***)：与美股相反，A股高AS基金业绩更差</a:t>
            </a:r>
          </a:p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rPr/>
              <a:t>   机制：A股散户占比高，主动偏离信息优势受限，过度自信导致过度交易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2. RG正向预测(t=+9.20***)：与Kacperczyk(2008)一致，隐形交易创造价值</a:t>
            </a:r>
          </a:p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rPr/>
              <a:t>   机制：基金经理利用私有信息进行中间交易，净效应为正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3. SDI负向预测(t=-7.69***)：风格漂移持续损害业绩(OLS+FE均显著)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4. RG牛熊反转(牛正/熊负)：牛市隐形交易增厚收益，熊市拖累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5. OLS/FM方向矛盾：AS时序负向但截面正向，揭示两类信号差异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6. 全模型R^2=0.0684(提升195%)，行为信号分化而非全面负向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四重学术贡献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669280" cy="228600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39496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/>
              <a:t>框架整合创新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首次将5篇顶级期刊文献的独立指标整合为L1-&gt;L5因果递进框架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/>
              <a:t>数据民主化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全流程免费API替代付费数据库，研究可复现性极大提升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/>
              <a:t>中国市场本土化发现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AS负向+RG正向信号分化，OLS/FM矛盾是原创发现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/>
              <a:t>全持仓方法学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通过东方财富API获取半年报全持仓，替代前十大近似计算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82219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研究局限性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206240"/>
            <a:ext cx="5577840" cy="210312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51960"/>
            <a:ext cx="53035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1. 样本局限：400基金可能不足以代表全市场，需扩展至800+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2. 持仓频率：半年报全持仓仍低于美国季度披露，RG精度受限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3. 因果识别：预测性回归非严格因果，需IV/DID增强识别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4. L4风险应对(SDI已完成) | L5认知行为(OCI用|RG|代理, LA待补)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5. 因子模型：中国市场因子模型本身存在设定问题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6. 数据挖掘风险：多指标多方法检验可能产生假发现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84048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82219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未来研究方向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206240"/>
            <a:ext cx="5669280" cy="210312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251960"/>
            <a:ext cx="53949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1. L5完整实现：LSTM深度学习预测基金经理交易行为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2. 高频数据：周度/日度持仓数据提升RG和PS精度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3. 因果推断：经理变更事件作为自然实验(DID)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4. 行为问卷：结合行为金融问卷调查验证认知偏差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5. 跨市场比较：中国市场vs美国市场的行为差异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6. 实时预测系统：将研究成果转化为实时基金筛选工具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6400800"/>
            <a:ext cx="11430000" cy="384048"/>
          </a:xfrm>
          <a:prstGeom prst="roundRect">
            <a:avLst>
              <a:gd name="adj" fmla="val 3000"/>
            </a:avLst>
          </a:prstGeom>
          <a:solidFill>
            <a:srgbClr val="1F293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28232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/>
              <a:t>论文写作计划核心：三阶段递进（MVP验证 -&gt; 稳健性检验 -&gt; AI预测），用最严谨的学术逻辑构建L1-L5因果链条，每一步可检验、可复现、可追溯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39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L1 数据获取方案：BHS锦标赛 + 经理特征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Brown, Harlow &amp; Starks (1996) JF · Chevalier &amp; Ellison (1999) QJE · 免费API全流程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BHS锦标赛数据（核心指标）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计算步骤：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1. 上半年(1-6月)累积收益 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2. 按同类基金中位数划分输家/赢家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3. 下半年(7-12月)收益率标准差 σ₂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4. 上半年收益率标准差 σ₁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5. RAR = σ₂ / σ₁（风险调整比率）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1">
                <a:solidFill>
                  <a:srgbClr val="2D8659"/>
                </a:solidFill>
                <a:latin typeface="微软雅黑"/>
              </a:defRPr>
            </a:pPr>
            <a:r>
              <a:t>数据来源：AKShare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月度净值数据，免费获取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覆盖情况：602,904条日度净值，400基金100%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经理从业年限（Experience）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所需数据：基金经理任职起止日期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计算方法：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Exp = (当前日期 - 首次任职日期) / 365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数据来源：</a:t>
            </a:r>
          </a:p>
          <a:p>
            <a:pPr algn="l">
              <a:defRPr sz="900" b="1">
                <a:solidFill>
                  <a:srgbClr val="2D8659"/>
                </a:solidFill>
                <a:latin typeface="微软雅黑"/>
              </a:defRPr>
            </a:pPr>
            <a:r>
              <a:t>① AKShare fund_manager_em（免费）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全市场5万+条任职记录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含姓名/基金代码/任职日期/离任日期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② CSMAR基金经理数据库（学校账号）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含学历/CFA/性别等详细信息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覆盖情况：400基金 100%覆盖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经理学历与其他特征（补充）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4747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所需数据：学历/CFA/性别/管理规模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数据来源：</a:t>
            </a:r>
          </a:p>
          <a:p>
            <a:pPr algn="l">
              <a:defRPr sz="900" b="1">
                <a:solidFill>
                  <a:srgbClr val="C9A961"/>
                </a:solidFill>
                <a:latin typeface="微软雅黑"/>
              </a:defRPr>
            </a:pPr>
            <a:r>
              <a:t>① CSMAR基金经理库（推荐）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学历/MBA/CFA/管理基金数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需学校IP访问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② Wind基金经理库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更全面但需付费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③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当前管理规模（免费）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1">
                <a:solidFill>
                  <a:srgbClr val="D68910"/>
                </a:solidFill>
                <a:latin typeface="微软雅黑"/>
              </a:defRPr>
            </a:pPr>
            <a:r>
              <a:t>替代方案：如无CSMAR，仅用Experience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+ BHS即可完成L1核心分析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840480"/>
            <a:ext cx="11430000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BHS锦标赛方法详解与文献支撑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51960"/>
            <a:ext cx="11155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核心文献：Brown, Harlow &amp; Starks (1996) "Of Tournaments and Temptations" 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理论逻辑：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基金行业类似年度锦标赛 → 中期排名靠后的"输家"倾向在下半年增加风险(赌一把翻盘) → 排名靠前的"赢家"倾向降低风险(锁定收益)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这种自利性风险调整行为偏离投资者利益最大化，是职业忧虑理论的行为体现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实证方法：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① 排序期(1-6月)：计算累积收益CR，按同类基金中位数分输家/赢家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② 测试期(7-12月)：计算RAR = σ(下半年)/σ(上半年)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③ 回归方程：RAR_i = α + β×Loser_Dummy_i + γ×Controls_i + ε_i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④ β &gt; 0 且显著 → 锦标赛效应存在（输家增险）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⑤ 控制变量：基金规模/TNA/年龄/费用率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中国市场文献验证：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罗荣华等(2015)中国管理科学：2006-2011年中国开放式基金验证，赢家提升主动性水平  |  龚红等(2010)世界经济：封闭式基金1998-2008年，输家增险  |  史晨昱(2004)：国内基金锦标赛效应存在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数据优势：BHS仅需净值收益率数据，无需持仓数据，AKShare完全免费获取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L2 数据获取方案：Active Share + ICI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Cremers &amp; Petajisto (2009) RFS · Kacperczyk et al. (2005) JF · 全持仓+行业配置数据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Active Share (AS) 数据获取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所需数据：基金全持仓 + 基准成分股权重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方案A（已验证）：东方财富全持仓API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fund_portfolio_hold_em(基金代码, 日期)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半年报(6月)/年报(12月)全持仓明细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400基金185,144条记录，100%覆盖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V4修正AS均值0.673（旧公式0.948高估）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方案B：CSMAR基金持仓文件（学校账号）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基金研究 → 基金持仓 → CSV下载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历史数据更完整（2003年至今）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基准成分股权重：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① 中证指数公司官网（免费）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csindex.com.cn → 下载中心 → 成份股权重</a:t>
            </a:r>
          </a:p>
          <a:p>
            <a:pPr algn="l">
              <a:defRPr sz="900" b="0">
                <a:solidFill>
                  <a:srgbClr val="5C6B7F"/>
                </a:solidFill>
                <a:latin typeface="微软雅黑"/>
              </a:defRPr>
            </a:pPr>
            <a:r>
              <a:t>② 近似：用市值加权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w_i = 个股市值 / 总市值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ICI 行业集中度数据获取（关键修复）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微软雅黑"/>
              </a:defRPr>
            </a:pPr>
            <a:r>
              <a:t>当前问题：ICI量纲错误（均值712，应为0~1之间）</a:t>
            </a:r>
          </a:p>
          <a:p>
            <a:pPr algn="l">
              <a:defRPr sz="900" b="0">
                <a:solidFill>
                  <a:srgbClr val="C0392B"/>
                </a:solidFill>
                <a:latin typeface="微软雅黑"/>
              </a:defRPr>
            </a:pPr>
            <a:r>
              <a:t>原因：行业权重用了百分比(35)而非比例(0.35)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修复方案：权重÷100归一化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ICI = Σ(w_fund_j/100 - w_market_j/100)² → 均值从712降至0.08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方案A（已验证）：AKShare行业配置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fund_portfolio_industry_allocation_em(基金代码)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半年报/年报行业配置权重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400基金984条行业配置记录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方案B（推荐补充）：张学勇等(2018)卡尔曼滤波法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无需实际持仓，仅用基金收益率+股票收益率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估计行业敞口β，IC = Σ(β_j - w_j)²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可填补半年报间的空白期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C9A961"/>
                </a:solidFill>
                <a:latin typeface="微软雅黑"/>
              </a:defRPr>
            </a:pPr>
            <a:r>
              <a:t>方案C：邢欣羿&amp;孙谦(2015)修正ICI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ICR = Σ(w_fund/w_index)² 解决量纲问题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数据来源：国泰君安数据库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ICI数据解决方案：两种路径对比与推荐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路径一：直接获取法（已验证可行）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AKShare fund_portfolio_industry_allocation_em → 获取基金行业配置权重 → ÷100归一化 → 计算ICI = Σ(w_fund - w_market)²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市场行业权重：用申万一级行业分类，全市场股票按流通市值加权计算（可从AKShare/Wind获取）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优点：数据免费、直接获取  |  缺点：仅半年报频率，无法覆盖季度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路径二：收益反推法（张学勇2018，高级方法）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用卡尔曼滤波(Kalman Filter)从基金收益率反推行业敞口β → IC = Σ(β_j - w_j)²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数据：仅需基金月度收益 + 各行业指数收益（CSMAR/RESSET可获取）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优点：月度频率、无需持仓数据  |  缺点：实现复杂，需状态空间模型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D68910"/>
                </a:solidFill>
                <a:latin typeface="微软雅黑"/>
              </a:defRPr>
            </a:pPr>
            <a:r>
              <a:t>推荐策略：半年报期用路径A(精确)，间隔期用路径B(估算)，两条路径交叉验证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L3 数据获取方案：Return Gap + ARG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Kacperczyk et al. (2008) RFS · 申宇等 (2013) 管理世界 · 净值+持仓+个股收益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Return Gap (RG) 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① 基金月度净值增长率 R_fund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② 上季度末持仓权重 w_i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③ 个股月度收益率 r_i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数据来源（全部免费）：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① 净值：fund_open_fund_info_em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602,904条日度净值记录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② 持仓：fund_portfolio_hold_em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半年报全持仓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③ 个股收益：stock_zh_a_hist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前复权月度收益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计算：RG = R_fund - Σ(w_i × r_i)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V4实测：RG均值0.93%，t=9.20***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ARG 年化收益缺口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计算方法：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取季度RG的4期滚动平均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ARG = mean(RG_t, RG_{t-1},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       RG_{t-2}, RG_{t-3}) × 4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5C6B7F"/>
                </a:solidFill>
                <a:latin typeface="微软雅黑"/>
              </a:defRPr>
            </a:pPr>
            <a:r>
              <a:t>数据来源：同RG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无需额外数据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V4实测：ARG覆盖95个季度观测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文献参考：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申宇等(2013)管理世界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中国版ARG修正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朱宏志(2012)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中国RG有效性研究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数据处理注意事项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474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持仓频率限制：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中国基金仅季报披露前十大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半年报/年报才披露全持仓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RG在半年报期更精确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0392B"/>
                </a:solidFill>
                <a:latin typeface="微软雅黑"/>
              </a:defRPr>
            </a:pPr>
            <a:r>
              <a:t>未来函数防控：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RG计算必须用t-1期持仓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预测t期收益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代码层面：持仓日期 &lt; 收益日期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港股持仓处理：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部分基金持有港股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港股收益需单独计算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stock_hk_hist 接口可获取</a:t>
            </a:r>
          </a:p>
          <a:p>
            <a:pPr algn="l">
              <a:defRPr sz="900" b="0">
                <a:solidFill>
                  <a:srgbClr val="5C6B7F"/>
                </a:solidFill>
                <a:latin typeface="微软雅黑"/>
              </a:defRPr>
            </a:pPr>
            <a:r>
              <a:t>V4已处理：剔除港股或单独计算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RG计算流程与验证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完整计算流程：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Step1: 下载基金日度净值 → 计算月度收益率 R_fund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Step2: 提取上季度末全持仓权重 {w_1, w_2, ..., w_N}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Step3: 下载个股月度收益率 {r_1, r_2, ..., r_N} (stock_zh_a_hist, 前复权)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Step4: 计算持仓模拟收益 R_hold = Σ(w_i × r_i)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Step5: RG = R_fund - R_hold （正值=经理增厚收益，负值=拖累）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已验证结果（5基金×57月=285观测）：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RG均值范围：0.11%~1.19%/月  |  季度ARG范围：0.04~0.54  |  V4扩展至400基金：RG均值0.93%，t=9.20***（正向预测）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文献对比：Kacperczyk(2008)美股RG均值~0.05%/月，我们A股RG更高(0.93%)，反映中国市场信息不对称更强、隐形交易价值更大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L4 数据获取方案：SDI 风格漂移指数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寇宗来等 (2020) 金融研究 · 行业配置/风格指数数据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SDI 风格漂移指数数据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所需数据：基金风格权重（相邻两期对比）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方法A：行业配置法（已验证）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AKShare fund_portfolio_industry_allocation_em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获取相邻两期行业配置权重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SDI = 1/2 × Σ|w_t - w_{t-1}|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V4用31个申万一级行业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方法B：风格指数法（寇宗来2020原版）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四类风格：大盘成长/价值/小盘成长/价值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用基金收益率对风格指数回归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估计风格暴露权重 → 计算曼哈顿距离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数据：Wind风格指数 或 自行构建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V4实测：SDI均值0.15（行业法），t=-7.69***</a:t>
            </a:r>
          </a:p>
          <a:p>
            <a:pPr algn="l">
              <a:defRPr sz="900" b="0">
                <a:solidFill>
                  <a:srgbClr val="C0392B"/>
                </a:solidFill>
                <a:latin typeface="微软雅黑"/>
              </a:defRPr>
            </a:pPr>
            <a:r>
              <a:t>V4实测：SDI均值33.4（量纲需修复）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风格指数数据获取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四类风格指数构建方法：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方案A：Wind风格指数（付费）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大盘成长(885001)/大盘价值(885002)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小盘成长(885003)/小盘价值(885004)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日度收益数据完整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方案B：自行构建（免费）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用申万风格指数或CSI风格指数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或用个股数据自行分组构建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1. 按市值分大盘/小盘（中位数）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2. 按B/P比分成长/价值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3. 等权或市值加权构建指数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方案C：用行业配置替代（已验证）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SDI用行业权重变化计算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虽然不是严格风格漂移，但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捕捉了配置变化的核心信息</a:t>
            </a:r>
          </a:p>
          <a:p>
            <a:pPr algn="l">
              <a:defRPr sz="900" b="1">
                <a:solidFill>
                  <a:srgbClr val="D68910"/>
                </a:solidFill>
                <a:latin typeface="微软雅黑"/>
              </a:defRPr>
            </a:pPr>
            <a:r>
              <a:t>→ 推荐：先用方案C完成，再补方案B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SDI计算与U型验证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SDI公式（寇宗来2020）：SDI = 1/2 × Σ_k |w_k_t - w_k_{t-1}|，其中k为风格类别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U型效应验证：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回归方程：SDI = α + β₁×Performance + β₂×Performance²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V2(200基金)发现：β₁=-0.293***, β₂=+0.232***，U型对称轴SDI=0.63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解释：业绩极好→追高风格切换(高SDI)；业绩极差→模仿明星基金(高SDI)；居中→维持稳定(低SDI)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0392B"/>
                </a:solidFill>
                <a:latin typeface="微软雅黑"/>
              </a:defRPr>
            </a:pPr>
            <a:r>
              <a:t>V4量纲修复：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当前SDI均值33.4（行业维度），需÷100归一化至0~1区间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修复后预期均值~0.15，与V2风格维度可比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文献对比：寇宗来等(2020)金融研究，1,579只中国基金，用四类风格指数计算SDI，发现U型效应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L5 数据获取方案：OCI + PS 不可预测性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Kahneman &amp; Tversky (1979) · Cohen et al. (2026) NBER · 换手率+行为指标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OCI 过度自信指数数据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计算方法：OCI = |RG|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取Return Gap的绝对值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衡量隐形交易总规模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换手率越高，|RG|越大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数据来源：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同RG计算，无需额外数据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净值+持仓+个股收益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替代计算：换手率偏离度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OCI = |基金换手率 - 同类中位数|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换手率数据：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①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含当前换手率（免费）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② 基金季报持仓变动计算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fund_portfolio_change_em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V4实测：OCI均值0.028，t=4.40***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PS 不可预测性分数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计算方法：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PS = 1 - 预测准确率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模型选择：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① Logistic回归（1.0阶段）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输入：L1-L4全部指标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预测：下季度加仓/减仓方向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PS = 1 - accuracy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② XGBoost（2.0阶段推荐）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+ SHAP可解释性分析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预测R² &gt; 0.10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C9A961"/>
                </a:solidFill>
                <a:latin typeface="微软雅黑"/>
              </a:defRPr>
            </a:pPr>
            <a:r>
              <a:t>③ LSTM深度学习（3.0阶段）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Cohen et al.(2026)方法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数据来源：L1-L4全部指标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无需额外数据，利用前序层输出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LA 损失厌恶（待补充）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474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理论：前景理论损失厌恶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损失敏感度≈收益的2.25倍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代理变量方案：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① 处置效应比率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= P(卖出亏损股)/P(卖出盈利股)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需要持仓变动数据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fund_portfolio_change_em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② 用OCI代理（当前方案）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LA ≈ OCI（过度交易≈损失厌恶）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简化但合理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5C6B7F"/>
                </a:solidFill>
                <a:latin typeface="微软雅黑"/>
              </a:defRPr>
            </a:pPr>
            <a:r>
              <a:t>③ 问卷数据（理想但难获取）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行为金融问卷/风险偏好测试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3.0阶段如有条件补充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1">
                <a:solidFill>
                  <a:srgbClr val="D68910"/>
                </a:solidFill>
                <a:latin typeface="微软雅黑"/>
              </a:defRPr>
            </a:pPr>
            <a:r>
              <a:t>阶段安排：1.0仅用OCI → 2.0加LA → 3.0加问卷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L5数据整合与预测模型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PS预测模型构建流程：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Step1: 收集L1-L4全部指标（Experience/BHS/AS/ICI/RG/ARG/SDI/OCI）作为特征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Step2: 定义标签——下季度持仓变动方向（加仓=1, 减仓=0），从持仓变化数据获取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Step3: 滚动训练窗口（20Q训练, 8Q测试），确保无未来函数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Step4: Logistic/XGBoost训练 → 计算预测准确率 → PS = 1 - accuracy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数据全部来自前序层，零额外数据成本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Cohen et al.(2026)NBER: AI预测71%行为，不可预测性=Alpha来源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ICI与BHS锦标赛数据综合解决方案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核心数据缺口修复方案 · 文献支撑 · 具体操作步骤 · 数据获取可行性评估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ICI 行业集中度数据解决方案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/>
              </a:defRPr>
            </a:pPr>
            <a:r>
              <a:t>当前ICI均值712（应为0~1），量纲错误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原因：行业权重用百分比(35)而非比例(0.35)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/>
              </a:defRPr>
            </a:pPr>
            <a:r>
              <a:t>解决方案一：直接修复（立即可行）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① 权重÷100归一化：w_fund_j / 100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② 市场行业权重用流通市值占比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③ ICI = Σ(w_fund_j/100 - w_market_j)²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预期：均值从712降至~0.08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数据：AKShare fund_portfolio_industry_allocation_em（免费）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/>
              </a:defRPr>
            </a:pPr>
            <a:r>
              <a:t>解决方案二：卡尔曼滤波法（高级）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文献：张学勇等(2018)——行业配置与基金业绩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核心创新：不依赖持仓数据，仅用收益率反推行业敞口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① 用基金月度收益对行业指数收益回归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② 状态空间模型 + 卡尔曼滤波估计β_j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③ IC = Σ(β_j - w_market_j)²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数据：CSMAR基金收益率 + RESSET行业指数（学校账号）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优势：月度频率，填补半年报空白期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/>
              </a:defRPr>
            </a:pPr>
            <a:r>
              <a:t>解决方案三：修正ICI指标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文献：邢欣羿&amp;孙谦(2015)——中国开放式基金行业配置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原始ICI存在量纲缺陷 → 提出ICR = Σ(w_fund/w_index)²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ICR与业绩显著正相关（原始ICI不显著）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数据：国泰君安数据库 或 基金季报持仓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D68910"/>
                </a:solidFill>
                <a:latin typeface="微软雅黑"/>
              </a:defRPr>
            </a:pPr>
            <a:r>
              <a:t>推荐策略：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/>
              </a:defRPr>
            </a:pPr>
            <a:r>
              <a:t>半年报期用方案一(精确) + 间隔期用方案二(估算)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BHS 锦标赛数据解决方案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/>
              </a:defRPr>
            </a:pPr>
            <a:r>
              <a:t>原RPI公式为自构造，缺乏顶级期刊文献支撑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RPI = exp(-Exp/8) × Rank 无明确文献来源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/>
              </a:defRPr>
            </a:pPr>
            <a:r>
              <a:t>解决方案：替换为BHS锦标赛方法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核心文献：Brown, Harlow &amp; Starks (1996)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"Of Tournaments and Temptations"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/>
              </a:defRPr>
            </a:pPr>
            <a:r>
              <a:t>BHS方法核心：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① 排序期(1-6月)：CR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② 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③ 测试期(7-12月)：RAR = σ_下半年 / σ_上半年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④ 回归：RAR = α + β×Loser + γ×Controls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⑤ β&gt;0显著 → 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/>
              </a:defRPr>
            </a:pPr>
            <a:r>
              <a:t>数据需求（全部免费！）：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① 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 → 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 → 602,904条，400基金100%覆盖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② 基金分类（同类排名）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 →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 → 偏股混合型/普通股票型分类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/>
              </a:defRPr>
            </a:pPr>
            <a:r>
              <a:t>③ 无需持仓数据！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/>
              </a:defRPr>
            </a:pPr>
            <a:r>
              <a:t>中国市场验证文献：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罗荣华等(2015)中国管理科学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2006-2011年开放式基金验证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龚红等(2010)世界经济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封闭式基金1998-2008年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史晨昱(2004)北京大学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优势：仅用净值数据，AKShare完全免费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  且有顶级JF文献+多篇中国验证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中国本土文献支撑：36篇文献分类汇总（L1-L5）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Microsoft YaHei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对63篇下载文献进行系统分析，筛选出22篇高关联度文献，按L1-L5框架分类如下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L1 背景特征层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Microsoft YaHei"/>
              </a:defRPr>
            </a:pPr>
            <a:r>
              <a:t>艾洪德、刘聪(2008)《财贸经济》：从业时间越长→稳健风格；CFA→价值投资；名校→稳健风格 | Logit模型，210只基金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赵秀娟、汪寿阳(2010)《管理评论》：经验丰富经理更注重风险控制；硕士学历高收益；博士学历好风控 | OLS回归，7项特征变量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高鹤等(2014)《金融研究》：女性经理市场风险厌恶更强，但业绩无显著差异 | 配对样本法，四因子Alpha调整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Microsoft YaHei"/>
              </a:defRPr>
            </a:pPr>
            <a:r>
              <a:t>申宇等(2015)《经济学(季刊)》：校友关系广度最高组超额收益比最低组高11.37%/年；存在"小圈子"效应 | 复杂网络中心度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47120" cy="11887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Microsoft YaHei"/>
              </a:defRPr>
            </a:pPr>
            <a:r>
              <a:t>L2 持仓偏离层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蒋晓全、丁秀英(2007)：政策性资产配置贡献85.92%(时间序列)，但横截面仅29.78%→基金间差异源于积极管理 | Panel Data GLS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Microsoft YaHei"/>
              </a:defRPr>
            </a:pPr>
            <a:r>
              <a:t>韩燕等(2011)《管理世界》：能力强的基金持股行业更集中；交易行为包含更多信息含量(降低股价同步性) | 超几何分布检验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胡大春、金赛男(2007)《金融研究》：基金提高持股比例→股票波动率减小→基金稳定股市 | GMM动态面板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刘莎莎等(2013)《管理世界》：基金风险调整(增大风险)由信息优势驱动→显著提升未来业绩；仅熊市有效 | RS指标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47120" cy="118872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Microsoft YaHei"/>
              </a:defRPr>
            </a:pPr>
            <a:r>
              <a:t>L3 交易行为层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Microsoft YaHei"/>
              </a:defRPr>
            </a:pPr>
            <a:r>
              <a:t>申宇等(2013)《管理世界》：隐形交易(ARG)与超额收益正相关，最高组年超额6%；私有信息→隐形交易→高收益 | 修正Kacperczyk ARG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孔东民等(2015)《经济研究》：基金访问上市公司→显著影响交易行为→预测盈余信息；关注度低的公司信息优势更强 | Probit+2SLS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刘京军、苏楚林(2016)《管理世界》：基金重仓持股网络→资金流量传染效应；零成本组合年超额6% | 空间计量模型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185D"/>
                </a:solidFill>
                <a:latin typeface="Microsoft YaHei"/>
              </a:defRPr>
            </a:pPr>
            <a:r>
              <a:t>L4 认知偏差 / L5 可预测性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Microsoft YaHei"/>
              </a:defRPr>
            </a:pPr>
            <a:r>
              <a:t>杨坤等(2013)《管理科学学报》：基金经理中期业绩好→承担风险争做"明星"；业绩差→承担风险摆脱"垫底"→直接验证锦标赛效应 | 半参数回归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赎回异象争论(2004-2016)：早期发现赎回异象(陆蓉2007)→方法论反思认为是假象(肖峻2011)→牛熊市不对称(肖峻2013)→PFR构成隐性激励机制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蔡庆丰、宋友勇(2010)《经济研究》：基金业跨越式发展加剧而非稳定市场波动 | TARCH+面板数据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Microsoft YaHei"/>
              </a:defRPr>
            </a:pPr>
            <a:r>
              <a:t>数据库分布：WIND(5篇) · CSMAR(6篇) · RESSET锐思(3篇) · 深交所独特数据(1篇) · 案例研究(2篇) | 22篇高关联文献覆盖L1-L5全部层级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赎回异象与锦标赛效应：PFR构成基金经理隐性激励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Microsoft YaHei"/>
              </a:defRPr>
            </a:pPr>
            <a:r>
              <a:t>AI 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7A2C"/>
                </a:solidFill>
                <a:latin typeface="Microsoft YaHei"/>
              </a:defRPr>
            </a:pPr>
            <a:r>
              <a:t>核心逻辑：业绩-资金流量关系(PFR)构成基金经理隐性激励机制 → PFR形态决定锦标赛效应强度 → 影响风险承担行为(L4)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486400" cy="411480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赎回异象学术争论脉络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Microsoft YaHei"/>
              </a:defRPr>
            </a:pPr>
            <a:r>
              <a:t>阶段一：早期发现（2004-2007）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李曜、于进杰(2004)《经济科学》：最早发现赎回异象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刘志远、姚颐(2005)《证券市场导报》：赎回困惑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陆蓉等(2007)《经济研究》：PFR负相关凹形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→ 结论：业绩好→赎回多，"劣胜优汰"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5120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Microsoft YaHei"/>
              </a:defRPr>
            </a:pPr>
            <a:r>
              <a:t>阶段二：方法论反思（2011-2016）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肖峻、石劲(2011)《经济科学》：用中长期年度回报率→PFR正相关，赎回异象是假象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冯旭南、李心愉(2013)《管理世界》：参与成本影响PFR敏感性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杨坤等(2013)《管理科学学报》：发现明星效应+垫底效应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→ 早期结论源于短期季度数据+平衡面板缺陷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2628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Microsoft YaHei"/>
              </a:defRPr>
            </a:pPr>
            <a:r>
              <a:t>阶段三：深化研究（2013-2016）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肖峻(2013)《经济学(季刊)》：牛市追逐业绩、熊市忽视业绩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肖继辉(2016)《经济与管理研究》：区分申购与赎回行为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→ 牛熊市PFR不对称→激励机制非对称扭曲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→ 对"牛短熊长"的中国市场具有特殊含义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5486400" cy="411480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Microsoft YaHei"/>
              </a:defRPr>
            </a:pPr>
            <a:r>
              <a:t>PFR与BHS锦标赛理论的连接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05740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Microsoft YaHei"/>
              </a:defRPr>
            </a:pPr>
            <a:r>
              <a:t>① PFR形态=隐性激励强度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Brown, Harlow &amp; Starks(1996)：锦标赛效应取决于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  业绩与资金流量的关系(PFR)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PFR正相关(追业绩)→强激励→风险调整行为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PFR负相关(赎回异象)→激励扭曲→risk-shifting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6324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1089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Microsoft YaHei"/>
              </a:defRPr>
            </a:pPr>
            <a:r>
              <a:t>② 杨坤等(2013)直接验证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832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基金经理中期业绩好→承担更多风险(争做"明星")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基金经理中期业绩差→承担更多风险(摆脱"垫底")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业绩居中→风险偏好平缓上升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→ PFR两头陡中间缓→风险偏好两头高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→ 直接验证BHS锦标赛的risk-shifting行为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6052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Microsoft YaHei"/>
              </a:defRPr>
            </a:pPr>
            <a:r>
              <a:t>③ 牛熊市非对称激励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805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肖峻(2013)：牛市PFR正→激励有效→经理积极操作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熊市PFR弱→激励失灵→经理保守/躺平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→ 与本研究V5发现RG牛熊反转一致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  (牛市RG正向t=+12.62***, 熊市负向t=-7.17***)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166360"/>
            <a:ext cx="5120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2120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Microsoft YaHei"/>
              </a:defRPr>
            </a:pPr>
            <a:r>
              <a:t>④ 对本研究的启示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4864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BHS锦标赛(RAR)作为L1核心指标时，需考虑PFR形态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中国PFR可能非对称→需加入牛熊市交互项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978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Microsoft YaHei"/>
              </a:defRPr>
            </a:pPr>
            <a:r>
              <a:t>文献支撑：BHS(1996) JF · Chevalier &amp; Ellison(1999) QJE · 杨坤等(2013) · 肖峻(2013) · 陆蓉等(2007) · 冯旭南(2013) · 肖继辉(2016) | PFR争论揭示锦标赛效应在中国市场的特殊性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中外文献对比：指标方向差异与本土化发现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Microsoft YaHei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中国本土文献验证了本研究的核心发现：AS负向、RG牛熊反转等并非孤立现象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09728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美国文献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方向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中国文献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方向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本研究发现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00200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67335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Cremers &amp; Petajisto (2009)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Microsoft YaHei"/>
              </a:defRPr>
            </a:pPr>
            <a:r>
              <a:t>正向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郑中华 (2014)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Microsoft YaHei"/>
              </a:defRPr>
            </a:pPr>
            <a:r>
              <a:t>负向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Microsoft YaHei"/>
              </a:defRPr>
            </a:pPr>
            <a:r>
              <a:t>AS负向 t=-26.81***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984248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05740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RG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Kacperczyk et al. (2008)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Microsoft YaHei"/>
              </a:defRPr>
            </a:pPr>
            <a:r>
              <a:t>正向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申宇等 (2013)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Microsoft YaHei"/>
              </a:defRPr>
            </a:pPr>
            <a:r>
              <a:t>正向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Microsoft YaHei"/>
              </a:defRPr>
            </a:pPr>
            <a:r>
              <a:t>RG正向 t=+9.20***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368296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4414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20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Kacperczyk et al. (2005)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Microsoft YaHei"/>
              </a:defRPr>
            </a:pPr>
            <a:r>
              <a:t>正向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邢欣翽、孙谦 (2015)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Microsoft YaHei"/>
              </a:defRPr>
            </a:pPr>
            <a:r>
              <a:t>正向(早期)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Microsoft YaHei"/>
              </a:defRPr>
            </a:pPr>
            <a:r>
              <a:t>ICI负向 t=-3.69***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752344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282549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SDI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5448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0020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寇宗来等 (2020)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4340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U型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7492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寇宗来等 (2020)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812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U型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Microsoft YaHei"/>
              </a:defRPr>
            </a:pPr>
            <a:r>
              <a:t>SDI负向 牛熊反转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136391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320954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OCI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0020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Barber &amp; Odean (2001)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4340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Microsoft YaHei"/>
              </a:defRPr>
            </a:pPr>
            <a:r>
              <a:t>负向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7492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无直接文献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1812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0392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4964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Microsoft YaHei"/>
              </a:defRPr>
            </a:pPr>
            <a:r>
              <a:t>OCI正向 t=+4.40***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520440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359359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BHS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5448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0020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Brown et al. (1996)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8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4340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risk-shifting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7492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杨坤等 (2013)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7240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1812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明星/垫底效应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0392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4964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BHS牛熊异质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904487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3977639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PFR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5448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0020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Sirri &amp; Tufano (1998)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9768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4340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Microsoft YaHei"/>
              </a:defRPr>
            </a:pPr>
            <a:r>
              <a:t>凸性正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7492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陆蓉等(2007)/肖峻(2011)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1812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争论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0392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964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牛熊非对称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4800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Microsoft YaHei"/>
              </a:defRPr>
            </a:pPr>
            <a:r>
              <a:t>关键发现：中国市场行为信号分化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" y="5074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Microsoft YaHei"/>
              </a:defRPr>
            </a:pPr>
            <a:r>
              <a:t>① AS方向反转：美股AS正向(主动选股增厚收益) → A股AS负向(主动选股反损收益)，郑中华(2014)亦有类似发现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② RG方向一致：申宇等(2013)修正ARG后发现隐形交易与超额收益正相关，与Kacperczyk(2008)方向一致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③ 牛熊异质性：肖峻(2013)发现PFR牛熊不对称 → 本研究V5发现RG/SDI牛熊反转，中国市场的特殊性得到交叉验证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④ PFR争论启示：赎回异象争论(2004-2016)揭示中国基金激励机制的非线性特征 → BHS锦标赛效应需考虑PFR形态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⑤ 方法论借鉴：申宇等(2013)的ARG修正方法已被本研究采用作为OCI代理变量；杨坤等(2013)半参数回归可验证BHS非线性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63093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Microsoft YaHei"/>
              </a:defRPr>
            </a:pPr>
            <a:r>
              <a:t>文献来源：36篇文献分析报告(10篇+8篇+18篇) | 中国文献覆盖《经济研究》《管理世界》《金融研究》《经济学(季刊)》等核心期刊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23727</Words>
  <Application>WPS 演示</Application>
  <PresentationFormat/>
  <Paragraphs>2597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Courier New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1</cp:revision>
  <dcterms:created xsi:type="dcterms:W3CDTF">2026-08-05T01:04:03Z</dcterms:created>
  <dcterms:modified xsi:type="dcterms:W3CDTF">2026-08-05T01:04:04Z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