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311" r:id="rId52"/>
    <p:sldId id="312" r:id="rId53"/>
    <p:sldId id="313" r:id="rId54"/>
    <p:sldId id="264" r:id="rId11"/>
    <p:sldId id="265" r:id="rId12"/>
    <p:sldId id="266" r:id="rId13"/>
    <p:sldId id="267" r:id="rId14"/>
    <p:sldId id="310" r:id="rId51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300" r:id="rId37"/>
    <p:sldId id="301" r:id="rId38"/>
    <p:sldId id="305" r:id="rId42"/>
    <p:sldId id="306" r:id="rId43"/>
    <p:sldId id="308" r:id="rId45"/>
    <p:sldId id="309" r:id="rId49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42.xml"/><Relationship Id="rId45" Type="http://schemas.openxmlformats.org/officeDocument/2006/relationships/slide" Target="slides/slide39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40.xml"/><Relationship Id="rId50" Type="http://schemas.openxmlformats.org/officeDocument/2006/relationships/slide" Target="slides/slide45.xml"/><Relationship Id="rId51" Type="http://schemas.openxmlformats.org/officeDocument/2006/relationships/slide" Target="slides/slide13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090318400000" cy="500985401653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090318400000" cy="481982507107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180636800000" cy="6726630145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BHS案例：经理A(输家) vs 经理B(赢家)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经理A（新手·输家）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从业2.5年，管理规模15亿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上半年CR=-2.0%（排名后30%→输家）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1.21%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1.91%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RAR = 1.91/1.21 = 1.58 &gt; 1 →增险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行为：下半年重仓半导体追涨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结果：业绩进一步恶化（-5%）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经理B（老手·赢家）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从业8年，管理规模50亿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上半年CR=+6.1%（排名前30%→赢家）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0.89%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0.52%</a:t>
            </a: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RAR = 0.52/0.89 = 0.58 &lt; 1 →降险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行为：下半年维持均衡配置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结果：业绩稳定增长（+3%）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输家RAR(1.58) &gt; 赢家RAR(0.58)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从业年限短→职业忧虑强→锦标赛效应更明显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2926445760000" cy="51061811572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508382080000" cy="601182481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344509440000" cy="6948012909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344509440000" cy="625833758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090318400000" cy="481982507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180636800000" cy="6726630145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BHS示例计算（2024年某基金）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上半年(1-6月)月度收益: [-1%, +0.5%, -2%, +1.5%, -0.5%, -0.5%]</a:t>
            </a:r>
            <a:br/>
            <a:r>
              <a:t>    CR = (0.99)(1.005)(0.98)(1.015)(0.995)(0.995) - 1 = -2.0%</a:t>
            </a:r>
            <a:br/>
            <a:r>
              <a:t>[2] 同类基金200只，CR排名后30%(=输家)</a:t>
            </a:r>
            <a:br/>
            <a:r>
              <a:t>[3] 排序期σ_rank = std(月度收益) = 1.21%</a:t>
            </a:r>
            <a:br/>
            <a:r>
              <a:t>[4] 测试期(7-12月)月度收益: [+1%, -2.5%, +1.5%, -1%, +2%, -2%]</a:t>
            </a:r>
            <a:br/>
            <a:r>
              <a:t>    σ_test = std(月度收益) = 1.91%</a:t>
            </a:r>
            <a:br/>
            <a:r>
              <a:t>[5] RAR = 1.91% / 1.21% = 1.58 &gt; 1 → 输家增险</a:t>
            </a:r>
            <a:br/>
            <a:r>
              <a:t>[6] 输家Dummy=1, 回归β=0.15, p&lt;0.05 → 锦标赛效应显著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 | V4(400基金)实测：输家平均RAR=1.15, 赢家平均RAR=0.92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数据来源：AKShare ak.fund_manager_em()（免费API）+ AKShare fund_open_fund_info_em（净值数据）| 全市场5万+条任职记录，400基金100%覆盖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我们的实现方案：数据获取与计算路径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577840" cy="4846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数据与计算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微软雅黑"/>
              </a:defRPr>
            </a:pPr>
            <a:r>
              <a:t>需要的数据（全部免费）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基金月度净值收益率 → AKShare fund_open_fund_info_em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 已有318K条，用于计算CR + σ_rank/σ_test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基金分类标签 → AKShare fund_name_em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 股票型/混合型，确定"同类基金"用于排名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基金成立日期 → 同上接口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 过滤样本（成立≥2年才有完整排序+测试期）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计算步骤（6步）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Step1 确定排序期(1-6月) + 测试期(7-12月)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Step2 CR = Π(1+R_t) - 1，按同类基金排名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Step3 后50%→输家(Dummy=1)，前50%→赢家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Step4 σ_rank = std(上半年月度收益)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Step5 σ_test = std(下半年月度收益)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Step6 RAR = σ_test / σ_rank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回归: RAR = α + β·LoserDummy + γ·Controls + ε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β &gt; 0 且 p &lt; 0.05 → 锦标赛效应存在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5212080" cy="86868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560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关键注意事项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排序期CR必须在测试期前已知（防未来函数）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排除ETF/LOF（被动管理不含锦标赛动机）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同类排名：股票型与混合型分开排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④ 新发基金（任职不足半年）排除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经理个人特征 — 数据获取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从业年限 Exp = 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AKShare fund_manager_em（5万+条，免费）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管理规模 log(AUM)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AKShare fund_portfolio_hold_em（免费）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性别 / 学历 / CFA / 海外背景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  CSMAR基金经理库（学校账号，P1）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校友网络中心度（3.0阶段扩展）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  Wind + 手工收集，文献: 申宇等(2015)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29000"/>
            <a:ext cx="5486400" cy="242316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三阶段实现路径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22191"/>
            <a:ext cx="1097280" cy="22860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1.0 (MVP)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目标: 验证锦标赛效应是否存在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CR→排名→RAR→OLS: RAR=α+β·Loser+ε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数据: 净值+任职日期（免费API）| 1-2天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45152"/>
            <a:ext cx="1097280" cy="2286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目标: 加入控制变量提升解释力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+Exp +log(AUM) +基金类型固定效应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数据: 同1.0 | +1天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468112"/>
            <a:ext cx="1097280" cy="22860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4864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3.0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15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目标: 特征→行为差异 + 交互项Loser×Exp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+性别/学历/CFA | CSMAR/Wind | +2-3天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8932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533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与BHS原文对比: 原文334只美国基金(1976-1991)手动Lipper → 我们400+只中国基金(2015-2024)AKShare自动化；原文列联表 → 我们OLS面板回归+固定效应；原文无经理特征 → 加入Exp/学历/CFA控制变量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193792"/>
            <a:ext cx="1104528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325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440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6509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3762573120000" cy="93908849771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3762573120000" cy="1019937176331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2926445760000" cy="730402164893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2926445760000" cy="793284470479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881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求和期数（如4个季度的滚动窗口n=4）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</a:t>
            </a:r>
            <a:br/>
            <a:r>
              <a:t>[2] Q3 RG = +0.80%, Q4 RG = +0.30%</a:t>
            </a:r>
            <a:br/>
            <a:r>
              <a:t>[3] ARG = |1.36|+|-0.50|+|0.80|+|0.30|</a:t>
            </a:r>
            <a:br/>
            <a:r>
              <a:t>       = 1.36+0.50+0.80+0.30 = 2.96%/年</a:t>
            </a:r>
            <a:br/>
            <a:r>
              <a:t>[4] ARG &gt; 0 → 经理隐形交易总强度约3%/年</a:t>
            </a:r>
            <a:br/>
            <a:r>
              <a:t>    （正负RG不相抵，反映真实交易强度）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88920"/>
            <a:ext cx="2743200" cy="684666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前景理论核心：损失厌恶（损失敏感度约为收益2.25倍）、参考点依赖、敏感性递减。OCI为本文构建指标，用换手率Z-score标准化衡量过度自信（受Barber &amp; Odean(2001)换手率代理启发）。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45152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理论公式（本文构建，受Barber &amp; Odean 2001换手率代理启发）| 实际实现: OCI=|RG|（申宇2013 ARG代理，缺换手率数据时）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OCI = |RG| (申宇2013 ARG代理)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27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28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29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30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34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36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三阶段研究计划 + 2周写作计划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三阶段递进计划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1.0 — MVP四轮验证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V1-V4: 200→400基金, 全持仓修正AS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AS最强(t=-26.81***), R²=0.0684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2.0 — 稳健性检验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六种方法交叉验证: OLS/FM/FE/双重排序/牛熊市/滞后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FM: AS正向(t=+2.76**) | FE: RG最稳健(t=+7.77***)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待做: IV/DID因果推断 + 市值加权基准 + FF因子调整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Phase 3.0 — 扩展+预测 [待启动]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800+基金 + 经理变更事件(IV) + XGBoost预测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L5: OCI+LA(损失厌恶) + LSTM行为画像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不做: 实时交易策略/基金推荐系统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2周写作计划（七章约14,000字）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第1周: 实证收尾 + 文献定稿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FF三因子调整后收益回归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描述统计表 + 回归结果表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文献综述精修(补充邢欣羿/朱宏志)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第2周: 全文撰写 + 修改定稿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Ch1 引言(2,000字)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Ch2 文献综述(2,500字)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Ch3 研究设计(2,000字)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Ch4 实证结果(3,000字)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Ch5 稳健性检验(2,500字)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Ch6 结论讨论(2,000字)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○ 导师反馈 → 修改 → 查重定稿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逻辑: 做什么→用什么数据→怎么算→结果→含义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L1-L2 数据获取：BHS + AS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BHS需要: 基金月度净值收益率 → CR=Π(1+R_t)-1, RAR=σ_下半年/σ_上半年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fund_open_fund_info_em（免费，602,904条净值）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Experience: 基金经理任职起止日期 → Exp=(当前日期-首次任职)/365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fund_manager_em（5万+条任职记录，400基金100%覆盖）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补充: 学历/CFA/性别 → CSMAR基金经理库（学校账号）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Brown, Harlow &amp; Starks (1996) JF | Chevalier &amp; Ellison (1999) QJE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AS需要: 基金全持仓权重 + 基准指数成分股权重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东方财富全持仓API（半年报/年报, 185,144条）| 沪深300/中证500成分股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= 1/2 × Σ|w_fund - w_index|，V4修正后均值0.673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ICI需要: 基金行业配置权重 +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AKShare行业配置 + 申万一级31个行业全市场流通市值加权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= Σ(w_fund - w_market)²，V4修复后均值0.096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Cremers &amp; Petajisto (2009) RFS | Kacperczyk et al. (2005) 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P0(必须):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P1(重要):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P2(可选): Wind风格指数(付费) → 用行业配置法替代 | 换手率数据 → 用|RG|代理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L3-L5 数据获取：RG/ARG + SDI + OCI/PS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RG需要: 基金净值收益率 + 上季度末持仓权重 +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东方财富净值API | 全持仓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 = R_fund - Σ(w_i × r_i)，V4均值0.93%，t=9.20***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ARG = Σ|RG_t|（绝对值求和，非平均×4），覆盖95个季度观测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注意: 持仓日期 &lt; 收益日期（防未来函数）| 港股单独计算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Kacperczyk et al. (2008) RFS | 申宇等 (2013) 管理世界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风格漂移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SDI需要: 基金风格权重（相邻两期对比）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方法A(已验证): 行业配置法 → SDI = Σ|w_t - w_{t-1}|（无1/2系数）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方法B: 风格指数法 → Wind风格指数 或 自行构建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寇宗来等 (2020) 金融研究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486400" cy="12344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OCI +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 = |RG|代理（缺换手率时）或换手率偏离度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PS = 1 - 预测准确率，输入L1-L4全部指标，零额外数据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模型: 1.0 Logistic → 2.0 XGBoost → 3.0 LSTM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Barber &amp; Odean (2001) QJE | Kahneman &amp; Tversky (1979)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数据管线完整流程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Step1: 下载基金日度净值 → 月度收益率 | Step2: 提取上季度末全持仓权重 | Step3: 下载个股月度收益率（前复权）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Step4: 计算持仓模拟收益 R_hold = Σ(w_i × r_i) | Step5: RG = R_fund - R_hold | Step6: ARG = Σ|RG_t|（绝对值求和）</a:t>
            </a:r>
          </a:p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全部数据源免费可复现 | 400基金 × 20年 | 36万全持仓 + 60万净值 | 九指标全部计算完成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04 MVP与执行计划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40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 + MVP执行计划 + 数据需求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1. BHS替换RPI → L1引用顶刊JF原文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2. SDI删除1/2系数 → 纯曼哈顿距离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3. ARG改为Σ|RG_t| → 绝对值求和(申宇2013)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4. OCI标注为本文构建 → 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5. RG费用项说明 → 中国净值已费后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MVP四阶段: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0(2-3天): 修复数据+重算指标+重跑回归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1(1-2天): VIF+安慰剂+描述统计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2(2-3周): 写论文Ch4-7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3(1-2天): PPT+答辩+归档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核心原则: 每步变动重新验证 | 全部免费可复现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数据需求清单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L1 BHS: 月度净值(AKShare) + 经理任职(AKShare)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补充: CSMAR经理特征(学历/CFA/性别)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L2 AS/ICI: 全持仓(东方财富) + 基准成分股(AKShare)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申万一级31个行业权重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L3 RG/ARG: 净值 + 持仓 + 个股收益(AKShare)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ARG=Σ|RG_t|需保留每期RG正负号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L4 SDI: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L5 OCI: |RG|代理(当前) 或 换手率(季报)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PS: 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P0(已获取): 净值+持仓+任职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P1(需补充): FF因子+CSMAR特征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P2(可选): Wind风格指数+换手率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预计总周期4-5周 | 新公式均对照原文核实 | 全部数据源免费可复现 | 代码开源确保可复现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01 研究概述与框架创新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五层各自做什么：每层都能独立出结果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 背景特征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"经理是谁，面对什么压力"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CR、RAR、Loser Dummy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独立结论：排名落后的经理下半年加大风险 → 锦标赛效应存在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  <a:latin typeface="微软雅黑"/>
              </a:defRPr>
            </a:pPr>
            <a:r>
              <a:t>L2 持仓偏离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03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"持仓跟基准差多远"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AS、ICI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独立结论：持仓偏离基准越大 → 未来业绩越差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L3 交易行为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"私下在做什么隐形操作"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RG、ARG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独立结论：隐形交易越频繁 → 隐形成本越高，侵蚀收益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69080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62828"/>
                </a:solidFill>
                <a:latin typeface="微软雅黑"/>
              </a:defRPr>
            </a:pPr>
            <a:r>
              <a:t>L4 风险应对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"风格稳不稳定"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114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SDI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独立结论：风格漂移与业绩呈U型 → 适度漂移最好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4920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A1B9A"/>
                </a:solidFill>
                <a:latin typeface="微软雅黑"/>
              </a:defRPr>
            </a:pPr>
            <a:r>
              <a:t>L5 认知偏差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120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"是否过度自信，业绩可预测吗"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120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OCI、PS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独立结论：换手率越高（过度自信）→ 业绩越差，且不可逆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126480"/>
            <a:ext cx="11247120" cy="36576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153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每层都有独立公式、独立数据、独立回归，都能单独跑出t值和显著性——五层是"五篇论文的体量"，但串联成一条因果链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01 研究概述与框架创新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01 研究概述与框架创新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五层结果怎么综合：三层递进的综合方法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7315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因果链：L1（经理有压力）→ L2（持仓偏离基准，赌一把）→ L3（私下隐形交易）→ L4（风格漂移）→ L5（过度自信累积，业绩不可持续）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L1的"输家"标记作为自变量放进L2-L5的回归 → 比如"输家是不是比赢家持仓偏离更大" → 形成逐层递进的因果链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三层综合方法（从简单到复杂）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3657600" cy="201168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第一层：单指标回归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每个指标单独对"未来业绩"回归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→ 业绩：β=?, t=?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→ 业绩：β=?, t=?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ARG → 业绩：β=?, t=?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 → 业绩：β=?, t=?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→ 回答"哪个指标最管用"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V4实测：OCI最强(t=-13.45)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286000"/>
            <a:ext cx="3657600" cy="201168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359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第二层：多指标联合回归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把多个指标放进同一个回归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业绩 = α + β1·Loser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β2·AS + β3·ARG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β4·SDI + β5·OCI + ε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→ 回答"控制其他因素后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  哪个指标还有独立预测力"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可能有些指标放进来就不显著了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657600" cy="201168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59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第三层：行为画像打分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把五层指标标准化后加权合成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Profile Score =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w1·L1 + w2·L2 + w3·L3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w4·L4 + w5·L5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权重用回归系数或IC确定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→ 每个经理得到综合分数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类似信用评分，分数越高越激进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11247120" cy="155448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核心创新：别人一篇文章只做一个指标，我们的框架把五个指标串成因果链，再综合成一个"行为画像分数"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这个综合分数的预测力，应该比任何单一指标都强——这是论文需要实证验证的核心假设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三层综合的关系：第一层找出"最管用的单个指标" → 第二层确认"控制其他因素后是否依然管用" → 第三层合成"最终行为画像分数"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层层递进，从"谁是冠军"到"冠军在控制对手后还是冠军吗"再到"冠军的终极实力分"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01 研究概述与框架创新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01 研究概述与框架创新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五层结果怎么综合：三层递进的综合方法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7315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因果链：L1（经理有压力）→ L2（持仓偏离基准，赌一把）→ L3（私下隐形交易）→ L4（风格漂移）→ L5（过度自信累积，业绩不可持续）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L1的"输家"标记作为自变量放进L2-L5的回归 → 比如"输家是不是比赢家持仓偏离更大" → 形成逐层递进的因果链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三层综合方法（从简单到复杂）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3657600" cy="201168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第一层：单指标回归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每个指标单独对"未来业绩"回归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→ 业绩：β=?, t=?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→ 业绩：β=?, t=?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ARG → 业绩：β=?, t=?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 → 业绩：β=?, t=?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→ 回答"哪个指标最管用"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V4实测：OCI最强(t=-13.45)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286000"/>
            <a:ext cx="3657600" cy="201168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359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第二层：多指标联合回归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把多个指标放进同一个回归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业绩 = α + β1·Loser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β2·AS + β3·ARG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β4·SDI + β5·OCI + ε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→ 回答"控制其他因素后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  哪个指标还有独立预测力"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可能有些指标放进来就不显著了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657600" cy="201168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59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第三层：行为画像打分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把五层指标标准化后加权合成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Profile Score =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w1·L1 + w2·L2 + w3·L3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w4·L4 + w5·L5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权重用回归系数或IC确定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→ 每个经理得到综合分数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类似信用评分，分数越高越激进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11247120" cy="155448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核心创新：别人一篇文章只做一个指标，我们的框架把五个指标串成因果链，再综合成一个"行为画像分数"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这个综合分数的预测力，应该比任何单一指标都强——这是论文需要实证验证的核心假设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三层综合的关系：第一层找出"最管用的单个指标" → 第二层确认"控制其他因素后是否依然管用" → 第三层合成"最终行为画像分数"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层层递进，从"谁是冠军"到"冠军在控制对手后还是冠军吗"再到"冠军的终极实力分"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01 研究概述与框架创新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01 研究概述与框架创新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L4详解：SDI一次项和二次项在做什么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9144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核心问题：风格漂移（SDI）和业绩是什么关系？是"漂移越多越好"还是"漂移越多越差"？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直觉：完全不漂移 = 僵化不适应市场 → 业绩差 | 漂移太多 = 追涨杀跌瞎折腾 → 业绩也差 | 适度漂移 = 灵活适应 → 业绩最好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这就是U型关系：不是简单的"越多越好"或"越多越差"，而是"两头差、中间好"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回归方程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11247120" cy="731520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业绩 = α + β1·SDI + β2·SDI² + γ·Controls + ε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CC"/>
                </a:solidFill>
                <a:latin typeface="微软雅黑"/>
              </a:defRPr>
            </a:pPr>
            <a:r>
              <a:t>SDI = 一次项（线性效应） | SDI² = 二次项（弯曲效应） | Controls = 基金规模/类型/市场状态等控制变量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两个系数各自在做什么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486400" cy="18288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3075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β1（一次项系数）= 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回答：整体来看，风格漂移越多，业绩是更好还是更差？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β1 &lt; 0：漂移越多业绩越差（主流发现）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β1 &gt; 0：漂移越多业绩越好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β1 ≈ 0：没有简单线性关系 → 需看β2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但β1只看"直线的斜率"——</a:t>
            </a: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如果真实关系是弯曲的，β1会误导你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486400" cy="18288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3075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β2（二次项系数）= 弯曲方向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回答：这个关系是直的还是弯的？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β2 &gt; 0 且显著：U型（开口向上）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→ 两头差、中间好 → 适度漂移最优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β2 &lt; 0 且显著：倒U型（开口向下）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→ 两头好、中间差 → 完全不漂移或剧烈漂移都好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β2 ≈ 0：没有弯曲 → 纯线性关系，只看β1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23560"/>
            <a:ext cx="11247120" cy="82296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6875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如果β2 &gt; 0 且显著（U型成立）的含义：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完全不漂移的经理 = 僵化保守，市场变了也不调 → 业绩差 | 适度漂移的经理 = 灵活适应市场风格切换 → 业绩好 | 剧烈漂移的经理 = 追涨杀跌瞎折腾 → 业绩差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最优SDI在U型最低点附近 → 论文可以算出"最优漂移阈值"，给实践提供参考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01 研究概述与框架创新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