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42.xml"/><Relationship Id="rId45" Type="http://schemas.openxmlformats.org/officeDocument/2006/relationships/slide" Target="slides/slide38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39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94183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286000" cy="547884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286000" cy="527102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572000" cy="7356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上半年CR=-2.0%（排名后30%→输家）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1.21%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1.91%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1.91/1.21 = 1.58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上半年CR=+6.1%（排名前30%→赢家）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0.89%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0.52%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0.52/0.89 = 0.58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输家RAR(1.58) &gt; 赢家RAR(0.58)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3200400" cy="55841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743200" cy="657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657600" cy="7598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657600" cy="684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286000" cy="527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572000" cy="7356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[-1%, +0.5%, -2%, +1.5%, -0.5%, -0.5%]</a:t>
            </a:r>
            <a:br/>
            <a:r>
              <a:t>    CR = (0.99)(1.005)(0.98)(1.015)(0.995)(0.995) - 1 = -2.0%</a:t>
            </a:r>
            <a:br/>
            <a:r>
              <a:t>[2] 同类基金200只，CR排名后30%(=输家)</a:t>
            </a:r>
            <a:br/>
            <a:r>
              <a:t>[3] 排序期σ_rank = std(月度收益) = 1.21%</a:t>
            </a:r>
            <a:br/>
            <a:r>
              <a:t>[4] 测试期(7-12月)月度收益: [+1%, -2.5%, +1.5%, -1%, +2%, -2%]</a:t>
            </a:r>
            <a:br/>
            <a:r>
              <a:t>    σ_test = std(月度收益) = 1.91%</a:t>
            </a:r>
            <a:br/>
            <a:r>
              <a:t>[5] RAR = 1.91% / 1.21% = 1.58 &gt; 1 → 输家增险</a:t>
            </a:r>
            <a:br/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193792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325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40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65099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4114800" cy="102699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4114800" cy="1115416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8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3200400" cy="798777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3200400" cy="867546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求和上界（滚动窗口期数，如4季度T=4）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1920240"/>
            <a:ext cx="5603615" cy="11411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134558"/>
            <a:ext cx="5603615" cy="1519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463040"/>
            <a:ext cx="5603615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1965960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207710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207710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345459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345459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3701486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3701486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425237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425237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103120"/>
            <a:ext cx="2286000" cy="271661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52" name="Picture 51" descr="u_shape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47933"/>
            <a:ext cx="4572000" cy="522033"/>
          </a:xfrm>
          <a:prstGeom prst="rect">
            <a:avLst/>
          </a:prstGeom>
        </p:spPr>
      </p:pic>
      <p:pic>
        <p:nvPicPr>
          <p:cNvPr id="53" name="Picture 52" descr="u_shape_ax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75806"/>
            <a:ext cx="3200400" cy="376279"/>
          </a:xfrm>
          <a:prstGeom prst="rect">
            <a:avLst/>
          </a:prstGeom>
        </p:spPr>
      </p:pic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Barber &amp; Odean (2001) QJE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  <a:defRPr sz="1270">
                <a:solidFill>
                  <a:srgbClr val="4B5563"/>
                </a:solidFill>
                <a:latin typeface="宋体"/>
              </a:defRPr>
            </a:pPr>
            <a:r>
              <a:t>理论背景：Barber &amp; Odean(2001)发现过度自信投资者交易过多，用换手率衡量过度自信程度。OCI为本文构建指标，将换手率Z-score标准化以衡量基金经理过度自信。理论基础：前景理论(Kahneman &amp; Tversky, 1979)解释非理性行为。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45152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理论公式: OCI = (TO_{i,t} - TŌ_t) / σ(TO)，本文构建，受Barber &amp; Odean(2001)换手率代理启发 | 实际实现: OCI = |RG_t|（申宇2013 ARG代理，当前缺换手率数据时使用）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/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t>输入：L1~L5五层指标 | β₀~β₅: 回归系数 | σ: Sigmoid激活函数 | 输出：行为标签概率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pic>
        <p:nvPicPr>
          <p:cNvPr id="65" name="Picture 64" descr="ps_formula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3" y="3596539"/>
            <a:ext cx="4572000" cy="537542"/>
          </a:xfrm>
          <a:prstGeom prst="rect">
            <a:avLst/>
          </a:prstGeom>
        </p:spPr>
      </p:pic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OCI = |RG_t|（实际实现，理论公式见L5详解）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t>OCI: |RG|代理(均值0.028, 理论公式为换手率Z-score)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OCI理论=(TO-TŌ)/σ(TO) | 实际=|RG|代理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04 MVP与执行计划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8869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51052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OCI标注为本文构建(理论=换手率Z-score, 实际=|RG|代理)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  <p:sp>
        <p:nvSpPr>
          <p:cNvPr id="2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