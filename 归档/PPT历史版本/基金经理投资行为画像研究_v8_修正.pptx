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357" r:id="rId4"/>
    <p:sldId id="354" r:id="rId5"/>
    <p:sldId id="377" r:id="rId6"/>
    <p:sldId id="378" r:id="rId7"/>
    <p:sldId id="269" r:id="rId8"/>
    <p:sldId id="379" r:id="rId9"/>
    <p:sldId id="380" r:id="rId10"/>
    <p:sldId id="351" r:id="rId11"/>
    <p:sldId id="271" r:id="rId12"/>
    <p:sldId id="352" r:id="rId13"/>
    <p:sldId id="381" r:id="rId14"/>
    <p:sldId id="382" r:id="rId15"/>
    <p:sldId id="272" r:id="rId16"/>
    <p:sldId id="358" r:id="rId18"/>
    <p:sldId id="383" r:id="rId19"/>
    <p:sldId id="384" r:id="rId20"/>
    <p:sldId id="275" r:id="rId21"/>
    <p:sldId id="353" r:id="rId22"/>
    <p:sldId id="385" r:id="rId23"/>
    <p:sldId id="386" r:id="rId24"/>
    <p:sldId id="361" r:id="rId25"/>
    <p:sldId id="27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87" r:id="rId35"/>
    <p:sldId id="388" r:id="rId36"/>
    <p:sldId id="38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90" r:id="rId45"/>
    <p:sldId id="391" r:id="rId46"/>
    <p:sldId id="392" r:id="rId47"/>
    <p:sldId id="393" r:id="rId51"/>
    <p:sldId id="394" r:id="rId52"/>
    <p:sldId id="395" r:id="rId53"/>
    <p:sldId id="396" r:id="rId54"/>
    <p:sldId id="397" r:id="rId55"/>
    <p:sldId id="398" r:id="rId56"/>
    <p:sldId id="399" r:id="rId57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ableStyles" Target="tableStyles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BHS/CR/RAR 三指标递进 | 虚拟变量 → 连续排名 | Logistic → 动态面板GMM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371600"/>
          <a:ext cx="11247120" cy="321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803275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核心任务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方法与预期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1.0阶段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用BHS虚拟变量(排名下降&gt;中位数=1)识别锦标赛行为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基础Logistic回归，验证锦标赛压力存在性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2.0阶段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引入CR(累计收益)和RAR(排名变化幅度)丰富指标，加入经理特征交互项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多元Logistic，检验教育/CFA对锦标赛行为的调节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3.0阶段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用连续排名变量替代0/1虚拟变量，动态面板GMM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检验锦标赛效应持续性，解决内生性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递进逻辑：1.0验证锦标赛压力存在性 → 2.0丰富指标并检验异质性 → 3.0解决内生性问题。CR和RAR是对BHS(0/1虚拟变量)的重要补充，连续排名变量能捕捉锦标赛压力的强度信息。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BHS均值0.4894(近半数触发) | CR右偏(偏度2.06) | RAR中位数0.2776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7373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quarter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0.5612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0.2103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387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40233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1380" y="5537200"/>
            <a:ext cx="10891520" cy="553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BHS均值0.4894意味着近半数基金季度触发锦标赛行为；CR偏度2.06呈右偏分布，少数基金累积收益极高；RAR分布近对称，中位数0.2776，排名变动幅度适中。BHS峰度-1.9987(扁平分布)符合0/1虚拟变量特征。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AS/AS_improved | 等权基准 → 真实成分股权重 | OLS → IV估计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用等权基准计算AS(原始版)，所有股票等权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基础OLS，验证AS对业绩预测力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用沪深300+中证500真实成分股权重计算AS_improved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最常见值占比从61.8%降至0.2%，数据质量大幅提升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按持仓明细级别计算AS，引入行业层面AS分解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考虑基准选择内生性，做IV估计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AS改进是v14核心贡献：等权基准下AS最常见值占比61.8%（严重集中），改用沪深300+中证500真实成分股权重后降至0.2%，数据质量大幅提升。3.0阶段将进一步按持仓明细级别计算并做IV估计。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AS最常见值占比61.8% → AS_improved降至0.2% | 均值约0.83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0.8412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0.8296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0.9482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-0.3553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3.9328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AS与AS_improved均值接近(0.831 vs 0.830)，但AS最常见值0.8325在原始版占比61.8%，改进后降至0.2%，说明改进版能更好区分基金的主动管理程度。AS偏度-0.46(左偏)，峰度3.82接近正态，AS_improved分布形态更优。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ICI/RG/ARG | 基础OLS → Fama-MacBeth → PSM因果推断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计算ICI(行业集中度)和RG(换手增长率)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季度面板基础OLS回归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计算ARG(绝对值平滑)，引入FF4因子调整收益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Fama-MacBeth截面回归，多重检验校正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PSM因果推断，中介效应分析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通过换手率/波动率传导路径检验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三阶段递进：1.0建立基础面板回归 → 2.0引入FF4因子调整收益并做Fama-MacBeth截面回归 → 3.0通过PSM因果推断和中介效应分析检验传导机制。ARG是对RG的绝对值平滑处理，减少了正负抵消问题。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ICI右偏(偏度1.31) | RG近对称 | ARG右偏(偏度1.50)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583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0.0789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0.2890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ICI偏度1.31呈右偏，少数基金行业高度集中；RG均值接近0(-0.0019)，换手率变化总体平稳；ARG均值0.2415右偏(偏度1.50)，反映部分基金交易行为波动较大。RG峰度3.37接近正态分布。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en-US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SDI | 行业近似 → 风格指数精确计算 | 线性OLS → U型非线性+分位数回归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用行业配置数据近似计算SDI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线性OLS回归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用四类风格指数(大/小盘×成长/价值)精确计算SDI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验证U型非线性关系(二次项)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加入牛熊市交互项，分位数回归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检验异质性效应，做Bootstrap稳健SE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SDI计算的关键改进：1.0用行业配置近似 → 2.0用四类风格指数(大/小盘×成长/价值)精确计算，验证U型非线性 → 3.0加入牛熊市交互项和分位数回归，检验异质性效应。SDI是v14中新发现的稳健负向预测指标。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SDI均值0.3377 | 轻度右偏(偏度0.49) | 中位数0.3259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0.4567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SDI均值0.3377，中位数0.3259，分布轻度右偏(偏度0.49)，峰度0.58(扁平分布)。最大值0.8174表明部分基金风格漂移严重。SDI是v14中新发现的稳健负向预测指标，在FF4模型中t=-3.81***至-4.09***，PSM因果效应-0.44%***。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OCI/PS | 基础OLS → FF4因子+安慰剂 → PSM+倒U型+Sobel中介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计算OCI(标准化超额换手)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基础OLS，验证过度自信对业绩的负向预测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引入FF4因子模型，安慰剂检验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检验OCI效应是否被动量因子吸收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PSM因果推断，倒U型非线性检验，PS综合分类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Logistic模型，中介效应(Sobel检验)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OCI的三阶段递进：1.0验证过度自信对业绩的负向预测 → 2.0引入FF4因子后发现OCI被动量吸收(关键发现) → 3.0通过PSM因果推断和倒U型检验深化分析。PS综合分类整合所有行为指标。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OCI均值0.0555 | 强右偏(偏度3.33) | 尖峰(峰度13.07)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OCI均值0.0555但偏度3.33、峰度13.07，呈强右偏尖峰分布，少数基金过度交易行为极端。在FF3中OCI是最强负向预测指标(t=-22.58***)，但FF4中被动量因子吸收(t=-3.85***，大幅减弱)。PSM因果效应+0.12%**，安慰剂检验未通过。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097280"/>
          <a:ext cx="10850880" cy="437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/>
                <a:gridCol w="1808480"/>
                <a:gridCol w="1808480"/>
                <a:gridCol w="1808480"/>
                <a:gridCol w="1808480"/>
                <a:gridCol w="1808480"/>
              </a:tblGrid>
              <a:tr h="4857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变量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均值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标准差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最小值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中位数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最大值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AS (主动管理)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0.695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0.941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ICI (行业集中度)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0.061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SDI (风格漂移)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0.335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0.153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0.321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0.828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ARG (绝对隐形交易)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0.145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0.197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0.803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OCI (过度自信)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0.056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0.000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0.451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FF3调整收益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0.023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0.241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-0.729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0.006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1.469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基金规模(对数)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19.787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1.941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13.816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20.079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23.429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换手率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1.043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0.737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0.890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5.842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0810"/>
            <a:ext cx="82296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rPr sz="1800"/>
              <a:t>三个模型递进：行为指标 → +控制变量 → +年份FE</a:t>
            </a:r>
            <a:endParaRPr sz="1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97280"/>
          <a:ext cx="11633200" cy="439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  <a:gridCol w="2908300"/>
              </a:tblGrid>
              <a:tr h="48831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变量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1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2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3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-0.2830 (-5.48***)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-0.1781 (-3.81***)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-0.1716 (-3.90***)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ICI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-0.0034 (-0.08)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0.0388 (0.92)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0.1136 (2.49**)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SDI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0.0020 (0.17)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0.0075 (0.64)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0.0189 (1.51)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ARG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0.1759 (8.94***)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0.1521 (7.95***)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0.0615 (2.74***)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OCI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-1.0725 (-25.18***)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-1.1117 (-26.02***)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-1.3187 (-24.56***)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log_aum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-0.0101 (-11.64***)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-0.0113 (-13.35***)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TO_calc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-0.0076 (-4.19***)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 (0.94)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R²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0.0775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0.1066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0.1792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学术规范表格（一）：描述性统计与相关系数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14个核心变量 | N=7,939 | 含P25/P75分位数 | 偏度峰度检验正态性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完整描述性统计表（数据来源：ipynb Step 4输出）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914400"/>
                <a:gridCol w="1005840"/>
                <a:gridCol w="914400"/>
                <a:gridCol w="914400"/>
                <a:gridCol w="1005840"/>
                <a:gridCol w="914400"/>
                <a:gridCol w="914400"/>
                <a:gridCol w="86868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P25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P75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-0.7618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0.2366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-0.5130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-0.0992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0.1018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1.2687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4.0286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0.3030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19.8665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1.8185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14.5087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18.8127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20.1015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21.1397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23.4248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-0.6283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0.2463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8.0871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5.4078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3.5715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6.6366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12.0999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21.0369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-0.6755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1.0532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0.8907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1.0408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5.8138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4.1786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21.5623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f4_adj_return均值0.0350、ff3_adj_return均值0.0232，FF4调整后alpha更低。OCI偏度3.33、CR偏度2.06均呈强右偏，需在回归中使用稳健标准误。BHS峰度-1.99(扁平分布)符合0/1虚拟变量特征。TO_calc偏度4.18、峰度21.56(极端尖峰)，反映换手率分布的厚尾特性。数据来源：mvp_panel_final.csv | 缩尾处理1%/99%。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学术规范表格（二）：OLS回归结果（六模型对比）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6模型对比 | M4(FF4扩展)最优 R²=0.4101 | N=7,939 | 基金层面聚类稳健标准误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六模型对比矩阵（被解释变量: ff4_adj_return / ff3_adj_return）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4828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(-2.35)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(-0.82)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(-1.47)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(-1.54)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(1.83)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(1.27)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(-3.93)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(-0.75)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(-0.36)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(10.06)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(12.32)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(-22.58)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(-25.02)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(0.23)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(2.42)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(4.29)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(2.39)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(4.33)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(-7.33)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(-6.84)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(10.95)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(11.01)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(-1.92)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(-1.11)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Adj 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0.1402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0.4088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0.3474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*** p&lt;0.01, ** p&lt;0.05, * p&lt;0.1 | 括号内为t值 | 基金层面聚类稳健标准误 | M4(FF4扩展控制)为最优模型，R²=0.4101。SDI在M3-M6均***显著负向，RG在M3-M6均***显著正向，是最稳健的两个行为指标。OCI在FF3中极显著(t=-22.58***)但在FF4中大幅减弱(t=-3.85***)，被动量因子部分吸收。AS在FF4中失去显著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学术规范表格（三）：稳健性检验汇总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VIF + 安慰剂(500次) + PSM因果推断 + 稳健性排序 | 四重稳健性验证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（一）VIF多重共线性检验（最大VIF=2.26，全部&lt;10）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210312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960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（二）安慰剂检验（500次随机打乱）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05840"/>
                <a:gridCol w="822960"/>
                <a:gridCol w="82296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分位排名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双尾p值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0.7480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（三）PSM因果推断（倾向得分匹配）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519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731520"/>
                <a:gridCol w="8229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+0.12%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-10.70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负向显著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931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（四）稳健性排序（综合M4/FM/安慰剂/Bootstrap）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4251960"/>
          <a:ext cx="5212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731520"/>
                <a:gridCol w="822960"/>
                <a:gridCol w="109728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安慰剂p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SE比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稳健性评分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94360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四重稳健性验证：VIF最大2.26无共线性；安慰剂检验AS/SDI/BHS/RG/ARG通过；PSM因果推断ARG(+0.14%***)、OCI(+0.12%**)正向、SDI(-0.44%***)负向；综合排序SDI/CR/RG/BHS最稳健(3/4)。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方法论答疑与框架修正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4个核心问题解答 | 框架逻辑厘清 | 从「递进」到「分层并行+综合整合」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1612880" cy="483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565"/>
                <a:gridCol w="5979160"/>
                <a:gridCol w="2764155"/>
              </a:tblGrid>
              <a:tr h="626745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问题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核心解答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修正方向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Q1: 锦标赛是效应还是层级？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L1中还有从业年限/学历等怎么解释？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锦标赛(BHS)是行为响应而非背景层。原稿L1=背景特征(从业年限/学历)，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v14误将BHS提升为L1。正确做法：背景特征作为控制变量和调节变量，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BHS归入「竞争压力响应」维度。结论解释：控制背景异质性后，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行为指标对业绩的预测力是净效应。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恢复L1=背景特征层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BHS归入行为维度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交互项检验背景×行为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Q2: 综合回归合理吗？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L1-L5是并列还是递进？PS怎么回事？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当前OLS将所有指标同时放入=并列模型。但框架声称「递进」=矛盾。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PS(Logistic)不是独立层级，而是L1-L4指标的综合预测工具。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PS=σ(β0+β1*BHS+β2*AS+β3*ARG+β4*SDI+β5*OCI)，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本质是对已有指标的加权组合，非新信息。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改「分层并行+综合整合」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两阶段：独立回归→PS整合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加SEM路径分析检验递进链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Q3: 全用别人方法=大杂烩？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创新点在哪？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整合创新在学术上成立但需理论贡献。当前创新：①五层框架整合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②真实权重AS改进 ③FF4 vs FF3因子吸收发现 ④中国市场验证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⑤PSM因果推断。但缺乏：理论模型解释为何这5个维度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是充分必要的；缺少新指标或新方法。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加理论模型推导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提出「行为效率系数」新指标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样本外预测验证PS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Q4: PS的Logistic原理？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与综合OLS的区别？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 Logit: P(超额收益&gt;中位数)=σ(Xβ)，输出概率0-1，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用于分类和排序。OLS: Y=Xβ+ε，输出边际效应系数。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区别：①PS做分类预测(谁跑赢)，OLS做因果推断(影响多大)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②PS可构建多空组合，OLS不能 ③PS是二阶段工具，OLS是一阶段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明确两阶段定位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Ch4用OLS做推断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Ch5用PS做预测验证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54864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03504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核心修正：将框架从「五层递进」改为「五维并行+两阶段整合」。Stage 1(Ch4)：各行为指标独立回归，控制背景特征，检验净效应。Stage 2(Ch5)：用Logistic构建PS综合分数，做样本外预测验证。背景特征(从业年限/学历/CFA)作为控制变量而非独立层级。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学术规范性审查与优化建议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6大审查维度 | 当前评级 | 具体优化措施 | 优先级排序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4183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2743200"/>
                <a:gridCol w="3840480"/>
                <a:gridCol w="73152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审查维度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当前状态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存在问题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优化措施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优先级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理论框架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原稿「递进」与v14「并列」矛盾；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L1定义不一致(背景vs锦标赛)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统一为「五维并行+两阶段整合」；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背景特征=控制变量非层级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创新性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贡献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整合创新成立但缺乏理论模型；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无新指标/新方法提出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推导理论模型解释5维充分性；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提出「行为效率系数」BEI指标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严谨性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已有PSM+Bootstrap+安慰剂；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但缺乏IV/DID/RDD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加IV估计(经理变更)；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加DID(极端市场事件冲击)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统计检验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74个检验Bonferroni校正；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VIF/安慰剂/子样本齐全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补充Hausman检验(RE vs FE)；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加样本外R²预测验证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幸存者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偏差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仅含存活基金(400只)；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已获取27449只基金列表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识别清盘基金并补充历史数据；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做Heckman两步法修正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PS定义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合理性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PS=Logit概率(&gt;中位数)；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定义较随意，缺乏理论支撑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改PS=1-样本外预测R²；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或用交叉验证AUC作为PS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三大核心优化（按重要性排序）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0644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06440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框架修正：将「五层递进」改为「五维并行+两阶段整合」，解决L1定义矛盾。背景特征(从业年限/学历/CFA)作为控制变量和调节变量，而非独立层级。②理论创新：推导理论模型解释为何5个行为维度是充分必要的，提出「行为效率系数」(BEI)新指标。③因果强化：增加IV估计(经理变更作为外生冲击)和DID分析(极端市场事件)，增强因果识别可信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2周详细论文写作规划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2026-08-08 ~ 2026-08-21 | 每日任务 | 里程碑交付物 | 框架修正同步进行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65836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8/8(五)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框架修正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修正Ch3理论框架：统一为「五维并行+两阶段整合」架构；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重写L1-L5定义表，背景特征改为控制变量；更新H1-H5假设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Ch3修订稿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8/9(六)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撰写Ch4.1数据描述(含v14描述性统计表)；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撰写Ch4.2.1 FF3模型回归(M1-M2) + Ch4.2.2 FF4模型(M3-M6)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Ch4.1-4.2初稿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8/10(日)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撰写Ch4.3稳健性检验(安慰剂+子样本+FM+多重检验)；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整理8模型对比表+VIF表+稳健性排序表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Ch4.3初稿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Ch5构建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构建Ch5 PS综合分类：修正PS定义(加样本外验证)；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Logistic回归+五分组分析+行为画像(8类)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8/12(二)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补充SEM路径分析(检验递进链)；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补充IV估计(经理变更)+Heckman偏差修正(如有清盘数据)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8/13(三)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Ch4.4核心发现讨论；整合v14/v15全部计量结果；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检查表格与ipynb输出一致性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Ch4完整稿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8/14(四)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Ch6-7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撰写Ch6行业经验整合(券商实践对比)；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撰写Ch7结论与展望(贡献/启示/局限)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Ch6+Ch7初稿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8/15(五)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缓冲日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处理本周遗留问题；导师初步反馈；修改框架表述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第1周总结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8/16-17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根据导师反馈修改Ch1-Ch3；完善文献综述(补充理论模型文献)；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统一全文术语和符号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Ch1-3修订稿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8/18(一)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推导理论模型(5维充分性论证)；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计算「行为效率系数」BEI指标并验证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理论创新章节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8/19(二)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因果强化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补充IV估计结果；DID分析(如数据允许)；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更新稳健性检验章节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8/20(三)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全文统稿(15000字)；格式规范化；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参考文献核对；图表编号统一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完整论文稿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8/21(四)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最终审查：学术规范性自检清单；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表格-ipynb一致性终验；PPT同步更新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终稿+自检报告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355080"/>
            <a:ext cx="54864" cy="4572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关键里程碑：8/13 Ch4完整稿 | 8/14 Ch6+Ch7初稿 | 8/18 理论创新完成 | 8/21 终稿交付。每日预估写作量：1500-2000字。框架修正(8/8)和理论创新(8/18)是两个最关键节点。ipynb与PPT表格一致性验证贯穿全程。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为什么做 6 个模型？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正交识别设计 | 三维变化分离检验 | 避免单一模型的偏误风险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2926080"/>
                <a:gridCol w="164592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设计维度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A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B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检验目标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对应模型对比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(业绩度量)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(三因子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(四因子 alpha,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 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动量因子是否是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遗漏变量？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的 alpha 是否有偏？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(核心解释变量)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 AS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(等权基准)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 AS_improved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(真实成分股权重)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基准权重数据质量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是否影响结论？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的不显著是数据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问题还是经济问题？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M4 vs 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(混淆控制)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(log_aum,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 + TO_calc,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volatility,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行为指标的显著性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是否由遗漏控制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变量驱动？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正交识别的核心逻辑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2628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固定什么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能识别什么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被解释变量(FF3)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(基础→扩展)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加5个控制变量后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行为指标是否稳健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(FF3→FF4)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加入动量因子后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哪些指标受影响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被解释变量(FF4)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(AS→AS_improved)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数据质量改进后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AS是否变显著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6126480"/>
            <a:ext cx="54864" cy="59436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26480"/>
            <a:ext cx="11475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为什么不只做1个模型？单一模型无法区分「行为指标不显著」是因为(1)经济上确实无效应，还是(2)因子模型遗漏了动量，还是(3)控制变量不足，还是(4)数据质量问题。通过三维正交变化，每次只改变一个维度，可以精确归因。2x2x2=8种组合中，FF3+AS_improved较少使用(FF3已有偏误，换AS意义不大)，故做6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AS vs AS_improved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Active Share 主动份额 | 等权基准 vs 真实成分股权重 | 数据质量改进的核心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一、计算公式与核心区别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58521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计算公式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(公式相同，基准权重不同)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等权基准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(指数成分股均分)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中证指数公司真实成分股权重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(ak.index_stock_cons_weight_csindex)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沪深300基准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1/300 = 0.333% 每只股票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中证500基准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1/500 = 0.2% 每只股票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真实权重(0.01%~1.5%不等,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数据下载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无需下载(简单等分)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从中证指数公司下载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沪深300(300只)+中证500(500只)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二、改进效果: 数据质量大幅提升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069080"/>
          <a:ext cx="116128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1645920"/>
                <a:gridCol w="402336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统计量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改善幅度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0.8506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+2.2%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均值基本不变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0.0412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0.0699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+69.7%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离散度大幅提升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变异系数(CV)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+65.9%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区分度显著改善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61.8%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-99.7%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核心问题解决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唯一值数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1746/1997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几乎每个观测唯一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数据质量评价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严重集中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显著改善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可用于截面分析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6217920"/>
            <a:ext cx="54864" cy="50292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核心问题: 原始AS用等权基准，导致61.8%的基金-季度观测值AS=0.8325(完全相同)。原因是基金前十大持仓与等权基准的差异结构高度相似。改进后用真实权重，每只成分股权重不同(贵州茅台5% vs 某小盘股0.05%)，AS值几乎每个观测都不同。但注意: M4 vs M6对比显示，AS改进后对核心回归结论无影响(AS在FF4下均不显著)。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FF3 vs FF4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Fama-French 三因子 vs Carhart 四因子 | 动量因子的关键作用 | alpha 估计偏误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一、因子模型对比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5212080"/>
              </a:tblGrid>
              <a:tr h="65836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 (Fama-French 3因子)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 (Carhart 4因子)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提出者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Fama &amp; French (1993)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Carhart (1997)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因子构成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MKT: 市场超额收益 (Rm - Rf)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SMB: 规模因子 (小盘-大盘)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HML: 价值因子 (高账面市值比-低)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FF3全部因子 +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MOM: 动量因子 (过去赢家-过去输家)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alpha计算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beta4*MOM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经济含义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剥离市场、规模、价值风险后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额外剥离动量效应后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基金经理的「纯」超额能力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潜在问题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遗漏动量因子 =&gt; alpha有偏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(把动量收益误归为基金经理能力)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更严格: 若alpha仍显著，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说明业绩不能被四个因子解释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二、FF3 -&gt; FF4 对行为指标显著性的影响 (M1 vs M3, 控制变量不变)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502920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645920"/>
                <a:gridCol w="1645920"/>
                <a:gridCol w="576072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 (FF3)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 (FF4)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经济学解释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10.06***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失去显著性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(红色)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ARG在FF3中的预测力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主要由动量因子驱动,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非隐形交易信息含量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-22.58***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-5.71***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仍显著但</a:t>
                      </a:r>
                    </a:p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大幅减弱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过度交易效应部分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由动量解释，但FF4下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仍有独立负效应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-3.81***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风格漂移的真实负效应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被FF3遗漏偏误掩盖,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FF4才显现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2.42**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锦标赛行为的正向效应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六模型完整定义 (M1-M6)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每个模型的被解释变量 / 行为指标 / 控制变量 / R² / 核心定位 | N=7939, 355基金聚类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71600"/>
                <a:gridCol w="1828800"/>
                <a:gridCol w="2011680"/>
                <a:gridCol w="640080"/>
                <a:gridCol w="521208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行为指标(9个)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核心定位与发现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AS, ICI, SDI,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RG, ARG, OCI,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BHS, CR, 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基准模型: 建立行为-业绩关系基线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OCI极显著(t=-22.58***),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ARG强显著(t=10.06***)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但R²低, 可能存在遗漏偏误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基础3个 +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TO_calc, treasury_10y,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manager_change_dummy,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加控制变量: 检验遗漏变量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R²提升33.7%, 核心指标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(OCI/ARG/CR)系数和显著性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基本不变 =&gt; 不受遗漏控制驱动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(FF4 alpha,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换因子模型: 检验动量影响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R²跃升228%, ARG失去显著性,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SDI/BHS新现显著性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动量是关键遗漏变量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主模型: FF4+扩展控制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R²最高, 5个指标***显著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(SDI/RG/OCI/BHS/CR)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ARG边际显著(*)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换AS_improved(基础控制):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R²几乎不变(0.3485-&gt;0.3483)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AS仍不显著, SDI等结论一致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数据质量改进无影响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全改进版: FF4+AS_improved+扩展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R²几乎不变(0.4101-&gt;0.4100)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所有结论与M4一致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AS改进不影响核心结论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172200"/>
            <a:ext cx="54864" cy="54864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17220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六模型设计 = 2(被解释变量) x 2(行为指标) x 2(控制变量) = 8种组合, 但FF3+AS_improved不常用(FF3已有偏误, 换AS意义不大), 故做6个。M4为主模型(R²=0.4101最高)。M1-&gt;M2检验控制变量, M1-&gt;M3检验因子模型, M3-&gt;M5检验数据质量。三个维度的变化相互正交, 可以精确归因每个因素对结论的影响。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六模型行为指标系数对比与核心发现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系数(t值) | *** p&lt;0.01, ** p&lt;0.05, * p&lt;0.1 | 聚类稳健标准误(355基金) | N=7939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AS/AS_imp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(-2.35)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(-0.82)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(-1.36)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(-1.47)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(-1.54)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(1.83)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(1.27)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(-3.81)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(-0.75)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(-0.36)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(10.06)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(12.32)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(-22.58)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(-25.02)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(0.41)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(0.23)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(2.42)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(4.29)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(2.39)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(4.33)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(-7.33)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(-6.84)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(10.95)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(11.00)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(-1.92)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6235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C"/>
                </a:solidFill>
                <a:latin typeface="微软雅黑"/>
              </a:defRPr>
            </a:pPr>
            <a:r>
              <a:t>颜色: 绿色=***稳健显著 | 红色=失去显著性 | 橙色=符号翻转或减弱 | M4(第5列)为主模型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97880"/>
            <a:ext cx="54864" cy="6858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97880"/>
            <a:ext cx="11475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三大核心发现: (1) SDI是FF4下最稳健指标: 6个模型中FF4的4个模型全部***显著, 系数稳定在-0.014附近, 风格漂移确实损害业绩; (2) ARG的预测力由动量驱动: FF3中极显著(t=10.06***)但FF4中不显著(t=0.47), 说明ARG在FF3中捕捉的是动量效应而非隐形交易信息; (3) FF3存在严重遗漏变量偏误: OCI/CR/RAR的符号和显著性在FF3-&gt;FF4间大幅变化, FF4提供了更严格的业绩基准。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控制变量总览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基础控制(3个) + 扩展新增(5个) = 扩展模型(8个) | 与六模型设计矩阵一致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73152" cy="27432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539E"/>
                </a:solidFill>
                <a:latin typeface="微软雅黑"/>
              </a:defRPr>
            </a:pPr>
            <a:r>
              <a:t>基础控制变量（3个）— M1/M3/M5使用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25880"/>
          <a:ext cx="8869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731520"/>
                <a:gridCol w="822960"/>
                <a:gridCol w="822960"/>
                <a:gridCol w="82296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变量名(代码)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基金规模对数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(log_aum)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ln(基金净资产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x10^8)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24.42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经理任职年限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(manager_tenure)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任职天数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/365.25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天天基金网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爬取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7.90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21.87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基金年龄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(fund_age)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(当前日期-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成立日期)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/365.25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基金基本信息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7.40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5.58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24.53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246120"/>
            <a:ext cx="73152" cy="2743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22783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C00"/>
                </a:solidFill>
                <a:latin typeface="微软雅黑"/>
              </a:defRPr>
            </a:pPr>
            <a:r>
              <a:t>扩展新增控制变量（5个）— M2/M4/M6在基础上追加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3611880"/>
          <a:ext cx="8869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731520"/>
                <a:gridCol w="822960"/>
                <a:gridCol w="822960"/>
                <a:gridCol w="822960"/>
                <a:gridCol w="82296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变量名(代码)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换手率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(TO_calc)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min(总申购+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总赎回)/均值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净资产,上限10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9,519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1.07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10年国债收益率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(treasury_10y)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季度末10年期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国债到期收益率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(%)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国债收益率曲线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0.57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1.65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4.55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经理变更虚拟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(manager_change)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当季发生经理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变更=1,否则=0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变更公告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0.27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收益波动率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(return_volatility)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滚动8季度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季度收益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自计算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(基于净值)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8,381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0.129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0.536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家族规模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(family_size)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同公司所有基金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log_aum的均值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9,315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19.82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11.90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23.48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446520"/>
            <a:ext cx="54864" cy="3657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注: 基础3个(log_aum/manager_tenure/fund_age)覆盖「规模-经验-生命周期」; 扩展新增5个(TO_calc/treasury_10y/manager_change/return_volatility/family_size)补充「交易-宏观-人事-风险-公司资源」。M1/M3/M5用基础3个，M2/M4/M6用全部8个。log_aum取对数消除异方差; TO_calc上限截断10消除极端值。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控制变量理论依据与统计检验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基础3个 + 扩展新增5个 | VIF多重共线性 | M6最佳模型中的显著性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41832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48640"/>
                <a:gridCol w="548640"/>
                <a:gridCol w="1188720"/>
                <a:gridCol w="731520"/>
                <a:gridCol w="50292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M6系数(t值)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理论依据（为什么控制）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(基金规模)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规模效应: 大基金管理难度增加，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可能因流动性约束和决策迟缓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导致业绩下降 (Chen et al., 2004)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(任职年限)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经验效应: 资深经理可能具有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更强的选股择时能力，但也可能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因过度自信而损害业绩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(基金年龄)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(-7.72)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生命周期效应: 老基金可能因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策略固化和规模膨胀而业绩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下降 (Ferreira et al., 2013)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(换手率)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0.0049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(5.58)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交易成本效应: 高换手率增加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交易成本，但也可能反映经理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的信息优势 (Carhart, 1997)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(国债收益率)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0.0078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(3.88)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宏观利率环境: 无风险利率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代理变量，控制利率周期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对基金收益的系统性影响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(经理变更)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策略连续性: 经理变更可能导致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投资策略调整，影响短期业绩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(Gallagher &amp; Martin, 2005)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(收益波动率)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1.52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0.0205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(2.12)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风险水平控制: 高波动基金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的风险暴露不同，需控制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风险因子对业绩的混淆影响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(家族规模)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公司资源效应: 大型基金公司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可能提供更好的研究支持和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风险管理 (Chen et al., 2004)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9893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98932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注: VIF来自v14扩展模型（最大2.22，远低于阈值10，无多重共线性）。M6系数来自最佳模型(FF4+原始指标+扩展8控制, R^2=0.2679)。基础3个变量在M1/M3/M5中使用，扩展新增5个在M2/M4/M6中追加。8个控制变量中5个在M6中显著。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92240"/>
            <a:ext cx="54864" cy="32004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设计逻辑: 基础3个(log_aum/manager_tenure/fund_age)覆盖「规模-经验-生命周期」三维度; 扩展新增5个(TO_calc/treasury_10y/manager_change/return_volatility/family_size)补充「交易-宏观-人事-风险-公司资源」五维度。基础3+扩展5=8个控制变量，共同构成完整的混淆变量控制体系。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252"/>
  <p:tag name="TABLE_ENDDRAG_RECT" val="36*108*885*252"/>
</p:tagLst>
</file>

<file path=ppt/tags/tag2.xml><?xml version="1.0" encoding="utf-8"?>
<p:tagLst xmlns:p="http://schemas.openxmlformats.org/presentationml/2006/main">
  <p:tag name="TABLE_ENDDRAG_ORIGIN_RECT" val="854*344"/>
  <p:tag name="TABLE_ENDDRAG_RECT" val="36*86*854*344"/>
</p:tagLst>
</file>

<file path=ppt/tags/tag3.xml><?xml version="1.0" encoding="utf-8"?>
<p:tagLst xmlns:p="http://schemas.openxmlformats.org/presentationml/2006/main">
  <p:tag name="TABLE_ENDDRAG_ORIGIN_RECT" val="915*345"/>
  <p:tag name="TABLE_ENDDRAG_RECT" val="21*86*915*34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25650</Words>
  <Application>WPS 演示</Application>
  <PresentationFormat/>
  <Paragraphs>5100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Arial</vt:lpstr>
      <vt:lpstr>黑体</vt:lpstr>
      <vt:lpstr>JetBrains Mono</vt:lpstr>
      <vt:lpstr>FFont-Family</vt:lpstr>
      <vt:lpstr>Courier New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10</cp:revision>
  <dcterms:created xsi:type="dcterms:W3CDTF">2026-08-05T01:04:00Z</dcterms:created>
  <dcterms:modified xsi:type="dcterms:W3CDTF">2026-08-07T02:45:25Z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