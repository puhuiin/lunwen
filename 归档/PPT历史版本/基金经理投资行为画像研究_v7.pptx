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357" r:id="rId4"/>
    <p:sldId id="354" r:id="rId5"/>
    <p:sldId id="377" r:id="rId6"/>
    <p:sldId id="378" r:id="rId7"/>
    <p:sldId id="269" r:id="rId8"/>
    <p:sldId id="379" r:id="rId9"/>
    <p:sldId id="380" r:id="rId10"/>
    <p:sldId id="351" r:id="rId11"/>
    <p:sldId id="271" r:id="rId12"/>
    <p:sldId id="352" r:id="rId13"/>
    <p:sldId id="381" r:id="rId14"/>
    <p:sldId id="382" r:id="rId15"/>
    <p:sldId id="272" r:id="rId16"/>
    <p:sldId id="358" r:id="rId18"/>
    <p:sldId id="383" r:id="rId19"/>
    <p:sldId id="384" r:id="rId20"/>
    <p:sldId id="275" r:id="rId21"/>
    <p:sldId id="353" r:id="rId22"/>
    <p:sldId id="385" r:id="rId23"/>
    <p:sldId id="386" r:id="rId24"/>
    <p:sldId id="361" r:id="rId25"/>
    <p:sldId id="277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87" r:id="rId35"/>
    <p:sldId id="388" r:id="rId36"/>
    <p:sldId id="38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90" r:id="rId45"/>
    <p:sldId id="391" r:id="rId46"/>
    <p:sldId id="392" r:id="rId47"/>
    <p:sldId id="393" r:id="rId51"/>
    <p:sldId id="394" r:id="rId52"/>
    <p:sldId id="395" r:id="rId53"/>
    <p:sldId id="396" r:id="rId54"/>
    <p:sldId id="397" r:id="rId55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ableStyles" Target="tableStyles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479425" y="45085"/>
            <a:ext cx="11229340" cy="727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基金经理行为画像：五层递进框架下的中国基金市场实证研究</a:t>
            </a:r>
            <a:endParaRPr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5891665041-5"/>
          <p:cNvSpPr txBox="1"/>
          <p:nvPr/>
        </p:nvSpPr>
        <p:spPr>
          <a:xfrm>
            <a:off x="46857" y="4491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457200" y="405765"/>
            <a:ext cx="1124712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88" name="TextBox 5"/>
          <p:cNvSpPr txBox="1"/>
          <p:nvPr/>
        </p:nvSpPr>
        <p:spPr>
          <a:xfrm>
            <a:off x="640080" y="45148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800"/>
              <a:t>L1 背景特征</a:t>
            </a:r>
            <a:endParaRPr sz="1800"/>
          </a:p>
        </p:txBody>
      </p:sp>
      <p:sp>
        <p:nvSpPr>
          <p:cNvPr id="89" name="TextBox 6"/>
          <p:cNvSpPr txBox="1"/>
          <p:nvPr/>
        </p:nvSpPr>
        <p:spPr>
          <a:xfrm>
            <a:off x="2743200" y="45148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"经理是谁，面对什么压力"</a:t>
            </a:r>
            <a:endParaRPr sz="1600"/>
          </a:p>
        </p:txBody>
      </p:sp>
      <p:sp>
        <p:nvSpPr>
          <p:cNvPr id="90" name="TextBox 7"/>
          <p:cNvSpPr txBox="1"/>
          <p:nvPr/>
        </p:nvSpPr>
        <p:spPr>
          <a:xfrm>
            <a:off x="6716395" y="571500"/>
            <a:ext cx="494728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CR</a:t>
            </a:r>
            <a:r>
              <a:rPr lang="en-US" sz="1600"/>
              <a:t>(</a:t>
            </a:r>
            <a:r>
              <a:rPr lang="zh-CN" altLang="en-US" sz="1600"/>
              <a:t>累计收益率</a:t>
            </a:r>
            <a:r>
              <a:rPr lang="en-US" sz="1600"/>
              <a:t>)</a:t>
            </a:r>
            <a:r>
              <a:rPr sz="1600"/>
              <a:t>、RAR</a:t>
            </a:r>
            <a:r>
              <a:rPr lang="en-US" sz="1600"/>
              <a:t>(风险调整比率=下半年波动率/上半年波动率)</a:t>
            </a:r>
            <a:r>
              <a:rPr sz="1600"/>
              <a:t>、Loser Dummy</a:t>
            </a:r>
            <a:r>
              <a:rPr lang="en-US" sz="1600"/>
              <a:t>(输家虚拟变量)</a:t>
            </a:r>
            <a:endParaRPr lang="en-US" sz="1600"/>
          </a:p>
        </p:txBody>
      </p:sp>
      <p:sp>
        <p:nvSpPr>
          <p:cNvPr id="91" name="TextBox 8"/>
          <p:cNvSpPr txBox="1"/>
          <p:nvPr/>
        </p:nvSpPr>
        <p:spPr>
          <a:xfrm>
            <a:off x="640080" y="725805"/>
            <a:ext cx="619061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独立结论：排名落后的经理下半年加大风险 → 锦标赛效应存在</a:t>
            </a:r>
            <a:endParaRPr sz="1600"/>
          </a:p>
        </p:txBody>
      </p:sp>
      <p:sp>
        <p:nvSpPr>
          <p:cNvPr id="92" name="Rounded Rectangle 9"/>
          <p:cNvSpPr/>
          <p:nvPr/>
        </p:nvSpPr>
        <p:spPr>
          <a:xfrm>
            <a:off x="457200" y="1411605"/>
            <a:ext cx="11247120" cy="914400"/>
          </a:xfrm>
          <a:prstGeom prst="round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3" name="TextBox 10"/>
          <p:cNvSpPr txBox="1"/>
          <p:nvPr/>
        </p:nvSpPr>
        <p:spPr>
          <a:xfrm>
            <a:off x="640080" y="145732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800"/>
              <a:t>L2 持仓偏离</a:t>
            </a:r>
            <a:endParaRPr sz="1800"/>
          </a:p>
        </p:txBody>
      </p:sp>
      <p:sp>
        <p:nvSpPr>
          <p:cNvPr id="94" name="TextBox 11"/>
          <p:cNvSpPr txBox="1"/>
          <p:nvPr/>
        </p:nvSpPr>
        <p:spPr>
          <a:xfrm>
            <a:off x="2743200" y="145732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"持仓跟基准差多远"</a:t>
            </a:r>
            <a:endParaRPr sz="1600"/>
          </a:p>
        </p:txBody>
      </p:sp>
      <p:sp>
        <p:nvSpPr>
          <p:cNvPr id="95" name="TextBox 12"/>
          <p:cNvSpPr txBox="1"/>
          <p:nvPr/>
        </p:nvSpPr>
        <p:spPr>
          <a:xfrm>
            <a:off x="6788785" y="1560830"/>
            <a:ext cx="47758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AS</a:t>
            </a:r>
            <a:r>
              <a:rPr lang="en-US" sz="1600"/>
              <a:t>(主动份额，基金持仓与基准的偏离程度)</a:t>
            </a:r>
            <a:endParaRPr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ICI</a:t>
            </a:r>
            <a:r>
              <a:rPr lang="en-US" sz="1600"/>
              <a:t>(行业集中度)</a:t>
            </a:r>
            <a:endParaRPr lang="en-US" sz="1600"/>
          </a:p>
        </p:txBody>
      </p:sp>
      <p:sp>
        <p:nvSpPr>
          <p:cNvPr id="96" name="TextBox 13"/>
          <p:cNvSpPr txBox="1"/>
          <p:nvPr/>
        </p:nvSpPr>
        <p:spPr>
          <a:xfrm>
            <a:off x="640080" y="1731645"/>
            <a:ext cx="57594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独立结论：持仓偏离基准越大 → 未来业绩越差</a:t>
            </a:r>
            <a:endParaRPr sz="1600"/>
          </a:p>
        </p:txBody>
      </p:sp>
      <p:sp>
        <p:nvSpPr>
          <p:cNvPr id="97" name="Rounded Rectangle 14"/>
          <p:cNvSpPr/>
          <p:nvPr/>
        </p:nvSpPr>
        <p:spPr>
          <a:xfrm>
            <a:off x="457200" y="2417445"/>
            <a:ext cx="11247120" cy="914400"/>
          </a:xfrm>
          <a:prstGeom prst="roundRect">
            <a:avLst/>
          </a:prstGeom>
          <a:solidFill>
            <a:srgbClr val="FD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98" name="TextBox 15"/>
          <p:cNvSpPr txBox="1"/>
          <p:nvPr/>
        </p:nvSpPr>
        <p:spPr>
          <a:xfrm>
            <a:off x="640080" y="246316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rPr sz="1800"/>
              <a:t>L3 交易行为</a:t>
            </a:r>
            <a:endParaRPr sz="1800"/>
          </a:p>
        </p:txBody>
      </p:sp>
      <p:sp>
        <p:nvSpPr>
          <p:cNvPr id="99" name="TextBox 16"/>
          <p:cNvSpPr txBox="1"/>
          <p:nvPr/>
        </p:nvSpPr>
        <p:spPr>
          <a:xfrm>
            <a:off x="2743200" y="246316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"私下在做什么隐形操作"</a:t>
            </a:r>
            <a:endParaRPr sz="1600"/>
          </a:p>
        </p:txBody>
      </p:sp>
      <p:sp>
        <p:nvSpPr>
          <p:cNvPr id="100" name="TextBox 17"/>
          <p:cNvSpPr txBox="1"/>
          <p:nvPr/>
        </p:nvSpPr>
        <p:spPr>
          <a:xfrm>
            <a:off x="5981065" y="2569210"/>
            <a:ext cx="568515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RG</a:t>
            </a:r>
            <a:r>
              <a:rPr lang="en-US" sz="1600"/>
              <a:t>(收益缺口，实际收益减持仓不变理论收益，捕捉隐形交易)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ARG</a:t>
            </a:r>
            <a:r>
              <a:rPr lang="en-US" sz="1600"/>
              <a:t>(绝对收益缺口，对RG取绝对值再求和)</a:t>
            </a:r>
            <a:endParaRPr lang="en-US" sz="1600"/>
          </a:p>
        </p:txBody>
      </p:sp>
      <p:sp>
        <p:nvSpPr>
          <p:cNvPr id="101" name="TextBox 18"/>
          <p:cNvSpPr txBox="1"/>
          <p:nvPr/>
        </p:nvSpPr>
        <p:spPr>
          <a:xfrm>
            <a:off x="640080" y="2737485"/>
            <a:ext cx="578485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独立结论：隐形交易越频繁 → 隐形成本越高，侵蚀收益</a:t>
            </a:r>
            <a:endParaRPr sz="1600"/>
          </a:p>
        </p:txBody>
      </p:sp>
      <p:sp>
        <p:nvSpPr>
          <p:cNvPr id="102" name="Rounded Rectangle 19"/>
          <p:cNvSpPr/>
          <p:nvPr/>
        </p:nvSpPr>
        <p:spPr>
          <a:xfrm>
            <a:off x="457200" y="3423285"/>
            <a:ext cx="11247120" cy="914400"/>
          </a:xfrm>
          <a:prstGeom prst="round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3" name="TextBox 20"/>
          <p:cNvSpPr txBox="1"/>
          <p:nvPr/>
        </p:nvSpPr>
        <p:spPr>
          <a:xfrm>
            <a:off x="640080" y="346900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L4 风险应对</a:t>
            </a:r>
            <a:endParaRPr sz="1800"/>
          </a:p>
        </p:txBody>
      </p:sp>
      <p:sp>
        <p:nvSpPr>
          <p:cNvPr id="104" name="TextBox 21"/>
          <p:cNvSpPr txBox="1"/>
          <p:nvPr/>
        </p:nvSpPr>
        <p:spPr>
          <a:xfrm>
            <a:off x="2743200" y="3469005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"风格稳不稳定"</a:t>
            </a:r>
            <a:endParaRPr sz="1600"/>
          </a:p>
        </p:txBody>
      </p:sp>
      <p:sp>
        <p:nvSpPr>
          <p:cNvPr id="105" name="TextBox 22"/>
          <p:cNvSpPr txBox="1"/>
          <p:nvPr/>
        </p:nvSpPr>
        <p:spPr>
          <a:xfrm>
            <a:off x="6023610" y="3735070"/>
            <a:ext cx="544258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SDI</a:t>
            </a:r>
            <a:r>
              <a:rPr lang="en-US" sz="1600"/>
              <a:t>(风格漂移指数，相邻两期风格权重变化的曼哈顿距离)</a:t>
            </a:r>
            <a:endParaRPr lang="en-US" sz="1600"/>
          </a:p>
        </p:txBody>
      </p:sp>
      <p:sp>
        <p:nvSpPr>
          <p:cNvPr id="106" name="TextBox 23"/>
          <p:cNvSpPr txBox="1"/>
          <p:nvPr/>
        </p:nvSpPr>
        <p:spPr>
          <a:xfrm>
            <a:off x="640080" y="3743325"/>
            <a:ext cx="600964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独立结论：风格漂移与业绩呈U型 → 适度漂移最好</a:t>
            </a:r>
            <a:endParaRPr sz="1600"/>
          </a:p>
        </p:txBody>
      </p:sp>
      <p:sp>
        <p:nvSpPr>
          <p:cNvPr id="107" name="Rounded Rectangle 24"/>
          <p:cNvSpPr/>
          <p:nvPr/>
        </p:nvSpPr>
        <p:spPr>
          <a:xfrm>
            <a:off x="457200" y="4429125"/>
            <a:ext cx="11247120" cy="91440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3200"/>
          </a:p>
        </p:txBody>
      </p:sp>
      <p:sp>
        <p:nvSpPr>
          <p:cNvPr id="108" name="TextBox 25"/>
          <p:cNvSpPr txBox="1"/>
          <p:nvPr/>
        </p:nvSpPr>
        <p:spPr>
          <a:xfrm>
            <a:off x="640080" y="4474845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1100" b="1">
                <a:solidFill>
                  <a:srgbClr val="6A1B9A"/>
                </a:solidFill>
                <a:latin typeface="微软雅黑" panose="020B0503020204020204" charset="-122"/>
              </a:defRPr>
            </a:pPr>
            <a:r>
              <a:rPr sz="1800"/>
              <a:t>L5 认知偏差</a:t>
            </a:r>
            <a:endParaRPr sz="1800"/>
          </a:p>
        </p:txBody>
      </p:sp>
      <p:sp>
        <p:nvSpPr>
          <p:cNvPr id="109" name="TextBox 26"/>
          <p:cNvSpPr txBox="1"/>
          <p:nvPr/>
        </p:nvSpPr>
        <p:spPr>
          <a:xfrm>
            <a:off x="2743200" y="4474845"/>
            <a:ext cx="4301490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"是否过度自信，业绩可预测吗"</a:t>
            </a:r>
            <a:endParaRPr sz="1600"/>
          </a:p>
        </p:txBody>
      </p:sp>
      <p:sp>
        <p:nvSpPr>
          <p:cNvPr id="110" name="TextBox 27"/>
          <p:cNvSpPr txBox="1"/>
          <p:nvPr/>
        </p:nvSpPr>
        <p:spPr>
          <a:xfrm>
            <a:off x="7175500" y="4625975"/>
            <a:ext cx="4293235" cy="5835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OCI</a:t>
            </a:r>
            <a:r>
              <a:rPr lang="en-US" sz="1600"/>
              <a:t>(</a:t>
            </a:r>
            <a:r>
              <a:rPr sz="1600"/>
              <a:t>过度自信指数，换手率Z-score标准化</a:t>
            </a:r>
            <a:r>
              <a:rPr lang="en-US" sz="1600"/>
              <a:t>)</a:t>
            </a:r>
            <a:endParaRPr lang="en-US" sz="1600"/>
          </a:p>
          <a:p>
            <a:pPr>
              <a:defRPr sz="900" b="1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PS</a:t>
            </a:r>
            <a:r>
              <a:rPr lang="en-US" sz="1600"/>
              <a:t>(不可预测性分数)</a:t>
            </a:r>
            <a:endParaRPr lang="en-US" sz="1600"/>
          </a:p>
        </p:txBody>
      </p:sp>
      <p:sp>
        <p:nvSpPr>
          <p:cNvPr id="111" name="TextBox 28"/>
          <p:cNvSpPr txBox="1"/>
          <p:nvPr/>
        </p:nvSpPr>
        <p:spPr>
          <a:xfrm>
            <a:off x="640080" y="4749165"/>
            <a:ext cx="5640705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独立结论：换手率越高（过度自信）→ 业绩越差，且不可逆</a:t>
            </a:r>
            <a:endParaRPr sz="1600"/>
          </a:p>
        </p:txBody>
      </p:sp>
      <p:sp>
        <p:nvSpPr>
          <p:cNvPr id="112" name="文本框 111"/>
          <p:cNvSpPr txBox="1"/>
          <p:nvPr/>
        </p:nvSpPr>
        <p:spPr>
          <a:xfrm>
            <a:off x="52705" y="5570855"/>
            <a:ext cx="91840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i="0">
                <a:solidFill>
                  <a:schemeClr val="tx1"/>
                </a:solidFill>
                <a:latin typeface="JetBrains Mono"/>
                <a:ea typeface="JetBrains Mono"/>
              </a:rPr>
              <a:t>多指标联合回归：业绩 </a:t>
            </a:r>
            <a:r>
              <a:rPr lang="en-US" altLang="zh-CN" sz="1800" i="0">
                <a:solidFill>
                  <a:schemeClr val="tx1"/>
                </a:solidFill>
                <a:latin typeface="JetBrains Mono"/>
                <a:ea typeface="JetBrains Mono"/>
              </a:rPr>
              <a:t>= α + β1·Loser + β2·AS + β3·ARG + β4·SDI + β5·OCI + ε</a:t>
            </a:r>
            <a:endParaRPr lang="en-US" altLang="zh-CN" sz="1800" i="0">
              <a:solidFill>
                <a:schemeClr val="tx1"/>
              </a:solidFill>
              <a:latin typeface="JetBrains Mono"/>
              <a:ea typeface="JetBrains Mono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-20320" y="6237605"/>
            <a:ext cx="971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行为画像打分Profile Score = w1·L1得分 + w2·L2得分 + w3·L3得分 + w4·L4得分 + w5·L5得分</a:t>
            </a:r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456420" y="5497830"/>
            <a:ext cx="235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哪个解释</a:t>
            </a:r>
            <a:r>
              <a:rPr lang="zh-CN" altLang="en-US"/>
              <a:t>效果最强</a:t>
            </a:r>
            <a:endParaRPr lang="zh-CN" altLang="en-US"/>
          </a:p>
        </p:txBody>
      </p:sp>
      <p:sp>
        <p:nvSpPr>
          <p:cNvPr id="115" name="文本框 114"/>
          <p:cNvSpPr txBox="1"/>
          <p:nvPr/>
        </p:nvSpPr>
        <p:spPr>
          <a:xfrm>
            <a:off x="9552305" y="6109335"/>
            <a:ext cx="2475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画像总评分对基金业绩的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380" y="188595"/>
            <a:ext cx="50203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L1 背景特征层：BHS锦标赛压力与经理特征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1990"/>
            <a:ext cx="5212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BHS锦标赛理论 (Brown, Harlow &amp; Starks, 1996 JF)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835" y="1052830"/>
            <a:ext cx="5207635" cy="517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核心思想：基金经理在年中排名落后时（输家），会在下半年增加风险以"翻盘"；排名领先时（赢家）则保守降险。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BHS方法三步骤：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① 排序期(1-6月)：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计算累积收益率CR，按同类基金排名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② 分组：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以</a:t>
            </a:r>
            <a:r>
              <a:rPr sz="1600" i="1" u="sng">
                <a:solidFill>
                  <a:schemeClr val="tx1"/>
                </a:solidFill>
              </a:rPr>
              <a:t>中位数为界</a:t>
            </a:r>
            <a:r>
              <a:rPr sz="1600">
                <a:solidFill>
                  <a:schemeClr val="tx1"/>
                </a:solidFill>
              </a:rPr>
              <a:t>，分为赢家(上半)和输家(下半)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③ 测试期(7-12月)：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计算风险调整比率RAR=σ(下半年)/σ(上半年)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锦标赛效应检验：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输家RAR &gt; 赢家RAR → 锦标赛效应存在</a:t>
            </a:r>
            <a:endParaRPr sz="16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</a:rPr>
              <a:t>输家增险翻盘，赢家保守守成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17870" y="167005"/>
            <a:ext cx="6281420" cy="64833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6130" y="260350"/>
            <a:ext cx="37325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 panose="020B0503020204020204" charset="-122"/>
              </a:defRPr>
            </a:pPr>
            <a:r>
              <a:rPr sz="1600"/>
              <a:t>BHS案例：经理A(输家) vs 经理B(赢家)</a:t>
            </a:r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400800" y="771525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492240" y="718185"/>
            <a:ext cx="2286000" cy="4178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经理A（新手·输家）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29325" y="1091565"/>
            <a:ext cx="2956560" cy="2593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从业2.5年，管理规模15亿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上半年CR=-2.0%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（排名后30%→输家）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1.21%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1.91%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RAR = 1.91/1.21 = 1.58 &gt; 1 →增险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行为：下半年重仓半导体追涨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600"/>
              <a:t>结果：业绩进一步恶化（-5%）</a:t>
            </a:r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9144000" y="771525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235440" y="717550"/>
            <a:ext cx="2286000" cy="418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经理B（老手·赢家）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9048115" y="1093470"/>
            <a:ext cx="2858135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从业8年，管理规模50亿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上半年CR=+6.1%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（排名前30%→赢家）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排序期σ_rank = 0.89%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600"/>
              <a:t>测试期σ_test = 0.52%</a:t>
            </a:r>
            <a:endParaRPr sz="1600"/>
          </a:p>
          <a:p>
            <a:pPr algn="ctr"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RAR = 0.52/0.89 = 0.58 &lt; 1 →降险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1600"/>
              <a:t>行为：下半年维持均衡配置</a:t>
            </a:r>
            <a:endParaRPr sz="1600"/>
          </a:p>
          <a:p>
            <a:pPr algn="ctr"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rPr sz="1600"/>
              <a:t>结果：业绩稳定增长（+3%）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224905" y="4471670"/>
            <a:ext cx="57169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rPr sz="1800"/>
              <a:t>输家RAR(1.58) &gt; 赢家RAR(0.58) → 锦标赛效应验证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38570" y="5083175"/>
            <a:ext cx="539051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 panose="020B0503020204020204" charset="-122"/>
              </a:defRPr>
            </a:pPr>
            <a:r>
              <a:rPr sz="2000"/>
              <a:t>从业年限短→职业忧虑强→锦标赛效应更明显</a:t>
            </a:r>
            <a:endParaRPr sz="2000"/>
          </a:p>
        </p:txBody>
      </p:sp>
      <p:cxnSp>
        <p:nvCxnSpPr>
          <p:cNvPr id="3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10" descr="bhs_c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997327"/>
            <a:ext cx="2743200" cy="657461"/>
          </a:xfrm>
          <a:prstGeom prst="rect">
            <a:avLst/>
          </a:prstGeom>
        </p:spPr>
      </p:pic>
      <p:sp>
        <p:nvSpPr>
          <p:cNvPr id="3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BHS/CR/RAR 三指标递进 | 虚拟变量 → 连续排名 | Logistic → 动态面板GMM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371600"/>
          <a:ext cx="11247120" cy="321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803275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核心任务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方法与预期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1.0阶段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用BHS虚拟变量(排名下降&gt;中位数=1)识别锦标赛行为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基础Logistic回归，验证锦标赛压力存在性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2.0阶段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引入CR(累计收益)和RAR(排名变化幅度)丰富指标，加入经理特征交互项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多元Logistic，检验教育/CFA对锦标赛行为的调节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803275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3.0阶段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用连续排名变量替代0/1虚拟变量，动态面板GMM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检验锦标赛效应持续性，解决内生性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递进逻辑：1.0验证锦标赛压力存在性 → 2.0丰富指标并检验异质性 → 3.0解决内生性问题。CR和RAR是对BHS(0/1虚拟变量)的重要补充，连续排名变量能捕捉锦标赛压力的强度信息。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L1锦标赛行为层：数据样例与描述性统计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BHS均值0.4894(近半数触发) | CR右偏(偏度2.06) | RAR中位数0.2776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1737360"/>
                <a:gridCol w="173736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year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quarter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0.5612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0.2103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387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40233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1380" y="5537200"/>
            <a:ext cx="10891520" cy="553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BHS均值0.4894意味着近半数基金季度触发锦标赛行为；CR偏度2.06呈右偏分布，少数基金累积收益极高；RAR分布近对称，中位数0.2776，排名变动幅度适中。BHS峰度-1.9987(扁平分布)符合0/1虚拟变量特征。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rcRect l="20334" t="13907" r="18245" b="17821"/>
          <a:stretch>
            <a:fillRect/>
          </a:stretch>
        </p:blipFill>
        <p:spPr>
          <a:xfrm>
            <a:off x="1343025" y="1701165"/>
            <a:ext cx="4115435" cy="963295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825615" y="244475"/>
            <a:ext cx="5363210" cy="52787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5891666418-25"/>
          <p:cNvSpPr txBox="1"/>
          <p:nvPr/>
        </p:nvSpPr>
        <p:spPr>
          <a:xfrm>
            <a:off x="628493" y="590773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269875" y="321246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1045845" y="3071495"/>
            <a:ext cx="520636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269875" y="3893820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1181735" y="3873500"/>
            <a:ext cx="467804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269875" y="4575175"/>
            <a:ext cx="112395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713230" y="4549775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269875" y="5256530"/>
            <a:ext cx="1267460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bench</a:t>
            </a:r>
            <a:r>
              <a:rPr lang="zh-CN" altLang="en-US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，</a:t>
            </a:r>
            <a:r>
              <a:rPr lang="en-US" altLang="zh-CN" sz="2400" b="1" baseline="-25000">
                <a:solidFill>
                  <a:srgbClr val="B91C1C"/>
                </a:solidFill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i</a:t>
            </a:r>
            <a:endParaRPr lang="en-US" altLang="zh-CN" sz="2400" b="1" baseline="-25000">
              <a:solidFill>
                <a:srgbClr val="B91C1C"/>
              </a:solidFill>
              <a:latin typeface="Courier New" panose="02070309020205020404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697355" y="5226050"/>
            <a:ext cx="455485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269875" y="5937885"/>
            <a:ext cx="90233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1442720" y="5902325"/>
            <a:ext cx="4105275" cy="213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7176135" y="476885"/>
            <a:ext cx="390715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7247890" y="2847975"/>
            <a:ext cx="4577080" cy="10864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en-US"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 3%+7%+3%+89.1% = 102.1%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7392035" y="4149090"/>
            <a:ext cx="3902075" cy="6915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6221-17"/>
          <p:cNvSpPr txBox="1"/>
          <p:nvPr/>
        </p:nvSpPr>
        <p:spPr>
          <a:xfrm>
            <a:off x="622935" y="1168400"/>
            <a:ext cx="5784215" cy="485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AS=0 完全复制，AS=1 完全不同。AS&gt;0.6 为主动选股型。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9" name="el-1785891666223-22"/>
          <p:cNvSpPr/>
          <p:nvPr/>
        </p:nvSpPr>
        <p:spPr>
          <a:xfrm>
            <a:off x="6967039" y="902672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cxnSp>
        <p:nvCxnSpPr>
          <p:cNvPr id="110" name="el-1785891666270-33"/>
          <p:cNvCxnSpPr/>
          <p:nvPr/>
        </p:nvCxnSpPr>
        <p:spPr>
          <a:xfrm>
            <a:off x="7081310" y="1526404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el-1785891666268-30"/>
          <p:cNvSpPr txBox="1"/>
          <p:nvPr/>
        </p:nvSpPr>
        <p:spPr>
          <a:xfrm>
            <a:off x="7081310" y="978853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" name="el-1785891666273-35"/>
          <p:cNvSpPr txBox="1"/>
          <p:nvPr/>
        </p:nvSpPr>
        <p:spPr>
          <a:xfrm>
            <a:off x="7081310" y="126453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3" name="el-1785891666274-36"/>
          <p:cNvSpPr txBox="1"/>
          <p:nvPr/>
        </p:nvSpPr>
        <p:spPr>
          <a:xfrm>
            <a:off x="8612548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4" name="el-1785891666274-37"/>
          <p:cNvSpPr txBox="1"/>
          <p:nvPr/>
        </p:nvSpPr>
        <p:spPr>
          <a:xfrm>
            <a:off x="9729819" y="126453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el-1785891666274-38"/>
          <p:cNvSpPr txBox="1"/>
          <p:nvPr/>
        </p:nvSpPr>
        <p:spPr>
          <a:xfrm>
            <a:off x="10847090" y="126453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el-1785891666274-39"/>
          <p:cNvSpPr txBox="1"/>
          <p:nvPr/>
        </p:nvSpPr>
        <p:spPr>
          <a:xfrm>
            <a:off x="7081310" y="155021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" name="el-1785891666274-40"/>
          <p:cNvSpPr txBox="1"/>
          <p:nvPr/>
        </p:nvSpPr>
        <p:spPr>
          <a:xfrm>
            <a:off x="8612548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el-1785891666274-41"/>
          <p:cNvSpPr txBox="1"/>
          <p:nvPr/>
        </p:nvSpPr>
        <p:spPr>
          <a:xfrm>
            <a:off x="9729819" y="155021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" name="el-1785891666274-42"/>
          <p:cNvSpPr txBox="1"/>
          <p:nvPr/>
        </p:nvSpPr>
        <p:spPr>
          <a:xfrm>
            <a:off x="10847090" y="155021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el-1785891666275-43"/>
          <p:cNvSpPr txBox="1"/>
          <p:nvPr/>
        </p:nvSpPr>
        <p:spPr>
          <a:xfrm>
            <a:off x="7081310" y="181684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" name="el-1785891666275-44"/>
          <p:cNvSpPr txBox="1"/>
          <p:nvPr/>
        </p:nvSpPr>
        <p:spPr>
          <a:xfrm>
            <a:off x="8612548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el-1785891666275-45"/>
          <p:cNvSpPr txBox="1"/>
          <p:nvPr/>
        </p:nvSpPr>
        <p:spPr>
          <a:xfrm>
            <a:off x="9729819" y="181684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3" name="el-1785891666275-46"/>
          <p:cNvSpPr txBox="1"/>
          <p:nvPr/>
        </p:nvSpPr>
        <p:spPr>
          <a:xfrm>
            <a:off x="10847090" y="181684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el-1785891666275-47"/>
          <p:cNvSpPr txBox="1"/>
          <p:nvPr/>
        </p:nvSpPr>
        <p:spPr>
          <a:xfrm>
            <a:off x="7081310" y="208347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5" name="el-1785891666275-48"/>
          <p:cNvSpPr txBox="1"/>
          <p:nvPr/>
        </p:nvSpPr>
        <p:spPr>
          <a:xfrm>
            <a:off x="8612548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el-1785891666275-49"/>
          <p:cNvSpPr txBox="1"/>
          <p:nvPr/>
        </p:nvSpPr>
        <p:spPr>
          <a:xfrm>
            <a:off x="9729819" y="208347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7" name="el-1785891666276-50"/>
          <p:cNvSpPr txBox="1"/>
          <p:nvPr/>
        </p:nvSpPr>
        <p:spPr>
          <a:xfrm>
            <a:off x="10847090" y="208347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7058660" y="2421255"/>
            <a:ext cx="4994910" cy="2152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其余297只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0.30%</a:t>
            </a:r>
            <a:r>
              <a:rPr lang="en-US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6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0.30%</a:t>
            </a:r>
            <a:endParaRPr sz="16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9" name="el-1785891666218-10"/>
          <p:cNvSpPr txBox="1"/>
          <p:nvPr/>
        </p:nvSpPr>
        <p:spPr>
          <a:xfrm>
            <a:off x="119380" y="116840"/>
            <a:ext cx="65309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AS/AS_improved | 等权基准 → 真实成分股权重 | OLS → IV估计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用等权基准计算AS(原始版)，所有股票等权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基础OLS，验证AS对业绩预测力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用沪深300+中证500真实成分股权重计算AS_improved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最常见值占比从61.8%降至0.2%，数据质量大幅提升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按持仓明细级别计算AS，引入行业层面AS分解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考虑基准选择内生性，做IV估计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AS改进是v14核心贡献：等权基准下AS最常见值占比61.8%（严重集中），改用沪深300+中证500真实成分股权重后降至0.2%，数据质量大幅提升。3.0阶段将进一步按持仓明细级别计算并做IV估计。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L2主动管理层：数据样例与描述性统计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AS最常见值占比61.8% → AS_improved降至0.2% | 均值约0.83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400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0.8412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0.8523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0.8296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0.9482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-0.3553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3.9328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AS与AS_improved均值接近(0.831 vs 0.830)，但AS最常见值0.8325在原始版占比61.8%，改进后降至0.2%，说明改进版能更好区分基金的主动管理程度。AS偏度-0.46(左偏)，峰度3.82接近正态，AS_improved分布形态更优。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1"/>
          <a:srcRect l="18336" t="12271" r="18498" b="14480"/>
          <a:stretch>
            <a:fillRect/>
          </a:stretch>
        </p:blipFill>
        <p:spPr>
          <a:xfrm>
            <a:off x="1199515" y="1917065"/>
            <a:ext cx="4464685" cy="989330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590030" y="906780"/>
            <a:ext cx="5455285" cy="43808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5891666420-30"/>
          <p:cNvSpPr txBox="1"/>
          <p:nvPr/>
        </p:nvSpPr>
        <p:spPr>
          <a:xfrm>
            <a:off x="628650" y="763905"/>
            <a:ext cx="204406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413385" y="3184525"/>
            <a:ext cx="1117600" cy="485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1775460" y="3282315"/>
            <a:ext cx="4040505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0=完全分散，1=单一行业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407035" y="3928745"/>
            <a:ext cx="1391285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2043430" y="4074795"/>
            <a:ext cx="370268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385445" y="4611370"/>
            <a:ext cx="114554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lang="en-US" altLang="en-US"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market,j</a:t>
            </a:r>
            <a:endParaRPr lang="en-US" altLang="en-US"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1957070" y="4810125"/>
            <a:ext cx="4524375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413385" y="5260340"/>
            <a:ext cx="1117600" cy="618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1637030" y="5443855"/>
            <a:ext cx="4953000" cy="231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7084060" y="979170"/>
            <a:ext cx="428942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7248525" y="3636645"/>
            <a:ext cx="4284345" cy="8401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222-20"/>
          <p:cNvSpPr txBox="1"/>
          <p:nvPr/>
        </p:nvSpPr>
        <p:spPr>
          <a:xfrm>
            <a:off x="1838960" y="1167765"/>
            <a:ext cx="3752850" cy="612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 AS 互补：个股层 vs 行业层。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24-24"/>
          <p:cNvSpPr/>
          <p:nvPr/>
        </p:nvSpPr>
        <p:spPr>
          <a:xfrm>
            <a:off x="6787197" y="1529795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>
            <a:endParaRPr sz="2800"/>
          </a:p>
        </p:txBody>
      </p:sp>
      <p:cxnSp>
        <p:nvCxnSpPr>
          <p:cNvPr id="63" name="el-1785891666271-34"/>
          <p:cNvCxnSpPr/>
          <p:nvPr/>
        </p:nvCxnSpPr>
        <p:spPr>
          <a:xfrm>
            <a:off x="6901468" y="2153527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el-1785891666269-32"/>
          <p:cNvSpPr txBox="1"/>
          <p:nvPr/>
        </p:nvSpPr>
        <p:spPr>
          <a:xfrm>
            <a:off x="6901468" y="1605976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76-51"/>
          <p:cNvSpPr txBox="1"/>
          <p:nvPr/>
        </p:nvSpPr>
        <p:spPr>
          <a:xfrm>
            <a:off x="6901468" y="189165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76-52"/>
          <p:cNvSpPr txBox="1"/>
          <p:nvPr/>
        </p:nvSpPr>
        <p:spPr>
          <a:xfrm>
            <a:off x="8432705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76-53"/>
          <p:cNvSpPr txBox="1"/>
          <p:nvPr/>
        </p:nvSpPr>
        <p:spPr>
          <a:xfrm>
            <a:off x="9549976" y="189165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60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6276-54"/>
          <p:cNvSpPr txBox="1"/>
          <p:nvPr/>
        </p:nvSpPr>
        <p:spPr>
          <a:xfrm>
            <a:off x="10667247" y="189165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6276-55"/>
          <p:cNvSpPr txBox="1"/>
          <p:nvPr/>
        </p:nvSpPr>
        <p:spPr>
          <a:xfrm>
            <a:off x="6901468" y="2177333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6277-56"/>
          <p:cNvSpPr txBox="1"/>
          <p:nvPr/>
        </p:nvSpPr>
        <p:spPr>
          <a:xfrm>
            <a:off x="8432705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6277-57"/>
          <p:cNvSpPr txBox="1"/>
          <p:nvPr/>
        </p:nvSpPr>
        <p:spPr>
          <a:xfrm>
            <a:off x="9549976" y="2177333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6277-58"/>
          <p:cNvSpPr txBox="1"/>
          <p:nvPr/>
        </p:nvSpPr>
        <p:spPr>
          <a:xfrm>
            <a:off x="10667247" y="2177333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el-1785891666277-59"/>
          <p:cNvSpPr txBox="1"/>
          <p:nvPr/>
        </p:nvSpPr>
        <p:spPr>
          <a:xfrm>
            <a:off x="6901468" y="244396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el-1785891666277-60"/>
          <p:cNvSpPr txBox="1"/>
          <p:nvPr/>
        </p:nvSpPr>
        <p:spPr>
          <a:xfrm>
            <a:off x="8432705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el-1785891666277-61"/>
          <p:cNvSpPr txBox="1"/>
          <p:nvPr/>
        </p:nvSpPr>
        <p:spPr>
          <a:xfrm>
            <a:off x="9549976" y="244396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el-1785891666277-62"/>
          <p:cNvSpPr txBox="1"/>
          <p:nvPr/>
        </p:nvSpPr>
        <p:spPr>
          <a:xfrm>
            <a:off x="10667247" y="244396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7" name="el-1785891666278-63"/>
          <p:cNvSpPr txBox="1"/>
          <p:nvPr/>
        </p:nvSpPr>
        <p:spPr>
          <a:xfrm>
            <a:off x="6901468" y="271060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el-1785891666278-64"/>
          <p:cNvSpPr txBox="1"/>
          <p:nvPr/>
        </p:nvSpPr>
        <p:spPr>
          <a:xfrm>
            <a:off x="8432705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9" name="el-1785891666278-65"/>
          <p:cNvSpPr txBox="1"/>
          <p:nvPr/>
        </p:nvSpPr>
        <p:spPr>
          <a:xfrm>
            <a:off x="9549976" y="271060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el-1785891666278-66"/>
          <p:cNvSpPr txBox="1"/>
          <p:nvPr/>
        </p:nvSpPr>
        <p:spPr>
          <a:xfrm>
            <a:off x="10667247" y="271060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r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680835" y="2851150"/>
            <a:ext cx="5180965" cy="52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</a:t>
            </a:r>
            <a:r>
              <a:rPr lang="en-US" altLang="en-US"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合计≈</a:t>
            </a:r>
            <a:r>
              <a:rPr sz="18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0.38%</a:t>
            </a:r>
            <a:endParaRPr sz="18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el-1785891666218-10"/>
          <p:cNvSpPr txBox="1"/>
          <p:nvPr/>
        </p:nvSpPr>
        <p:spPr>
          <a:xfrm>
            <a:off x="191002" y="11673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</a:t>
            </a:r>
            <a:r>
              <a:rPr lang="zh-CN" altLang="en-US"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lang="zh-CN" altLang="en-US"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rcRect l="23282" t="19815" r="22807" b="28622"/>
          <a:stretch>
            <a:fillRect/>
          </a:stretch>
        </p:blipFill>
        <p:spPr>
          <a:xfrm>
            <a:off x="1127125" y="1509395"/>
            <a:ext cx="4639310" cy="675005"/>
          </a:xfrm>
          <a:prstGeom prst="rect">
            <a:avLst/>
          </a:prstGeom>
          <a:ln>
            <a:noFill/>
          </a:ln>
        </p:spPr>
      </p:pic>
      <p:sp>
        <p:nvSpPr>
          <p:cNvPr id="7" name="el-1785891666521-11"/>
          <p:cNvSpPr/>
          <p:nvPr/>
        </p:nvSpPr>
        <p:spPr>
          <a:xfrm>
            <a:off x="6809105" y="316865"/>
            <a:ext cx="5290185" cy="62160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6568-44"/>
          <p:cNvSpPr txBox="1"/>
          <p:nvPr/>
        </p:nvSpPr>
        <p:spPr>
          <a:xfrm>
            <a:off x="485140" y="2406650"/>
            <a:ext cx="62674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1701800" y="2440940"/>
            <a:ext cx="4551045" cy="2647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485140" y="297751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696085" y="2997200"/>
            <a:ext cx="478091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485140" y="3547745"/>
            <a:ext cx="78041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704975" y="3536950"/>
            <a:ext cx="497967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485140" y="411797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1704975" y="4108450"/>
            <a:ext cx="350583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485140" y="468820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1706880" y="4664075"/>
            <a:ext cx="3453765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485140" y="5258435"/>
            <a:ext cx="626745" cy="145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1706245" y="5219700"/>
            <a:ext cx="3930650" cy="263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229235" y="6021070"/>
            <a:ext cx="6204585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8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8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7424420" y="476250"/>
            <a:ext cx="444500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24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031990" y="1235710"/>
            <a:ext cx="4956234" cy="3143885"/>
            <a:chOff x="11269" y="2144"/>
            <a:chExt cx="7143" cy="4951"/>
          </a:xfrm>
        </p:grpSpPr>
        <p:sp>
          <p:nvSpPr>
            <p:cNvPr id="34" name="el-1785891666550-19"/>
            <p:cNvSpPr txBox="1"/>
            <p:nvPr/>
          </p:nvSpPr>
          <p:spPr>
            <a:xfrm>
              <a:off x="11269" y="214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[1]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上季度末持仓：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茅台8%、宁德7%、招行5%、现金80%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el-1785891666551-20"/>
            <p:cNvSpPr txBox="1"/>
            <p:nvPr/>
          </p:nvSpPr>
          <p:spPr>
            <a:xfrm>
              <a:off x="11269" y="2965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[2]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本季个股收益：茅台+5%, 宁德+12%, 招行-2%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el-1785891666551-21"/>
            <p:cNvSpPr txBox="1"/>
            <p:nvPr/>
          </p:nvSpPr>
          <p:spPr>
            <a:xfrm>
              <a:off x="11269" y="446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　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hold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0.08×5% + 0.07×12% + 0.05×(-2%) </a:t>
              </a:r>
              <a:endPara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en-US"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0.4%+0.84%-0.1%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1.14%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el-1785891666552-22"/>
            <p:cNvSpPr txBox="1"/>
            <p:nvPr/>
          </p:nvSpPr>
          <p:spPr>
            <a:xfrm>
              <a:off x="11269" y="5963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[3]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基金实际净值增长率 R</a:t>
              </a:r>
              <a:r>
                <a:rPr sz="1600" baseline="300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fund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2.50%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el-1785891666553-23"/>
            <p:cNvSpPr txBox="1"/>
            <p:nvPr/>
          </p:nvSpPr>
          <p:spPr>
            <a:xfrm>
              <a:off x="11269" y="6784"/>
              <a:ext cx="7143" cy="31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l">
                <a:lnSpc>
                  <a:spcPct val="100000"/>
                </a:lnSpc>
              </a:pPr>
              <a:r>
                <a:rPr sz="1600" b="1">
                  <a:solidFill>
                    <a:srgbClr val="B91C1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[4]</a:t>
              </a:r>
              <a:r>
                <a:rPr sz="1600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RG = 2.50% - 1.14% = </a:t>
              </a:r>
              <a:r>
                <a:rPr sz="1600" b="1">
                  <a:solidFill>
                    <a:srgbClr val="4B556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1.36%</a:t>
              </a:r>
              <a:endPara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" name="el-1785891666558-32"/>
          <p:cNvSpPr txBox="1"/>
          <p:nvPr/>
        </p:nvSpPr>
        <p:spPr>
          <a:xfrm>
            <a:off x="7175500" y="4991100"/>
            <a:ext cx="494284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经理主动操作（加仓/减仓/择时）贡献了正收益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17"/>
          <p:cNvSpPr txBox="1"/>
          <p:nvPr/>
        </p:nvSpPr>
        <p:spPr>
          <a:xfrm>
            <a:off x="1055370" y="727710"/>
            <a:ext cx="5104130" cy="565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6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6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1"/>
          <a:srcRect l="27730" t="16443" r="28665" b="14425"/>
          <a:stretch>
            <a:fillRect/>
          </a:stretch>
        </p:blipFill>
        <p:spPr>
          <a:xfrm>
            <a:off x="2063115" y="2313940"/>
            <a:ext cx="2370455" cy="718185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532245" y="619125"/>
            <a:ext cx="5603875" cy="54038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5891666558-34"/>
          <p:cNvSpPr txBox="1"/>
          <p:nvPr/>
        </p:nvSpPr>
        <p:spPr>
          <a:xfrm>
            <a:off x="478633" y="76450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556895" y="3375025"/>
            <a:ext cx="794385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1776730" y="3357880"/>
            <a:ext cx="4361180" cy="173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556895" y="404114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1776730" y="3952240"/>
            <a:ext cx="4615180" cy="3390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556895" y="456311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1776730" y="4474210"/>
            <a:ext cx="4533900" cy="3340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556895" y="5085080"/>
            <a:ext cx="794385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24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1776730" y="4996180"/>
            <a:ext cx="4458970" cy="443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725285" y="1087755"/>
            <a:ext cx="388429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725285" y="1397000"/>
            <a:ext cx="4906010" cy="321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725285" y="1955165"/>
            <a:ext cx="4906010" cy="320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2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20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725285" y="2736215"/>
            <a:ext cx="5100955" cy="1243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</a:t>
            </a:r>
            <a:r>
              <a:rPr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|+1.36%| + |-0.50%| + |+0.80%| + |+0.30%|</a:t>
            </a:r>
            <a:endParaRPr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1.36 + 0.50 + 0.80 + 0.30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= </a:t>
            </a:r>
            <a:r>
              <a:rPr sz="2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2.96%/年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647180" y="4441190"/>
            <a:ext cx="5509895" cy="676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隐形交易总强度约3%/年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（非方向性，衡量交易活跃度）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6453-10"/>
          <p:cNvSpPr txBox="1"/>
          <p:nvPr/>
        </p:nvSpPr>
        <p:spPr>
          <a:xfrm>
            <a:off x="106045" y="165100"/>
            <a:ext cx="626427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3" name="el-1785891666456-20"/>
          <p:cNvSpPr txBox="1"/>
          <p:nvPr/>
        </p:nvSpPr>
        <p:spPr>
          <a:xfrm>
            <a:off x="911225" y="1398270"/>
            <a:ext cx="5104130" cy="6153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正负相抵会低估交易强度。取绝对值后加总，更准确反映隐形交易的总规模。</a:t>
            </a:r>
            <a:endParaRPr sz="1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ICI/RG/ARG | 基础OLS → Fama-MacBeth → PSM因果推断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计算ICI(行业集中度)和RG(换手增长率)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季度面板基础OLS回归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计算ARG(绝对值平滑)，引入FF4因子调整收益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Fama-MacBeth截面回归，多重检验校正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PSM因果推断，中介效应分析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通过换手率/波动率传导路径检验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三阶段递进：1.0建立基础面板回归 → 2.0引入FF4因子调整收益并做Fama-MacBeth截面回归 → 3.0通过PSM因果推断和中介效应分析检验传导机制。ARG是对RG的绝对值平滑处理，减少了正负抵消问题。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L3行业配置与交易行为层：数据样例与描述性统计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ICI右偏(偏度1.31) | RG近对称 | ARG右偏(偏度1.50)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583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0.0456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0.0789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0.2890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ICI偏度1.31呈右偏，少数基金行业高度集中；RG均值接近0(-0.0019)，换手率变化总体平稳；ARG均值0.2415右偏(偏度1.50)，反映部分基金交易行为波动较大。RG峰度3.37接近正态分布。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400" y="1114425"/>
            <a:ext cx="5993765" cy="48393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6859-18"/>
          <p:cNvSpPr/>
          <p:nvPr/>
        </p:nvSpPr>
        <p:spPr>
          <a:xfrm>
            <a:off x="742950" y="3729355"/>
            <a:ext cx="5603875" cy="2051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3200"/>
          </a:p>
        </p:txBody>
      </p:sp>
      <p:sp>
        <p:nvSpPr>
          <p:cNvPr id="8" name="el-1785891666855-12"/>
          <p:cNvSpPr/>
          <p:nvPr/>
        </p:nvSpPr>
        <p:spPr>
          <a:xfrm>
            <a:off x="6875780" y="1113790"/>
            <a:ext cx="4994910" cy="47701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7056820" y="203535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0" name="el-1785891666859-20"/>
          <p:cNvSpPr/>
          <p:nvPr/>
        </p:nvSpPr>
        <p:spPr>
          <a:xfrm>
            <a:off x="7056820" y="3064431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1" name="el-1785891666860-21"/>
          <p:cNvSpPr/>
          <p:nvPr/>
        </p:nvSpPr>
        <p:spPr>
          <a:xfrm>
            <a:off x="7056820" y="409351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2" name="el-1785891666860-22"/>
          <p:cNvSpPr/>
          <p:nvPr/>
        </p:nvSpPr>
        <p:spPr>
          <a:xfrm>
            <a:off x="7056820" y="5122588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>
            <a:endParaRPr sz="2800"/>
          </a:p>
        </p:txBody>
      </p:sp>
      <p:sp>
        <p:nvSpPr>
          <p:cNvPr id="18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671009" y="68320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20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260332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982980" y="2352040"/>
            <a:ext cx="1814195" cy="418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929640" y="3860800"/>
            <a:ext cx="163385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4032885" y="3828415"/>
            <a:ext cx="230568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929640" y="4367530"/>
            <a:ext cx="163385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3935095" y="4358640"/>
            <a:ext cx="240347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956945" y="4873625"/>
            <a:ext cx="157543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3940810" y="4888230"/>
            <a:ext cx="239839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1045210" y="5379720"/>
            <a:ext cx="774065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80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3576955" y="5417820"/>
            <a:ext cx="2029460" cy="2279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7056820" y="1185493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20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7103147" y="1675289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7171092" y="221561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7099337" y="2710082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7171092" y="331644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7099337" y="373916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7171092" y="4202014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7056149" y="4768239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6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7199659" y="5302847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2239010"/>
            <a:ext cx="2550160" cy="636270"/>
          </a:xfrm>
          <a:prstGeom prst="rect">
            <a:avLst/>
          </a:prstGeom>
        </p:spPr>
      </p:pic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2982595"/>
            <a:ext cx="5600700" cy="639445"/>
          </a:xfrm>
          <a:prstGeom prst="rect">
            <a:avLst/>
          </a:prstGeom>
        </p:spPr>
      </p:pic>
      <p:sp>
        <p:nvSpPr>
          <p:cNvPr id="5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6906895" y="116205"/>
            <a:ext cx="5130800" cy="58318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7013-25"/>
          <p:cNvSpPr txBox="1"/>
          <p:nvPr/>
        </p:nvSpPr>
        <p:spPr>
          <a:xfrm>
            <a:off x="601980" y="621030"/>
            <a:ext cx="2541270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341630" y="1804035"/>
            <a:ext cx="561975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1741805" y="1732280"/>
            <a:ext cx="4452620" cy="529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0=风格完全不变，2=完全切换</a:t>
            </a:r>
            <a:endParaRPr sz="16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341630" y="241109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1741805" y="2482215"/>
            <a:ext cx="39579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341630" y="30175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1741805" y="3088005"/>
            <a:ext cx="284480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341630" y="3623945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1741805" y="3693795"/>
            <a:ext cx="5017770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341630" y="423037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1741805" y="4299585"/>
            <a:ext cx="400875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341630" y="4836795"/>
            <a:ext cx="612140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1772285" y="4905375"/>
            <a:ext cx="406717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341630" y="5443220"/>
            <a:ext cx="561975" cy="2311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1741805" y="5511165"/>
            <a:ext cx="3764915" cy="289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7607935" y="218440"/>
            <a:ext cx="3495675" cy="299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6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7104380" y="68135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7104380" y="115697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7104380" y="163258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7104380" y="210820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7104380" y="258381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7104380" y="3059430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7104380" y="3535045"/>
            <a:ext cx="4700905" cy="2216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7247890" y="4010660"/>
            <a:ext cx="4718050" cy="282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</a:t>
            </a:r>
            <a:r>
              <a:rPr lang="zh-CN" altLang="en-US"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18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高风格漂移</a:t>
            </a:r>
            <a:endParaRPr sz="18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981075"/>
            <a:ext cx="2743200" cy="684666"/>
          </a:xfrm>
          <a:prstGeom prst="rect">
            <a:avLst/>
          </a:prstGeom>
        </p:spPr>
      </p:pic>
      <p:sp>
        <p:nvSpPr>
          <p:cNvPr id="5" name="el-1785891666852-3"/>
          <p:cNvSpPr/>
          <p:nvPr/>
        </p:nvSpPr>
        <p:spPr>
          <a:xfrm>
            <a:off x="533267" y="607019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p/>
        </p:txBody>
      </p:sp>
      <p:cxnSp>
        <p:nvCxnSpPr>
          <p:cNvPr id="29" name="el-1785891666852-4"/>
          <p:cNvCxnSpPr/>
          <p:nvPr/>
        </p:nvCxnSpPr>
        <p:spPr>
          <a:xfrm>
            <a:off x="552312" y="607019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5891666851-2"/>
          <p:cNvSpPr txBox="1"/>
          <p:nvPr/>
        </p:nvSpPr>
        <p:spPr>
          <a:xfrm>
            <a:off x="723719" y="616542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p>
            <a:pPr algn="l">
              <a:lnSpc>
                <a:spcPts val="1905"/>
              </a:lnSpc>
            </a:pPr>
            <a:r>
              <a:rPr sz="14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4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SDI；2.0 阶段用四类风格指数（大/小盘×成长/价值）精确计算并验证 U 型关系；3.0 阶段加入市场状态交互项（牛熊市分组已发现 ICI 效应放大100倍）</a:t>
            </a:r>
            <a:endParaRPr sz="14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854-10"/>
          <p:cNvSpPr txBox="1"/>
          <p:nvPr/>
        </p:nvSpPr>
        <p:spPr>
          <a:xfrm>
            <a:off x="174625" y="151130"/>
            <a:ext cx="5454015" cy="346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23764"/>
          <a:stretch>
            <a:fillRect/>
          </a:stretch>
        </p:blipFill>
        <p:spPr>
          <a:xfrm>
            <a:off x="6959600" y="4532630"/>
            <a:ext cx="5019040" cy="139255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SDI | 行业近似 → 风格指数精确计算 | 线性OLS → U型非线性+分位数回归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用行业配置数据近似计算SDI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线性OLS回归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用四类风格指数(大/小盘×成长/价值)精确计算SDI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验证U型非线性关系(二次项)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加入牛熊市交互项，分位数回归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检验异质性效应，做Bootstrap稳健SE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SDI计算的关键改进：1.0用行业配置近似 → 2.0用四类风格指数(大/小盘×成长/价值)精确计算，验证U型非线性 → 3.0加入牛熊市交互项和分位数回归，检验异质性效应。SDI是v14中新发现的稳健负向预测指标。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L4风险应对层：数据样例与描述性统计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SDI均值0.3377 | 轻度右偏(偏度0.49) | 中位数0.3259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0.4567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0.1890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SDI均值0.3377，中位数0.3259，分布轻度右偏(偏度0.49)，峰度0.58(扁平分布)。最大值0.8174表明部分基金风格漂移严重。SDI是v14中新发现的稳健负向预测指标，在FF4模型中t=-3.81***至-4.09***，PSM因果效应-0.44%***。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510655" y="528955"/>
            <a:ext cx="5580380" cy="43980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118745" y="100330"/>
            <a:ext cx="492188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262733" y="47214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198120" y="231013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417320" y="2381885"/>
            <a:ext cx="4429125" cy="2368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越大越过度自信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198120" y="304736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2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20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461135" y="3119120"/>
            <a:ext cx="438531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（= 买入额+卖出额 / 平均资产）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198120" y="3784600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24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240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409700" y="3856355"/>
            <a:ext cx="447040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（横截面均值）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198120" y="4521835"/>
            <a:ext cx="1036320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443355" y="4593590"/>
            <a:ext cx="4288790" cy="235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用于标准化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653226" y="68741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653226" y="11404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8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653226" y="177006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653226" y="2399349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653226" y="3028634"/>
            <a:ext cx="5381232" cy="179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8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18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653226" y="373265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653226" y="423360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14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1"/>
          <a:srcRect l="24441" t="18637" r="19746" b="13957"/>
          <a:stretch>
            <a:fillRect/>
          </a:stretch>
        </p:blipFill>
        <p:spPr>
          <a:xfrm>
            <a:off x="1343025" y="925195"/>
            <a:ext cx="3277870" cy="9131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rcRect t="72984" r="21664"/>
          <a:stretch>
            <a:fillRect/>
          </a:stretch>
        </p:blipFill>
        <p:spPr>
          <a:xfrm>
            <a:off x="5303520" y="5229225"/>
            <a:ext cx="4633595" cy="146939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rcRect l="872" t="34570" r="-872" b="29268"/>
          <a:stretch>
            <a:fillRect/>
          </a:stretch>
        </p:blipFill>
        <p:spPr>
          <a:xfrm>
            <a:off x="262890" y="5114925"/>
            <a:ext cx="5302250" cy="1763395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200" y="480060"/>
            <a:ext cx="5580380" cy="53536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116-13"/>
          <p:cNvSpPr/>
          <p:nvPr/>
        </p:nvSpPr>
        <p:spPr>
          <a:xfrm>
            <a:off x="6151880" y="480060"/>
            <a:ext cx="5902960" cy="53441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7115-9"/>
          <p:cNvSpPr txBox="1"/>
          <p:nvPr/>
        </p:nvSpPr>
        <p:spPr>
          <a:xfrm>
            <a:off x="98311" y="10407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650" y="541020"/>
            <a:ext cx="2190115" cy="2425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</a:t>
            </a:r>
            <a:endParaRPr sz="180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1042670" y="897255"/>
            <a:ext cx="4146550" cy="315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80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2935" y="1326515"/>
            <a:ext cx="5368290" cy="5156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输出：行为标签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317530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833245" y="3175000"/>
            <a:ext cx="3741420" cy="2025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478790" y="3848100"/>
            <a:ext cx="1198880" cy="141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2030730" y="3817620"/>
            <a:ext cx="2550160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9113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840230" y="4458970"/>
            <a:ext cx="370014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5101098"/>
            <a:ext cx="562787" cy="17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200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883410" y="5100320"/>
            <a:ext cx="3438525" cy="2012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8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8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18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936740" y="549275"/>
            <a:ext cx="4288790" cy="2197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80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23000" y="922655"/>
            <a:ext cx="5755640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23000" y="144399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23000" y="196532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23000" y="2486660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160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23000" y="3007995"/>
            <a:ext cx="575564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6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6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6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160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510020" y="3713480"/>
            <a:ext cx="487997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60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1"/>
          <a:srcRect l="19041" t="4841" r="15873"/>
          <a:stretch>
            <a:fillRect/>
          </a:stretch>
        </p:blipFill>
        <p:spPr>
          <a:xfrm>
            <a:off x="775970" y="2003425"/>
            <a:ext cx="4798695" cy="831850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L5认知偏差层：三阶段研究计划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OCI/PS | 基础OLS → FF4因子+安慰剂 → PSM+倒U型+Sobel中介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三阶段递进研究计划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方法与预期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计算OCI(标准化超额换手)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基础OLS，验证过度自信对业绩的负向预测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2.0阶段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引入FF4因子模型，安慰剂检验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检验OCI效应是否被动量因子吸收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PSM因果推断，倒U型非线性检验，PS综合分类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Logistic模型，中介效应(Sobel检验)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03520"/>
            <a:ext cx="11109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OCI的三阶段递进：1.0验证过度自信对业绩的负向预测 → 2.0引入FF4因子后发现OCI被动量吸收(关键发现) → 3.0通过PSM因果推断和倒U型检验深化分析。PS综合分类整合所有行为指标。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L5认知偏差层：数据样例与描述性统计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N=7,939 | OCI均值0.0555 | 强右偏(偏度3.33) | 尖峰(峰度13.07)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一、数据样例（示例记录）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fund_code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二、描述性统计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95097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097280"/>
                <a:gridCol w="1005840"/>
                <a:gridCol w="1005840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389120"/>
            <a:ext cx="54864" cy="1645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11109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OCI均值0.0555但偏度3.33、峰度13.07，呈强右偏尖峰分布，少数基金过度交易行为极端。在FF3中OCI是最强负向预测指标(t=-22.58***)，但FF4中被动量因子吸收(t=-3.85***，大幅减弱)。PSM因果效应+0.12%**，安慰剂检验未通过。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30" b="1382"/>
          <a:stretch>
            <a:fillRect/>
          </a:stretch>
        </p:blipFill>
        <p:spPr>
          <a:xfrm>
            <a:off x="551180" y="0"/>
            <a:ext cx="11349355" cy="6842125"/>
          </a:xfrm>
          <a:prstGeom prst="rect">
            <a:avLst/>
          </a:prstGeom>
        </p:spPr>
      </p:pic>
      <p:sp>
        <p:nvSpPr>
          <p:cNvPr id="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405" y="929005"/>
            <a:ext cx="5753735" cy="20713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400" y="4643120"/>
            <a:ext cx="11122660" cy="2146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67145" y="1400175"/>
            <a:ext cx="5357495" cy="480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320" y="1885950"/>
            <a:ext cx="383921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308860"/>
            <a:ext cx="3548753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731135"/>
            <a:ext cx="4119068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231765" y="3239135"/>
            <a:ext cx="197358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sz="18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375" y="4975860"/>
            <a:ext cx="10556240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6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60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375" y="5410200"/>
            <a:ext cx="1081151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375" y="5843905"/>
            <a:ext cx="9297670" cy="237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375" y="6277610"/>
            <a:ext cx="11423015" cy="238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60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论文写作计划：七章框架与进度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Phase 2: 论文撰写阶段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000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字数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绪论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研究背景、问题提出、意义、结构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文献综述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28篇核心文献，理论基础+行为研究+研究空白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研究框架与假设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L1-L5五层框架，H1-H5假设，变量定义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数据与研究设计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2,000字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数据来源、样本、指标、模型设定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第五章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3,000字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描述统计、回归、检验、稳健性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行业经验整合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1,500字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券商实践对比、案例验证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第七章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结论与展望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1,000字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🔲 待写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结论、贡献、启示、局限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合计：14,000字  |  前三章已完成6,500字  |  MVP实证结果已就绪，待写入第4-5章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写作时间线与里程碑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10周完成全文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核心任务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第1-2周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文献定稿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精读8篇核心文献、综述修改、框架定稿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综述终稿+框架文档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第3-4周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数据收集(P0)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Wind数据下载、AS和ARG计算、描述统计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AS+ARG数据集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第5-6周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核心实证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Fama-MacBeth回归、H2/H3检验、子样本分析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核心回归结果表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第7周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稳健性+扩展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IV/DID检验、SDI计算、NLP文本分析启动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稳健性检验结果 ✅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第8-9周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L5模型+撰写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Logistic构建PS、H5检验、全文初稿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论文初稿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第10周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修改定稿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导师反馈、格式规范、查重、投稿准备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终稿+投稿材料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关键里程碑：第6周末核心实证完成 ✅  |  第8周末全文初稿  |  第10周末终稿提交</a:t>
            </a:r>
          </a:p>
        </p:txBody>
      </p:sp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MVP实证结果（一）：描述性统计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样本：9,519观测 × 386只基金 × 79个季度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097280"/>
          <a:ext cx="10850880" cy="437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/>
                <a:gridCol w="1808480"/>
                <a:gridCol w="1808480"/>
                <a:gridCol w="1808480"/>
                <a:gridCol w="1808480"/>
                <a:gridCol w="1808480"/>
              </a:tblGrid>
              <a:tr h="4857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变量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均值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标准差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最小值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中位数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最大值</a:t>
                      </a:r>
                      <a:endParaRPr sz="12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AS (主动管理)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0.695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0.941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ICI (行业集中度)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0.061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SDI (风格漂移)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0.335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0.153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0.038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0.321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0.828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ARG (绝对隐形交易)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0.145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0.015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0.197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0.803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OCI (过度自信)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0.056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0.073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0.000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0.033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0.451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FF3调整收益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0.023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0.241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-0.729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0.006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1.469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基金规模(对数)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19.787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1.941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13.816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20.079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23.429</a:t>
                      </a:r>
                      <a:endParaRPr sz="1200"/>
                    </a:p>
                  </a:txBody>
                  <a:tcPr/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换手率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1.043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0.737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0.228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0.890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5.842</a:t>
                      </a:r>
                      <a:endParaRPr sz="12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0810"/>
            <a:ext cx="82296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MVP实证结果（二）：OLS回归（聚类稳健标准误）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rPr sz="1800"/>
              <a:t>三个模型递进：行为指标 → +控制变量 → +年份FE</a:t>
            </a:r>
            <a:endParaRPr sz="180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97280"/>
          <a:ext cx="11633200" cy="439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00"/>
                <a:gridCol w="2908300"/>
                <a:gridCol w="2908300"/>
                <a:gridCol w="2908300"/>
              </a:tblGrid>
              <a:tr h="48831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变量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1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2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Model 3 系数(t)</a:t>
                      </a:r>
                      <a:endParaRPr sz="1400"/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AS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-0.2830 (-5.48***)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-0.1781 (-3.81***)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-0.1716 (-3.90***)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ICI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-0.0034 (-0.08)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0.0388 (0.92)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0.1136 (2.49**)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SDI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0.0020 (0.17)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0.0075 (0.64)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0.0189 (1.51)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ARG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0.1759 (8.94***)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0.1521 (7.95***)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0.0615 (2.74***)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OCI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-1.0725 (-25.18***)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-1.1117 (-26.02***)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-1.3187 (-24.56***)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log_aum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-0.0101 (-11.64***)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-0.0113 (-13.35***)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TO_calc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-0.0076 (-4.19***)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0.002 (0.94)</a:t>
                      </a:r>
                      <a:endParaRPr sz="1400"/>
                    </a:p>
                  </a:txBody>
                  <a:tcPr/>
                </a:tc>
              </a:tr>
              <a:tr h="48831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R²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0.0775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0.1066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0.1792</a:t>
                      </a:r>
                      <a:endParaRPr sz="1400"/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MVP实证结果（三）：固定效应回归与VIF检验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基金FE R²=0.1072  |  最大VIF=1.71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基金FE系数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-0.3414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-3.330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0.1914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8.616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-24.584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-6.818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-5.688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VIF结论：最大VIF=1.71（ARG），远低于阈值10，无多重共线性问题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基金FE结论：控制基金个体异质性后，五个行为指标全部显著（ICI/SDI在OLS中不显著，FE中显著）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MVP实证结果（四）：安慰剂检验（500次随机打乱）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验证真实效应是否显著区别于随机结果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安慰剂标准差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-0.1781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-0.0009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❌ 不显著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✅ 显著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结论：AS（0.2%分位）、ARG（100%分位）、OCI（0%分位）真实系数位于安慰剂分布极端尾部，排除虚假回归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ICI和SDI未通过安慰剂检验，其效应可能不够稳健，需在论文中如实报告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MVP实证结果（五）：子样本检验（牛/熊市）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牛市R²=0.1541 vs 熊市R²=0.0397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熊市t值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-4.242***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1.661*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0.317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-0.0268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-0.633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均不显著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4.051***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-4.332***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0.1510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5.759***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0.0676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2.538**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均显著正向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-1.1757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-23.450***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0.2086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2.491**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符号翻转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核心发现：行为指标在牛市中预测力更强（R²=0.154 vs 0.040）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AS/SDI/OCI在牛熊市符号翻转——牛市中高AS损害业绩、风格漂移有益；熊市中效应反转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ARG在牛熊市均显著正向——隐形交易信息含量稳定，不随市场环境变化</a:t>
            </a: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MVP实证分析：关键发现汇总</a:t>
            </a:r>
          </a:p>
          <a:p>
            <a:pPr>
              <a:defRPr sz="120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五层行为指标对基金业绩的预测能力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证据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理论支持</a:t>
                      </a:r>
                    </a:p>
                  </a:txBody>
                  <a:tcPr>
                    <a:solidFill>
                      <a:srgbClr val="2B5A8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OCI是最强业绩预测指标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t=-26.02***，所有模型均显著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Odean(1998) 过度自信损害业绩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ARG显著正向预测业绩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t=7.95***, FE t=8.62***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Kacperczyk(2008)+申宇(2013)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AS显著负向（中国市场特性）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OLS t=-3.80***, FE t=-4.50***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与Cremers(2009)美股正向相反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行为指标牛市预测力更强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牛市R²=0.154 vs 熊市R²=0.040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Lo(2004) 适应性市场假说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安慰剂检验3/5通过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AS/ARG/OCI通过，ICI/SDI未通过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排除虚假回归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VIF通过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最大VIF=1.71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微软雅黑" panose="020B0503020204020204" charset="-122"/>
                        </a:defRPr>
                      </a:pPr>
                      <a:r>
                        <a:t>无多重共线性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假设检验结果：H2(AS预测业绩)部分支持 | H3(ARG预测业绩)支持 | H4(认知偏差损害业绩)强支持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下一步：撰写Ch4实证分析 → 构建PS综合分类(Ch5) → 因果识别(IV/DID) → 完善稳健性检验</a:t>
            </a:r>
          </a:p>
        </p:txBody>
      </p:sp>
      <p:sp>
        <p:nvSpPr>
          <p:cNvPr id="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学术规范表格（一）：描述性统计与相关系数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14个核心变量 | N=7,939 | 含P25/P75分位数 | 偏度峰度检验正态性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完整描述性统计表（数据来源：ipynb Step 4输出）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"/>
                <a:gridCol w="914400"/>
                <a:gridCol w="1005840"/>
                <a:gridCol w="914400"/>
                <a:gridCol w="914400"/>
                <a:gridCol w="1005840"/>
                <a:gridCol w="914400"/>
                <a:gridCol w="914400"/>
                <a:gridCol w="868680"/>
                <a:gridCol w="86868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P25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中位数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P75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最大值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偏度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峰度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-0.7618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0.2366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-0.5130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-0.0992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0.1018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1.2687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4.0286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0.6868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0.9413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-0.4630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3.8198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0.0898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0.2225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1.7622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0.3377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0.1521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0.8174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0.5837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0.0945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-0.3617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-0.0474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0.3209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3.3734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0.0491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0.3030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0.8013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1.4974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2.7621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0.0555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0.0760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0.4778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3.3273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13.0665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-1.9987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0.5168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0.7538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-0.4372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0.3452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0.7648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3.9196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2.0551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5.5327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0.3275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0.1208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0.2776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0.9190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19.8665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1.8185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14.5087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18.8127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20.1015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21.1397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23.4248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-0.6283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0.2463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8.0871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5.4078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3.5715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6.6366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12.0999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21.0369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-0.6755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1.0532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0.3228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0.7305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0.8907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1.0408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5.8138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4.1786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21.5623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76072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11292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ff4_adj_return均值0.0350、ff3_adj_return均值0.0232，FF4调整后alpha更低。OCI偏度3.33、CR偏度2.06均呈强右偏，需在回归中使用稳健标准误。BHS峰度-1.99(扁平分布)符合0/1虚拟变量特征。TO_calc偏度4.18、峰度21.56(极端尖峰)，反映换手率分布的厚尾特性。数据来源：mvp_panel_final.csv | 缩尾处理1%/99%。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学术规范表格（二）：OLS回归结果（六模型对比）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6模型对比 | M4(FF4扩展)最优 R²=0.4101 | N=7,939 | 基金层面聚类稳健标准误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六模型对比矩阵（被解释变量: ff4_adj_return / ff3_adj_return）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4828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09928"/>
                <a:gridCol w="1709928"/>
                <a:gridCol w="1709928"/>
                <a:gridCol w="1709928"/>
                <a:gridCol w="1709928"/>
                <a:gridCol w="1709928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FF4改进基础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FF4改进扩展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(-2.35)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(-1.62)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(-0.82)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(-1.36)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(-0.62)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(-1.47)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(-1.54)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(1.83)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(1.11)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(1.27)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(-3.93)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(-4.09)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(-0.75)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(-0.36)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(5.66)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(7.09)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(10.06)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(12.32)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(1.77)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(-22.58)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(-25.02)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(-5.73)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(-3.86)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(0.41)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(0.23)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(2.42)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(4.29)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(2.39)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(4.33)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(-7.33)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(-6.84)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(10.95)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(11.01)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(11.92)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(-1.92)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(-1.11)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(2.68)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(0.99)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7939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0.1420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0.4101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0.3483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0.4100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Adj R²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0.1049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0.1402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0.3475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0.4088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0.3474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0.4087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669280"/>
            <a:ext cx="54864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*** p&lt;0.01, ** p&lt;0.05, * p&lt;0.1 | 括号内为t值 | 基金层面聚类稳健标准误 | M4(FF4扩展控制)为最优模型，R²=0.4101。SDI在M3-M6均***显著负向，RG在M3-M6均***显著正向，是最稳健的两个行为指标。OCI在FF3中极显著(t=-22.58***)但在FF4中大幅减弱(t=-3.85***)，被动量因子部分吸收。AS在FF4中失去显著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学术规范表格（三）：稳健性检验汇总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VIF + 安慰剂(500次) + PSM因果推断 + 稳健性排序 | 四重稳健性验证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（一）VIF多重共线性检验（最大VIF=2.26，全部&lt;10）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31520"/>
                <a:gridCol w="210312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1.46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960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（二）安慰剂检验（500次随机打乱）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2801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1005840"/>
                <a:gridCol w="822960"/>
                <a:gridCol w="82296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分位排名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双尾p值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0.0840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0.7480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0.5100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0.0343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通过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（三）PSM因果推断（倾向得分匹配）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5196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731520"/>
                <a:gridCol w="8229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处理变量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+0.12%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-10.70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负向显著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39319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（四）稳健性排序（综合M4/FM/安慰剂/Bootstrap）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4251960"/>
          <a:ext cx="52120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731520"/>
                <a:gridCol w="822960"/>
                <a:gridCol w="1097280"/>
                <a:gridCol w="914400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M4显著性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安慰剂p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SE比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稳健性评分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9.34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0.95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65760" y="594360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四重稳健性验证：VIF最大2.26无共线性；安慰剂检验AS/SDI/BHS/RG/ARG通过；PSM因果推断ARG(+0.14%***)、OCI(+0.12%**)正向、SDI(-0.44%***)负向；综合排序SDI/CR/RG/BHS最稳健(3/4)。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指标信息总表：五层递进框架完整指标体系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v14更新版 | 覆盖L1-L5全部12个行为指标 + 8个控制变量 + 2个被解释变量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一、核心行为指标（12个）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371600"/>
                <a:gridCol w="4114800"/>
                <a:gridCol w="201168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计算公式/逻辑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数据来源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排名下降&gt;中位数=1，否则=0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收益排名截面计算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Π(1+R_t)-1，季度收益累积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基金净值计算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 锦标赛行为层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截面排名差分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AS=1/2×Σ|w_fund-w_bench|，等权基准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季报持仓+基准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L2 主动管理层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主动份额(真实权重)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AS=1/2×Σ|w_fund-w_bench|，沪深300+中证500真实权重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中证指数公司成分股权重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行业配置层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行业集中度指数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ICI=Σ(w_i-W̄_i)²，行业权重偏离平方和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季报行业配置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换手增长率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季度换手率变化RG_t = TO_t - TO_{t-1}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L3 交易行为层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平均换手增长率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 = Σ|RG_t|/n，绝对值平滑（v14新增年化）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基金换手率滚动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L4 风险应对层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SDI=Σ|w_k,t - w_k,t-1|，四类风格权重变化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风格指数收益回归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L5 认知偏差层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过度自信指数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OCI=(TO_i - TŌ)/σ(TO)，标准化超额换手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基金换手率截面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二、控制变量（8个，v14扩展）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51960"/>
          <a:ext cx="10332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931920"/>
                <a:gridCol w="13716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中文含义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v14状态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基金规模(对数)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log(基金资产净值)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manager_tenure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经理任职期限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当前日期-任职开始日期(年)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基金换手率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(买入额+卖出额)/平均资产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treasury_10y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10年期国债收益率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宏观经济控制变量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manager_change_dummy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经理变更虚拟变量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当季经理变更=1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基金年龄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当前日期-成立日期(年)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家族规模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同公司log_aum均值 [v14新增]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收益波动率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滚动8季度收益标准差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三、被解释变量（2个）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126480"/>
          <a:ext cx="7315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ff3_adj_return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FF3调整收益(alpha)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Fama-French三因子时序回归alpha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ff4_adj_return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FF4调整收益(alpha) [v14新增]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Carhart四因子(含动量MOM)时序回归alpha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v14新增指标与改进说明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相比v13的5个行为指标 → v14扩展至12个行为指标 + FF4因子模型 + 扩展控制变量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一、AS数据质量改进（核心改进）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42976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原始AS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等权基准（所有股票等权）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真实权重基准（沪深300+中证500成分股实际权重）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使用中证指数公司官方成分股权重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0.8325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0.8302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基本一致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0.0422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变异系数提升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61.8%（严重集中）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0.2%（显著改善）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唯一值数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1746/1997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区分度大幅提升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数据质量评价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严重集中，区分度低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显著改善，区分度高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推荐使用AS_improved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二、L1锦标赛行为层新增指标（BHS/CR/RAR）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200400"/>
                <a:gridCol w="53035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计算逻辑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实证发现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锦标赛行为虚拟变量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季度收益排名下降&gt;中位数=1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BHS=1占比46.28%；熊市中边际显著(t=-1.79)*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累计收益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Π(1+R_t)-1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均值0.5021，右偏分布（偏度4.40）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排名变化幅度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|排名_t - 排名_{t-1}|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均值0.328，覆盖率95.0%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三、FF4(Carhart)调整收益 — 被解释变量升级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749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50292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FF3 (v13)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FF4 (v14)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因子构成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MKT + SMB + HML + MOM(动量)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增加动量因子控制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覆盖基金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400只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355只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96.8%覆盖率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R²提升151%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OCI显著性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极显著(t=-26.02***)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不显著(t=-0.45)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OCI效应被动量因子吸收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SDI显著性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显著(t=-3.10***)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风格漂移在FF4中显现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关键发现：FF4模型中OCI失去显著性，说明OCI的负向预测效应部分来自动量因子的遗漏变量偏差。SDI在FF4中变得显著，表明控制动量后风格漂移的负面效应更加清晰。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v14核心回归结果：M6最佳模型（FF4 + 扩展控制）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R²=0.2679 | N=8,001 | 基金层面聚类标准误 | 相比v13 R²提升151%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八模型对比矩阵（2×2×2设计）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1371600"/>
                <a:gridCol w="1188720"/>
                <a:gridCol w="731520"/>
                <a:gridCol w="731520"/>
                <a:gridCol w="25603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被解释变量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控制变量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关键显著变量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原始(5指标)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基础(5个)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扩展(8个)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ARG**, OCI***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改进(+BHS)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AS***, ARG***, OCI***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8,154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0.1382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ARG**, SDI***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9,214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0.1462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ARG**, log_aum***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M8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8,001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SDI***, fund_age***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M6最佳模型详细结果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7639"/>
          <a:ext cx="5486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VIF多重共线性检验（v14扩展模型）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77639"/>
          <a:ext cx="53035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5603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VIF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判断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2.19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family_size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return_volatility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1.52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无共线性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最大VIF=2.22（log_aum），远低于阈值10，无多重共线性问题。M6模型R²=0.2679为所有模型中最高，SDI和ARG为核心显著行为指标。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v14稳健性检验：安慰剂 + 牛熊市 + Fama-MacBeth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500次安慰剂 | 牛熊市分组 | 2015后41期FM回归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一、安慰剂检验（500次随机打乱，FF4为被解释变量）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914400"/>
                <a:gridCol w="118872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真实系数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分位数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0.0212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二、牛熊市子样本检验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00584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熊市系数(t)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-0.0078(-0.65)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-0.0253(-1.92)*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熊市显著负向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-0.0331(-6.46)***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-0.0157(-3.70)***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两市均显著负向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0.0291(4.77)***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0.0169(3.58)***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两市均显著正向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-0.0295(-5.43)***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0.0207(3.26)***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牛负熊正，符号翻转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0.0002(0.56)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-0.0008(-1.79)*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熊市边际显著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三、Fama-MacBeth回归（2015后，41期截面）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977639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系数均值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FM 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-0.0296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-5.59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2.27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log_aum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0.0094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四、多重检验校正（74个检验）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977639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18872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校正方法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阈值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25/74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α'=0.000676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最严格校正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BH-FDR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35/74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α=0.05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错误发现率控制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Bonf显著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FDR显著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核心发现：ARG是最稳健的行为指标（Bonf=8/11, FDR=10/11），在所有模型设定下均显著正向。OCI在FF4中失去显著性，说明其效应部分来自动量因子。牛熊市中OCI符号翻转（牛市负向、熊市正向）。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v15高级计量分析（一）：PSM因果推断 + Bootstrap稳健SE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倾向得分匹配(PSM) | 500次聚类Bootstrap | 因果效应估计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一、PSM倾向得分匹配因果推断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914400"/>
                <a:gridCol w="1097280"/>
                <a:gridCol w="731520"/>
                <a:gridCol w="1097280"/>
                <a:gridCol w="5394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匹配对数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卡尺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2,842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9.01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高ARG→业绩+0.52%/季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3,448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7.61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高OCI→业绩+0.40%/季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3,010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高SDI→业绩-0.50%/季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33172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PSM结论：控制可观测混杂因素后，ARG具有正向因果效应(+0.52%***)，SDI具有负向因果效应(-0.50%***)，OCI正向(+0.40%***)。匹配后协变量基本平衡，因果效应稳健。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二、Bootstrap稳健标准误（500次聚类重抽样）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4612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  <a:gridCol w="1280160"/>
                <a:gridCol w="1005840"/>
                <a:gridCol w="1188720"/>
                <a:gridCol w="109728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Cluster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SE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SE比值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 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0.965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0.986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TO_calc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fund_age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1.079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-7.58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三、分位数回归（行为指标在不同业绩分位的差异化效应）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89204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371600"/>
                <a:gridCol w="1645920"/>
                <a:gridCol w="1371600"/>
                <a:gridCol w="1371600"/>
                <a:gridCol w="32004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Q10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Q25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Q50(中位数)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Q75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Q90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-0.006**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-0.016***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-0.035***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-0.027***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持续负向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0.018***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单调递增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-0.033***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-0.060***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-0.069***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0.026***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0.062***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0.059***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高分位正向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Bootstrap结论：SE比值0.965-1.079，聚类标准误与Bootstrap高度一致，SDI和ARG在Bootstrap下仍保持***显著。分位数回归显示ARG效应从Q10(0.002)到Q90(0.022)单调递增，高业绩基金中隐形交易信息含量更强。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v15高级计量分析（二）：交互效应 + 非线性 + PS分类 + 中介效应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R²=0.2826(交互模型) | 倒U型非线性 | Logistic PS分类 | Sobel中介检验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一、交互效应分析（行为指标 × 牛熊市）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914400"/>
                <a:gridCol w="2011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交互项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牛市中AS负效应减弱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-0.0080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-3.06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牛市中SDI负效应增强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OCI×牛市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牛市中OCI效应翻转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ICI×牛市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-0.0235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-1.68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牛市中ICI效应减弱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二、非线性效应检验（二次项）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31520"/>
                <a:gridCol w="9144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二次项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系数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显著性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形态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-2.49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-0.0043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-5.44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倒U型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SDI²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0.0008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无线性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三、PS综合分类（Logistic模型，Pseudo R²=0.1207）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33756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1188720"/>
                <a:gridCol w="1005840"/>
                <a:gridCol w="914400"/>
              </a:tblGrid>
              <a:tr h="320039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基金数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平均PS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Q1(低PS)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4.64%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4.32%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65.4%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0.613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4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Q5(高PS)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0.788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四、中介效应分析（Sobel检验）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333756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"/>
                <a:gridCol w="914400"/>
                <a:gridCol w="137160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路径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Sobel z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p值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中介类型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波动率部分中介SDI负效应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OCI→波动率→业绩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2.43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波动率部分中介OCI效应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ARG→波动率→业绩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ARG→换手率→业绩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无中介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ARG为直接效应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五、八种行为画像业绩对比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257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97280"/>
                <a:gridCol w="1097280"/>
                <a:gridCol w="61264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行为画像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样本数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超额收益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超额占比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最优（隐形交易强+风格稳定）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664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4.13%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55.9%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优（低交易+风格稳定）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高ARG-低OCI-低SDI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优（交易活跃+风格稳定）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低ARG-低OCI-低SDI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1,347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3.76%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51.1%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中（保守型）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高ARG-高OCI-高SDI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3.29%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中下（风格漂移抵消）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低ARG-高OCI-高SDI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728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2.97%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40.1%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差（风格漂移+低交易）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高ARG-低OCI-高SDI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差（风格漂移抵消交易收益）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低ARG-低OCI-高SDI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1,305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2.72%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最差（低交易+风格漂移）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v14/v15指标稳健性排序与关键发现汇总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综合Bonferroni/FDR/PSM/Bootstrap/分位数回归/安慰剂多重验证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一、行为指标稳健性排序（综合所有检验）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188720"/>
                <a:gridCol w="1188720"/>
                <a:gridCol w="1188720"/>
                <a:gridCol w="1371600"/>
                <a:gridCol w="1371600"/>
                <a:gridCol w="1371600"/>
                <a:gridCol w="310896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Bonferroni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PSM ATT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Bootstrap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安慰剂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综合评价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+0.52%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100%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-0.50% 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*** 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高度稳健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6/11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+0.40%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不显著(FF4)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0% 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条件稳健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AS(原始)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2/4 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0.2% 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中等稳健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2/7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ICI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84.6% 不通过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弱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BHS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15.6% 不通过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不稳健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二、关键发现（v14/v15 vs v13对比）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605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286000"/>
                <a:gridCol w="3657600"/>
                <a:gridCol w="347472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发现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v13结论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v14/v15更新结论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改进幅度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最佳模型R²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0.1066 (FF3)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0.2679 (FF4+扩展控制)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提升151%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ARG预测力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正向显著(t=7.95***)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最稳健：PSM +0.52%***, Bonf 8/11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因果验证通过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SDI预测力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不显著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显著负向(t=-3.10***), PSM -0.50%***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新发现稳健指标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OCI预测力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最强负向(t=-26.02***)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FF4中不显著，被动量吸收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修正误归因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AS数据质量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最常见值占比61.8%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AS_improved占比0.2%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数据质量大幅提升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非线性效应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未检验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AS²倒U型**, OCI²倒U型***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新增非线性发现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牛熊市差异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OCI牛市负向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OCI牛负熊正(符号翻转)***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更精确的市场状态分析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未构建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Pseudo R²=0.12, Q1-Q5收益差2.98%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新增综合分类</a:t>
                      </a:r>
                    </a:p>
                  </a:txBody>
                  <a:tcPr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263640"/>
            <a:ext cx="54864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2636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总结：v14/v15通过FF4因子模型、PSM因果推断、Bootstrap稳健SE、分位数回归、非线性检验、PS综合分类和中介效应分析，全面提升了研究的计量严谨性。ARG和SDI是两个最稳健的行为指标，分别具有正向和负向的因果预测效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方法论答疑与框架修正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4个核心问题解答 | 框架逻辑厘清 | 从「递进」到「分层并行+综合整合」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51560"/>
          <a:ext cx="11612880" cy="4832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565"/>
                <a:gridCol w="5979160"/>
                <a:gridCol w="2764155"/>
              </a:tblGrid>
              <a:tr h="626745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问题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核心解答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修正方向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Q1: 锦标赛是效应还是层级？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L1中还有从业年限/学历等怎么解释？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锦标赛(BHS)是行为响应而非背景层。原稿L1=背景特征(从业年限/学历)，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v14误将BHS提升为L1。正确做法：背景特征作为控制变量和调节变量，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BHS归入「竞争压力响应」维度。结论解释：控制背景异质性后，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行为指标对业绩的预测力是净效应。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恢复L1=背景特征层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BHS归入行为维度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交互项检验背景×行为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Q2: 综合回归合理吗？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L1-L5是并列还是递进？PS怎么回事？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当前OLS将所有指标同时放入=并列模型。但框架声称「递进」=矛盾。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PS(Logistic)不是独立层级，而是L1-L4指标的综合预测工具。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PS=σ(β0+β1*BHS+β2*AS+β3*ARG+β4*SDI+β5*OCI)，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本质是对已有指标的加权组合，非新信息。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改「分层并行+综合整合」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两阶段：独立回归→PS整合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加SEM路径分析检验递进链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Q3: 全用别人方法=大杂烩？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创新点在哪？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整合创新在学术上成立但需理论贡献。当前创新：①五层框架整合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②真实权重AS改进 ③FF4 vs FF3因子吸收发现 ④中国市场验证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⑤PSM因果推断。但缺乏：理论模型解释为何这5个维度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是充分必要的；缺少新指标或新方法。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加理论模型推导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提出「行为效率系数」新指标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样本外预测验证PS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Q4: PS的Logistic原理？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与综合OLS的区别？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PS Logit: P(超额收益&gt;中位数)=σ(Xβ)，输出概率0-1，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用于分类和排序。OLS: Y=Xβ+ε，输出边际效应系数。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区别：①PS做分类预测(谁跑赢)，OLS做因果推断(影响多大)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②PS可构建多空组合，OLS不能 ③PS是二阶段工具，OLS是一阶段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明确两阶段定位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Ch4用OLS做推断</a:t>
                      </a:r>
                      <a:endParaRPr sz="1400"/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Ch5用PS做预测验证</a:t>
                      </a:r>
                      <a:endParaRPr sz="1400"/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035040"/>
            <a:ext cx="54864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03504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核心修正：将框架从「五层递进」改为「五维并行+两阶段整合」。Stage 1(Ch4)：各行为指标独立回归，控制背景特征，检验净效应。Stage 2(Ch5)：用Logistic构建PS综合分数，做样本外预测验证。背景特征(从业年限/学历/CFA)作为控制变量而非独立层级。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学术规范性审查与优化建议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6大审查维度 | 当前评级 | 具体优化措施 | 优先级排序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94183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2743200"/>
                <a:gridCol w="3840480"/>
                <a:gridCol w="731520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审查维度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当前状态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存在问题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优化措施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优先级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理论框架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原稿「递进」与v14「并列」矛盾；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L1定义不一致(背景vs锦标赛)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统一为「五维并行+两阶段整合」；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背景特征=控制变量非层级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创新性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贡献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整合创新成立但缺乏理论模型；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无新指标/新方法提出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推导理论模型解释5维充分性；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提出「行为效率系数」BEI指标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严谨性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较好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已有PSM+Bootstrap+安慰剂；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但缺乏IV/DID/RDD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加IV估计(经理变更)；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加DID(极端市场事件冲击)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统计检验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良好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74个检验Bonferroni校正；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VIF/安慰剂/子样本齐全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补充Hausman检验(RE vs FE)；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加样本外R²预测验证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幸存者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偏差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不足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仅含存活基金(400只)；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已获取27449只基金列表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识别清盘基金并补充历史数据；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做Heckman两步法修正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PS定义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合理性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PS=Logit概率(&gt;中位数)；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定义较随意，缺乏理论支撑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改PS=1-样本外预测R²；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或用交叉验证AUC作为PS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三大核心优化（按重要性排序）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806440"/>
            <a:ext cx="54864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806440"/>
            <a:ext cx="1147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框架修正：将「五层递进」改为「五维并行+两阶段整合」，解决L1定义矛盾。背景特征(从业年限/学历/CFA)作为控制变量和调节变量，而非独立层级。②理论创新：推导理论模型解释为何5个行为维度是充分必要的，提出「行为效率系数」(BEI)新指标。③因果强化：增加IV估计(经理变更作为外生冲击)和DID分析(极端市场事件)，增强因果识别可信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2周详细论文写作规划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 panose="020B0503020204020204" charset="-122"/>
              </a:defRPr>
            </a:pPr>
            <a:r>
              <a:t>2026-08-08 ~ 2026-08-21 | 每日任务 | 里程碑交付物 | 框架修正同步进行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65836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具体任务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 marL="45720" marR="45720" marT="18288" marB="18288" anchor="ctr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8/8(五)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框架修正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修正Ch3理论框架：统一为「五维并行+两阶段整合」架构；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重写L1-L5定义表，背景特征改为控制变量；更新H1-H5假设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Ch3修订稿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8/9(六)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撰写Ch4.1数据描述(含v14描述性统计表)；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撰写Ch4.2.1 FF3模型回归(M1-M2) + Ch4.2.2 FF4模型(M3-M6)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Ch4.1-4.2初稿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8/10(日)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Ch4实证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撰写Ch4.3稳健性检验(安慰剂+子样本+FM+多重检验)；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整理8模型对比表+VIF表+稳健性排序表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Ch4.3初稿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8/11(一)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Ch5构建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构建Ch5 PS综合分类：修正PS定义(加样本外验证)；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Logistic回归+五分组分析+行为画像(8类)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Ch5初稿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8/12(二)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补充SEM路径分析(检验递进链)；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补充IV估计(经理变更)+Heckman偏差修正(如有清盘数据)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高级计量结果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8/13(三)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Ch4.4核心发现讨论；整合v14/v15全部计量结果；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检查表格与ipynb输出一致性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Ch4完整稿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8/14(四)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Ch6-7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撰写Ch6行业经验整合(券商实践对比)；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撰写Ch7结论与展望(贡献/启示/局限)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Ch6+Ch7初稿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8/15(五)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缓冲日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处理本周遗留问题；导师初步反馈；修改框架表述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第1周总结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8/16-17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修改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根据导师反馈修改Ch1-Ch3；完善文献综述(补充理论模型文献)；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统一全文术语和符号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Ch1-3修订稿</a:t>
                      </a:r>
                    </a:p>
                  </a:txBody>
                  <a:tcPr marL="45720" marR="45720" marT="18288" marB="18288" anchor="ctr">
                    <a:solidFill>
                      <a:srgbClr val="E8EA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8/18(一)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推导理论模型(5维充分性论证)；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计算「行为效率系数」BEI指标并验证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理论创新章节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8/19(二)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因果强化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补充IV估计结果；DID分析(如数据允许)；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更新稳健性检验章节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因果识别结果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8/20(三)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全文整合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全文统稿(15000字)；格式规范化；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参考文献核对；图表编号统一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完整论文稿</a:t>
                      </a:r>
                    </a:p>
                  </a:txBody>
                  <a:tcPr marL="45720" marR="45720" marT="18288" marB="18288" anchor="ctr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8/21(四)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第2周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最终审查：学术规范性自检清单；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表格-ipynb一致性终验；PPT同步更新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 panose="020B0503020204020204" charset="-122"/>
                        </a:defRPr>
                      </a:pPr>
                      <a:r>
                        <a:t>终稿+自检报告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355080"/>
            <a:ext cx="54864" cy="4572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关键里程碑：8/13 Ch4完整稿 | 8/14 Ch6+Ch7初稿 | 8/18 理论创新完成 | 8/21 终稿交付。每日预估写作量：1500-2000字。框架修正(8/8)和理论创新(8/18)是两个最关键节点。ipynb与PPT表格一致性验证贯穿全程。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为什么做 6 个模型？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正交识别设计 | 三维变化分离检验 | 避免单一模型的偏误风险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2926080"/>
                <a:gridCol w="1645920"/>
              </a:tblGrid>
              <a:tr h="9144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设计维度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选项 A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选项 B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检验目标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对应模型对比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(业绩度量)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 调整收益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(三因子 alpha)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 调整收益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(四因子 alpha,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含动量 MOM)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动量因子是否是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遗漏变量？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 的 alpha 是否有偏？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M3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 vs M4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(核心解释变量)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原始 AS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(等权基准)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改进 AS_improved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(真实成分股权重)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基准权重数据质量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是否影响结论？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的不显著是数据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问题还是经济问题？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M5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M4 vs M6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(混淆控制)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(log_aum,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扩展控制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(基础 + TO_calc,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treasury_10y,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volatility,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行为指标的显著性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是否由遗漏控制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变量驱动？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M2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正交识别的核心逻辑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526280"/>
          <a:ext cx="9326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28600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固定什么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变化什么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能识别什么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被解释变量(FF3)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行为指标(原始)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(基础→扩展)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加5个控制变量后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行为指标是否稳健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 vs M3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行为指标(原始)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控制变量(基础)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(FF3→FF4)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加入动量因子后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哪些指标受影响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 vs M5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被解释变量(FF4)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控制变量(基础)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行为指标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(AS→AS_improved)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数据质量改进后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AS是否变显著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6126480"/>
            <a:ext cx="54864" cy="59436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26480"/>
            <a:ext cx="11475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为什么不只做1个模型？单一模型无法区分「行为指标不显著」是因为(1)经济上确实无效应，还是(2)因子模型遗漏了动量，还是(3)控制变量不足，还是(4)数据质量问题。通过三维正交变化，每次只改变一个维度，可以精确归因。2x2x2=8种组合中，FF3+AS_improved较少使用(FF3已有偏误，换AS意义不大)，故做6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AS vs AS_improved 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Active Share 主动份额 | 等权基准 vs 真实成分股权重 | 数据质量改进的核心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一、计算公式与核心区别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585216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 (原始)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(改进)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计算公式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= 1/2 x Sigma|w_fund - w_bench|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 = 1/2 x Sigma|w_fund - w_bench|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(公式相同，基准权重不同)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基准权重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等权基准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(指数成分股均分)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中证指数公司真实成分股权重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(ak.index_stock_cons_weight_csindex)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沪深300基准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1/300 = 0.333% 每只股票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真实权重(0.01%~5%不等,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按市值加权)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中证500基准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1/500 = 0.2% 每只股票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真实权重(0.01%~1.5%不等,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按市值加权)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数据下载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无需下载(简单等分)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从中证指数公司下载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沪深300(300只)+中证500(500只)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794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二、改进效果: 数据质量大幅提升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069080"/>
          <a:ext cx="116128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286000"/>
                <a:gridCol w="1645920"/>
                <a:gridCol w="402336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统计量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 (原始)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AS_improved (改进)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改善幅度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0.8325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0.8506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+2.2%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均值基本不变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标准差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0.0412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0.0699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+69.7%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离散度大幅提升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变异系数(CV)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0.0495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0.0821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+65.9%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区分度显著改善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最常见值占比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61.8%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-99.7%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核心问题解决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唯一值数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极少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1746/1997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几乎每个观测唯一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数据质量评价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严重集中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显著改善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可用于截面分析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6217920"/>
            <a:ext cx="54864" cy="50292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核心问题: 原始AS用等权基准，导致61.8%的基金-季度观测值AS=0.8325(完全相同)。原因是基金前十大持仓与等权基准的差异结构高度相似。改进后用真实权重，每只成分股权重不同(贵州茅台5% vs 某小盘股0.05%)，AS值几乎每个观测都不同。但注意: M4 vs M6对比显示，AS改进后对核心回归结论无影响(AS在FF4下均不显著)。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FF3 vs FF4 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Fama-French 三因子 vs Carhart 四因子 | 动量因子的关键作用 | alpha 估计偏误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一、因子模型对比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5212080"/>
              </a:tblGrid>
              <a:tr h="658368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 (Fama-French 3因子)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 (Carhart 4因子)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提出者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Fama &amp; French (1993)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Carhart (1997)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因子构成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MKT: 市场超额收益 (Rm - Rf)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SMB: 规模因子 (小盘-大盘)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HML: 价值因子 (高账面市值比-低)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FF3全部因子 +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MOM: 动量因子 (过去赢家-过去输家)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alpha计算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ff3_alpha = Ri - Rf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beta1*MKT - beta2*SMB - beta3*HML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ff4_alpha = Ri - Rf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beta1*MKT - beta2*SMB - beta3*HML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  - beta4*MOM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经济含义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剥离市场、规模、价值风险后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基金经理的超额能力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额外剥离动量效应后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基金经理的「纯」超额能力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潜在问题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遗漏动量因子 =&gt; alpha有偏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(把动量收益误归为基金经理能力)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更严格: 若alpha仍显著，</a:t>
                      </a:r>
                    </a:p>
                    <a:p>
                      <a:pPr algn="l">
                        <a:defRPr sz="8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说明业绩不能被四个因子解释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微软雅黑"/>
              </a:defRPr>
            </a:pPr>
            <a:r>
              <a:t>二、FF3 -&gt; FF4 对行为指标显著性的影响 (M1 vs M3, 控制变量不变)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502920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645920"/>
                <a:gridCol w="1645920"/>
                <a:gridCol w="576072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M1 (FF3) 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M3 (FF4) t值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变化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经济学解释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10.06***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失去显著性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(红色)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ARG在FF3中的预测力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主要由动量因子驱动,</a:t>
                      </a:r>
                    </a:p>
                    <a:p>
                      <a:pPr algn="l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非隐形交易信息含量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-22.58***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-5.71***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仍显著但</a:t>
                      </a:r>
                    </a:p>
                    <a:p>
                      <a:pPr algn="l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大幅减弱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过度交易效应部分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由动量解释，但FF4下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仍有独立负效应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-3.81***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新现显著性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(绿色)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风格漂移的真实负效应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被FF3遗漏偏误掩盖,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FF4才显现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2.42**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新现显著性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(绿色)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锦标赛行为的正向效应</a:t>
                      </a:r>
                    </a:p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被FF3遗漏偏误掩盖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六模型完整定义 (M1-M6)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每个模型的被解释变量 / 行为指标 / 控制变量 / R² / 核心定位 | N=7939, 355基金聚类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371600"/>
                <a:gridCol w="1828800"/>
                <a:gridCol w="2011680"/>
                <a:gridCol w="640080"/>
                <a:gridCol w="5212080"/>
              </a:tblGrid>
              <a:tr h="777240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被解释变量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行为指标(9个)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控制变量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核心定位与发现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(FF3 alpha)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AS, ICI, SDI,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RG, ARG, OCI,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BHS, CR, 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log_aum,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manager_tenure,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fund_age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基准模型: 建立行为-业绩关系基线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OCI极显著(t=-22.58***),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ARG强显著(t=10.06***)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但R²低, 可能存在遗漏偏误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ff3_adj_return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基础3个 +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TO_calc, treasury_10y,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manager_change_dummy,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return_volatility,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family_size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加控制变量: 检验遗漏变量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R²提升33.7%, 核心指标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(OCI/ARG/CR)系数和显著性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基本不变 =&gt; 不受遗漏控制驱动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(FF4 alpha,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含动量MOM)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换因子模型: 检验动量影响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R²跃升228%, ARG失去显著性,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SDI/BHS新现显著性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动量是关键遗漏变量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(9个原始指标)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同M2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0.4101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主模型: FF4+扩展控制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R²最高, 5个指标***显著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(SDI/RG/OCI/BHS/CR)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ARG边际显著(*)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AS_improved替换AS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+其余8个同M1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同M1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(3个基础)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换AS_improved(基础控制):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R²几乎不变(0.3485-&gt;0.3483)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AS仍不显著, SDI等结论一致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数据质量改进无影响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ff4_adj_return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(同M3)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AS_improved替换AS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+其余8个同M1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同M2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(8个扩展)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0.4100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全改进版: FF4+AS_improved+扩展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R²几乎不变(0.4101-&gt;0.4100)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所有结论与M4一致</a:t>
                      </a:r>
                    </a:p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=&gt; AS改进不影响核心结论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172200"/>
            <a:ext cx="54864" cy="54864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172200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六模型设计 = 2(被解释变量) x 2(行为指标) x 2(控制变量) = 8种组合, 但FF3+AS_improved不常用(FF3已有偏误, 换AS意义不大), 故做6个。M4为主模型(R²=0.4101最高)。M1-&gt;M2检验控制变量, M1-&gt;M3检验因子模型, M3-&gt;M5检验数据质量。三个维度的变化相互正交, 可以精确归因每个因素对结论的影响。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56DB"/>
                </a:solidFill>
                <a:latin typeface="微软雅黑"/>
              </a:defRPr>
            </a:pPr>
            <a:r>
              <a:t>六模型行为指标系数对比与核心发现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B8C"/>
                </a:solidFill>
                <a:latin typeface="微软雅黑"/>
              </a:defRPr>
            </a:pPr>
            <a:r>
              <a:t>系数(t值) | *** p&lt;0.01, ** p&lt;0.05, * p&lt;0.1 | 聚类稳健标准误(355基金) | N=7939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M1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M2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FF3+原始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M3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M4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FF4+原始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M5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FF4+改进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+基础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M6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FF4+改进</a:t>
                      </a:r>
                    </a:p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+扩展</a:t>
                      </a:r>
                    </a:p>
                  </a:txBody>
                  <a:tcPr anchor="ctr" marL="45720" marR="45720" marT="18288" marB="18288">
                    <a:solidFill>
                      <a:srgbClr val="1A56D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AS/AS_imp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-0.2185***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-0.1199**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(-2.35)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-0.0175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(-1.62)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-0.0086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(-0.82)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-0.0152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(-1.36)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-0.0069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(-0.62)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-0.0830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(-1.47)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-0.0799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(-1.54)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0.0310*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(1.83)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0.0181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0.0301*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0.0176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(1.11)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SDI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0.0011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(0.09)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0.0162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(1.27)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-0.0140***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(-3.81)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-0.0141***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(-4.02)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(-3.93)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-0.0143***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(-4.09)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RG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-0.0245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(-0.75)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-0.0122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(-0.36)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0.0177***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(5.69)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0.0209***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(7.07)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0.0176***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(5.66)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0.0208***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(7.09)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ARG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0.2596***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(10.06)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0.2824***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(12.32)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0.0019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(0.47)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0.0066*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0.0018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(0.46)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0.0065*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(1.77)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OCI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-1.0382***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(-22.58)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-1.0991***</a:t>
                      </a:r>
                    </a:p>
                    <a:p>
                      <a:pPr algn="ctr">
                        <a:defRPr sz="700" b="0">
                          <a:solidFill>
                            <a:srgbClr val="C0392B"/>
                          </a:solidFill>
                          <a:latin typeface="微软雅黑"/>
                        </a:defRPr>
                      </a:pPr>
                      <a:r>
                        <a:t>(-25.02)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(-5.71)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-0.0122***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(-3.85)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-0.0225***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(-5.73)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-0.0123***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(-3.86)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BHS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(0.41)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0.0013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(0.23)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(2.42)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(4.29)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0.0008**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(2.39)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0.0014***</a:t>
                      </a:r>
                    </a:p>
                    <a:p>
                      <a:pPr algn="ctr">
                        <a:defRPr sz="700" b="0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(4.33)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CR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-0.0386***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(-7.33)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-0.0410***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(-6.84)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(10.95)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(11.90)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0.0108***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(11.00)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0.0129***</a:t>
                      </a:r>
                    </a:p>
                    <a:p>
                      <a:pPr algn="ctr">
                        <a:defRPr sz="700" b="0">
                          <a:solidFill>
                            <a:srgbClr val="E86C00"/>
                          </a:solidFill>
                          <a:latin typeface="微软雅黑"/>
                        </a:defRPr>
                      </a:pPr>
                      <a:r>
                        <a:t>(11.92)</a:t>
                      </a:r>
                    </a:p>
                  </a:txBody>
                  <a:tcPr anchor="ctr" marL="45720" marR="45720" marT="18288" marB="18288"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-0.0211*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(-1.92)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-0.0118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(-1.11)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0.0024***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(2.68)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0.0007</a:t>
                      </a:r>
                    </a:p>
                    <a:p>
                      <a:pPr algn="ctr">
                        <a:defRPr sz="700" b="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(0.99)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0.1062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0.1420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0.3485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0F7B4F"/>
                          </a:solidFill>
                          <a:latin typeface="微软雅黑"/>
                        </a:defRPr>
                      </a:pPr>
                      <a:r>
                        <a:t>0.4101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0.3483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700" b="1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0.4100</a:t>
                      </a:r>
                    </a:p>
                  </a:txBody>
                  <a:tcPr anchor="ctr" marL="45720" marR="45720" marT="18288" marB="18288">
                    <a:solidFill>
                      <a:srgbClr val="E8EA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6235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C"/>
                </a:solidFill>
                <a:latin typeface="微软雅黑"/>
              </a:defRPr>
            </a:pPr>
            <a:r>
              <a:t>颜色: 绿色=***稳健显著 | 红色=失去显著性 | 橙色=符号翻转或减弱 | M4(第5列)为主模型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897880"/>
            <a:ext cx="54864" cy="685800"/>
          </a:xfrm>
          <a:prstGeom prst="rect">
            <a:avLst/>
          </a:prstGeom>
          <a:solidFill>
            <a:srgbClr val="0F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897880"/>
            <a:ext cx="11475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D2D2D"/>
                </a:solidFill>
                <a:latin typeface="微软雅黑"/>
              </a:defRPr>
            </a:pPr>
            <a:r>
              <a:t>三大核心发现: (1) SDI是FF4下最稳健指标: 6个模型中FF4的4个模型全部***显著, 系数稳定在-0.014附近, 风格漂移确实损害业绩; (2) ARG的预测力由动量驱动: FF3中极显著(t=10.06***)但FF4中不显著(t=0.47), 说明ARG在FF3中捕捉的是动量效应而非隐形交易信息; (3) FF3存在严重遗漏变量偏误: OCI/CR/RAR的符号和显著性在FF3-&gt;FF4间大幅变化, FF4提供了更严格的业绩基准。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B8C"/>
                </a:solidFill>
              </a:defRPr>
            </a:pPr>
            <a:r>
              <a:t>AI 生成</a:t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5*252"/>
  <p:tag name="TABLE_ENDDRAG_RECT" val="36*108*885*252"/>
</p:tagLst>
</file>

<file path=ppt/tags/tag2.xml><?xml version="1.0" encoding="utf-8"?>
<p:tagLst xmlns:p="http://schemas.openxmlformats.org/presentationml/2006/main">
  <p:tag name="TABLE_ENDDRAG_ORIGIN_RECT" val="854*344"/>
  <p:tag name="TABLE_ENDDRAG_RECT" val="36*86*854*344"/>
</p:tagLst>
</file>

<file path=ppt/tags/tag3.xml><?xml version="1.0" encoding="utf-8"?>
<p:tagLst xmlns:p="http://schemas.openxmlformats.org/presentationml/2006/main">
  <p:tag name="TABLE_ENDDRAG_ORIGIN_RECT" val="915*345"/>
  <p:tag name="TABLE_ENDDRAG_RECT" val="21*86*915*34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25650</Words>
  <Application>WPS 演示</Application>
  <PresentationFormat/>
  <Paragraphs>5100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Arial</vt:lpstr>
      <vt:lpstr>宋体</vt:lpstr>
      <vt:lpstr>Wingdings</vt:lpstr>
      <vt:lpstr>微软雅黑</vt:lpstr>
      <vt:lpstr>Arial</vt:lpstr>
      <vt:lpstr>黑体</vt:lpstr>
      <vt:lpstr>JetBrains Mono</vt:lpstr>
      <vt:lpstr>FFont-Family</vt:lpstr>
      <vt:lpstr>Courier New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10</cp:revision>
  <dcterms:created xsi:type="dcterms:W3CDTF">2026-08-05T01:04:00Z</dcterms:created>
  <dcterms:modified xsi:type="dcterms:W3CDTF">2026-08-07T02:45:25Z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