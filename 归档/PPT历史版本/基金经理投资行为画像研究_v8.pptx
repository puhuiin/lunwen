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  <p:sldId id="393" r:id="rId51"/>
    <p:sldId id="394" r:id="rId52"/>
    <p:sldId id="395" r:id="rId53"/>
    <p:sldId id="396" r:id="rId54"/>
    <p:sldId id="397" r:id="rId55"/>
    <p:sldId id="398" r:id="rId56"/>
    <p:sldId id="399" r:id="rId57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71600"/>
          <a:ext cx="1124712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8032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核心任务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方法与预期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1.0阶段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用BHS虚拟变量(排名下降&gt;中位数=1)识别锦标赛行为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基础Logistic回归，验证锦标赛压力存在性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引入CR(累计收益)和RAR(排名变化幅度)丰富指标，加入经理特征交互项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多元Logistic，检验教育/CFA对锦标赛行为的调节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3.0阶段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用连续排名变量替代0/1虚拟变量，动态面板GMM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检验锦标赛效应持续性，解决内生性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387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0233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1380" y="5537200"/>
            <a:ext cx="10891520" cy="553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97280"/>
          <a:ext cx="1085088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/>
                <a:gridCol w="1808480"/>
                <a:gridCol w="1808480"/>
                <a:gridCol w="1808480"/>
                <a:gridCol w="1808480"/>
                <a:gridCol w="1808480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变量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均值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标准差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最小值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中位数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最大值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AS (主动管理)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0.695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0.941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ICI (行业集中度)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0.061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SDI (风格漂移)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0.335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0.153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0.321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0.828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ARG (绝对隐形交易)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0.145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0.197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0.803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OCI (过度自信)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0.056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0.000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0.451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FF3调整收益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0.023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0.241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-0.729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0.006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1.469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基金规模(对数)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19.787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1.941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13.816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20.079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23.429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换手率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1.043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0.737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0.890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5.842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810"/>
            <a:ext cx="82296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rPr sz="1800"/>
              <a:t>三个模型递进：行为指标 → +控制变量 → +年份FE</a:t>
            </a:r>
            <a:endParaRPr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97280"/>
          <a:ext cx="11633200" cy="439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  <a:gridCol w="2908300"/>
              </a:tblGrid>
              <a:tr h="488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变量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1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2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3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-0.2830 (-5.48***)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-0.1781 (-3.81***)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-0.1716 (-3.90***)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ICI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-0.0034 (-0.08)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0.0388 (0.92)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0.1136 (2.49**)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SDI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0.0020 (0.17)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0.0075 (0.64)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0.0189 (1.51)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ARG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0.1759 (8.94***)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0.1521 (7.95***)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0.0615 (2.74***)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OCI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-1.0725 (-25.18***)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-1.1117 (-26.02***)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-1.3187 (-24.56***)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log_aum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-0.0101 (-11.64***)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-0.0113 (-13.35***)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TO_calc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-0.0076 (-4.19***)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 (0.94)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R²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0.0775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0.1066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0.1792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3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5979160"/>
                <a:gridCol w="2764155"/>
              </a:tblGrid>
              <a:tr h="62674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核心解答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修正方向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Q1: 锦标赛是效应还是层级？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L1中还有从业年限/学历等怎么解释？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锦标赛(BHS)是行为响应而非背景层。原稿L1=背景特征(从业年限/学历)，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v14误将BHS提升为L1。正确做法：背景特征作为控制变量和调节变量，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BHS归入「竞争压力响应」维度。结论解释：控制背景异质性后，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行为指标对业绩的预测力是净效应。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恢复L1=背景特征层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BHS归入行为维度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交互项检验背景×行为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Q2: 综合回归合理吗？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L1-L5是并列还是递进？PS怎么回事？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当前OLS将所有指标同时放入=并列模型。但框架声称「递进」=矛盾。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PS(Logistic)不是独立层级，而是L1-L4指标的综合预测工具。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PS=σ(β0+β1*BHS+β2*AS+β3*ARG+β4*SDI+β5*OCI)，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本质是对已有指标的加权组合，非新信息。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改「分层并行+综合整合」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两阶段：独立回归→PS整合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加SEM路径分析检验递进链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Q3: 全用别人方法=大杂烩？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创新点在哪？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整合创新在学术上成立但需理论贡献。当前创新：①五层框架整合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②真实权重AS改进 ③FF4 vs FF3因子吸收发现 ④中国市场验证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⑤PSM因果推断。但缺乏：理论模型解释为何这5个维度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是充分必要的；缺少新指标或新方法。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加理论模型推导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提出「行为效率系数」新指标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样本外预测验证PS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Q4: PS的Logistic原理？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与综合OLS的区别？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 Logit: P(超额收益&gt;中位数)=σ(Xβ)，输出概率0-1，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用于分类和排序。OLS: Y=Xβ+ε，输出边际效应系数。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区别：①PS做分类预测(谁跑赢)，OLS做因果推断(影响多大)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②PS可构建多空组合，OLS不能 ③PS是二阶段工具，OLS是一阶段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明确两阶段定位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Ch4用OLS做推断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Ch5用PS做预测验证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2743200"/>
                <a:gridCol w="3840480"/>
                <a:gridCol w="7315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审查维度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存在问题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优化措施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理论框架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原稿「递进」与v14「并列」矛盾；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L1定义不一致(背景vs锦标赛)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统一为「五维并行+两阶段整合」；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背景特征=控制变量非层级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创新性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贡献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整合创新成立但缺乏理论模型；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无新指标/新方法提出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推导理论模型解释5维充分性；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提出「行为效率系数」BEI指标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已有PSM+Bootstrap+安慰剂；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但缺乏IV/DID/RDD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加IV估计(经理变更)；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加DID(极端市场事件冲击)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统计检验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74个检验Bonferroni校正；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VIF/安慰剂/子样本齐全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补充Hausman检验(RE vs FE)；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加样本外R²预测验证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幸存者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偏差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仅含存活基金(400只)；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已获取27449只基金列表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识别清盘基金并补充历史数据；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做Heckman两步法修正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PS定义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合理性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PS=Logit概率(&gt;中位数)；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定义较随意，缺乏理论支撑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改PS=1-样本外预测R²；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或用交叉验证AUC作为PS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0644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0644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为什么做 6 个模型？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正交识别设计 | 三维变化分离检验 | 避免单一模型的偏误风险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2926080"/>
                <a:gridCol w="164592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A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B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检验目标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对应模型对比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(业绩度量)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(三因子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(四因子 alpha,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 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动量因子是否是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遗漏变量？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的 alpha 是否有偏？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(核心解释变量)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 AS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(等权基准)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 AS_improved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(真实成分股权重)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基准权重数据质量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是否影响结论？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的不显著是数据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问题还是经济问题？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 vs 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(混淆控制)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 + TO_calc,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volatility,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行为指标的显著性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是否由遗漏控制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变量驱动？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正交识别的核心逻辑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262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固定什么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能识别什么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被解释变量(FF3)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(基础→扩展)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加5个控制变量后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行为指标是否稳健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(FF3→FF4)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加入动量因子后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哪些指标受影响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被解释变量(FF4)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(AS→AS_improved)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数据质量改进后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AS是否变显著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6126480"/>
            <a:ext cx="54864" cy="59436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26480"/>
            <a:ext cx="11475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为什么不只做1个模型？单一模型无法区分「行为指标不显著」是因为(1)经济上确实无效应，还是(2)因子模型遗漏了动量，还是(3)控制变量不足，还是(4)数据质量问题。通过三维正交变化，每次只改变一个维度，可以精确归因。2x2x2=8种组合中，FF3+AS_improved较少使用(FF3已有偏误，换AS意义不大)，故做6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AS vs AS_improved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Active Share 主动份额 | 等权基准 vs 真实成分股权重 | 数据质量改进的核心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一、计算公式与核心区别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852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计算公式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(公式相同，基准权重不同)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(指数成分股均分)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中证指数公司真实成分股权重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(ak.index_stock_cons_weight_csindex)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沪深300基准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1/300 = 0.333% 每只股票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中证500基准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1/500 = 0.2% 每只股票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真实权重(0.01%~1.5%不等,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数据下载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无需下载(简单等分)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从中证指数公司下载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沪深300(300只)+中证500(500只)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二、改进效果: 数据质量大幅提升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69080"/>
          <a:ext cx="11612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1645920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统计量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改善幅度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+2.2%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均值基本不变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0.0699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+69.7%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离散度大幅提升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变异系数(CV)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+65.9%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区分度显著改善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-99.7%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核心问题解决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几乎每个观测唯一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可用于截面分析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17920"/>
            <a:ext cx="54864" cy="5029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核心问题: 原始AS用等权基准，导致61.8%的基金-季度观测值AS=0.8325(完全相同)。原因是基金前十大持仓与等权基准的差异结构高度相似。改进后用真实权重，每只成分股权重不同(贵州茅台5% vs 某小盘股0.05%)，AS值几乎每个观测都不同。但注意: M4 vs M6对比显示，AS改进后对核心回归结论无影响(AS在FF4下均不显著)。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FF3 vs FF4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Fama-French 三因子 vs Carhart 四因子 | 动量因子的关键作用 | alpha 估计偏误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一、因子模型对比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(Fama-French 3因子)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(Carhart 4因子)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提出者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 &amp; French (1993)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 (1997)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MKT: 市场超额收益 (Rm - Rf)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SMB: 规模因子 (小盘-大盘)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HML: 价值因子 (高账面市值比-低)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FF3全部因子 +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MOM: 动量因子 (过去赢家-过去输家)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alpha计算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beta4*MOM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经济含义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剥离市场、规模、价值风险后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额外剥离动量效应后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基金经理的「纯」超额能力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潜在问题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遗漏动量因子 =&gt; alpha有偏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(把动量收益误归为基金经理能力)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更严格: 若alpha仍显著，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说明业绩不能被四个因子解释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二、FF3 -&gt; FF4 对行为指标显著性的影响 (M1 vs M3, 控制变量不变)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0292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64592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 (FF3)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 (FF4)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经济学解释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10.06***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失去显著性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(红色)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ARG在FF3中的预测力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主要由动量因子驱动,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非隐形交易信息含量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-22.58***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-5.71***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仍显著但</a:t>
                      </a:r>
                    </a:p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大幅减弱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过度交易效应部分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由动量解释，但FF4下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仍有独立负效应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-3.81***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风格漂移的真实负效应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被FF3遗漏偏误掩盖,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FF4才显现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2.42**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锦标赛行为的正向效应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六模型完整定义 (M1-M6)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每个模型的被解释变量 / 行为指标 / 控制变量 / R² / 核心定位 | N=7939, 355基金聚类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828800"/>
                <a:gridCol w="2011680"/>
                <a:gridCol w="640080"/>
                <a:gridCol w="521208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行为指标(9个)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核心定位与发现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AS, ICI, SDI,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RG, ARG, OCI,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BHS, CR, 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基准模型: 建立行为-业绩关系基线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OCI极显著(t=-22.58***),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ARG强显著(t=10.06***)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但R²低, 可能存在遗漏偏误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基础3个 +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TO_calc, treasury_10y,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加控制变量: 检验遗漏变量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R²提升33.7%, 核心指标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(OCI/ARG/CR)系数和显著性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基本不变 =&gt; 不受遗漏控制驱动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(FF4 alpha,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换因子模型: 检验动量影响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R²跃升228%, ARG失去显著性,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SDI/BHS新现显著性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动量是关键遗漏变量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主模型: FF4+扩展控制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R²最高, 5个指标***显著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(SDI/RG/OCI/BHS/CR)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ARG边际显著(*)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换AS_improved(基础控制):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R²几乎不变(0.3485-&gt;0.3483)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AS仍不显著, SDI等结论一致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数据质量改进无影响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全改进版: FF4+AS_improved+扩展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R²几乎不变(0.4101-&gt;0.4100)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所有结论与M4一致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AS改进不影响核心结论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172200"/>
            <a:ext cx="54864" cy="54864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17220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六模型设计 = 2(被解释变量) x 2(行为指标) x 2(控制变量) = 8种组合, 但FF3+AS_improved不常用(FF3已有偏误, 换AS意义不大), 故做6个。M4为主模型(R²=0.4101最高)。M1-&gt;M2检验控制变量, M1-&gt;M3检验因子模型, M3-&gt;M5检验数据质量。三个维度的变化相互正交, 可以精确归因每个因素对结论的影响。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六模型行为指标系数对比与核心发现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系数(t值) | *** p&lt;0.01, ** p&lt;0.05, * p&lt;0.1 | 聚类稳健标准误(355基金) | N=7939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AS/AS_imp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(-2.35)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(-0.82)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(-1.36)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(-1.47)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(-1.54)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(1.83)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(1.27)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(-3.81)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(-0.75)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(-0.36)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(10.06)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(12.32)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(-22.58)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(-25.02)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(0.23)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(2.42)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(4.29)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(2.39)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(4.33)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(-7.33)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(-6.84)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(10.95)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(11.00)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(-1.92)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623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C"/>
                </a:solidFill>
                <a:latin typeface="微软雅黑"/>
              </a:defRPr>
            </a:pPr>
            <a:r>
              <a:t>颜色: 绿色=***稳健显著 | 红色=失去显著性 | 橙色=符号翻转或减弱 | M4(第5列)为主模型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97880"/>
            <a:ext cx="54864" cy="6858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97880"/>
            <a:ext cx="11475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三大核心发现: (1) SDI是FF4下最稳健指标: 6个模型中FF4的4个模型全部***显著, 系数稳定在-0.014附近, 风格漂移确实损害业绩; (2) ARG的预测力由动量驱动: FF3中极显著(t=10.06***)但FF4中不显著(t=0.47), 说明ARG在FF3中捕捉的是动量效应而非隐形交易信息; (3) FF3存在严重遗漏变量偏误: OCI/CR/RAR的符号和显著性在FF3-&gt;FF4间大幅变化, FF4提供了更严格的业绩基准。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基础控制变量(5个) + 扩展控制变量(3个) | 计算方法 · 数据来源 · 描述性统计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73152" cy="27432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539E"/>
                </a:solidFill>
                <a:latin typeface="微软雅黑"/>
              </a:defRPr>
            </a:pPr>
            <a:r>
              <a:t>基础控制变量（v13已有，5个）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25880"/>
          <a:ext cx="88696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基金规模对数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ln(基金净资产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×10^8)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24.42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经理任职年限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(manager_tenure)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任职天数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天天基金网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爬取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7.90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21.87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换手率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(TO_calc)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min(总申购+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总赎回)/均值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净资产,上限10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10年国债收益率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(treasury_10y)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季度末10年期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国债到期收益率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(%)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国债收益率曲线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2.51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0.57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1.65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4.55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经理变更虚拟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(manager_change)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当季发生经理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变更=1,否则=0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变更公告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0.27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4434840"/>
            <a:ext cx="73152" cy="274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4165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6C00"/>
                </a:solidFill>
                <a:latin typeface="微软雅黑"/>
              </a:defRPr>
            </a:pPr>
            <a:r>
              <a:t>扩展控制变量（v14新增，3个）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800600"/>
          <a:ext cx="8869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731520"/>
                <a:gridCol w="822960"/>
                <a:gridCol w="822960"/>
                <a:gridCol w="82296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变量名(代码)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计算方法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最小值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基金年龄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(fund_age)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(当前日期-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成立日期)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/365.25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基金基本信息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9,581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7.40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5.58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24.53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家族规模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(family_size)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同公司所有基金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log_aum的均值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AKShare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基金规模历史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9,315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19.82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1.30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11.90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23.48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收益波动率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(return_volatility)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滚动8季度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季度收益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自计算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(基于净值)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8,381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0.129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0.072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0.536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537960"/>
            <a:ext cx="54864" cy="2743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37960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log_aum取自然对数以消除规模异方差; TO_calc上限截断在10以消除极端值; manager_change_dummy的均值0.08表示约8%的基金-季度观测发生了经理变更。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控制变量理论依据与统计检验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为什么控制这些变量 | VIF多重共线性 | M6最佳模型中的显著性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86968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"/>
                <a:gridCol w="1097280"/>
                <a:gridCol w="731520"/>
                <a:gridCol w="50292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VIF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M6系数(t值)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显著性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理论依据（为什么控制）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(基金规模)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规模效应: 大基金管理难度增加，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可能因流动性约束和决策迟缓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导致业绩下降 (Chen et al., 2004)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(任职年限)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经验效应: 资深经理可能具有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更强的选股择时能力，但也可能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因过度自信而损害业绩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(换手率)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0.0049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(5.58)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交易成本效应: 高换手率增加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交易成本，但也可能反映经理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的信息优势 (Carhart, 1997)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(国债收益率)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0.0078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(3.88)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宏观利率环境: 无风险利率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代理变量，控制利率周期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对基金收益的系统性影响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(经理变更)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策略连续性: 经理变更可能导致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投资策略调整，影响短期业绩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(Gallagher &amp; Martin, 2005)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(基金年龄)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1.43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-0.0015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(-7.72)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生命周期效应: 老基金可能因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策略固化和规模膨胀而业绩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下降 (Ferreira et al., 2013)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(家族规模)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公司资源效应: 大型基金公司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可能提供更好的研究支持和</a:t>
                      </a:r>
                    </a:p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风险管理 (Chen et al., 2004)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</a:t>
                      </a:r>
                    </a:p>
                    <a:p>
                      <a:pPr algn="l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(收益波动率)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1.52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0.0205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(2.12)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风险水平控制: 高波动基金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的风险暴露不同，需控制</a:t>
                      </a:r>
                    </a:p>
                    <a:p>
                      <a:pPr algn="ctr">
                        <a:defRPr sz="8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风险因子对业绩的混淆影响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9893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98932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注: VIF仅报告v14扩展模型中的值（最大2.22，远低于阈值10，无多重共线性问题）。M6系数来自最佳模型（FF4+原始指标+扩展控制，R²=0.2679）。「—」表示该变量在M6模型中未单独报告或系数较小。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92240"/>
            <a:ext cx="54864" cy="320040"/>
          </a:xfrm>
          <a:prstGeom prst="rect">
            <a:avLst/>
          </a:prstGeom>
          <a:solidFill>
            <a:srgbClr val="0B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设计逻辑: 5个基础控制变量覆盖「规模-经验-交易-宏观-人事」五个维度，3个扩展控制变量补充「生命周期-公司资源-风险水平」三个维度，共同构成完整的混淆变量控制体系。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252"/>
  <p:tag name="TABLE_ENDDRAG_RECT" val="36*108*885*252"/>
</p:tagLst>
</file>

<file path=ppt/tags/tag2.xml><?xml version="1.0" encoding="utf-8"?>
<p:tagLst xmlns:p="http://schemas.openxmlformats.org/presentationml/2006/main">
  <p:tag name="TABLE_ENDDRAG_ORIGIN_RECT" val="854*344"/>
  <p:tag name="TABLE_ENDDRAG_RECT" val="36*86*854*344"/>
</p:tagLst>
</file>

<file path=ppt/tags/tag3.xml><?xml version="1.0" encoding="utf-8"?>
<p:tagLst xmlns:p="http://schemas.openxmlformats.org/presentationml/2006/main">
  <p:tag name="TABLE_ENDDRAG_ORIGIN_RECT" val="915*345"/>
  <p:tag name="TABLE_ENDDRAG_RECT" val="21*86*915*34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25650</Words>
  <Application>WPS 演示</Application>
  <PresentationFormat/>
  <Paragraphs>5100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