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 值（双向聚类）</c:v>
                </c:pt>
              </c:strCache>
            </c:strRef>
          </c:tx>
          <c:spPr>
            <a:solidFill>
              <a:srgbClr val="138089"/>
            </a:solidFill>
          </c:spPr>
          <c:cat>
            <c:strRef>
              <c:f>Sheet1!$A$2:$A$7</c:f>
              <c:strCache>
                <c:ptCount val="6"/>
                <c:pt idx="0">
                  <c:v>LSV</c:v>
                </c:pt>
                <c:pt idx="1">
                  <c:v>ARG</c:v>
                </c:pt>
                <c:pt idx="2">
                  <c:v>AS</c:v>
                </c:pt>
                <c:pt idx="3">
                  <c:v>DE</c:v>
                </c:pt>
                <c:pt idx="4">
                  <c:v>RA</c:v>
                </c:pt>
                <c:pt idx="5">
                  <c:v>ICI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0.77</c:v>
                </c:pt>
                <c:pt idx="1">
                  <c:v>2.98</c:v>
                </c:pt>
                <c:pt idx="2">
                  <c:v>-2.81</c:v>
                </c:pt>
                <c:pt idx="3">
                  <c:v>-2.99</c:v>
                </c:pt>
                <c:pt idx="4">
                  <c:v>3.57</c:v>
                </c:pt>
                <c:pt idx="5">
                  <c:v>3.74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Microsoft YaHe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Microsoft YaHe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同向显著比例</c:v>
                </c:pt>
              </c:strCache>
            </c:strRef>
          </c:tx>
          <c:spPr>
            <a:solidFill>
              <a:srgbClr val="138089"/>
            </a:solidFill>
          </c:spPr>
          <c:dPt>
            <c:idx val="5"/>
            <c:spPr>
              <a:solidFill>
                <a:srgbClr val="C9A227"/>
              </a:solidFill>
            </c:spPr>
          </c:dPt>
          <c:cat>
            <c:strRef>
              <c:f>Sheet1!$A$2:$A$7</c:f>
              <c:strCache>
                <c:ptCount val="6"/>
                <c:pt idx="0">
                  <c:v>LSV</c:v>
                </c:pt>
                <c:pt idx="1">
                  <c:v>DE</c:v>
                </c:pt>
                <c:pt idx="2">
                  <c:v>ARG</c:v>
                </c:pt>
                <c:pt idx="3">
                  <c:v>AS</c:v>
                </c:pt>
                <c:pt idx="4">
                  <c:v>ICI</c:v>
                </c:pt>
                <c:pt idx="5">
                  <c:v>RA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0.068</c:v>
                </c:pt>
                <c:pt idx="1">
                  <c:v>0.42</c:v>
                </c:pt>
                <c:pt idx="2">
                  <c:v>0.567</c:v>
                </c:pt>
                <c:pt idx="3">
                  <c:v>0.598</c:v>
                </c:pt>
                <c:pt idx="4">
                  <c:v>0.84</c:v>
                </c:pt>
                <c:pt idx="5">
                  <c:v>0.976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Microsoft YaHe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Microsoft YaHe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A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6400800"/>
            <a:ext cx="12191695" cy="457200"/>
          </a:xfrm>
          <a:prstGeom prst="roundRect">
            <a:avLst>
              <a:gd name="adj" fmla="val 0"/>
            </a:avLst>
          </a:prstGeom>
          <a:solidFill>
            <a:srgbClr val="0F5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332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Microsoft YaHei"/>
                <a:ea typeface="Microsoft YaHei"/>
              </a:rPr>
              <a:t>基金经理投资行为画像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31720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>
                <a:solidFill>
                  <a:srgbClr val="C9A227"/>
                </a:solidFill>
                <a:latin typeface="Microsoft YaHei"/>
                <a:ea typeface="Microsoft YaHei"/>
              </a:rPr>
              <a:t>基于五层行为分解框架的实证研究 · 阶段进展汇报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75688" y="3383280"/>
            <a:ext cx="1463040" cy="868680"/>
          </a:xfrm>
          <a:prstGeom prst="roundRect">
            <a:avLst>
              <a:gd name="adj" fmla="val 15000"/>
            </a:avLst>
          </a:prstGeom>
          <a:solidFill>
            <a:srgbClr val="143A47"/>
          </a:solidFill>
          <a:ln w="12700">
            <a:solidFill>
              <a:srgbClr val="1380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75688" y="3493008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C9A227"/>
                </a:solidFill>
                <a:latin typeface="Microsoft YaHei"/>
                <a:ea typeface="Microsoft YaHei"/>
              </a:rPr>
              <a:t>L1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75688" y="3822191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</a:rPr>
              <a:t>谁在管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38728" y="3611880"/>
            <a:ext cx="228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38089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67328" y="3383280"/>
            <a:ext cx="1463040" cy="868680"/>
          </a:xfrm>
          <a:prstGeom prst="roundRect">
            <a:avLst>
              <a:gd name="adj" fmla="val 15000"/>
            </a:avLst>
          </a:prstGeom>
          <a:solidFill>
            <a:srgbClr val="143A47"/>
          </a:solidFill>
          <a:ln w="12700">
            <a:solidFill>
              <a:srgbClr val="1380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67328" y="3493008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C9A227"/>
                </a:solidFill>
                <a:latin typeface="Microsoft YaHei"/>
                <a:ea typeface="Microsoft YaHei"/>
              </a:rPr>
              <a:t>L2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67328" y="3822191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</a:rPr>
              <a:t>持什么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30368" y="3611880"/>
            <a:ext cx="228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38089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58968" y="3383280"/>
            <a:ext cx="1463040" cy="868680"/>
          </a:xfrm>
          <a:prstGeom prst="roundRect">
            <a:avLst>
              <a:gd name="adj" fmla="val 15000"/>
            </a:avLst>
          </a:prstGeom>
          <a:solidFill>
            <a:srgbClr val="143A47"/>
          </a:solidFill>
          <a:ln w="12700">
            <a:solidFill>
              <a:srgbClr val="1380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58968" y="3493008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C9A227"/>
                </a:solidFill>
                <a:latin typeface="Microsoft YaHei"/>
                <a:ea typeface="Microsoft YaHei"/>
              </a:rPr>
              <a:t>L3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58968" y="3822191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</a:rPr>
              <a:t>怎么交易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22008" y="3611880"/>
            <a:ext cx="228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38089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50608" y="3383280"/>
            <a:ext cx="1463040" cy="868680"/>
          </a:xfrm>
          <a:prstGeom prst="roundRect">
            <a:avLst>
              <a:gd name="adj" fmla="val 15000"/>
            </a:avLst>
          </a:prstGeom>
          <a:solidFill>
            <a:srgbClr val="143A47"/>
          </a:solidFill>
          <a:ln w="12700">
            <a:solidFill>
              <a:srgbClr val="1380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50608" y="3493008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C9A227"/>
                </a:solidFill>
                <a:latin typeface="Microsoft YaHei"/>
                <a:ea typeface="Microsoft YaHei"/>
              </a:rPr>
              <a:t>L4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50608" y="3822191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</a:rPr>
              <a:t>怎么控风险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13648" y="3611880"/>
            <a:ext cx="228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38089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42248" y="3383280"/>
            <a:ext cx="1463040" cy="868680"/>
          </a:xfrm>
          <a:prstGeom prst="roundRect">
            <a:avLst>
              <a:gd name="adj" fmla="val 15000"/>
            </a:avLst>
          </a:prstGeom>
          <a:solidFill>
            <a:srgbClr val="143A47"/>
          </a:solidFill>
          <a:ln w="12700">
            <a:solidFill>
              <a:srgbClr val="1380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42248" y="3493008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C9A227"/>
                </a:solidFill>
                <a:latin typeface="Microsoft YaHei"/>
                <a:ea typeface="Microsoft YaHei"/>
              </a:rPr>
              <a:t>L5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42248" y="3822191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</a:rPr>
              <a:t>为何决策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84632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AFC5CC"/>
                </a:solidFill>
                <a:latin typeface="Microsoft YaHei"/>
                <a:ea typeface="Microsoft YaHei"/>
              </a:rPr>
              <a:t>2006–2026 · 400 只主动偏股混合基金 · 9,974 基金-季度 · 222 位经理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76072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5C7079"/>
                </a:solidFill>
                <a:latin typeface="Microsoft YaHei"/>
                <a:ea typeface="Microsoft YaHei"/>
              </a:rPr>
              <a:t>2026 年 8 月 22 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384048"/>
            <a:ext cx="475488" cy="475488"/>
          </a:xfrm>
          <a:prstGeom prst="ellipse">
            <a:avLst/>
          </a:prstGeom>
          <a:solidFill>
            <a:srgbClr val="1380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384048"/>
            <a:ext cx="105156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E2A35"/>
                </a:solidFill>
                <a:latin typeface="Microsoft YaHei"/>
                <a:ea typeface="Microsoft YaHei"/>
              </a:rPr>
              <a:t>我们在研究什么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43000"/>
            <a:ext cx="11155680" cy="1234440"/>
          </a:xfrm>
          <a:prstGeom prst="roundRect">
            <a:avLst>
              <a:gd name="adj" fmla="val 10000"/>
            </a:avLst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98448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0E2A35"/>
                </a:solidFill>
                <a:latin typeface="Microsoft YaHei"/>
                <a:ea typeface="Microsoft YaHei"/>
              </a:rPr>
              <a:t>核心问题：在控制“谁在管理、持有什么、怎么交易、怎么控风险”等全部可观测行为后，</a:t>
            </a:r>
          </a:p>
          <a:p>
            <a:pPr algn="l">
              <a:lnSpc>
                <a:spcPct val="125000"/>
              </a:lnSpc>
            </a:pPr>
            <a:r>
              <a:rPr sz="1700" b="1">
                <a:solidFill>
                  <a:srgbClr val="0E2A35"/>
                </a:solidFill>
                <a:latin typeface="Microsoft YaHei"/>
                <a:ea typeface="Microsoft YaHei"/>
              </a:rPr>
              <a:t>认知偏差（处置效应 DE · 羊群 LSV · 风险不对称 RA）是否仍独立预测基金超额业绩？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697480"/>
            <a:ext cx="3566160" cy="1600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4E2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1520" y="2926080"/>
            <a:ext cx="411480" cy="411480"/>
          </a:xfrm>
          <a:prstGeom prst="ellipse">
            <a:avLst/>
          </a:prstGeom>
          <a:solidFill>
            <a:srgbClr val="1380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944368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E2A35"/>
                </a:solidFill>
                <a:latin typeface="Microsoft YaHei"/>
                <a:ea typeface="Microsoft YaHei"/>
              </a:rPr>
              <a:t>截面基准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52044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A2B33"/>
                </a:solidFill>
                <a:latin typeface="Microsoft YaHei"/>
                <a:ea typeface="Microsoft YaHei"/>
              </a:rPr>
              <a:t>基金之间谁 alpha 更高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88620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7079"/>
                </a:solidFill>
                <a:latin typeface="Microsoft YaHei"/>
                <a:ea typeface="Microsoft YaHei"/>
              </a:rPr>
              <a:t>回答“高低”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2697480"/>
            <a:ext cx="3566160" cy="1600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4E2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26280" y="2926080"/>
            <a:ext cx="411480" cy="411480"/>
          </a:xfrm>
          <a:prstGeom prst="ellipse">
            <a:avLst/>
          </a:prstGeom>
          <a:solidFill>
            <a:srgbClr val="1380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74920" y="2944368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E2A35"/>
                </a:solidFill>
                <a:latin typeface="Microsoft YaHei"/>
                <a:ea typeface="Microsoft YaHei"/>
              </a:rPr>
              <a:t>前向预测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352044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A2B33"/>
                </a:solidFill>
                <a:latin typeface="Microsoft YaHei"/>
                <a:ea typeface="Microsoft YaHei"/>
              </a:rPr>
              <a:t>本季行为 → 未来业绩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388620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7079"/>
                </a:solidFill>
                <a:latin typeface="Microsoft YaHei"/>
                <a:ea typeface="Microsoft YaHei"/>
              </a:rPr>
              <a:t>回答“时序”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2697480"/>
            <a:ext cx="3566160" cy="1600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4E2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21040" y="2926080"/>
            <a:ext cx="411480" cy="411480"/>
          </a:xfrm>
          <a:prstGeom prst="ellipse">
            <a:avLst/>
          </a:prstGeom>
          <a:solidFill>
            <a:srgbClr val="1380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2944368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E2A35"/>
                </a:solidFill>
                <a:latin typeface="Microsoft YaHei"/>
                <a:ea typeface="Microsoft YaHei"/>
              </a:rPr>
              <a:t>组内识别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52044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A2B33"/>
                </a:solidFill>
                <a:latin typeface="Microsoft YaHei"/>
                <a:ea typeface="Microsoft YaHei"/>
              </a:rPr>
              <a:t>同一基金内时序变异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388620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7079"/>
                </a:solidFill>
                <a:latin typeface="Microsoft YaHei"/>
                <a:ea typeface="Microsoft YaHei"/>
              </a:rPr>
              <a:t>最接近因果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61772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F5F66"/>
                </a:solidFill>
                <a:latin typeface="Microsoft YaHei"/>
                <a:ea typeface="Microsoft YaHei"/>
              </a:rPr>
              <a:t>三重识别策略：严格区分“预测关联”与“因果证据”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02920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5C7079"/>
                </a:solidFill>
                <a:latin typeface="Microsoft YaHei"/>
                <a:ea typeface="Microsoft YaHei"/>
              </a:rPr>
              <a:t>推断口径：基金×年份双向聚类（CGM 2011）为主，Wild Cluster Bootstrap、置换检验交叉验证；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5C7079"/>
                </a:solidFill>
                <a:latin typeface="Microsoft YaHei"/>
                <a:ea typeface="Microsoft YaHei"/>
              </a:rPr>
              <a:t>全部变量 1%/99% 缩尾；证据实行 A / B / C 三级分级并逐项标注效度边界。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384048"/>
            <a:ext cx="475488" cy="475488"/>
          </a:xfrm>
          <a:prstGeom prst="ellipse">
            <a:avLst/>
          </a:prstGeom>
          <a:solidFill>
            <a:srgbClr val="1380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384048"/>
            <a:ext cx="105156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E2A35"/>
                </a:solidFill>
                <a:latin typeface="Microsoft YaHei"/>
                <a:ea typeface="Microsoft YaHei"/>
              </a:rPr>
              <a:t>五层行为分解框架：哪几层有信号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88720"/>
            <a:ext cx="11155680" cy="841248"/>
          </a:xfrm>
          <a:prstGeom prst="roundRect">
            <a:avLst>
              <a:gd name="adj" fmla="val 12000"/>
            </a:avLst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08176"/>
            <a:ext cx="640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38089"/>
                </a:solidFill>
                <a:latin typeface="Microsoft YaHei"/>
                <a:ea typeface="Microsoft YaHei"/>
              </a:rPr>
              <a:t>L1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280160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E2A35"/>
                </a:solidFill>
                <a:latin typeface="Microsoft YaHei"/>
                <a:ea typeface="Microsoft YaHei"/>
              </a:rPr>
              <a:t>经理背景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627632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C7079"/>
                </a:solidFill>
                <a:latin typeface="Microsoft YaHei"/>
                <a:ea typeface="Microsoft YaHei"/>
              </a:rPr>
              <a:t>任期 · 基金年龄 · 学历/CFA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444752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E7A34"/>
                </a:solidFill>
                <a:latin typeface="Microsoft YaHei"/>
                <a:ea typeface="Microsoft YaHei"/>
              </a:rPr>
              <a:t>基金年龄 −2.53**；其余 n.s.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424160" y="1453896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8A9A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微弱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176272"/>
            <a:ext cx="11155680" cy="841248"/>
          </a:xfrm>
          <a:prstGeom prst="roundRect">
            <a:avLst>
              <a:gd name="adj" fmla="val 12000"/>
            </a:avLst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95728"/>
            <a:ext cx="640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38089"/>
                </a:solidFill>
                <a:latin typeface="Microsoft YaHei"/>
                <a:ea typeface="Microsoft YaHei"/>
              </a:rPr>
              <a:t>L2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267712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E2A35"/>
                </a:solidFill>
                <a:latin typeface="Microsoft YaHei"/>
                <a:ea typeface="Microsoft YaHei"/>
              </a:rPr>
              <a:t>持仓决策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615184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C7079"/>
                </a:solidFill>
                <a:latin typeface="Microsoft YaHei"/>
                <a:ea typeface="Microsoft YaHei"/>
              </a:rPr>
              <a:t>主动份额 AS · 行业偏离 ICI · HHI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2432304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E7A34"/>
                </a:solidFill>
                <a:latin typeface="Microsoft YaHei"/>
                <a:ea typeface="Microsoft YaHei"/>
              </a:rPr>
              <a:t>AS −2.81*** · ICI +3.74***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424160" y="2441448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1E7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163824"/>
            <a:ext cx="11155680" cy="841248"/>
          </a:xfrm>
          <a:prstGeom prst="roundRect">
            <a:avLst>
              <a:gd name="adj" fmla="val 12000"/>
            </a:avLst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383280"/>
            <a:ext cx="640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38089"/>
                </a:solidFill>
                <a:latin typeface="Microsoft YaHei"/>
                <a:ea typeface="Microsoft YaHei"/>
              </a:rPr>
              <a:t>L3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3255264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E2A35"/>
                </a:solidFill>
                <a:latin typeface="Microsoft YaHei"/>
                <a:ea typeface="Microsoft YaHei"/>
              </a:rPr>
              <a:t>交易执行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3602736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C7079"/>
                </a:solidFill>
                <a:latin typeface="Microsoft YaHei"/>
                <a:ea typeface="Microsoft YaHei"/>
              </a:rPr>
              <a:t>风格漂移 SDI · 换手 TO · Return Gap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0" y="3419856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E7A34"/>
                </a:solidFill>
                <a:latin typeface="Microsoft YaHei"/>
                <a:ea typeface="Microsoft YaHei"/>
              </a:rPr>
              <a:t>全部不显著（RG 仲裁为零结果）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24160" y="342900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8A9A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零/负结果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151376"/>
            <a:ext cx="11155680" cy="841248"/>
          </a:xfrm>
          <a:prstGeom prst="roundRect">
            <a:avLst>
              <a:gd name="adj" fmla="val 12000"/>
            </a:avLst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370832"/>
            <a:ext cx="640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38089"/>
                </a:solidFill>
                <a:latin typeface="Microsoft YaHei"/>
                <a:ea typeface="Microsoft YaHei"/>
              </a:rPr>
              <a:t>L4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4242816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E2A35"/>
                </a:solidFill>
                <a:latin typeface="Microsoft YaHei"/>
                <a:ea typeface="Microsoft YaHei"/>
              </a:rPr>
              <a:t>风险应对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4590288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C7079"/>
                </a:solidFill>
                <a:latin typeface="Microsoft YaHei"/>
                <a:ea typeface="Microsoft YaHei"/>
              </a:rPr>
              <a:t>ARG · 收益波动率 · idio_vol · TMβ₂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52160" y="4407408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E7A34"/>
                </a:solidFill>
                <a:latin typeface="Microsoft YaHei"/>
                <a:ea typeface="Microsoft YaHei"/>
              </a:rPr>
              <a:t>ARG +2.98***；其余 n.s.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424160" y="4416552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1E7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中强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5138928"/>
            <a:ext cx="11155680" cy="841248"/>
          </a:xfrm>
          <a:prstGeom prst="roundRect">
            <a:avLst>
              <a:gd name="adj" fmla="val 12000"/>
            </a:avLst>
          </a:prstGeom>
          <a:solidFill>
            <a:srgbClr val="E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5358384"/>
            <a:ext cx="640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38089"/>
                </a:solidFill>
                <a:latin typeface="Microsoft YaHei"/>
                <a:ea typeface="Microsoft YaHei"/>
              </a:rPr>
              <a:t>L5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20" y="5230368"/>
            <a:ext cx="1645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E2A35"/>
                </a:solidFill>
                <a:latin typeface="Microsoft YaHei"/>
                <a:ea typeface="Microsoft YaHei"/>
              </a:rPr>
              <a:t>认知偏差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17320" y="5577840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C7079"/>
                </a:solidFill>
                <a:latin typeface="Microsoft YaHei"/>
                <a:ea typeface="Microsoft YaHei"/>
              </a:rPr>
              <a:t>DE · LSV · RA（理论核心层）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52160" y="539496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A2B33"/>
                </a:solidFill>
                <a:latin typeface="Microsoft YaHei"/>
                <a:ea typeface="Microsoft YaHei"/>
              </a:rPr>
              <a:t>RA +3.57*** · DE −2.99*** · LSV n.s.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424160" y="5404104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1E7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</a:rPr>
              <a:t>最强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26364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C7079"/>
                </a:solidFill>
                <a:latin typeface="Microsoft YaHei"/>
                <a:ea typeface="Microsoft YaHei"/>
              </a:rPr>
              <a:t>显著信号集中于“决策内容（L2）— 风险应对（L4）— 认知偏差（L5）”；L1/L3 的不显著是框架的发现：为配置指明“不该看什么”。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384048"/>
            <a:ext cx="475488" cy="475488"/>
          </a:xfrm>
          <a:prstGeom prst="ellipse">
            <a:avLst/>
          </a:prstGeom>
          <a:solidFill>
            <a:srgbClr val="1380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384048"/>
            <a:ext cx="105156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E2A35"/>
                </a:solidFill>
                <a:latin typeface="Microsoft YaHei"/>
                <a:ea typeface="Microsoft YaHei"/>
              </a:rPr>
              <a:t>核心结果（v4 权威基准 M4：N=2,264 / 348 只 / R²=0.129）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188720"/>
          <a:ext cx="585216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097280"/>
                <a:gridCol w="1463040"/>
                <a:gridCol w="914400"/>
              </a:tblGrid>
              <a:tr h="444137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指标</a:t>
                      </a:r>
                    </a:p>
                  </a:txBody>
                  <a:tcPr marL="54864" marR="54864" marT="18288" marB="18288" anchor="ctr">
                    <a:solidFill>
                      <a:srgbClr val="0E2A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系数 β</a:t>
                      </a:r>
                    </a:p>
                  </a:txBody>
                  <a:tcPr marL="54864" marR="54864" marT="18288" marB="18288" anchor="ctr">
                    <a:solidFill>
                      <a:srgbClr val="0E2A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t（双向聚类）</a:t>
                      </a:r>
                    </a:p>
                  </a:txBody>
                  <a:tcPr marL="54864" marR="54864" marT="18288" marB="18288" anchor="ctr">
                    <a:solidFill>
                      <a:srgbClr val="0E2A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分级</a:t>
                      </a:r>
                    </a:p>
                  </a:txBody>
                  <a:tcPr marL="54864" marR="54864" marT="18288" marB="18288" anchor="ctr">
                    <a:solidFill>
                      <a:srgbClr val="0E2A35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B33"/>
                          </a:solidFill>
                          <a:latin typeface="Microsoft YaHei"/>
                          <a:ea typeface="Microsoft YaHei"/>
                        </a:rPr>
                        <a:t>风险不对称 RA（L5）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B33"/>
                          </a:solidFill>
                          <a:latin typeface="Microsoft YaHei"/>
                          <a:ea typeface="Microsoft YaHei"/>
                        </a:rPr>
                        <a:t>+0.0731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B33"/>
                          </a:solidFill>
                          <a:latin typeface="Microsoft YaHei"/>
                          <a:ea typeface="Microsoft YaHei"/>
                        </a:rPr>
                        <a:t>+3.57 ***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7A34"/>
                          </a:solidFill>
                          <a:latin typeface="Microsoft YaHei"/>
                          <a:ea typeface="Microsoft YaHei"/>
                        </a:rPr>
                        <a:t>A</a:t>
                      </a:r>
                    </a:p>
                  </a:txBody>
                  <a:tcPr marL="54864" marR="54864" marT="18288" marB="18288" anchor="ctr"/>
                </a:tc>
              </a:tr>
              <a:tr h="444137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B33"/>
                          </a:solidFill>
                          <a:latin typeface="Microsoft YaHei"/>
                          <a:ea typeface="Microsoft YaHei"/>
                        </a:rPr>
                        <a:t>行业偏离 ICI（L2）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B33"/>
                          </a:solidFill>
                          <a:latin typeface="Microsoft YaHei"/>
                          <a:ea typeface="Microsoft YaHei"/>
                        </a:rPr>
                        <a:t>+0.0180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B33"/>
                          </a:solidFill>
                          <a:latin typeface="Microsoft YaHei"/>
                          <a:ea typeface="Microsoft YaHei"/>
                        </a:rPr>
                        <a:t>+3.74 ***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7A34"/>
                          </a:solidFill>
                          <a:latin typeface="Microsoft YaHei"/>
                          <a:ea typeface="Microsoft YaHei"/>
                        </a:rPr>
                        <a:t>A</a:t>
                      </a:r>
                    </a:p>
                  </a:txBody>
                  <a:tcPr marL="54864" marR="54864" marT="18288" marB="18288" anchor="ctr"/>
                </a:tc>
              </a:tr>
              <a:tr h="444137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B33"/>
                          </a:solidFill>
                          <a:latin typeface="Microsoft YaHei"/>
                          <a:ea typeface="Microsoft YaHei"/>
                        </a:rPr>
                        <a:t>处置效应 DE（L5）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B33"/>
                          </a:solidFill>
                          <a:latin typeface="Microsoft YaHei"/>
                          <a:ea typeface="Microsoft YaHei"/>
                        </a:rPr>
                        <a:t>−0.0061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B33"/>
                          </a:solidFill>
                          <a:latin typeface="Microsoft YaHei"/>
                          <a:ea typeface="Microsoft YaHei"/>
                        </a:rPr>
                        <a:t>−2.99 ***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7A34"/>
                          </a:solidFill>
                          <a:latin typeface="Microsoft YaHei"/>
                          <a:ea typeface="Microsoft YaHei"/>
                        </a:rPr>
                        <a:t>A（限组内）</a:t>
                      </a:r>
                    </a:p>
                  </a:txBody>
                  <a:tcPr marL="54864" marR="54864" marT="18288" marB="18288" anchor="ctr"/>
                </a:tc>
              </a:tr>
              <a:tr h="444137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B33"/>
                          </a:solidFill>
                          <a:latin typeface="Microsoft YaHei"/>
                          <a:ea typeface="Microsoft YaHei"/>
                        </a:rPr>
                        <a:t>主动份额 AS（L2）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B33"/>
                          </a:solidFill>
                          <a:latin typeface="Microsoft YaHei"/>
                          <a:ea typeface="Microsoft YaHei"/>
                        </a:rPr>
                        <a:t>−0.0298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B33"/>
                          </a:solidFill>
                          <a:latin typeface="Microsoft YaHei"/>
                          <a:ea typeface="Microsoft YaHei"/>
                        </a:rPr>
                        <a:t>−2.81 ***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7A34"/>
                          </a:solidFill>
                          <a:latin typeface="Microsoft YaHei"/>
                          <a:ea typeface="Microsoft YaHei"/>
                        </a:rPr>
                        <a:t>A</a:t>
                      </a:r>
                    </a:p>
                  </a:txBody>
                  <a:tcPr marL="54864" marR="54864" marT="18288" marB="18288" anchor="ctr"/>
                </a:tc>
              </a:tr>
              <a:tr h="444137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B33"/>
                          </a:solidFill>
                          <a:latin typeface="Microsoft YaHei"/>
                          <a:ea typeface="Microsoft YaHei"/>
                        </a:rPr>
                        <a:t>主动风险 ARG（L4）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B33"/>
                          </a:solidFill>
                          <a:latin typeface="Microsoft YaHei"/>
                          <a:ea typeface="Microsoft YaHei"/>
                        </a:rPr>
                        <a:t>+0.0162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B33"/>
                          </a:solidFill>
                          <a:latin typeface="Microsoft YaHei"/>
                          <a:ea typeface="Microsoft YaHei"/>
                        </a:rPr>
                        <a:t>+2.98 ***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E7A34"/>
                          </a:solidFill>
                          <a:latin typeface="Microsoft YaHei"/>
                          <a:ea typeface="Microsoft YaHei"/>
                        </a:rPr>
                        <a:t>A</a:t>
                      </a:r>
                    </a:p>
                  </a:txBody>
                  <a:tcPr marL="54864" marR="54864" marT="18288" marB="18288" anchor="ctr"/>
                </a:tc>
              </a:tr>
              <a:tr h="44413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B33"/>
                          </a:solidFill>
                          <a:latin typeface="Microsoft YaHei"/>
                          <a:ea typeface="Microsoft YaHei"/>
                        </a:rPr>
                        <a:t>羊群 LSV（L5）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B33"/>
                          </a:solidFill>
                          <a:latin typeface="Microsoft YaHei"/>
                          <a:ea typeface="Microsoft YaHei"/>
                        </a:rPr>
                        <a:t>+0.0155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B33"/>
                          </a:solidFill>
                          <a:latin typeface="Microsoft YaHei"/>
                          <a:ea typeface="Microsoft YaHei"/>
                        </a:rPr>
                        <a:t>+0.77 n.s.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8A9AA3"/>
                          </a:solidFill>
                          <a:latin typeface="Microsoft YaHei"/>
                          <a:ea typeface="Microsoft YaHei"/>
                        </a:rPr>
                        <a:t>C</a:t>
                      </a:r>
                    </a:p>
                  </a:txBody>
                  <a:tcPr marL="54864" marR="54864" marT="18288" marB="18288" anchor="ctr"/>
                </a:tc>
              </a:tr>
            </a:tbl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675120" y="1143000"/>
          <a:ext cx="5029200" cy="3291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4526280"/>
            <a:ext cx="5852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>
                <a:solidFill>
                  <a:srgbClr val="0E2A35"/>
                </a:solidFill>
                <a:latin typeface="Microsoft YaHei"/>
                <a:ea typeface="Microsoft YaHei"/>
              </a:rPr>
              <a:t>一句话结论：控制 L1–L4 全部可观测行为后，认知偏差层仍有增量解释力</a:t>
            </a:r>
          </a:p>
          <a:p>
            <a:pPr algn="l">
              <a:lnSpc>
                <a:spcPct val="135000"/>
              </a:lnSpc>
            </a:pPr>
            <a:r>
              <a:rPr sz="1350" b="0">
                <a:solidFill>
                  <a:srgbClr val="0E2A35"/>
                </a:solidFill>
                <a:latin typeface="Microsoft YaHei"/>
                <a:ea typeface="Microsoft YaHei"/>
              </a:rPr>
              <a:t>（ΔR²=0.022，占 M4 总 R² 的 17%）；RA 是全文最稳健的发现，DE 在组内维度稳健，</a:t>
            </a:r>
          </a:p>
          <a:p>
            <a:pPr algn="l">
              <a:lnSpc>
                <a:spcPct val="135000"/>
              </a:lnSpc>
            </a:pPr>
            <a:r>
              <a:rPr sz="1350" b="0">
                <a:solidFill>
                  <a:srgbClr val="0E2A35"/>
                </a:solidFill>
                <a:latin typeface="Microsoft YaHei"/>
                <a:ea typeface="Microsoft YaHei"/>
              </a:rPr>
              <a:t>LSV 不显著（C 级，机制已诊断：被同层掩盖 + 时期依存）。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4617720"/>
            <a:ext cx="50292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5C7079"/>
                </a:solidFill>
                <a:latin typeface="Microsoft YaHei"/>
                <a:ea typeface="Microsoft YaHei"/>
              </a:rPr>
              <a:t>定位：预测关联，不主张因果量级</a:t>
            </a:r>
          </a:p>
          <a:p>
            <a:pPr algn="l">
              <a:lnSpc>
                <a:spcPct val="130000"/>
              </a:lnSpc>
            </a:pPr>
            <a:r>
              <a:rPr sz="1250" b="0">
                <a:solidFill>
                  <a:srgbClr val="5C7079"/>
                </a:solidFill>
                <a:latin typeface="Microsoft YaHei"/>
                <a:ea typeface="Microsoft YaHei"/>
              </a:rPr>
              <a:t>（Oster δ≤0、IV 路线不可复现，均已诚实披露并收缩结论）。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384048"/>
            <a:ext cx="475488" cy="475488"/>
          </a:xfrm>
          <a:prstGeom prst="ellipse">
            <a:avLst/>
          </a:prstGeom>
          <a:solidFill>
            <a:srgbClr val="1380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384048"/>
            <a:ext cx="105156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E2A35"/>
                </a:solidFill>
                <a:latin typeface="Microsoft YaHei"/>
                <a:ea typeface="Microsoft YaHei"/>
              </a:rPr>
              <a:t>结论与效度边界（如实报告）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88720"/>
            <a:ext cx="11155680" cy="1051560"/>
          </a:xfrm>
          <a:prstGeom prst="roundRect">
            <a:avLst>
              <a:gd name="adj" fmla="val 10000"/>
            </a:avLst>
          </a:prstGeom>
          <a:solidFill>
            <a:srgbClr val="E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0E2A35"/>
                </a:solidFill>
                <a:latin typeface="Microsoft YaHei"/>
                <a:ea typeface="Microsoft YaHei"/>
              </a:rPr>
              <a:t>基金业绩的稳定可预测来源在“持仓决策 — 风险应对 — 认知偏差”，而非经理背景与交易频率；</a:t>
            </a:r>
          </a:p>
          <a:p>
            <a:pPr algn="l">
              <a:lnSpc>
                <a:spcPct val="130000"/>
              </a:lnSpc>
            </a:pPr>
            <a:r>
              <a:rPr sz="1600" b="1">
                <a:solidFill>
                  <a:srgbClr val="0E2A35"/>
                </a:solidFill>
                <a:latin typeface="Microsoft YaHei"/>
                <a:ea typeface="Microsoft YaHei"/>
              </a:rPr>
              <a:t>认知偏差的预测力经截面 / 前向 / 组内三重识别与十余项稳健性检验界定。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514600"/>
            <a:ext cx="5440680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4D6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04088" y="2715768"/>
            <a:ext cx="365760" cy="36576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6152" y="2715768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E2A35"/>
                </a:solidFill>
                <a:latin typeface="Microsoft YaHei"/>
                <a:ea typeface="Microsoft YaHei"/>
              </a:rPr>
              <a:t>DV 口径边界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36392"/>
            <a:ext cx="5029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5C7079"/>
                </a:solidFill>
                <a:latin typeface="Microsoft YaHei"/>
                <a:ea typeface="Microsoft YaHei"/>
              </a:rPr>
              <a:t>法定基准收益作因变量时 L5 三指标全不显著、RA 方向反转 —— 结论限于 FF5-alpha 口径（8/21 Brinson 批次发现，已入稿）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514600"/>
            <a:ext cx="5440680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4D6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19088" y="2715768"/>
            <a:ext cx="365760" cy="36576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31152" y="2715768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E2A35"/>
                </a:solidFill>
                <a:latin typeface="Microsoft YaHei"/>
                <a:ea typeface="Microsoft YaHei"/>
              </a:rPr>
              <a:t>PS 综合分样本外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3136392"/>
            <a:ext cx="5029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5C7079"/>
                </a:solidFill>
                <a:latin typeface="Microsoft YaHei"/>
                <a:ea typeface="Microsoft YaHei"/>
              </a:rPr>
              <a:t>严格协议样本外验证 Q5−Q1=4.1–5.6%/季（置换 p&lt;0.0005），但初期口径仅 1.28% 且覆盖单一牛熊窗 —— 定位为方向性证据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114800"/>
            <a:ext cx="5440680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4D6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04088" y="4315968"/>
            <a:ext cx="365760" cy="36576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!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16152" y="4315968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E2A35"/>
                </a:solidFill>
                <a:latin typeface="Microsoft YaHei"/>
                <a:ea typeface="Microsoft YaHei"/>
              </a:rPr>
              <a:t>覆盖率边界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736592"/>
            <a:ext cx="5029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5C7079"/>
                </a:solidFill>
                <a:latin typeface="Microsoft YaHei"/>
                <a:ea typeface="Microsoft YaHei"/>
              </a:rPr>
              <a:t>DE 仅 46.6% 观测可用（需全持仓），估计样本为正向选择子群 —— A 级限定于组内维度；LSV 92%、RA 72%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4114800"/>
            <a:ext cx="5440680" cy="1417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4D6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19088" y="4315968"/>
            <a:ext cx="365760" cy="36576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31152" y="4315968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E2A35"/>
                </a:solidFill>
                <a:latin typeface="Microsoft YaHei"/>
                <a:ea typeface="Microsoft YaHei"/>
              </a:rPr>
              <a:t>因果边界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736592"/>
            <a:ext cx="5029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5C7079"/>
                </a:solidFill>
                <a:latin typeface="Microsoft YaHei"/>
                <a:ea typeface="Microsoft YaHei"/>
              </a:rPr>
              <a:t>Oster 遗漏变量界 δ 均 ≤0、IV 路线 iv_N=0 不可复现 —— 不作任何因果量级声称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384048"/>
            <a:ext cx="475488" cy="475488"/>
          </a:xfrm>
          <a:prstGeom prst="ellipse">
            <a:avLst/>
          </a:prstGeom>
          <a:solidFill>
            <a:srgbClr val="1380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384048"/>
            <a:ext cx="105156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E2A35"/>
                </a:solidFill>
                <a:latin typeface="Microsoft YaHei"/>
                <a:ea typeface="Microsoft YaHei"/>
              </a:rPr>
              <a:t>本周发现①（论文级）：偏差影响的是选股能力，不是择时能力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8992"/>
            <a:ext cx="11155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2B33"/>
                </a:solidFill>
                <a:latin typeface="Microsoft YaHei"/>
                <a:ea typeface="Microsoft YaHei"/>
              </a:rPr>
              <a:t>日频 NAV 对每个基金-年做 TM / HM 择时模型，把业绩分解为“选股α”与“择时贡献”，分别作因变量：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600200"/>
          <a:ext cx="1115568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737360"/>
                <a:gridCol w="1737360"/>
                <a:gridCol w="1737360"/>
                <a:gridCol w="1737360"/>
                <a:gridCol w="1920240"/>
              </a:tblGrid>
              <a:tr h="49377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变量</a:t>
                      </a:r>
                    </a:p>
                  </a:txBody>
                  <a:tcPr marL="54864" marR="54864" marT="18288" marB="18288" anchor="ctr">
                    <a:solidFill>
                      <a:srgbClr val="0E2A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选股α 截面 TM</a:t>
                      </a:r>
                    </a:p>
                  </a:txBody>
                  <a:tcPr marL="54864" marR="54864" marT="18288" marB="18288" anchor="ctr">
                    <a:solidFill>
                      <a:srgbClr val="0E2A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选股α 截面 HM</a:t>
                      </a:r>
                    </a:p>
                  </a:txBody>
                  <a:tcPr marL="54864" marR="54864" marT="18288" marB="18288" anchor="ctr">
                    <a:solidFill>
                      <a:srgbClr val="0E2A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选股α 组内 TM</a:t>
                      </a:r>
                    </a:p>
                  </a:txBody>
                  <a:tcPr marL="54864" marR="54864" marT="18288" marB="18288" anchor="ctr">
                    <a:solidFill>
                      <a:srgbClr val="0E2A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选股α 组内 HM</a:t>
                      </a:r>
                    </a:p>
                  </a:txBody>
                  <a:tcPr marL="54864" marR="54864" marT="18288" marB="18288" anchor="ctr">
                    <a:solidFill>
                      <a:srgbClr val="0E2A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择时贡献（四口径）</a:t>
                      </a:r>
                    </a:p>
                  </a:txBody>
                  <a:tcPr marL="54864" marR="54864" marT="18288" marB="18288" anchor="ctr">
                    <a:solidFill>
                      <a:srgbClr val="0E2A35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B33"/>
                          </a:solidFill>
                          <a:latin typeface="Microsoft YaHei"/>
                          <a:ea typeface="Microsoft YaHei"/>
                        </a:rPr>
                        <a:t>风险不对称 RA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B33"/>
                          </a:solidFill>
                          <a:latin typeface="Microsoft YaHei"/>
                          <a:ea typeface="Microsoft YaHei"/>
                        </a:rPr>
                        <a:t>+5.12 ***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B33"/>
                          </a:solidFill>
                          <a:latin typeface="Microsoft YaHei"/>
                          <a:ea typeface="Microsoft YaHei"/>
                        </a:rPr>
                        <a:t>+3.45 ***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B33"/>
                          </a:solidFill>
                          <a:latin typeface="Microsoft YaHei"/>
                          <a:ea typeface="Microsoft YaHei"/>
                        </a:rPr>
                        <a:t>+6.88 ***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B33"/>
                          </a:solidFill>
                          <a:latin typeface="Microsoft YaHei"/>
                          <a:ea typeface="Microsoft YaHei"/>
                        </a:rPr>
                        <a:t>+5.16 ***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B33"/>
                          </a:solidFill>
                          <a:latin typeface="Microsoft YaHei"/>
                          <a:ea typeface="Microsoft YaHei"/>
                        </a:rPr>
                        <a:t>n.s.（−0.3~−0.9）</a:t>
                      </a:r>
                    </a:p>
                  </a:txBody>
                  <a:tcPr marL="54864" marR="54864" marT="18288" marB="18288" anchor="ctr"/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B33"/>
                          </a:solidFill>
                          <a:latin typeface="Microsoft YaHei"/>
                          <a:ea typeface="Microsoft YaHei"/>
                        </a:rPr>
                        <a:t>处置效应 DE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B33"/>
                          </a:solidFill>
                          <a:latin typeface="Microsoft YaHei"/>
                          <a:ea typeface="Microsoft YaHei"/>
                        </a:rPr>
                        <a:t>−3.03 ***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B33"/>
                          </a:solidFill>
                          <a:latin typeface="Microsoft YaHei"/>
                          <a:ea typeface="Microsoft YaHei"/>
                        </a:rPr>
                        <a:t>−3.42 ***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B33"/>
                          </a:solidFill>
                          <a:latin typeface="Microsoft YaHei"/>
                          <a:ea typeface="Microsoft YaHei"/>
                        </a:rPr>
                        <a:t>−2.68 ***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B33"/>
                          </a:solidFill>
                          <a:latin typeface="Microsoft YaHei"/>
                          <a:ea typeface="Microsoft YaHei"/>
                        </a:rPr>
                        <a:t>−2.66 ***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B33"/>
                          </a:solidFill>
                          <a:latin typeface="Microsoft YaHei"/>
                          <a:ea typeface="Microsoft YaHei"/>
                        </a:rPr>
                        <a:t>n.s.（+0.2~+1.9）</a:t>
                      </a:r>
                    </a:p>
                  </a:txBody>
                  <a:tcPr marL="54864" marR="54864" marT="18288" marB="18288" anchor="ctr"/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B33"/>
                          </a:solidFill>
                          <a:latin typeface="Microsoft YaHei"/>
                          <a:ea typeface="Microsoft YaHei"/>
                        </a:rPr>
                        <a:t>行业偏离 ICI（对照）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B33"/>
                          </a:solidFill>
                          <a:latin typeface="Microsoft YaHei"/>
                          <a:ea typeface="Microsoft YaHei"/>
                        </a:rPr>
                        <a:t>n.s.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B33"/>
                          </a:solidFill>
                          <a:latin typeface="Microsoft YaHei"/>
                          <a:ea typeface="Microsoft YaHei"/>
                        </a:rPr>
                        <a:t>−1.93 *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B33"/>
                          </a:solidFill>
                          <a:latin typeface="Microsoft YaHei"/>
                          <a:ea typeface="Microsoft YaHei"/>
                        </a:rPr>
                        <a:t>−2.76 ***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B33"/>
                          </a:solidFill>
                          <a:latin typeface="Microsoft YaHei"/>
                          <a:ea typeface="Microsoft YaHei"/>
                        </a:rPr>
                        <a:t>−2.41 **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B33"/>
                          </a:solidFill>
                          <a:latin typeface="Microsoft YaHei"/>
                          <a:ea typeface="Microsoft YaHei"/>
                        </a:rPr>
                        <a:t>+2.5~2.8 ***（仅择时）</a:t>
                      </a:r>
                    </a:p>
                  </a:txBody>
                  <a:tcPr marL="54864" marR="54864" marT="18288" marB="18288" anchor="ctr"/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B33"/>
                          </a:solidFill>
                          <a:latin typeface="Microsoft YaHei"/>
                          <a:ea typeface="Microsoft YaHei"/>
                        </a:rPr>
                        <a:t>换手率 TO（对照）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B33"/>
                          </a:solidFill>
                          <a:latin typeface="Microsoft YaHei"/>
                          <a:ea typeface="Microsoft YaHei"/>
                        </a:rPr>
                        <a:t>n.s.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B33"/>
                          </a:solidFill>
                          <a:latin typeface="Microsoft YaHei"/>
                          <a:ea typeface="Microsoft YaHei"/>
                        </a:rPr>
                        <a:t>+2.20 **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B33"/>
                          </a:solidFill>
                          <a:latin typeface="Microsoft YaHei"/>
                          <a:ea typeface="Microsoft YaHei"/>
                        </a:rPr>
                        <a:t>n.s.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B33"/>
                          </a:solidFill>
                          <a:latin typeface="Microsoft YaHei"/>
                          <a:ea typeface="Microsoft YaHei"/>
                        </a:rPr>
                        <a:t>+2.28 **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2B33"/>
                          </a:solidFill>
                          <a:latin typeface="Microsoft YaHei"/>
                          <a:ea typeface="Microsoft YaHei"/>
                        </a:rPr>
                        <a:t>−2.1~−3.0 **（仅择时）</a:t>
                      </a:r>
                    </a:p>
                  </a:txBody>
                  <a:tcPr marL="54864" marR="54864" marT="18288" marB="18288" anchor="ctr"/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02920" y="4343400"/>
            <a:ext cx="11155680" cy="914400"/>
          </a:xfrm>
          <a:prstGeom prst="roundRect">
            <a:avLst>
              <a:gd name="adj" fmla="val 10000"/>
            </a:avLst>
          </a:prstGeom>
          <a:solidFill>
            <a:srgbClr val="E6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4498848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>
                <a:solidFill>
                  <a:srgbClr val="0E2A35"/>
                </a:solidFill>
                <a:latin typeface="Microsoft YaHei"/>
                <a:ea typeface="Microsoft YaHei"/>
              </a:rPr>
              <a:t>双分离在「截面 TM / 截面 HM / 组内 TM / 组内 HM」四种设计下完全复现；DE 的 A 级证据本以组内为最强维度，</a:t>
            </a:r>
          </a:p>
          <a:p>
            <a:pPr algn="l">
              <a:lnSpc>
                <a:spcPct val="130000"/>
              </a:lnSpc>
            </a:pPr>
            <a:r>
              <a:rPr sz="1350" b="1">
                <a:solidFill>
                  <a:srgbClr val="0E2A35"/>
                </a:solidFill>
                <a:latin typeface="Microsoft YaHei"/>
                <a:ea typeface="Microsoft YaHei"/>
              </a:rPr>
              <a:t>组内复验确认其承接维度正是选股α —— “处置效应损害选股能力”从截面关联升级为组内（准因果方向）证据。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44068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7079"/>
                </a:solidFill>
                <a:latin typeface="Microsoft YaHei"/>
                <a:ea typeface="Microsoft YaHei"/>
              </a:rPr>
              <a:t>附：corr(TMβ₂, RA)=0.28 —— RA 独立于统计择时，是对传统择时模型的增量维度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384048"/>
            <a:ext cx="475488" cy="475488"/>
          </a:xfrm>
          <a:prstGeom prst="ellipse">
            <a:avLst/>
          </a:prstGeom>
          <a:solidFill>
            <a:srgbClr val="1380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384048"/>
            <a:ext cx="105156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E2A35"/>
                </a:solidFill>
                <a:latin typeface="Microsoft YaHei"/>
                <a:ea typeface="Microsoft YaHei"/>
              </a:rPr>
              <a:t>本周发现②③：RA 免疫截面运气 · 日频独立子样本复现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02920" y="1234440"/>
          <a:ext cx="5577840" cy="3383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1170432"/>
            <a:ext cx="5577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E2A35"/>
                </a:solidFill>
                <a:latin typeface="Microsoft YaHei"/>
                <a:ea typeface="Microsoft YaHei"/>
              </a:rPr>
              <a:t>基金层 Bootstrap 1,000 次重抽样：同向显著比例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754880"/>
            <a:ext cx="5577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1A2B33"/>
                </a:solidFill>
                <a:latin typeface="Microsoft YaHei"/>
                <a:ea typeface="Microsoft YaHei"/>
              </a:rPr>
              <a:t>RA 在 97.6% 的重抽样中同向显著（经验 CI [+0.041, +0.099] 排零）——</a:t>
            </a:r>
          </a:p>
          <a:p>
            <a:pPr algn="l">
              <a:lnSpc>
                <a:spcPct val="130000"/>
              </a:lnSpc>
            </a:pPr>
            <a:r>
              <a:rPr sz="1250" b="0">
                <a:solidFill>
                  <a:srgbClr val="1A2B33"/>
                </a:solidFill>
                <a:latin typeface="Microsoft YaHei"/>
                <a:ea typeface="Microsoft YaHei"/>
              </a:rPr>
              <a:t>基本免疫“少数明星基金驱动”的截面运气质疑；LSV CI 含零，确认零结果。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234440"/>
            <a:ext cx="5257800" cy="4114800"/>
          </a:xfrm>
          <a:prstGeom prst="roundRect">
            <a:avLst>
              <a:gd name="adj" fmla="val 10000"/>
            </a:avLst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41732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E2A35"/>
                </a:solidFill>
                <a:latin typeface="Microsoft YaHei"/>
                <a:ea typeface="Microsoft YaHei"/>
              </a:rPr>
              <a:t>日频 NAV 独立子样本复验（N=1,336/159）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1965960"/>
            <a:ext cx="1143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5C7079"/>
                </a:solidFill>
                <a:latin typeface="Microsoft YaHei"/>
                <a:ea typeface="Microsoft YaHei"/>
              </a:rPr>
              <a:t>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286000"/>
            <a:ext cx="1143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E7A34"/>
                </a:solidFill>
                <a:latin typeface="Microsoft YaHei"/>
                <a:ea typeface="Microsoft YaHei"/>
              </a:rPr>
              <a:t>+3.22 ***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82127" y="1965960"/>
            <a:ext cx="1143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5C7079"/>
                </a:solidFill>
                <a:latin typeface="Microsoft YaHei"/>
                <a:ea typeface="Microsoft YaHei"/>
              </a:rPr>
              <a:t>ICI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82127" y="2286000"/>
            <a:ext cx="1143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E7A34"/>
                </a:solidFill>
                <a:latin typeface="Microsoft YaHei"/>
                <a:ea typeface="Microsoft YaHei"/>
              </a:rPr>
              <a:t>+2.84 ***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89136" y="1965960"/>
            <a:ext cx="1143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5C7079"/>
                </a:solidFill>
                <a:latin typeface="Microsoft YaHei"/>
                <a:ea typeface="Microsoft YaHei"/>
              </a:rPr>
              <a:t>ARG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89136" y="2286000"/>
            <a:ext cx="1143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E7A34"/>
                </a:solidFill>
                <a:latin typeface="Microsoft YaHei"/>
                <a:ea typeface="Microsoft YaHei"/>
              </a:rPr>
              <a:t>+2.27 **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96144" y="1965960"/>
            <a:ext cx="1143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5C7079"/>
                </a:solidFill>
                <a:latin typeface="Microsoft YaHei"/>
                <a:ea typeface="Microsoft YaHei"/>
              </a:rPr>
              <a:t>TO_wind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96144" y="2286000"/>
            <a:ext cx="1143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E7A34"/>
                </a:solidFill>
                <a:latin typeface="Microsoft YaHei"/>
                <a:ea typeface="Microsoft YaHei"/>
              </a:rPr>
              <a:t>+1.72 *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880360"/>
            <a:ext cx="4754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1A2B33"/>
                </a:solidFill>
                <a:latin typeface="Microsoft YaHei"/>
                <a:ea typeface="Microsoft YaHei"/>
              </a:rPr>
              <a:t>194 只基金的子样本，数据源与构造逻辑均不同于主面板，</a:t>
            </a:r>
          </a:p>
          <a:p>
            <a:pPr algn="l">
              <a:lnSpc>
                <a:spcPct val="135000"/>
              </a:lnSpc>
            </a:pPr>
            <a:r>
              <a:rPr sz="1250" b="0">
                <a:solidFill>
                  <a:srgbClr val="1A2B33"/>
                </a:solidFill>
                <a:latin typeface="Microsoft YaHei"/>
                <a:ea typeface="Microsoft YaHei"/>
              </a:rPr>
              <a:t>却完整复现了 v4 核心信号（全样本 RA +3.57 / ICI +3.74 / ARG +2.98）。</a:t>
            </a:r>
          </a:p>
          <a:p>
            <a:pPr algn="l">
              <a:lnSpc>
                <a:spcPct val="135000"/>
              </a:lnSpc>
            </a:pPr>
            <a:r>
              <a:rPr sz="1250" b="0">
                <a:solidFill>
                  <a:srgbClr val="1A2B33"/>
                </a:solidFill>
                <a:latin typeface="Microsoft YaHei"/>
                <a:ea typeface="Microsoft YaHei"/>
              </a:rPr>
              <a:t>AS 未复现（t=−0.38）、DE 方向一致但 n.s. —— 均已如实披露。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4434840"/>
            <a:ext cx="47548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C7079"/>
                </a:solidFill>
                <a:latin typeface="Microsoft YaHei"/>
                <a:ea typeface="Microsoft YaHei"/>
              </a:rPr>
              <a:t>注：该结论来自 8/22 对批次②标准误实现的勘误修正；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5C7079"/>
                </a:solidFill>
                <a:latin typeface="Microsoft YaHei"/>
                <a:ea typeface="Microsoft YaHei"/>
              </a:rPr>
              <a:t>修正前的“子样本不显著”系计算错误造成的伪影。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384048"/>
            <a:ext cx="475488" cy="475488"/>
          </a:xfrm>
          <a:prstGeom prst="ellipse">
            <a:avLst/>
          </a:prstGeom>
          <a:solidFill>
            <a:srgbClr val="1380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384048"/>
            <a:ext cx="105156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E2A35"/>
                </a:solidFill>
                <a:latin typeface="Microsoft YaHei"/>
                <a:ea typeface="Microsoft YaHei"/>
              </a:rPr>
              <a:t>研究诚信自查：主动发现并撤回自己的虚假显著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5440680" cy="12984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4E2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04088" y="1417320"/>
            <a:ext cx="384048" cy="384048"/>
          </a:xfrm>
          <a:prstGeom prst="ellipse">
            <a:avLst/>
          </a:prstGeom>
          <a:solidFill>
            <a:srgbClr val="1380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399032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0E2A35"/>
                </a:solidFill>
                <a:latin typeface="Microsoft YaHei"/>
                <a:ea typeface="Microsoft YaHei"/>
              </a:rPr>
              <a:t>v20 → v3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801368"/>
            <a:ext cx="45262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5C7079"/>
                </a:solidFill>
                <a:latin typeface="Microsoft YaHei"/>
                <a:ea typeface="Microsoft YaHei"/>
              </a:rPr>
              <a:t>推翻初版“三指标全显著”结论：LSV 显著性为小样本窗口产物，降为 C 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34440"/>
            <a:ext cx="5440680" cy="12984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4E2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19088" y="1417320"/>
            <a:ext cx="384048" cy="384048"/>
          </a:xfrm>
          <a:prstGeom prst="ellipse">
            <a:avLst/>
          </a:prstGeom>
          <a:solidFill>
            <a:srgbClr val="1380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1399032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0E2A35"/>
                </a:solidFill>
                <a:latin typeface="Microsoft YaHei"/>
                <a:ea typeface="Microsoft YaHei"/>
              </a:rPr>
              <a:t>中介分析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1801368"/>
            <a:ext cx="45262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5C7079"/>
                </a:solidFill>
                <a:latin typeface="Microsoft YaHei"/>
                <a:ea typeface="Microsoft YaHei"/>
              </a:rPr>
              <a:t>修复间接效应计算 bug，修正后 LSV→波动率路径不再显著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715768"/>
            <a:ext cx="5440680" cy="12984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4E2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04088" y="2898648"/>
            <a:ext cx="384048" cy="384048"/>
          </a:xfrm>
          <a:prstGeom prst="ellipse">
            <a:avLst/>
          </a:prstGeom>
          <a:solidFill>
            <a:srgbClr val="1380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88036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0E2A35"/>
                </a:solidFill>
                <a:latin typeface="Microsoft YaHei"/>
                <a:ea typeface="Microsoft YaHei"/>
              </a:rPr>
              <a:t>Return Gap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282696"/>
            <a:ext cx="45262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5C7079"/>
                </a:solidFill>
                <a:latin typeface="Microsoft YaHei"/>
                <a:ea typeface="Microsoft YaHei"/>
              </a:rPr>
              <a:t>8/20 曾现 t=−7.68“强显著”，8/21 仲裁查明系持仓污染伪信号，正式撤回为零结果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715768"/>
            <a:ext cx="5440680" cy="12984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4E2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19088" y="2898648"/>
            <a:ext cx="384048" cy="384048"/>
          </a:xfrm>
          <a:prstGeom prst="ellipse">
            <a:avLst/>
          </a:prstGeom>
          <a:solidFill>
            <a:srgbClr val="1380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288036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0E2A35"/>
                </a:solidFill>
                <a:latin typeface="Microsoft YaHei"/>
                <a:ea typeface="Microsoft YaHei"/>
              </a:rPr>
              <a:t>IV / 2SLS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3282696"/>
            <a:ext cx="45262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5C7079"/>
                </a:solidFill>
                <a:latin typeface="Microsoft YaHei"/>
                <a:ea typeface="Microsoft YaHei"/>
              </a:rPr>
              <a:t>工具变量样本交集塌缩（iv_N=0），全部 IV 系数作废，不主张因果量级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197096"/>
            <a:ext cx="5440680" cy="12984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4E2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04088" y="4379976"/>
            <a:ext cx="384048" cy="384048"/>
          </a:xfrm>
          <a:prstGeom prst="ellipse">
            <a:avLst/>
          </a:prstGeom>
          <a:solidFill>
            <a:srgbClr val="1380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4361688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0E2A35"/>
                </a:solidFill>
                <a:latin typeface="Microsoft YaHei"/>
                <a:ea typeface="Microsoft YaHei"/>
              </a:rPr>
              <a:t>PS 综合分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4764024"/>
            <a:ext cx="45262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5C7079"/>
                </a:solidFill>
                <a:latin typeface="Microsoft YaHei"/>
                <a:ea typeface="Microsoft YaHei"/>
              </a:rPr>
              <a:t>样本外验证失败后主动降级为方向性证据，不外推可交易性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4197096"/>
            <a:ext cx="5440680" cy="12984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4E2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19088" y="4379976"/>
            <a:ext cx="384048" cy="384048"/>
          </a:xfrm>
          <a:prstGeom prst="ellipse">
            <a:avLst/>
          </a:prstGeom>
          <a:solidFill>
            <a:srgbClr val="1380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4361688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0E2A35"/>
                </a:solidFill>
                <a:latin typeface="Microsoft YaHei"/>
                <a:ea typeface="Microsoft YaHei"/>
              </a:rPr>
              <a:t>批次② SE（8/22）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4764024"/>
            <a:ext cx="45262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5C7079"/>
                </a:solidFill>
                <a:latin typeface="Microsoft YaHei"/>
                <a:ea typeface="Microsoft YaHei"/>
              </a:rPr>
              <a:t>发现聚类标准误实现错误，当日全部 t 值作废并修正重跑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5806440"/>
            <a:ext cx="11155680" cy="685800"/>
          </a:xfrm>
          <a:prstGeom prst="roundRect">
            <a:avLst>
              <a:gd name="adj" fmla="val 10000"/>
            </a:avLst>
          </a:prstGeom>
          <a:solidFill>
            <a:srgbClr val="0E2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5943600"/>
            <a:ext cx="10607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全部结果 A/C 两级分级 + 效度边界逐项标注 —— “诚实重估”流程本身是本研究的方法论贡献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02920" y="384048"/>
            <a:ext cx="475488" cy="475488"/>
          </a:xfrm>
          <a:prstGeom prst="ellipse">
            <a:avLst/>
          </a:prstGeom>
          <a:solidFill>
            <a:srgbClr val="1380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384048"/>
            <a:ext cx="105156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E2A35"/>
                </a:solidFill>
                <a:latin typeface="Microsoft YaHei"/>
                <a:ea typeface="Microsoft YaHei"/>
              </a:rPr>
              <a:t>数据与可复现性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2651760" cy="1371600"/>
          </a:xfrm>
          <a:prstGeom prst="roundRect">
            <a:avLst>
              <a:gd name="adj" fmla="val 12000"/>
            </a:avLst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2651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0F5F66"/>
                </a:solidFill>
                <a:latin typeface="Microsoft YaHei"/>
                <a:ea typeface="Microsoft YaHei"/>
              </a:rPr>
              <a:t>400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10312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5C7079"/>
                </a:solidFill>
                <a:latin typeface="Microsoft YaHei"/>
                <a:ea typeface="Microsoft YaHei"/>
              </a:rPr>
              <a:t>主动偏股混合基金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234440"/>
            <a:ext cx="2651760" cy="1371600"/>
          </a:xfrm>
          <a:prstGeom prst="roundRect">
            <a:avLst>
              <a:gd name="adj" fmla="val 12000"/>
            </a:avLst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0" y="1417320"/>
            <a:ext cx="2651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0F5F66"/>
                </a:solidFill>
                <a:latin typeface="Microsoft YaHei"/>
                <a:ea typeface="Microsoft YaHei"/>
              </a:rPr>
              <a:t>9,974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210312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5C7079"/>
                </a:solidFill>
                <a:latin typeface="Microsoft YaHei"/>
                <a:ea typeface="Microsoft YaHei"/>
              </a:rPr>
              <a:t>基金-季度观测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234440"/>
            <a:ext cx="2651760" cy="1371600"/>
          </a:xfrm>
          <a:prstGeom prst="roundRect">
            <a:avLst>
              <a:gd name="adj" fmla="val 12000"/>
            </a:avLst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417320"/>
            <a:ext cx="2651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0F5F66"/>
                </a:solidFill>
                <a:latin typeface="Microsoft YaHei"/>
                <a:ea typeface="Microsoft YaHei"/>
              </a:rPr>
              <a:t>2006–2026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210312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5C7079"/>
                </a:solidFill>
                <a:latin typeface="Microsoft YaHei"/>
                <a:ea typeface="Microsoft YaHei"/>
              </a:rPr>
              <a:t>非平衡面板区间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0" y="1234440"/>
            <a:ext cx="2651760" cy="1371600"/>
          </a:xfrm>
          <a:prstGeom prst="roundRect">
            <a:avLst>
              <a:gd name="adj" fmla="val 12000"/>
            </a:avLst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0" y="1417320"/>
            <a:ext cx="2651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0F5F66"/>
                </a:solidFill>
                <a:latin typeface="Microsoft YaHei"/>
                <a:ea typeface="Microsoft YaHei"/>
              </a:rPr>
              <a:t>222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210312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5C7079"/>
                </a:solidFill>
                <a:latin typeface="Microsoft YaHei"/>
                <a:ea typeface="Microsoft YaHei"/>
              </a:rPr>
              <a:t>基金经理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834640"/>
            <a:ext cx="265176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4E2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017520"/>
            <a:ext cx="2651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C9A227"/>
                </a:solidFill>
                <a:latin typeface="Microsoft YaHei"/>
                <a:ea typeface="Microsoft YaHei"/>
              </a:rPr>
              <a:t>MD5 一致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65760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5C7079"/>
                </a:solidFill>
                <a:latin typeface="Microsoft YaHei"/>
                <a:ea typeface="Microsoft YaHei"/>
              </a:rPr>
              <a:t>run_all.py 两次复跑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83280" y="2834640"/>
            <a:ext cx="265176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4E2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83280" y="3017520"/>
            <a:ext cx="2651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C9A227"/>
                </a:solidFill>
                <a:latin typeface="Microsoft YaHei"/>
                <a:ea typeface="Microsoft YaHei"/>
              </a:rPr>
              <a:t>逐字段差=0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365760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5C7079"/>
                </a:solidFill>
                <a:latin typeface="Microsoft YaHei"/>
                <a:ea typeface="Microsoft YaHei"/>
              </a:rPr>
              <a:t>出稿终值验证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2834640"/>
            <a:ext cx="265176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4E2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3640" y="3017520"/>
            <a:ext cx="2651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C9A227"/>
                </a:solidFill>
                <a:latin typeface="Microsoft YaHei"/>
                <a:ea typeface="Microsoft YaHei"/>
              </a:rPr>
              <a:t>28.4 万行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365760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5C7079"/>
                </a:solidFill>
                <a:latin typeface="Microsoft YaHei"/>
                <a:ea typeface="Microsoft YaHei"/>
              </a:rPr>
              <a:t>日频 NAV + FF5 因子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0" y="2834640"/>
            <a:ext cx="265176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4E2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0" y="3017520"/>
            <a:ext cx="2651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C9A227"/>
                </a:solidFill>
                <a:latin typeface="Microsoft YaHei"/>
                <a:ea typeface="Microsoft YaHei"/>
              </a:rPr>
              <a:t>302 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365760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5C7079"/>
                </a:solidFill>
                <a:latin typeface="Microsoft YaHei"/>
                <a:ea typeface="Microsoft YaHei"/>
              </a:rPr>
              <a:t>文献库（核心 252）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443484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E2A35"/>
                </a:solidFill>
                <a:latin typeface="Microsoft YaHei"/>
                <a:ea typeface="Microsoft YaHei"/>
              </a:rPr>
              <a:t>数据来源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484632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5C7079"/>
                </a:solidFill>
                <a:latin typeface="Microsoft YaHei"/>
                <a:ea typeface="Microsoft YaHei"/>
              </a:rPr>
              <a:t>Wind（换手率、经理信息）· AKShare/新浪（2006–2017 全持仓、个股月收益约 4,185 只）· 东财全持仓 v2 ·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5C7079"/>
                </a:solidFill>
                <a:latin typeface="Microsoft YaHei"/>
                <a:ea typeface="Microsoft YaHei"/>
              </a:rPr>
              <a:t>iFinD（27 只清盘基金净值，生存偏差修正）· FF5 因子（本地/日度）· 覆盖率边界：AS/ICI 94%、LSV 92%、RA 72%、DE 46.6%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594360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B3261E"/>
                </a:solidFill>
                <a:latin typeface="Microsoft YaHei"/>
                <a:ea typeface="Microsoft YaHei"/>
              </a:rPr>
              <a:t>覆盖边界如实披露：DE/LSV 受全持仓披露约束；school 字段 45.9% 待补（Wind 配额）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A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Microsoft YaHei"/>
                <a:ea typeface="Microsoft YaHei"/>
              </a:rPr>
              <a:t>下一步</a:t>
            </a:r>
          </a:p>
        </p:txBody>
      </p:sp>
      <p:sp>
        <p:nvSpPr>
          <p:cNvPr id="3" name="Oval 2"/>
          <p:cNvSpPr/>
          <p:nvPr/>
        </p:nvSpPr>
        <p:spPr>
          <a:xfrm>
            <a:off x="914400" y="1600200"/>
            <a:ext cx="457200" cy="45720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0E2A35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1618488"/>
            <a:ext cx="2743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数据补强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2075688"/>
            <a:ext cx="9601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AFC5CC"/>
                </a:solidFill>
                <a:latin typeface="Microsoft YaHei"/>
                <a:ea typeface="Microsoft YaHei"/>
              </a:rPr>
              <a:t>CSMAR 付费源补 2006–2017 全持仓（提升 DE 覆盖率 46.6%→更高）；Wind 经理档案补 school 字段 —— 等配额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2743200"/>
            <a:ext cx="457200" cy="45720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0E2A35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2761488"/>
            <a:ext cx="2743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写作收尾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18688"/>
            <a:ext cx="9601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AFC5CC"/>
                </a:solidFill>
                <a:latin typeface="Microsoft YaHei"/>
                <a:ea typeface="Microsoft YaHei"/>
              </a:rPr>
              <a:t>稿件 19 项一致性问题已全部修复（8/22 清零）；剩余为 Word 转换与参考文献格式终排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886200"/>
            <a:ext cx="457200" cy="45720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0E2A35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3904487"/>
            <a:ext cx="2743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可选延伸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4361688"/>
            <a:ext cx="9601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AFC5CC"/>
                </a:solidFill>
                <a:latin typeface="Microsoft YaHei"/>
                <a:ea typeface="Microsoft YaHei"/>
              </a:rPr>
              <a:t>Chang-Lewellan 第三分解口径（边际）；factor_drift 边际信号更大样本复验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5303520"/>
            <a:ext cx="10332720" cy="822960"/>
          </a:xfrm>
          <a:prstGeom prst="roundRect">
            <a:avLst>
              <a:gd name="adj" fmla="val 12000"/>
            </a:avLst>
          </a:prstGeom>
          <a:solidFill>
            <a:srgbClr val="143A47"/>
          </a:solidFill>
          <a:ln w="12700">
            <a:solidFill>
              <a:srgbClr val="1380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" y="5486400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C9A227"/>
                </a:solidFill>
                <a:latin typeface="Microsoft YaHei"/>
                <a:ea typeface="Microsoft YaHei"/>
              </a:rPr>
              <a:t>一句话：我们找到了“哪些行为预测业绩”（RA/DE/ICI/AS/ARG），本周进一步找到了“预测哪种能力”（选股α）。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